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8231175" cx="1433035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guide id="3" orient="horz" pos="2593">
          <p15:clr>
            <a:srgbClr val="A4A3A4"/>
          </p15:clr>
        </p15:guide>
        <p15:guide id="4" pos="4579">
          <p15:clr>
            <a:srgbClr val="A4A3A4"/>
          </p15:clr>
        </p15:guide>
        <p15:guide id="5" orient="horz" pos="2079">
          <p15:clr>
            <a:srgbClr val="A4A3A4"/>
          </p15:clr>
        </p15:guide>
        <p15:guide id="6" orient="horz" pos="2496">
          <p15:clr>
            <a:srgbClr val="A4A3A4"/>
          </p15:clr>
        </p15:guide>
        <p15:guide id="7" orient="horz" pos="2245">
          <p15:clr>
            <a:srgbClr val="A4A3A4"/>
          </p15:clr>
        </p15:guide>
        <p15:guide id="8" orient="horz" pos="2694">
          <p15:clr>
            <a:srgbClr val="A4A3A4"/>
          </p15:clr>
        </p15:guide>
        <p15:guide id="9" orient="horz" pos="2162">
          <p15:clr>
            <a:srgbClr val="A4A3A4"/>
          </p15:clr>
        </p15:guide>
        <p15:guide id="10" orient="horz" pos="2594">
          <p15:clr>
            <a:srgbClr val="A4A3A4"/>
          </p15:clr>
        </p15:guide>
        <p15:guide id="11" pos="3785">
          <p15:clr>
            <a:srgbClr val="A4A3A4"/>
          </p15:clr>
        </p15:guide>
        <p15:guide id="12" pos="4514">
          <p15:clr>
            <a:srgbClr val="A4A3A4"/>
          </p15:clr>
        </p15:guide>
      </p15:sldGuideLst>
    </p:ext>
    <p:ext uri="GoogleSlidesCustomDataVersion2">
      <go:slidesCustomData xmlns:go="http://customooxmlschemas.google.com/" r:id="rId24" roundtripDataSignature="AMtx7miGSl9N+KnsAz8+BBETMbN4gXTq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C856D8D-1EDB-44F1-B801-007FA1E0277F}">
  <a:tblStyle styleId="{4C856D8D-1EDB-44F1-B801-007FA1E0277F}"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 pos="2593" orient="horz"/>
        <p:guide pos="4579"/>
        <p:guide pos="2079" orient="horz"/>
        <p:guide pos="2496" orient="horz"/>
        <p:guide pos="2245" orient="horz"/>
        <p:guide pos="2694" orient="horz"/>
        <p:guide pos="2162" orient="horz"/>
        <p:guide pos="2594" orient="horz"/>
        <p:guide pos="3785"/>
        <p:guide pos="4514"/>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24" Type="http://customschemas.google.com/relationships/presentationmetadata" Target="metadata"/><Relationship Id="rId12" Type="http://schemas.openxmlformats.org/officeDocument/2006/relationships/slide" Target="slides/slide6.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0" name="Google Shape;30;p1: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7" name="Google Shape;37;p2: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4" name="Google Shape;44;p3: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0" name="Google Shape;50;p4: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7" name="Google Shape;57;p5: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4" name="Google Shape;64;p6: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0" name="Google Shape;70;p7: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6" name="Google Shape;76;p8: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2" name="Google Shape;82;p9: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1" name="Google Shape;91;p10: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7" name="Google Shape;97;p11: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3" name="Google Shape;103;p12: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9" name="Google Shape;109;p13: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6" name="Google Shape;116;p14: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3" name="Google Shape;123;p15: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9" name="Google Shape;129;p16: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5" name="Google Shape;135;p17:notes"/>
          <p:cNvSpPr/>
          <p:nvPr>
            <p:ph idx="2" type="sldImg"/>
          </p:nvPr>
        </p:nvSpPr>
        <p:spPr>
          <a:xfrm>
            <a:off x="444500" y="685800"/>
            <a:ext cx="5969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 name="Shape 24"/>
        <p:cNvGrpSpPr/>
        <p:nvPr/>
      </p:nvGrpSpPr>
      <p:grpSpPr>
        <a:xfrm>
          <a:off x="0" y="0"/>
          <a:ext cx="0" cy="0"/>
          <a:chOff x="0" y="0"/>
          <a:chExt cx="0" cy="0"/>
        </a:xfrm>
      </p:grpSpPr>
      <p:sp>
        <p:nvSpPr>
          <p:cNvPr id="25" name="Google Shape;25;p19"/>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9"/>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4.jpg"/><Relationship Id="rId3" Type="http://schemas.openxmlformats.org/officeDocument/2006/relationships/slideLayout" Target="../slideLayouts/slideLayout1.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1" y="2"/>
            <a:ext cx="10150674" cy="100603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9pPr>
          </a:lstStyle>
          <a:p/>
        </p:txBody>
      </p:sp>
      <p:sp>
        <p:nvSpPr>
          <p:cNvPr id="11" name="Google Shape;11;p18"/>
          <p:cNvSpPr txBox="1"/>
          <p:nvPr>
            <p:ph idx="1" type="body"/>
          </p:nvPr>
        </p:nvSpPr>
        <p:spPr>
          <a:xfrm>
            <a:off x="716522" y="1646250"/>
            <a:ext cx="12897326" cy="543220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8"/>
          <p:cNvSpPr txBox="1"/>
          <p:nvPr>
            <p:ph idx="10" type="dt"/>
          </p:nvPr>
        </p:nvSpPr>
        <p:spPr>
          <a:xfrm>
            <a:off x="716518" y="7629104"/>
            <a:ext cx="3343752" cy="43823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8"/>
          <p:cNvSpPr txBox="1"/>
          <p:nvPr>
            <p:ph idx="11" type="ftr"/>
          </p:nvPr>
        </p:nvSpPr>
        <p:spPr>
          <a:xfrm>
            <a:off x="4896212" y="7629104"/>
            <a:ext cx="4537948" cy="43823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8"/>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18"/>
          <p:cNvSpPr/>
          <p:nvPr/>
        </p:nvSpPr>
        <p:spPr>
          <a:xfrm>
            <a:off x="6" y="2"/>
            <a:ext cx="14330363" cy="1006034"/>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 name="Google Shape;16;p18"/>
          <p:cNvSpPr/>
          <p:nvPr/>
        </p:nvSpPr>
        <p:spPr>
          <a:xfrm flipH="1" rot="10800000">
            <a:off x="6" y="8048276"/>
            <a:ext cx="14330363" cy="23778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17" name="Google Shape;17;p18"/>
          <p:cNvPicPr preferRelativeResize="0"/>
          <p:nvPr/>
        </p:nvPicPr>
        <p:blipFill rotWithShape="1">
          <a:blip r:embed="rId1">
            <a:alphaModFix/>
          </a:blip>
          <a:srcRect b="10713" l="0" r="0" t="0"/>
          <a:stretch/>
        </p:blipFill>
        <p:spPr>
          <a:xfrm>
            <a:off x="10270103" y="274375"/>
            <a:ext cx="3224332" cy="762147"/>
          </a:xfrm>
          <a:prstGeom prst="rect">
            <a:avLst/>
          </a:prstGeom>
          <a:noFill/>
          <a:ln>
            <a:noFill/>
          </a:ln>
        </p:spPr>
      </p:pic>
      <p:pic>
        <p:nvPicPr>
          <p:cNvPr descr="LOGO.gif" id="18" name="Google Shape;18;p18"/>
          <p:cNvPicPr preferRelativeResize="0"/>
          <p:nvPr/>
        </p:nvPicPr>
        <p:blipFill rotWithShape="1">
          <a:blip r:embed="rId1">
            <a:alphaModFix/>
          </a:blip>
          <a:srcRect b="10713" l="0" r="0" t="0"/>
          <a:stretch/>
        </p:blipFill>
        <p:spPr>
          <a:xfrm>
            <a:off x="10270103" y="274375"/>
            <a:ext cx="3224332" cy="762147"/>
          </a:xfrm>
          <a:prstGeom prst="rect">
            <a:avLst/>
          </a:prstGeom>
          <a:noFill/>
          <a:ln>
            <a:noFill/>
          </a:ln>
        </p:spPr>
      </p:pic>
      <p:grpSp>
        <p:nvGrpSpPr>
          <p:cNvPr id="19" name="Google Shape;19;p18"/>
          <p:cNvGrpSpPr/>
          <p:nvPr/>
        </p:nvGrpSpPr>
        <p:grpSpPr>
          <a:xfrm>
            <a:off x="9633189" y="2"/>
            <a:ext cx="4697174" cy="1051763"/>
            <a:chOff x="6096000" y="3924300"/>
            <a:chExt cx="2997200" cy="876300"/>
          </a:xfrm>
        </p:grpSpPr>
        <p:sp>
          <p:nvSpPr>
            <p:cNvPr id="20" name="Google Shape;20;p18"/>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21" name="Google Shape;21;p18"/>
            <p:cNvPicPr preferRelativeResize="0"/>
            <p:nvPr/>
          </p:nvPicPr>
          <p:blipFill rotWithShape="1">
            <a:blip r:embed="rId1">
              <a:alphaModFix/>
            </a:blip>
            <a:srcRect b="10713" l="0" r="0" t="0"/>
            <a:stretch/>
          </p:blipFill>
          <p:spPr>
            <a:xfrm>
              <a:off x="6502400" y="4152900"/>
              <a:ext cx="2057400" cy="635000"/>
            </a:xfrm>
            <a:prstGeom prst="rect">
              <a:avLst/>
            </a:prstGeom>
            <a:noFill/>
            <a:ln>
              <a:noFill/>
            </a:ln>
          </p:spPr>
        </p:pic>
        <p:sp>
          <p:nvSpPr>
            <p:cNvPr id="22" name="Google Shape;22;p18"/>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logo.jpg" id="23" name="Google Shape;23;p18"/>
          <p:cNvPicPr preferRelativeResize="0"/>
          <p:nvPr/>
        </p:nvPicPr>
        <p:blipFill rotWithShape="1">
          <a:blip r:embed="rId2">
            <a:alphaModFix/>
          </a:blip>
          <a:srcRect b="0" l="0" r="0" t="0"/>
          <a:stretch/>
        </p:blipFill>
        <p:spPr>
          <a:xfrm>
            <a:off x="10270101" y="274378"/>
            <a:ext cx="3010371" cy="73166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www.geeksforgeeks.org/what-is-scalability-and-how-to-achieve-it-learn-system-design/" TargetMode="External"/><Relationship Id="rId4" Type="http://schemas.openxmlformats.org/officeDocument/2006/relationships/hyperlink" Target="https://www.geeksforgeeks.org/caching-system-design-concept-for-beginners/" TargetMode="External"/><Relationship Id="rId5" Type="http://schemas.openxmlformats.org/officeDocument/2006/relationships/hyperlink" Target="https://www.geeksforgeeks.org/what-is-load-balancer-system-desig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www.geeksforgeeks.org/caching-system-design-concept-for-beginners/" TargetMode="External"/><Relationship Id="rId4" Type="http://schemas.openxmlformats.org/officeDocument/2006/relationships/hyperlink" Target="https://www.geeksforgeeks.org/what-is-load-balancer-system-design/" TargetMode="External"/><Relationship Id="rId5" Type="http://schemas.openxmlformats.org/officeDocument/2006/relationships/hyperlink" Target="https://www.geeksforgeeks.org/latency-in-system-design/"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www.geeksforgeeks.org/what-is-load-balancer-system-design/"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www.geeksforgeeks.org/strong-consistency-in-system-design/" TargetMode="External"/><Relationship Id="rId4" Type="http://schemas.openxmlformats.org/officeDocument/2006/relationships/hyperlink" Target="https://www.geeksforgeeks.org/eventual-consistency-in-distributive-systems-learn-system-design/" TargetMode="External"/><Relationship Id="rId5" Type="http://schemas.openxmlformats.org/officeDocument/2006/relationships/hyperlink" Target="https://www.geeksforgeeks.org/causal-consistency-model-in-system-design/"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www.geeksforgeeks.org/what-is-high-availability-in-system-design/"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www.geeksforgeeks.org/reliability-in-system-design/"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www.geeksforgeeks.org/resilient-system-system-desig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1"/>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3" name="Google Shape;33;p1"/>
          <p:cNvSpPr txBox="1"/>
          <p:nvPr/>
        </p:nvSpPr>
        <p:spPr>
          <a:xfrm>
            <a:off x="0" y="0"/>
            <a:ext cx="6449568"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Times New Roman"/>
                <a:ea typeface="Times New Roman"/>
                <a:cs typeface="Times New Roman"/>
                <a:sym typeface="Times New Roman"/>
              </a:rPr>
              <a:t>Performance vs Scalability</a:t>
            </a:r>
            <a:endParaRPr b="1" i="0" sz="3200" u="none" cap="none" strike="noStrike">
              <a:solidFill>
                <a:srgbClr val="000000"/>
              </a:solidFill>
              <a:latin typeface="Times New Roman"/>
              <a:ea typeface="Times New Roman"/>
              <a:cs typeface="Times New Roman"/>
              <a:sym typeface="Times New Roman"/>
            </a:endParaRPr>
          </a:p>
        </p:txBody>
      </p:sp>
      <p:sp>
        <p:nvSpPr>
          <p:cNvPr id="34" name="Google Shape;34;p1"/>
          <p:cNvSpPr txBox="1"/>
          <p:nvPr/>
        </p:nvSpPr>
        <p:spPr>
          <a:xfrm>
            <a:off x="85344" y="1121664"/>
            <a:ext cx="14069568" cy="594008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Performance vs Scalability in System Design explores how systems balance speed (performance) and ability to handle growth (</a:t>
            </a:r>
            <a:r>
              <a:rPr b="0" i="0" lang="en-US" sz="2000" u="sng" cap="none" strike="noStrike">
                <a:solidFill>
                  <a:srgbClr val="000000"/>
                </a:solidFill>
                <a:latin typeface="Times New Roman"/>
                <a:ea typeface="Times New Roman"/>
                <a:cs typeface="Times New Roman"/>
                <a:sym typeface="Times New Roman"/>
                <a:hlinkClick r:id="rId3">
                  <a:extLst>
                    <a:ext uri="{A12FA001-AC4F-418D-AE19-62706E023703}">
                      <ahyp:hlinkClr val="tx"/>
                    </a:ext>
                  </a:extLst>
                </a:hlinkClick>
              </a:rPr>
              <a:t>scalability</a:t>
            </a:r>
            <a:r>
              <a:rPr b="0" i="0" lang="en-US" sz="2000" u="none" cap="none" strike="noStrike">
                <a:solidFill>
                  <a:srgbClr val="000000"/>
                </a:solidFill>
                <a:latin typeface="Times New Roman"/>
                <a:ea typeface="Times New Roman"/>
                <a:cs typeface="Times New Roman"/>
                <a:sym typeface="Times New Roman"/>
              </a:rPr>
              <a:t>). Imagine a race car (performance) and a bus (scalability). The car zooms quickly but can't carry many passengers, while the bus carries lots but moves slower. </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Similarly, in tech, a system may be super fast but crash with too many users (like the car), or handle many users but slow down (like the bus). </a:t>
            </a:r>
            <a:endParaRPr/>
          </a:p>
          <a:p>
            <a:pPr indent="-285750" lvl="0" marL="28575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Designing systems requires finding the right balance that is, fast enough for current needs, yet flexible to grow with demand.</a:t>
            </a:r>
            <a:endParaRPr/>
          </a:p>
          <a:p>
            <a:pPr indent="-158750" lvl="0" marL="28575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158750" lvl="0" marL="28575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158750" lvl="0" marL="28575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What is Performance?</a:t>
            </a:r>
            <a:endParaRPr/>
          </a:p>
          <a:p>
            <a:pPr indent="0" lvl="0" marL="0" marR="0" rtl="0" algn="l">
              <a:lnSpc>
                <a:spcPct val="100000"/>
              </a:lnSpc>
              <a:spcBef>
                <a:spcPts val="0"/>
              </a:spcBef>
              <a:spcAft>
                <a:spcPts val="0"/>
              </a:spcAft>
              <a:buNone/>
            </a:pPr>
            <a:r>
              <a:rPr b="0" i="0" lang="en-US" sz="2000" u="none" cap="none" strike="noStrike">
                <a:solidFill>
                  <a:srgbClr val="000000"/>
                </a:solidFill>
                <a:latin typeface="Times New Roman"/>
                <a:ea typeface="Times New Roman"/>
                <a:cs typeface="Times New Roman"/>
                <a:sym typeface="Times New Roman"/>
              </a:rPr>
              <a:t>Performance in system design refers to how well a system executes tasks or processes within a given timeframe. It encompasses factors like speed, responsiveness, throughput, and resource utilization. </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a:p>
            <a:pPr indent="-127000" lvl="0" marL="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For instance, a high-performance system might process a large amount of data quickly, respond to user inputs rapidly, and efficiently utilize system resources such as CPU, memory, and network bandwidth. </a:t>
            </a:r>
            <a:endParaRPr/>
          </a:p>
          <a:p>
            <a:pPr indent="-127000" lvl="0" marL="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Performance optimization involves techniques such as code optimization, </a:t>
            </a:r>
            <a:r>
              <a:rPr b="0" i="0" lang="en-US" sz="2000" u="sng" cap="none" strike="noStrike">
                <a:solidFill>
                  <a:srgbClr val="000000"/>
                </a:solidFill>
                <a:latin typeface="Times New Roman"/>
                <a:ea typeface="Times New Roman"/>
                <a:cs typeface="Times New Roman"/>
                <a:sym typeface="Times New Roman"/>
                <a:hlinkClick r:id="rId4">
                  <a:extLst>
                    <a:ext uri="{A12FA001-AC4F-418D-AE19-62706E023703}">
                      <ahyp:hlinkClr val="tx"/>
                    </a:ext>
                  </a:extLst>
                </a:hlinkClick>
              </a:rPr>
              <a:t>caching</a:t>
            </a:r>
            <a:r>
              <a:rPr b="0" i="0" lang="en-US" sz="2000" u="none" cap="none" strike="noStrike">
                <a:solidFill>
                  <a:srgbClr val="000000"/>
                </a:solidFill>
                <a:latin typeface="Times New Roman"/>
                <a:ea typeface="Times New Roman"/>
                <a:cs typeface="Times New Roman"/>
                <a:sym typeface="Times New Roman"/>
              </a:rPr>
              <a:t>, </a:t>
            </a:r>
            <a:r>
              <a:rPr b="0" i="0" lang="en-US" sz="2000" u="sng" cap="none" strike="noStrike">
                <a:solidFill>
                  <a:srgbClr val="000000"/>
                </a:solidFill>
                <a:latin typeface="Times New Roman"/>
                <a:ea typeface="Times New Roman"/>
                <a:cs typeface="Times New Roman"/>
                <a:sym typeface="Times New Roman"/>
                <a:hlinkClick r:id="rId5">
                  <a:extLst>
                    <a:ext uri="{A12FA001-AC4F-418D-AE19-62706E023703}">
                      <ahyp:hlinkClr val="tx"/>
                    </a:ext>
                  </a:extLst>
                </a:hlinkClick>
              </a:rPr>
              <a:t>load balancing</a:t>
            </a:r>
            <a:r>
              <a:rPr b="0" i="0" lang="en-US" sz="2000" u="none" cap="none" strike="noStrike">
                <a:solidFill>
                  <a:srgbClr val="000000"/>
                </a:solidFill>
                <a:latin typeface="Times New Roman"/>
                <a:ea typeface="Times New Roman"/>
                <a:cs typeface="Times New Roman"/>
                <a:sym typeface="Times New Roman"/>
              </a:rPr>
              <a:t>, and hardware upgrades to ensure that a system meets its performance requirements and delivers a smooth user experience.</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2"/>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0" name="Google Shape;40;p2"/>
          <p:cNvSpPr txBox="1"/>
          <p:nvPr/>
        </p:nvSpPr>
        <p:spPr>
          <a:xfrm>
            <a:off x="423005" y="984804"/>
            <a:ext cx="13484352" cy="686341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Performance optimization techniques in system design involve various strategies aimed at improving the speed, efficiency, and resource utilization of a system. Some common techniques include:</a:t>
            </a:r>
            <a:endParaRPr/>
          </a:p>
          <a:p>
            <a:pPr indent="-127000" lvl="0" marL="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000000"/>
                </a:solidFill>
                <a:latin typeface="Times New Roman"/>
                <a:ea typeface="Times New Roman"/>
                <a:cs typeface="Times New Roman"/>
                <a:sym typeface="Times New Roman"/>
              </a:rPr>
              <a:t>Code optimization: </a:t>
            </a:r>
            <a:endParaRPr b="0" i="0" sz="2000" u="none" cap="none" strike="noStrike">
              <a:solidFill>
                <a:srgbClr val="000000"/>
              </a:solidFill>
              <a:latin typeface="Times New Roman"/>
              <a:ea typeface="Times New Roman"/>
              <a:cs typeface="Times New Roman"/>
              <a:sym typeface="Times New Roman"/>
            </a:endParaRPr>
          </a:p>
          <a:p>
            <a:pPr indent="-285750" lvl="1" marL="74295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Refining algorithms and code structures to minimize execution time and resource consumption. This can involve eliminating redundant operations, reducing algorithmic complexity, and optimizing loops and data structures.</a:t>
            </a:r>
            <a:endParaRPr/>
          </a:p>
          <a:p>
            <a:pPr indent="-127000" lvl="0" marL="0" marR="0" rtl="0" algn="l">
              <a:lnSpc>
                <a:spcPct val="100000"/>
              </a:lnSpc>
              <a:spcBef>
                <a:spcPts val="0"/>
              </a:spcBef>
              <a:spcAft>
                <a:spcPts val="0"/>
              </a:spcAft>
              <a:buClr>
                <a:srgbClr val="000000"/>
              </a:buClr>
              <a:buSzPts val="2000"/>
              <a:buFont typeface="Arial"/>
              <a:buChar char="•"/>
            </a:pPr>
            <a:r>
              <a:rPr b="1" i="0" lang="en-US" sz="2000" u="sng" cap="none" strike="noStrike">
                <a:solidFill>
                  <a:srgbClr val="000000"/>
                </a:solidFill>
                <a:latin typeface="Times New Roman"/>
                <a:ea typeface="Times New Roman"/>
                <a:cs typeface="Times New Roman"/>
                <a:sym typeface="Times New Roman"/>
                <a:hlinkClick r:id="rId3">
                  <a:extLst>
                    <a:ext uri="{A12FA001-AC4F-418D-AE19-62706E023703}">
                      <ahyp:hlinkClr val="tx"/>
                    </a:ext>
                  </a:extLst>
                </a:hlinkClick>
              </a:rPr>
              <a:t>Caching</a:t>
            </a:r>
            <a:r>
              <a:rPr b="1" i="0" lang="en-US" sz="2000" u="none" cap="none" strike="noStrike">
                <a:solidFill>
                  <a:srgbClr val="000000"/>
                </a:solidFill>
                <a:latin typeface="Times New Roman"/>
                <a:ea typeface="Times New Roman"/>
                <a:cs typeface="Times New Roman"/>
                <a:sym typeface="Times New Roman"/>
              </a:rPr>
              <a:t>: </a:t>
            </a:r>
            <a:endParaRPr b="0" i="0" sz="2000" u="none" cap="none" strike="noStrike">
              <a:solidFill>
                <a:srgbClr val="000000"/>
              </a:solidFill>
              <a:latin typeface="Times New Roman"/>
              <a:ea typeface="Times New Roman"/>
              <a:cs typeface="Times New Roman"/>
              <a:sym typeface="Times New Roman"/>
            </a:endParaRPr>
          </a:p>
          <a:p>
            <a:pPr indent="-285750" lvl="1" marL="74295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Storing frequently accessed data or computed results in fast-access memory (cache) to reduce the need for repeated computations or database queries. Caching can significantly improve response times for frequently requested data.</a:t>
            </a:r>
            <a:endParaRPr/>
          </a:p>
          <a:p>
            <a:pPr indent="-127000" lvl="0" marL="0" marR="0" rtl="0" algn="l">
              <a:lnSpc>
                <a:spcPct val="100000"/>
              </a:lnSpc>
              <a:spcBef>
                <a:spcPts val="0"/>
              </a:spcBef>
              <a:spcAft>
                <a:spcPts val="0"/>
              </a:spcAft>
              <a:buClr>
                <a:srgbClr val="000000"/>
              </a:buClr>
              <a:buSzPts val="2000"/>
              <a:buFont typeface="Arial"/>
              <a:buChar char="•"/>
            </a:pPr>
            <a:r>
              <a:rPr b="1" i="0" lang="en-US" sz="2000" u="sng" cap="none" strike="noStrike">
                <a:solidFill>
                  <a:srgbClr val="000000"/>
                </a:solidFill>
                <a:latin typeface="Times New Roman"/>
                <a:ea typeface="Times New Roman"/>
                <a:cs typeface="Times New Roman"/>
                <a:sym typeface="Times New Roman"/>
                <a:hlinkClick r:id="rId4">
                  <a:extLst>
                    <a:ext uri="{A12FA001-AC4F-418D-AE19-62706E023703}">
                      <ahyp:hlinkClr val="tx"/>
                    </a:ext>
                  </a:extLst>
                </a:hlinkClick>
              </a:rPr>
              <a:t>Load balancing</a:t>
            </a:r>
            <a:r>
              <a:rPr b="1" i="0" lang="en-US" sz="2000" u="none" cap="none" strike="noStrike">
                <a:solidFill>
                  <a:srgbClr val="000000"/>
                </a:solidFill>
                <a:latin typeface="Times New Roman"/>
                <a:ea typeface="Times New Roman"/>
                <a:cs typeface="Times New Roman"/>
                <a:sym typeface="Times New Roman"/>
              </a:rPr>
              <a:t>:</a:t>
            </a:r>
            <a:r>
              <a:rPr b="0" i="0" lang="en-US" sz="2000" u="none" cap="none" strike="noStrike">
                <a:solidFill>
                  <a:srgbClr val="000000"/>
                </a:solidFill>
                <a:latin typeface="Times New Roman"/>
                <a:ea typeface="Times New Roman"/>
                <a:cs typeface="Times New Roman"/>
                <a:sym typeface="Times New Roman"/>
              </a:rPr>
              <a:t> </a:t>
            </a:r>
            <a:endParaRPr/>
          </a:p>
          <a:p>
            <a:pPr indent="-285750" lvl="1" marL="74295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Distributing incoming requests or tasks evenly across multiple servers or resources to prevent overloading any single component. Load balancers can dynamically adjust resource allocation based on current demand to optimize performance.</a:t>
            </a:r>
            <a:endParaRPr/>
          </a:p>
          <a:p>
            <a:pPr indent="-127000" lvl="0" marL="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000000"/>
                </a:solidFill>
                <a:latin typeface="Times New Roman"/>
                <a:ea typeface="Times New Roman"/>
                <a:cs typeface="Times New Roman"/>
                <a:sym typeface="Times New Roman"/>
              </a:rPr>
              <a:t>Parallelism and concurrency:</a:t>
            </a:r>
            <a:r>
              <a:rPr b="0" i="0" lang="en-US" sz="2000" u="none" cap="none" strike="noStrike">
                <a:solidFill>
                  <a:srgbClr val="000000"/>
                </a:solidFill>
                <a:latin typeface="Times New Roman"/>
                <a:ea typeface="Times New Roman"/>
                <a:cs typeface="Times New Roman"/>
                <a:sym typeface="Times New Roman"/>
              </a:rPr>
              <a:t> </a:t>
            </a:r>
            <a:endParaRPr/>
          </a:p>
          <a:p>
            <a:pPr indent="-285750" lvl="1" marL="74295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Leveraging multiple threads or processes to execute tasks simultaneously, thereby utilizing available resources more efficiently and reducing overall processing time. Techniques such as parallel processing, asynchronous programming, and multi-threading can enhance system performance.</a:t>
            </a:r>
            <a:endParaRPr/>
          </a:p>
          <a:p>
            <a:pPr indent="-127000" lvl="0" marL="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000000"/>
                </a:solidFill>
                <a:latin typeface="Times New Roman"/>
                <a:ea typeface="Times New Roman"/>
                <a:cs typeface="Times New Roman"/>
                <a:sym typeface="Times New Roman"/>
              </a:rPr>
              <a:t>Database optimization:</a:t>
            </a:r>
            <a:r>
              <a:rPr b="0" i="0" lang="en-US" sz="2000" u="none" cap="none" strike="noStrike">
                <a:solidFill>
                  <a:srgbClr val="000000"/>
                </a:solidFill>
                <a:latin typeface="Times New Roman"/>
                <a:ea typeface="Times New Roman"/>
                <a:cs typeface="Times New Roman"/>
                <a:sym typeface="Times New Roman"/>
              </a:rPr>
              <a:t> </a:t>
            </a:r>
            <a:endParaRPr/>
          </a:p>
          <a:p>
            <a:pPr indent="-285750" lvl="1" marL="74295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Optimizing database queries, indexing, and schema design to improve data retrieval speed and reduce </a:t>
            </a:r>
            <a:r>
              <a:rPr b="0" i="0" lang="en-US" sz="2000" u="sng" cap="none" strike="noStrike">
                <a:solidFill>
                  <a:srgbClr val="000000"/>
                </a:solidFill>
                <a:latin typeface="Times New Roman"/>
                <a:ea typeface="Times New Roman"/>
                <a:cs typeface="Times New Roman"/>
                <a:sym typeface="Times New Roman"/>
                <a:hlinkClick r:id="rId5">
                  <a:extLst>
                    <a:ext uri="{A12FA001-AC4F-418D-AE19-62706E023703}">
                      <ahyp:hlinkClr val="tx"/>
                    </a:ext>
                  </a:extLst>
                </a:hlinkClick>
              </a:rPr>
              <a:t>latency</a:t>
            </a:r>
            <a:r>
              <a:rPr b="0" i="0" lang="en-US" sz="2000" u="none" cap="none" strike="noStrike">
                <a:solidFill>
                  <a:srgbClr val="000000"/>
                </a:solidFill>
                <a:latin typeface="Times New Roman"/>
                <a:ea typeface="Times New Roman"/>
                <a:cs typeface="Times New Roman"/>
                <a:sym typeface="Times New Roman"/>
              </a:rPr>
              <a:t>. Techniques like query optimization, index optimization, and denormalization can enhance database performance.</a:t>
            </a:r>
            <a:endParaRPr/>
          </a:p>
          <a:p>
            <a:pPr indent="-127000" lvl="0" marL="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000000"/>
                </a:solidFill>
                <a:latin typeface="Times New Roman"/>
                <a:ea typeface="Times New Roman"/>
                <a:cs typeface="Times New Roman"/>
                <a:sym typeface="Times New Roman"/>
              </a:rPr>
              <a:t>Resource pooling and reuse: </a:t>
            </a:r>
            <a:endParaRPr b="0" i="0" sz="2000" u="none" cap="none" strike="noStrike">
              <a:solidFill>
                <a:srgbClr val="000000"/>
              </a:solidFill>
              <a:latin typeface="Times New Roman"/>
              <a:ea typeface="Times New Roman"/>
              <a:cs typeface="Times New Roman"/>
              <a:sym typeface="Times New Roman"/>
            </a:endParaRPr>
          </a:p>
          <a:p>
            <a:pPr indent="-285750" lvl="1" marL="74295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Reusing existing resources, connections, or objects rather than creating new ones for each request, reducing overhead and improving efficiency. Techniques like connection pooling in database connections or object pooling in object-oriented programming can help conserve resources.</a:t>
            </a:r>
            <a:endParaRPr/>
          </a:p>
        </p:txBody>
      </p:sp>
      <p:sp>
        <p:nvSpPr>
          <p:cNvPr id="41" name="Google Shape;41;p2"/>
          <p:cNvSpPr txBox="1"/>
          <p:nvPr/>
        </p:nvSpPr>
        <p:spPr>
          <a:xfrm>
            <a:off x="280416" y="0"/>
            <a:ext cx="8802624" cy="80021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Times New Roman"/>
                <a:ea typeface="Times New Roman"/>
                <a:cs typeface="Times New Roman"/>
                <a:sym typeface="Times New Roman"/>
              </a:rPr>
              <a:t>Performance Optimization Techniques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3"/>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7" name="Google Shape;47;p3"/>
          <p:cNvSpPr txBox="1"/>
          <p:nvPr/>
        </p:nvSpPr>
        <p:spPr>
          <a:xfrm>
            <a:off x="487680" y="1231392"/>
            <a:ext cx="12399264" cy="31700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What is Scalability?</a:t>
            </a:r>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Scalability in system design refers to a system's ability to handle increasing amounts of work or users without compromising performance. It involves designing a system so that it can easily accommodate growth in terms of data volume, user traffic, or processing demands without significant changes to its architecture. </a:t>
            </a:r>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127000" lvl="0" marL="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Scalable systems can seamlessly expand by adding more resources or components, such as servers or databases, to distribute the workload efficiently. </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a:p>
            <a:pPr indent="-127000" lvl="0" marL="0" marR="0" rtl="0" algn="l">
              <a:lnSpc>
                <a:spcPct val="100000"/>
              </a:lnSpc>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This ensures that the system can continue to deliver high performance even as demands increase. Scalability is crucial for ensuring that a system remains responsive and reliable as it grows in size or usage.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4"/>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53" name="Google Shape;53;p4"/>
          <p:cNvSpPr txBox="1"/>
          <p:nvPr/>
        </p:nvSpPr>
        <p:spPr>
          <a:xfrm>
            <a:off x="243840" y="0"/>
            <a:ext cx="5986272" cy="80021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Times New Roman"/>
                <a:ea typeface="Times New Roman"/>
                <a:cs typeface="Times New Roman"/>
                <a:sym typeface="Times New Roman"/>
              </a:rPr>
              <a:t>Performance vs. Scalability</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aphicFrame>
        <p:nvGraphicFramePr>
          <p:cNvPr id="54" name="Google Shape;54;p4"/>
          <p:cNvGraphicFramePr/>
          <p:nvPr/>
        </p:nvGraphicFramePr>
        <p:xfrm>
          <a:off x="594598" y="1309021"/>
          <a:ext cx="3000000" cy="3000000"/>
        </p:xfrm>
        <a:graphic>
          <a:graphicData uri="http://schemas.openxmlformats.org/drawingml/2006/table">
            <a:tbl>
              <a:tblPr bandRow="1" firstRow="1">
                <a:noFill/>
                <a:tableStyleId>{4C856D8D-1EDB-44F1-B801-007FA1E0277F}</a:tableStyleId>
              </a:tblPr>
              <a:tblGrid>
                <a:gridCol w="2915300"/>
                <a:gridCol w="5268350"/>
                <a:gridCol w="5266950"/>
              </a:tblGrid>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Aspect </a:t>
                      </a:r>
                      <a:endParaRPr/>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Performance </a:t>
                      </a:r>
                      <a:endParaRPr/>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Scalability</a:t>
                      </a:r>
                      <a:endParaRPr/>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latin typeface="Times New Roman"/>
                          <a:ea typeface="Times New Roman"/>
                          <a:cs typeface="Times New Roman"/>
                          <a:sym typeface="Times New Roman"/>
                        </a:rPr>
                        <a:t>Definition</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Focuses on optimizing speed and responsiveness</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Focuses on handling increasing workload or users</a:t>
                      </a:r>
                      <a:endParaRPr/>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latin typeface="Times New Roman"/>
                          <a:ea typeface="Times New Roman"/>
                          <a:cs typeface="Times New Roman"/>
                          <a:sym typeface="Times New Roman"/>
                        </a:rPr>
                        <a:t>Goal</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Achieve maximum efficiency for current tasks</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Accommodate growing demands without slowdown</a:t>
                      </a:r>
                      <a:endParaRPr/>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latin typeface="Times New Roman"/>
                          <a:ea typeface="Times New Roman"/>
                          <a:cs typeface="Times New Roman"/>
                          <a:sym typeface="Times New Roman"/>
                        </a:rPr>
                        <a:t>Concerns</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Speed, latency, throughput, resource utilization</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Capacity, availability, distribution of workload</a:t>
                      </a:r>
                      <a:endParaRPr/>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latin typeface="Times New Roman"/>
                          <a:ea typeface="Times New Roman"/>
                          <a:cs typeface="Times New Roman"/>
                          <a:sym typeface="Times New Roman"/>
                        </a:rPr>
                        <a:t>Key Techniques</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Code optimization, caching, load balancing</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Horizontal scaling, stateless architecture, microservices</a:t>
                      </a:r>
                      <a:endParaRPr/>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latin typeface="Times New Roman"/>
                          <a:ea typeface="Times New Roman"/>
                          <a:cs typeface="Times New Roman"/>
                          <a:sym typeface="Times New Roman"/>
                        </a:rPr>
                        <a:t>Scaling Approach</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Vertical scaling (scaling up)</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Horizontal scaling (scaling out)</a:t>
                      </a:r>
                      <a:endParaRPr/>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latin typeface="Times New Roman"/>
                          <a:ea typeface="Times New Roman"/>
                          <a:cs typeface="Times New Roman"/>
                          <a:sym typeface="Times New Roman"/>
                        </a:rPr>
                        <a:t>Impact of Growth</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May degrade with increased workload</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Maintains performance with increased workload</a:t>
                      </a:r>
                      <a:endParaRPr/>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latin typeface="Times New Roman"/>
                          <a:ea typeface="Times New Roman"/>
                          <a:cs typeface="Times New Roman"/>
                          <a:sym typeface="Times New Roman"/>
                        </a:rPr>
                        <a:t>Resource Allocation</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May require hardware upgrades for improvement</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Adds more instances or nodes for improvement</a:t>
                      </a:r>
                      <a:endParaRPr/>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latin typeface="Times New Roman"/>
                          <a:ea typeface="Times New Roman"/>
                          <a:cs typeface="Times New Roman"/>
                          <a:sym typeface="Times New Roman"/>
                        </a:rPr>
                        <a:t>Maintenance Complexity</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Generally lower complexity</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May involve higher complexity due to distributed nature</a:t>
                      </a:r>
                      <a:endParaRPr/>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latin typeface="Times New Roman"/>
                          <a:ea typeface="Times New Roman"/>
                          <a:cs typeface="Times New Roman"/>
                          <a:sym typeface="Times New Roman"/>
                        </a:rPr>
                        <a:t>Example</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A high-performance gaming server</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A scalable social media platform</a:t>
                      </a:r>
                      <a:endParaRPr/>
                    </a:p>
                  </a:txBody>
                  <a:tcPr marT="45725" marB="45725" marR="91450" marL="91450" anchor="ct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5"/>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60" name="Google Shape;60;p5"/>
          <p:cNvSpPr/>
          <p:nvPr/>
        </p:nvSpPr>
        <p:spPr>
          <a:xfrm>
            <a:off x="85344" y="853163"/>
            <a:ext cx="13953995" cy="6524863"/>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Latency refers to the time it takes for a request to travel from its point of origin to its destination and receive a response. </a:t>
            </a:r>
            <a:endParaRPr/>
          </a:p>
          <a:p>
            <a:pPr indent="-127000" lvl="0" marL="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Latency represents the delay between an action and its corresponding reaction.</a:t>
            </a:r>
            <a:endParaRPr/>
          </a:p>
          <a:p>
            <a:pPr indent="-127000" lvl="0" marL="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It can be measured in various units like seconds, milliseconds, and nanoseconds depending on the system and application. </a:t>
            </a:r>
            <a:endParaRPr/>
          </a:p>
          <a:p>
            <a:pPr indent="0" lvl="0" marL="0" marR="0" rtl="0" algn="l">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What does it involve?</a:t>
            </a:r>
            <a:endParaRPr/>
          </a:p>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Latency involves so many things such as processing time, time to travel over the network between components, and queuing time.</a:t>
            </a:r>
            <a:endParaRPr/>
          </a:p>
          <a:p>
            <a:pPr indent="-127000" lvl="0" marL="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Times New Roman"/>
                <a:ea typeface="Times New Roman"/>
                <a:cs typeface="Times New Roman"/>
                <a:sym typeface="Times New Roman"/>
              </a:rPr>
              <a:t>Round Trip Time</a:t>
            </a:r>
            <a:r>
              <a:rPr b="0" i="0" lang="en-US" sz="2000" u="none" cap="none" strike="noStrike">
                <a:solidFill>
                  <a:schemeClr val="dk1"/>
                </a:solidFill>
                <a:latin typeface="Times New Roman"/>
                <a:ea typeface="Times New Roman"/>
                <a:cs typeface="Times New Roman"/>
                <a:sym typeface="Times New Roman"/>
              </a:rPr>
              <a:t>: This includes the time taken for the request to travel to the server, processing time at the server, and the response time back to the sender. </a:t>
            </a:r>
            <a:endParaRPr/>
          </a:p>
          <a:p>
            <a:pPr indent="-127000" lvl="0" marL="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Times New Roman"/>
                <a:ea typeface="Times New Roman"/>
                <a:cs typeface="Times New Roman"/>
                <a:sym typeface="Times New Roman"/>
              </a:rPr>
              <a:t>Different Components:</a:t>
            </a:r>
            <a:r>
              <a:rPr b="0" i="0" lang="en-US" sz="2000" u="none" cap="none" strike="noStrike">
                <a:solidFill>
                  <a:schemeClr val="dk1"/>
                </a:solidFill>
                <a:latin typeface="Times New Roman"/>
                <a:ea typeface="Times New Roman"/>
                <a:cs typeface="Times New Roman"/>
                <a:sym typeface="Times New Roman"/>
              </a:rPr>
              <a:t> Processing time, transmission time (over network or between components), queueing time (waiting in line for processing), and even human reaction time can all contribue to overall latency.</a:t>
            </a:r>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How does Latency works?</a:t>
            </a:r>
            <a:endParaRPr/>
          </a:p>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The time taken for each step—transmitting the action, server processing, transmitting the response, and updating your screen—contributes to the overall latency.</a:t>
            </a:r>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Example:</a:t>
            </a:r>
            <a:r>
              <a:rPr b="0" i="0" lang="en-US" sz="2000" u="none" cap="none" strike="noStrike">
                <a:solidFill>
                  <a:schemeClr val="dk1"/>
                </a:solidFill>
                <a:latin typeface="Times New Roman"/>
                <a:ea typeface="Times New Roman"/>
                <a:cs typeface="Times New Roman"/>
                <a:sym typeface="Times New Roman"/>
              </a:rPr>
              <a:t> Let see an example when player in an online game firing a weapon.</a:t>
            </a:r>
            <a:endParaRPr/>
          </a:p>
          <a:p>
            <a:pPr indent="-127000" lvl="0" marL="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Times New Roman"/>
                <a:ea typeface="Times New Roman"/>
                <a:cs typeface="Times New Roman"/>
                <a:sym typeface="Times New Roman"/>
              </a:rPr>
              <a:t>If your latency is high: </a:t>
            </a:r>
            <a:r>
              <a:rPr b="0" i="0" lang="en-US" sz="2000" u="none" cap="none" strike="noStrike">
                <a:solidFill>
                  <a:schemeClr val="dk1"/>
                </a:solidFill>
                <a:latin typeface="Times New Roman"/>
                <a:ea typeface="Times New Roman"/>
                <a:cs typeface="Times New Roman"/>
                <a:sym typeface="Times New Roman"/>
              </a:rPr>
              <a:t>You press "fire."</a:t>
            </a:r>
            <a:endParaRPr/>
          </a:p>
          <a:p>
            <a:pPr indent="-127000" lvl="0" marL="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The command travels through the internet to the server, which takes time.</a:t>
            </a:r>
            <a:endParaRPr/>
          </a:p>
          <a:p>
            <a:pPr indent="-127000" lvl="0" marL="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The server processes the shot.</a:t>
            </a:r>
            <a:endParaRPr/>
          </a:p>
          <a:p>
            <a:pPr indent="-127000" lvl="0" marL="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The result travels back to your device.</a:t>
            </a:r>
            <a:endParaRPr/>
          </a:p>
          <a:p>
            <a:pPr indent="-127000" lvl="0" marL="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Your screen updates the result.</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 name="Google Shape;61;p5"/>
          <p:cNvSpPr txBox="1"/>
          <p:nvPr/>
        </p:nvSpPr>
        <p:spPr>
          <a:xfrm>
            <a:off x="158496" y="0"/>
            <a:ext cx="4754880" cy="55399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000" u="none" cap="none" strike="noStrike">
                <a:solidFill>
                  <a:srgbClr val="000000"/>
                </a:solidFill>
                <a:latin typeface="Times New Roman"/>
                <a:ea typeface="Times New Roman"/>
                <a:cs typeface="Times New Roman"/>
                <a:sym typeface="Times New Roman"/>
              </a:rPr>
              <a:t>Latency</a:t>
            </a:r>
            <a:endParaRPr b="1" i="0" sz="3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6"/>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67" name="Google Shape;67;p6"/>
          <p:cNvSpPr txBox="1"/>
          <p:nvPr/>
        </p:nvSpPr>
        <p:spPr>
          <a:xfrm>
            <a:off x="326135" y="1189238"/>
            <a:ext cx="14004227" cy="67710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The working of Latency can be understood by two ways:</a:t>
            </a:r>
            <a:endParaRPr/>
          </a:p>
          <a:p>
            <a:pPr indent="-342900" lvl="0" marL="342900" marR="0" rtl="0" algn="l">
              <a:lnSpc>
                <a:spcPct val="10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Times New Roman"/>
                <a:ea typeface="Times New Roman"/>
                <a:cs typeface="Times New Roman"/>
                <a:sym typeface="Times New Roman"/>
              </a:rPr>
              <a:t>Network Latency</a:t>
            </a:r>
            <a:endParaRPr/>
          </a:p>
          <a:p>
            <a:pPr indent="0" lvl="0" marL="0" marR="0" rtl="0" algn="l">
              <a:lnSpc>
                <a:spcPct val="100000"/>
              </a:lnSpc>
              <a:spcBef>
                <a:spcPts val="0"/>
              </a:spcBef>
              <a:spcAft>
                <a:spcPts val="0"/>
              </a:spcAft>
              <a:buNone/>
            </a:pPr>
            <a:r>
              <a:rPr b="0" i="0" lang="en-US" sz="2000" u="none" cap="none" strike="noStrike">
                <a:solidFill>
                  <a:srgbClr val="000000"/>
                </a:solidFill>
                <a:latin typeface="Times New Roman"/>
                <a:ea typeface="Times New Roman"/>
                <a:cs typeface="Times New Roman"/>
                <a:sym typeface="Times New Roman"/>
              </a:rPr>
              <a:t>In system architecture, network latency is a sort of latency that describes how long it takes for data to move between two points in a network. Using email as an example, we can consider it to be the time lag between sending an email and the recipient actually getting it. For real-time applications, it is measured in milliseconds or even microseconds, just like total latency. </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000" u="none" cap="none" strike="noStrike">
                <a:solidFill>
                  <a:srgbClr val="000000"/>
                </a:solidFill>
                <a:latin typeface="Times New Roman"/>
                <a:ea typeface="Times New Roman"/>
                <a:cs typeface="Times New Roman"/>
                <a:sym typeface="Times New Roman"/>
              </a:rPr>
              <a:t>2. System Latency</a:t>
            </a:r>
            <a:endParaRPr/>
          </a:p>
          <a:p>
            <a:pPr indent="0" lvl="0" marL="0" marR="0" rtl="0" algn="l">
              <a:lnSpc>
                <a:spcPct val="100000"/>
              </a:lnSpc>
              <a:spcBef>
                <a:spcPts val="0"/>
              </a:spcBef>
              <a:spcAft>
                <a:spcPts val="0"/>
              </a:spcAft>
              <a:buNone/>
            </a:pPr>
            <a:r>
              <a:rPr b="0" i="0" lang="en-US" sz="2000" u="none" cap="none" strike="noStrike">
                <a:solidFill>
                  <a:srgbClr val="000000"/>
                </a:solidFill>
                <a:latin typeface="Times New Roman"/>
                <a:ea typeface="Times New Roman"/>
                <a:cs typeface="Times New Roman"/>
                <a:sym typeface="Times New Roman"/>
              </a:rPr>
              <a:t>System latency refers to the overall time it takes for a request to go from its origin in the system to its destination and receive a response. Think of Latency as the "wait time" in a system. The time between clicking and seeing the updated webpage is the system latency. It includes processing time on both client and server, network transfers, and rendering delays.</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000" u="none" cap="none" strike="noStrike">
                <a:solidFill>
                  <a:srgbClr val="000000"/>
                </a:solidFill>
                <a:latin typeface="Times New Roman"/>
                <a:ea typeface="Times New Roman"/>
                <a:cs typeface="Times New Roman"/>
                <a:sym typeface="Times New Roman"/>
              </a:rPr>
              <a:t>Factors that causes High Latency</a:t>
            </a:r>
            <a:endParaRPr/>
          </a:p>
          <a:p>
            <a:pPr indent="0" lvl="0" marL="0" marR="0" rtl="0" algn="l">
              <a:lnSpc>
                <a:spcPct val="100000"/>
              </a:lnSpc>
              <a:spcBef>
                <a:spcPts val="0"/>
              </a:spcBef>
              <a:spcAft>
                <a:spcPts val="0"/>
              </a:spcAft>
              <a:buNone/>
            </a:pPr>
            <a:r>
              <a:rPr b="0" i="0" lang="en-US" sz="2000" u="none" cap="none" strike="noStrike">
                <a:solidFill>
                  <a:srgbClr val="000000"/>
                </a:solidFill>
                <a:latin typeface="Times New Roman"/>
                <a:ea typeface="Times New Roman"/>
                <a:cs typeface="Times New Roman"/>
                <a:sym typeface="Times New Roman"/>
              </a:rPr>
              <a:t>High latency can severely impact the performance and user experience of distributed systems. Here are key factors that contribute to high latency within this context:</a:t>
            </a:r>
            <a:endParaRPr/>
          </a:p>
          <a:p>
            <a:pPr indent="0" lvl="0" marL="0" marR="0" rtl="0" algn="l">
              <a:lnSpc>
                <a:spcPct val="100000"/>
              </a:lnSpc>
              <a:spcBef>
                <a:spcPts val="0"/>
              </a:spcBef>
              <a:spcAft>
                <a:spcPts val="0"/>
              </a:spcAft>
              <a:buNone/>
            </a:pPr>
            <a:r>
              <a:rPr b="1" i="0" lang="en-US" sz="2000" u="none" cap="none" strike="noStrike">
                <a:solidFill>
                  <a:srgbClr val="000000"/>
                </a:solidFill>
                <a:latin typeface="Times New Roman"/>
                <a:ea typeface="Times New Roman"/>
                <a:cs typeface="Times New Roman"/>
                <a:sym typeface="Times New Roman"/>
              </a:rPr>
              <a:t>Network Congestion</a:t>
            </a:r>
            <a:r>
              <a:rPr b="0" i="0" lang="en-US" sz="2000" u="none" cap="none" strike="noStrike">
                <a:solidFill>
                  <a:srgbClr val="000000"/>
                </a:solidFill>
                <a:latin typeface="Times New Roman"/>
                <a:ea typeface="Times New Roman"/>
                <a:cs typeface="Times New Roman"/>
                <a:sym typeface="Times New Roman"/>
              </a:rPr>
              <a:t>: High traffic on a network can cause delays as data packets queue up for transmission.</a:t>
            </a:r>
            <a:endParaRPr/>
          </a:p>
          <a:p>
            <a:pPr indent="0" lvl="0" marL="0" marR="0" rtl="0" algn="l">
              <a:lnSpc>
                <a:spcPct val="100000"/>
              </a:lnSpc>
              <a:spcBef>
                <a:spcPts val="0"/>
              </a:spcBef>
              <a:spcAft>
                <a:spcPts val="0"/>
              </a:spcAft>
              <a:buNone/>
            </a:pPr>
            <a:r>
              <a:rPr b="1" i="0" lang="en-US" sz="2000" u="none" cap="none" strike="noStrike">
                <a:solidFill>
                  <a:srgbClr val="000000"/>
                </a:solidFill>
                <a:latin typeface="Times New Roman"/>
                <a:ea typeface="Times New Roman"/>
                <a:cs typeface="Times New Roman"/>
                <a:sym typeface="Times New Roman"/>
              </a:rPr>
              <a:t>Bandwidth Limitations</a:t>
            </a:r>
            <a:r>
              <a:rPr b="0" i="0" lang="en-US" sz="2000" u="none" cap="none" strike="noStrike">
                <a:solidFill>
                  <a:srgbClr val="000000"/>
                </a:solidFill>
                <a:latin typeface="Times New Roman"/>
                <a:ea typeface="Times New Roman"/>
                <a:cs typeface="Times New Roman"/>
                <a:sym typeface="Times New Roman"/>
              </a:rPr>
              <a:t>: Limited bandwidth can cause delays in data transmission, particularly in data-intensive applications.</a:t>
            </a:r>
            <a:endParaRPr/>
          </a:p>
          <a:p>
            <a:pPr indent="0" lvl="0" marL="0" marR="0" rtl="0" algn="l">
              <a:lnSpc>
                <a:spcPct val="100000"/>
              </a:lnSpc>
              <a:spcBef>
                <a:spcPts val="0"/>
              </a:spcBef>
              <a:spcAft>
                <a:spcPts val="0"/>
              </a:spcAft>
              <a:buNone/>
            </a:pPr>
            <a:r>
              <a:rPr b="1" i="0" lang="en-US" sz="2000" u="none" cap="none" strike="noStrike">
                <a:solidFill>
                  <a:srgbClr val="000000"/>
                </a:solidFill>
                <a:latin typeface="Times New Roman"/>
                <a:ea typeface="Times New Roman"/>
                <a:cs typeface="Times New Roman"/>
                <a:sym typeface="Times New Roman"/>
              </a:rPr>
              <a:t>Geographical Distance</a:t>
            </a:r>
            <a:r>
              <a:rPr b="0" i="0" lang="en-US" sz="2000" u="none" cap="none" strike="noStrike">
                <a:solidFill>
                  <a:srgbClr val="000000"/>
                </a:solidFill>
                <a:latin typeface="Times New Roman"/>
                <a:ea typeface="Times New Roman"/>
                <a:cs typeface="Times New Roman"/>
                <a:sym typeface="Times New Roman"/>
              </a:rPr>
              <a:t>: Data traveling long distances between distributed nodes can increase latency due to the inherent delays in transmission.</a:t>
            </a:r>
            <a:endParaRPr/>
          </a:p>
          <a:p>
            <a:pPr indent="0" lvl="0" marL="0" marR="0" rtl="0" algn="l">
              <a:lnSpc>
                <a:spcPct val="100000"/>
              </a:lnSpc>
              <a:spcBef>
                <a:spcPts val="0"/>
              </a:spcBef>
              <a:spcAft>
                <a:spcPts val="0"/>
              </a:spcAft>
              <a:buNone/>
            </a:pPr>
            <a:r>
              <a:rPr b="1" i="0" lang="en-US" sz="2000" u="none" cap="none" strike="noStrike">
                <a:solidFill>
                  <a:srgbClr val="000000"/>
                </a:solidFill>
                <a:latin typeface="Times New Roman"/>
                <a:ea typeface="Times New Roman"/>
                <a:cs typeface="Times New Roman"/>
                <a:sym typeface="Times New Roman"/>
              </a:rPr>
              <a:t>Server Load</a:t>
            </a:r>
            <a:r>
              <a:rPr b="0" i="0" lang="en-US" sz="2000" u="none" cap="none" strike="noStrike">
                <a:solidFill>
                  <a:srgbClr val="000000"/>
                </a:solidFill>
                <a:latin typeface="Times New Roman"/>
                <a:ea typeface="Times New Roman"/>
                <a:cs typeface="Times New Roman"/>
                <a:sym typeface="Times New Roman"/>
              </a:rPr>
              <a:t>: Overloaded servers can take longer to process requests, contributing to high latency.</a:t>
            </a:r>
            <a:endParaRPr/>
          </a:p>
          <a:p>
            <a:pPr indent="0" lvl="0" marL="0" marR="0" rtl="0" algn="l">
              <a:lnSpc>
                <a:spcPct val="100000"/>
              </a:lnSpc>
              <a:spcBef>
                <a:spcPts val="0"/>
              </a:spcBef>
              <a:spcAft>
                <a:spcPts val="0"/>
              </a:spcAft>
              <a:buNone/>
            </a:pPr>
            <a:r>
              <a:rPr b="1" i="0" lang="en-US" sz="2000" u="none" cap="none" strike="noStrike">
                <a:solidFill>
                  <a:srgbClr val="000000"/>
                </a:solidFill>
                <a:latin typeface="Times New Roman"/>
                <a:ea typeface="Times New Roman"/>
                <a:cs typeface="Times New Roman"/>
                <a:sym typeface="Times New Roman"/>
              </a:rPr>
              <a:t>Latency in Database Queries</a:t>
            </a:r>
            <a:r>
              <a:rPr b="0" i="0" lang="en-US" sz="2000" u="none" cap="none" strike="noStrike">
                <a:solidFill>
                  <a:srgbClr val="000000"/>
                </a:solidFill>
                <a:latin typeface="Times New Roman"/>
                <a:ea typeface="Times New Roman"/>
                <a:cs typeface="Times New Roman"/>
                <a:sym typeface="Times New Roman"/>
              </a:rPr>
              <a:t>: Complex or inefficient database queries can significantly increase response times. </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7"/>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3" name="Google Shape;73;p7"/>
          <p:cNvSpPr txBox="1"/>
          <p:nvPr/>
        </p:nvSpPr>
        <p:spPr>
          <a:xfrm>
            <a:off x="414528" y="1103585"/>
            <a:ext cx="13569696" cy="37856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Times New Roman"/>
                <a:ea typeface="Times New Roman"/>
                <a:cs typeface="Times New Roman"/>
                <a:sym typeface="Times New Roman"/>
              </a:rPr>
              <a:t>How to measure Latency?</a:t>
            </a:r>
            <a:endParaRPr/>
          </a:p>
          <a:p>
            <a:pPr indent="0" lvl="0" marL="0" marR="0" rtl="0" algn="l">
              <a:lnSpc>
                <a:spcPct val="100000"/>
              </a:lnSpc>
              <a:spcBef>
                <a:spcPts val="0"/>
              </a:spcBef>
              <a:spcAft>
                <a:spcPts val="0"/>
              </a:spcAft>
              <a:buNone/>
            </a:pPr>
            <a:r>
              <a:rPr b="0" i="0" lang="en-US" sz="2000" u="none" cap="none" strike="noStrike">
                <a:solidFill>
                  <a:srgbClr val="000000"/>
                </a:solidFill>
                <a:latin typeface="Times New Roman"/>
                <a:ea typeface="Times New Roman"/>
                <a:cs typeface="Times New Roman"/>
                <a:sym typeface="Times New Roman"/>
              </a:rPr>
              <a:t>There are various ways to measure latency. Here are some common methods:</a:t>
            </a:r>
            <a:endParaRPr/>
          </a:p>
          <a:p>
            <a:pPr indent="0" lvl="0" marL="0" marR="0" rtl="0" algn="l">
              <a:lnSpc>
                <a:spcPct val="100000"/>
              </a:lnSpc>
              <a:spcBef>
                <a:spcPts val="0"/>
              </a:spcBef>
              <a:spcAft>
                <a:spcPts val="0"/>
              </a:spcAft>
              <a:buNone/>
            </a:pPr>
            <a:r>
              <a:rPr b="1" i="0" lang="en-US" sz="2000" u="none" cap="none" strike="noStrike">
                <a:solidFill>
                  <a:srgbClr val="000000"/>
                </a:solidFill>
                <a:latin typeface="Times New Roman"/>
                <a:ea typeface="Times New Roman"/>
                <a:cs typeface="Times New Roman"/>
                <a:sym typeface="Times New Roman"/>
              </a:rPr>
              <a:t>Ping:</a:t>
            </a:r>
            <a:r>
              <a:rPr b="0" i="0" lang="en-US" sz="2000" u="none" cap="none" strike="noStrike">
                <a:solidFill>
                  <a:srgbClr val="000000"/>
                </a:solidFill>
                <a:latin typeface="Times New Roman"/>
                <a:ea typeface="Times New Roman"/>
                <a:cs typeface="Times New Roman"/>
                <a:sym typeface="Times New Roman"/>
              </a:rPr>
              <a:t> This widely used tool sends data packets to a target server and measures the round-trip time (RTT), providing an estimate of network latency between two points. </a:t>
            </a:r>
            <a:r>
              <a:rPr b="1" i="0" lang="en-US" sz="2000" u="none" cap="none" strike="noStrike">
                <a:solidFill>
                  <a:srgbClr val="000000"/>
                </a:solidFill>
                <a:latin typeface="Times New Roman"/>
                <a:ea typeface="Times New Roman"/>
                <a:cs typeface="Times New Roman"/>
                <a:sym typeface="Times New Roman"/>
              </a:rPr>
              <a:t>(RTT = 2 * one-way latency)</a:t>
            </a:r>
            <a:r>
              <a:rPr b="0" i="0" lang="en-US" sz="2000" u="none" cap="none" strike="noStrike">
                <a:solidFill>
                  <a:srgbClr val="000000"/>
                </a:solidFill>
                <a:latin typeface="Times New Roman"/>
                <a:ea typeface="Times New Roman"/>
                <a:cs typeface="Times New Roman"/>
                <a:sym typeface="Times New Roman"/>
              </a:rPr>
              <a:t>.</a:t>
            </a:r>
            <a:endParaRPr/>
          </a:p>
          <a:p>
            <a:pPr indent="0" lvl="0" marL="0" marR="0" rtl="0" algn="l">
              <a:lnSpc>
                <a:spcPct val="100000"/>
              </a:lnSpc>
              <a:spcBef>
                <a:spcPts val="0"/>
              </a:spcBef>
              <a:spcAft>
                <a:spcPts val="0"/>
              </a:spcAft>
              <a:buNone/>
            </a:pPr>
            <a:r>
              <a:rPr b="1" i="0" lang="en-US" sz="2000" u="none" cap="none" strike="noStrike">
                <a:solidFill>
                  <a:srgbClr val="000000"/>
                </a:solidFill>
                <a:latin typeface="Times New Roman"/>
                <a:ea typeface="Times New Roman"/>
                <a:cs typeface="Times New Roman"/>
                <a:sym typeface="Times New Roman"/>
              </a:rPr>
              <a:t>Traceroute:</a:t>
            </a:r>
            <a:r>
              <a:rPr b="0" i="0" lang="en-US" sz="2000" u="none" cap="none" strike="noStrike">
                <a:solidFill>
                  <a:srgbClr val="000000"/>
                </a:solidFill>
                <a:latin typeface="Times New Roman"/>
                <a:ea typeface="Times New Roman"/>
                <a:cs typeface="Times New Roman"/>
                <a:sym typeface="Times New Roman"/>
              </a:rPr>
              <a:t> This tool displays the path data packets take to reach a specific destination, revealing which network hops contribute the most to overall latency.</a:t>
            </a:r>
            <a:endParaRPr/>
          </a:p>
          <a:p>
            <a:pPr indent="0" lvl="0" marL="0" marR="0" rtl="0" algn="l">
              <a:lnSpc>
                <a:spcPct val="100000"/>
              </a:lnSpc>
              <a:spcBef>
                <a:spcPts val="0"/>
              </a:spcBef>
              <a:spcAft>
                <a:spcPts val="0"/>
              </a:spcAft>
              <a:buNone/>
            </a:pPr>
            <a:r>
              <a:rPr b="1" i="0" lang="en-US" sz="2000" u="none" cap="none" strike="noStrike">
                <a:solidFill>
                  <a:srgbClr val="000000"/>
                </a:solidFill>
                <a:latin typeface="Times New Roman"/>
                <a:ea typeface="Times New Roman"/>
                <a:cs typeface="Times New Roman"/>
                <a:sym typeface="Times New Roman"/>
              </a:rPr>
              <a:t>MTR (traceroute with ping):</a:t>
            </a:r>
            <a:r>
              <a:rPr b="0" i="0" lang="en-US" sz="2000" u="none" cap="none" strike="noStrike">
                <a:solidFill>
                  <a:srgbClr val="000000"/>
                </a:solidFill>
                <a:latin typeface="Times New Roman"/>
                <a:ea typeface="Times New Roman"/>
                <a:cs typeface="Times New Roman"/>
                <a:sym typeface="Times New Roman"/>
              </a:rPr>
              <a:t> Combines traceroute and ping functionality, showing both routing information and RTT at each hop along the path.</a:t>
            </a:r>
            <a:endParaRPr/>
          </a:p>
          <a:p>
            <a:pPr indent="0" lvl="0" marL="0" marR="0" rtl="0" algn="l">
              <a:lnSpc>
                <a:spcPct val="100000"/>
              </a:lnSpc>
              <a:spcBef>
                <a:spcPts val="0"/>
              </a:spcBef>
              <a:spcAft>
                <a:spcPts val="0"/>
              </a:spcAft>
              <a:buNone/>
            </a:pPr>
            <a:r>
              <a:rPr b="1" i="0" lang="en-US" sz="2000" u="none" cap="none" strike="noStrike">
                <a:solidFill>
                  <a:srgbClr val="000000"/>
                </a:solidFill>
                <a:latin typeface="Times New Roman"/>
                <a:ea typeface="Times New Roman"/>
                <a:cs typeface="Times New Roman"/>
                <a:sym typeface="Times New Roman"/>
              </a:rPr>
              <a:t>Performance profiling tools:</a:t>
            </a:r>
            <a:r>
              <a:rPr b="0" i="0" lang="en-US" sz="2000" u="none" cap="none" strike="noStrike">
                <a:solidFill>
                  <a:srgbClr val="000000"/>
                </a:solidFill>
                <a:latin typeface="Times New Roman"/>
                <a:ea typeface="Times New Roman"/>
                <a:cs typeface="Times New Roman"/>
                <a:sym typeface="Times New Roman"/>
              </a:rPr>
              <a:t> Specialized profiling tools track resource usage and execution times within a system, providing detailed insights into system latency contributors.</a:t>
            </a:r>
            <a:endParaRPr/>
          </a:p>
          <a:p>
            <a:pPr indent="0" lvl="0" marL="0" marR="0" rtl="0" algn="l">
              <a:lnSpc>
                <a:spcPct val="100000"/>
              </a:lnSpc>
              <a:spcBef>
                <a:spcPts val="0"/>
              </a:spcBef>
              <a:spcAft>
                <a:spcPts val="0"/>
              </a:spcAft>
              <a:buNone/>
            </a:pPr>
            <a:r>
              <a:rPr b="1" i="0" lang="en-US" sz="2000" u="none" cap="none" strike="noStrike">
                <a:solidFill>
                  <a:srgbClr val="000000"/>
                </a:solidFill>
                <a:latin typeface="Times New Roman"/>
                <a:ea typeface="Times New Roman"/>
                <a:cs typeface="Times New Roman"/>
                <a:sym typeface="Times New Roman"/>
              </a:rPr>
              <a:t>Application performance monitoring (APM) tools:</a:t>
            </a:r>
            <a:r>
              <a:rPr b="0" i="0" lang="en-US" sz="2000" u="none" cap="none" strike="noStrike">
                <a:solidFill>
                  <a:srgbClr val="000000"/>
                </a:solidFill>
                <a:latin typeface="Times New Roman"/>
                <a:ea typeface="Times New Roman"/>
                <a:cs typeface="Times New Roman"/>
                <a:sym typeface="Times New Roman"/>
              </a:rPr>
              <a:t> Similar to network monitoring tools for networks, APM tools monitor the performance of applications, including response times and latency across various components.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8"/>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9" name="Google Shape;79;p8"/>
          <p:cNvSpPr/>
          <p:nvPr/>
        </p:nvSpPr>
        <p:spPr>
          <a:xfrm>
            <a:off x="223522" y="931502"/>
            <a:ext cx="13390323" cy="378565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Problem Statement:</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Calculate the round-trip time (RTT) latency for a data packet traveling between a client in New York City and a server in London, UK, assuming a direct fiber-optic connection with a propagation speed of 200,000 km/s. </a:t>
            </a:r>
            <a:endParaRPr/>
          </a:p>
          <a:p>
            <a:pPr indent="-127000" lvl="0" marL="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Times New Roman"/>
                <a:ea typeface="Times New Roman"/>
                <a:cs typeface="Times New Roman"/>
                <a:sym typeface="Times New Roman"/>
              </a:rPr>
              <a:t>Distance:</a:t>
            </a:r>
            <a:r>
              <a:rPr b="0" i="0" lang="en-US" sz="2000" u="none" cap="none" strike="noStrike">
                <a:solidFill>
                  <a:schemeClr val="dk1"/>
                </a:solidFill>
                <a:latin typeface="Times New Roman"/>
                <a:ea typeface="Times New Roman"/>
                <a:cs typeface="Times New Roman"/>
                <a:sym typeface="Times New Roman"/>
              </a:rPr>
              <a:t> Distance between NYC and London: 5570 km</a:t>
            </a:r>
            <a:endParaRPr/>
          </a:p>
          <a:p>
            <a:pPr indent="-127000" lvl="0" marL="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Times New Roman"/>
                <a:ea typeface="Times New Roman"/>
                <a:cs typeface="Times New Roman"/>
                <a:sym typeface="Times New Roman"/>
              </a:rPr>
              <a:t>Propagation speed:</a:t>
            </a:r>
            <a:r>
              <a:rPr b="0" i="0" lang="en-US" sz="2000" u="none" cap="none" strike="noStrike">
                <a:solidFill>
                  <a:schemeClr val="dk1"/>
                </a:solidFill>
                <a:latin typeface="Times New Roman"/>
                <a:ea typeface="Times New Roman"/>
                <a:cs typeface="Times New Roman"/>
                <a:sym typeface="Times New Roman"/>
              </a:rPr>
              <a:t> 200,000 km/s </a:t>
            </a:r>
            <a:endParaRPr/>
          </a:p>
          <a:p>
            <a:pPr indent="-127000" lvl="0" marL="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Times New Roman"/>
                <a:ea typeface="Times New Roman"/>
                <a:cs typeface="Times New Roman"/>
                <a:sym typeface="Times New Roman"/>
              </a:rPr>
              <a:t>Constraints:</a:t>
            </a:r>
            <a:r>
              <a:rPr b="0" i="0" lang="en-US" sz="2000" u="none" cap="none" strike="noStrike">
                <a:solidFill>
                  <a:schemeClr val="dk1"/>
                </a:solidFill>
                <a:latin typeface="Times New Roman"/>
                <a:ea typeface="Times New Roman"/>
                <a:cs typeface="Times New Roman"/>
                <a:sym typeface="Times New Roman"/>
              </a:rPr>
              <a:t> Assume no network congestion or processing delays.</a:t>
            </a:r>
            <a:endParaRPr/>
          </a:p>
          <a:p>
            <a:pPr indent="-127000" lvl="0" marL="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Times New Roman"/>
                <a:ea typeface="Times New Roman"/>
                <a:cs typeface="Times New Roman"/>
                <a:sym typeface="Times New Roman"/>
              </a:rPr>
              <a:t>Desired Output:</a:t>
            </a:r>
            <a:r>
              <a:rPr b="0" i="0" lang="en-US" sz="2000" u="none" cap="none" strike="noStrike">
                <a:solidFill>
                  <a:schemeClr val="dk1"/>
                </a:solidFill>
                <a:latin typeface="Times New Roman"/>
                <a:ea typeface="Times New Roman"/>
                <a:cs typeface="Times New Roman"/>
                <a:sym typeface="Times New Roman"/>
              </a:rPr>
              <a:t> RTT latency in milliseconds.</a:t>
            </a:r>
            <a:endParaRPr/>
          </a:p>
          <a:p>
            <a:pPr indent="0" lvl="0" marL="0" marR="0" rtl="0" algn="l">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1. </a:t>
            </a:r>
            <a:r>
              <a:rPr b="1" i="0" lang="en-US" sz="2000" u="none" cap="none" strike="noStrike">
                <a:solidFill>
                  <a:schemeClr val="dk1"/>
                </a:solidFill>
                <a:latin typeface="Times New Roman"/>
                <a:ea typeface="Times New Roman"/>
                <a:cs typeface="Times New Roman"/>
                <a:sym typeface="Times New Roman"/>
              </a:rPr>
              <a:t>Calculate One-Way Latency</a:t>
            </a:r>
            <a:r>
              <a:rPr b="0" i="0" lang="en-US" sz="2000" u="none" cap="none" strike="noStrike">
                <a:solidFill>
                  <a:schemeClr val="dk1"/>
                </a:solidFill>
                <a:latin typeface="Times New Roman"/>
                <a:ea typeface="Times New Roman"/>
                <a:cs typeface="Times New Roman"/>
                <a:sym typeface="Times New Roman"/>
              </a:rPr>
              <a:t>: One-way latency is the time taken for the data to travel from the client to the server:</a:t>
            </a:r>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One-way latency</a:t>
            </a:r>
            <a:r>
              <a:rPr b="0" i="0" lang="en-US" sz="2000" u="none" cap="none" strike="noStrike">
                <a:solidFill>
                  <a:schemeClr val="dk1"/>
                </a:solidFill>
                <a:latin typeface="Times New Roman"/>
                <a:ea typeface="Times New Roman"/>
                <a:cs typeface="Times New Roman"/>
                <a:sym typeface="Times New Roman"/>
              </a:rPr>
              <a:t> = Distance / Propagation speed = 5570 KM / 200,000 Km/s = </a:t>
            </a:r>
            <a:r>
              <a:rPr b="1" i="0" lang="en-US" sz="2000" u="none" cap="none" strike="noStrike">
                <a:solidFill>
                  <a:schemeClr val="dk1"/>
                </a:solidFill>
                <a:latin typeface="Times New Roman"/>
                <a:ea typeface="Times New Roman"/>
                <a:cs typeface="Times New Roman"/>
                <a:sym typeface="Times New Roman"/>
              </a:rPr>
              <a:t>27.85 ms</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2. Calculate RTT</a:t>
            </a:r>
            <a:r>
              <a:rPr b="0" i="0" lang="en-US" sz="2000" u="none" cap="none" strike="noStrike">
                <a:solidFill>
                  <a:schemeClr val="dk1"/>
                </a:solidFill>
                <a:latin typeface="Times New Roman"/>
                <a:ea typeface="Times New Roman"/>
                <a:cs typeface="Times New Roman"/>
                <a:sym typeface="Times New Roman"/>
              </a:rPr>
              <a:t>: The RTT is twice the one-way latency:</a:t>
            </a:r>
            <a:endParaRPr/>
          </a:p>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Times New Roman"/>
                <a:ea typeface="Times New Roman"/>
                <a:cs typeface="Times New Roman"/>
                <a:sym typeface="Times New Roman"/>
              </a:rPr>
              <a:t>RTT </a:t>
            </a:r>
            <a:r>
              <a:rPr b="0" i="0" lang="en-US" sz="2000" u="none" cap="none" strike="noStrike">
                <a:solidFill>
                  <a:schemeClr val="dk1"/>
                </a:solidFill>
                <a:latin typeface="Times New Roman"/>
                <a:ea typeface="Times New Roman"/>
                <a:cs typeface="Times New Roman"/>
                <a:sym typeface="Times New Roman"/>
              </a:rPr>
              <a:t>= 2 × 27.85ms = </a:t>
            </a:r>
            <a:r>
              <a:rPr b="1" i="0" lang="en-US" sz="2000" u="none" cap="none" strike="noStrike">
                <a:solidFill>
                  <a:schemeClr val="dk1"/>
                </a:solidFill>
                <a:latin typeface="Times New Roman"/>
                <a:ea typeface="Times New Roman"/>
                <a:cs typeface="Times New Roman"/>
                <a:sym typeface="Times New Roman"/>
              </a:rPr>
              <a:t>55.7ms</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9"/>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85" name="Google Shape;85;p9"/>
          <p:cNvSpPr txBox="1"/>
          <p:nvPr/>
        </p:nvSpPr>
        <p:spPr>
          <a:xfrm>
            <a:off x="219456" y="0"/>
            <a:ext cx="6412992"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Times New Roman"/>
                <a:ea typeface="Times New Roman"/>
                <a:cs typeface="Times New Roman"/>
                <a:sym typeface="Times New Roman"/>
              </a:rPr>
              <a:t>Throughput</a:t>
            </a:r>
            <a:endParaRPr b="1" i="0" sz="3200" u="none" cap="none" strike="noStrike">
              <a:solidFill>
                <a:srgbClr val="000000"/>
              </a:solidFill>
              <a:latin typeface="Times New Roman"/>
              <a:ea typeface="Times New Roman"/>
              <a:cs typeface="Times New Roman"/>
              <a:sym typeface="Times New Roman"/>
            </a:endParaRPr>
          </a:p>
        </p:txBody>
      </p:sp>
      <p:sp>
        <p:nvSpPr>
          <p:cNvPr id="86" name="Google Shape;86;p9"/>
          <p:cNvSpPr/>
          <p:nvPr/>
        </p:nvSpPr>
        <p:spPr>
          <a:xfrm>
            <a:off x="219456" y="997786"/>
            <a:ext cx="13252537" cy="1631216"/>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The rate at which a system, process, or network can move data or carry out operations in a particular period of time is referred to as throughput. Bits per second (bps), bytes per second, transactions per second, etc. are common units of measurement. It is computed by dividing the total number of operations or objects executed by the time taken.</a:t>
            </a:r>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Times New Roman"/>
                <a:ea typeface="Times New Roman"/>
                <a:cs typeface="Times New Roman"/>
                <a:sym typeface="Times New Roman"/>
              </a:rPr>
              <a:t>For example, an ice-cream factory produces 50 ice-creams in an hour so the throughput of the factory is </a:t>
            </a:r>
            <a:r>
              <a:rPr b="1" i="0" lang="en-US" sz="2000" u="none" cap="none" strike="noStrike">
                <a:solidFill>
                  <a:schemeClr val="dk1"/>
                </a:solidFill>
                <a:latin typeface="Times New Roman"/>
                <a:ea typeface="Times New Roman"/>
                <a:cs typeface="Times New Roman"/>
                <a:sym typeface="Times New Roman"/>
              </a:rPr>
              <a:t>50 ice-creams/hour</a:t>
            </a:r>
            <a:r>
              <a:rPr b="0" i="0" lang="en-US" sz="2000" u="none" cap="none" strike="noStrike">
                <a:solidFill>
                  <a:schemeClr val="dk1"/>
                </a:solidFill>
                <a:latin typeface="Times New Roman"/>
                <a:ea typeface="Times New Roman"/>
                <a:cs typeface="Times New Roman"/>
                <a:sym typeface="Times New Roman"/>
              </a:rPr>
              <a:t>.</a:t>
            </a:r>
            <a:endParaRPr/>
          </a:p>
        </p:txBody>
      </p:sp>
      <p:pic>
        <p:nvPicPr>
          <p:cNvPr id="87" name="Google Shape;87;p9"/>
          <p:cNvPicPr preferRelativeResize="0"/>
          <p:nvPr/>
        </p:nvPicPr>
        <p:blipFill rotWithShape="1">
          <a:blip r:embed="rId3">
            <a:alphaModFix/>
          </a:blip>
          <a:srcRect b="0" l="0" r="0" t="0"/>
          <a:stretch/>
        </p:blipFill>
        <p:spPr>
          <a:xfrm>
            <a:off x="3425952" y="2552058"/>
            <a:ext cx="6115050" cy="1724025"/>
          </a:xfrm>
          <a:prstGeom prst="rect">
            <a:avLst/>
          </a:prstGeom>
          <a:noFill/>
          <a:ln>
            <a:noFill/>
          </a:ln>
        </p:spPr>
      </p:pic>
      <p:sp>
        <p:nvSpPr>
          <p:cNvPr id="88" name="Google Shape;88;p9"/>
          <p:cNvSpPr txBox="1"/>
          <p:nvPr/>
        </p:nvSpPr>
        <p:spPr>
          <a:xfrm>
            <a:off x="411480" y="4737748"/>
            <a:ext cx="13414248"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Here are a few contexts in which throughput is commonly used:</a:t>
            </a:r>
            <a:endParaRPr/>
          </a:p>
          <a:p>
            <a:pPr indent="-127000" lvl="0" marL="0" marR="0" rtl="0" algn="l">
              <a:lnSpc>
                <a:spcPct val="10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Times New Roman"/>
                <a:ea typeface="Times New Roman"/>
                <a:cs typeface="Times New Roman"/>
                <a:sym typeface="Times New Roman"/>
              </a:rPr>
              <a:t>Network Throughput:</a:t>
            </a:r>
            <a:r>
              <a:rPr b="0" i="0" lang="en-US" sz="2000" u="none" cap="none" strike="noStrike">
                <a:solidFill>
                  <a:srgbClr val="000000"/>
                </a:solidFill>
                <a:latin typeface="Times New Roman"/>
                <a:ea typeface="Times New Roman"/>
                <a:cs typeface="Times New Roman"/>
                <a:sym typeface="Times New Roman"/>
              </a:rPr>
              <a:t> Throughput in networking is the quantity of data that can be sent via a network in a specific amount of time. When assessing the effectiveness of communication routes, this measure is important.</a:t>
            </a:r>
            <a:endParaRPr/>
          </a:p>
          <a:p>
            <a:pPr indent="-127000" lvl="0" marL="0" marR="0" rtl="0" algn="l">
              <a:lnSpc>
                <a:spcPct val="10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Times New Roman"/>
                <a:ea typeface="Times New Roman"/>
                <a:cs typeface="Times New Roman"/>
                <a:sym typeface="Times New Roman"/>
              </a:rPr>
              <a:t>Disk Throughput:</a:t>
            </a:r>
            <a:r>
              <a:rPr b="0" i="0" lang="en-US" sz="2000" u="none" cap="none" strike="noStrike">
                <a:solidFill>
                  <a:srgbClr val="000000"/>
                </a:solidFill>
                <a:latin typeface="Times New Roman"/>
                <a:ea typeface="Times New Roman"/>
                <a:cs typeface="Times New Roman"/>
                <a:sym typeface="Times New Roman"/>
              </a:rPr>
              <a:t> In storage systems, throughput measures how quickly data can be read from or written to a storage device, usually expressed in terms of bytes per second.</a:t>
            </a:r>
            <a:endParaRPr/>
          </a:p>
          <a:p>
            <a:pPr indent="-127000" lvl="0" marL="0" marR="0" rtl="0" algn="l">
              <a:lnSpc>
                <a:spcPct val="100000"/>
              </a:lnSpc>
              <a:spcBef>
                <a:spcPts val="0"/>
              </a:spcBef>
              <a:spcAft>
                <a:spcPts val="0"/>
              </a:spcAft>
              <a:buClr>
                <a:srgbClr val="000000"/>
              </a:buClr>
              <a:buSzPts val="2000"/>
              <a:buFont typeface="Arial"/>
              <a:buAutoNum type="arabicPeriod"/>
            </a:pPr>
            <a:r>
              <a:rPr b="1" i="0" lang="en-US" sz="2000" u="none" cap="none" strike="noStrike">
                <a:solidFill>
                  <a:srgbClr val="000000"/>
                </a:solidFill>
                <a:latin typeface="Times New Roman"/>
                <a:ea typeface="Times New Roman"/>
                <a:cs typeface="Times New Roman"/>
                <a:sym typeface="Times New Roman"/>
              </a:rPr>
              <a:t>Processing Throughput:</a:t>
            </a:r>
            <a:r>
              <a:rPr b="0" i="0" lang="en-US" sz="2000" u="none" cap="none" strike="noStrike">
                <a:solidFill>
                  <a:srgbClr val="000000"/>
                </a:solidFill>
                <a:latin typeface="Times New Roman"/>
                <a:ea typeface="Times New Roman"/>
                <a:cs typeface="Times New Roman"/>
                <a:sym typeface="Times New Roman"/>
              </a:rPr>
              <a:t> In computing, especially in the context of CPUs or processors, throughput is the number of operations completed in a unit of time. It could refer to the number of instructions executed per second.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0"/>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94" name="Google Shape;94;p10"/>
          <p:cNvPicPr preferRelativeResize="0"/>
          <p:nvPr/>
        </p:nvPicPr>
        <p:blipFill rotWithShape="1">
          <a:blip r:embed="rId3">
            <a:alphaModFix/>
          </a:blip>
          <a:srcRect b="0" l="0" r="0" t="0"/>
          <a:stretch/>
        </p:blipFill>
        <p:spPr>
          <a:xfrm>
            <a:off x="1975104" y="1475232"/>
            <a:ext cx="10046208" cy="593750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1"/>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aphicFrame>
        <p:nvGraphicFramePr>
          <p:cNvPr id="100" name="Google Shape;100;p11"/>
          <p:cNvGraphicFramePr/>
          <p:nvPr/>
        </p:nvGraphicFramePr>
        <p:xfrm>
          <a:off x="1035082" y="1440986"/>
          <a:ext cx="3000000" cy="3000000"/>
        </p:xfrm>
        <a:graphic>
          <a:graphicData uri="http://schemas.openxmlformats.org/drawingml/2006/table">
            <a:tbl>
              <a:tblPr bandRow="1" firstRow="1">
                <a:noFill/>
                <a:tableStyleId>{4C856D8D-1EDB-44F1-B801-007FA1E0277F}</a:tableStyleId>
              </a:tblPr>
              <a:tblGrid>
                <a:gridCol w="3893725"/>
                <a:gridCol w="3893725"/>
                <a:gridCol w="3893725"/>
              </a:tblGrid>
              <a:tr h="39110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Aspect</a:t>
                      </a:r>
                      <a:endParaRPr/>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Throughput</a:t>
                      </a:r>
                      <a:endParaRPr/>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Latency</a:t>
                      </a:r>
                      <a:endParaRPr/>
                    </a:p>
                  </a:txBody>
                  <a:tcPr marT="45725" marB="45725" marR="91450" marL="91450" anchor="ctr"/>
                </a:tc>
              </a:tr>
              <a:tr h="6919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Definition</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The number of tasks completed in a given time period. </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The time it takes for a single task to be completed.</a:t>
                      </a:r>
                      <a:endParaRPr/>
                    </a:p>
                  </a:txBody>
                  <a:tcPr marT="45725" marB="45725" marR="91450" marL="91450" anchor="ctr"/>
                </a:tc>
              </a:tr>
              <a:tr h="992775">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Measurement Unit</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Typically measured in operations per second or transactions per second.</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Measured in time units such as milliseconds or seconds.</a:t>
                      </a:r>
                      <a:endParaRPr/>
                    </a:p>
                  </a:txBody>
                  <a:tcPr marT="45725" marB="45725" marR="91450" marL="91450" anchor="ctr"/>
                </a:tc>
              </a:tr>
              <a:tr h="992775">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Relationship</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Inversely related to latency. Higher throughput often corresponds to lower latency.</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Inversely related to throughput. Lower latency often corresponds to higher throughput.</a:t>
                      </a:r>
                      <a:endParaRPr/>
                    </a:p>
                  </a:txBody>
                  <a:tcPr marT="45725" marB="45725" marR="91450" marL="91450" anchor="ctr"/>
                </a:tc>
              </a:tr>
              <a:tr h="992775">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Example</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A network with high throughput can transfer large amounts of data quickly.</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Low latency in gaming means minimal delay between user input and on-screen action.</a:t>
                      </a:r>
                      <a:endParaRPr/>
                    </a:p>
                  </a:txBody>
                  <a:tcPr marT="45725" marB="45725" marR="91450" marL="91450" anchor="ctr"/>
                </a:tc>
              </a:tr>
              <a:tr h="992775">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Impact on System</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Reflects the overall system capacity and ability to handle multiple tasks simultaneously.</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Reflects the responsiveness and perceived speed of the system from the user's perspective.</a:t>
                      </a:r>
                      <a:endParaRPr/>
                    </a:p>
                  </a:txBody>
                  <a:tcPr marT="45725" marB="45725" marR="91450" marL="91450" anchor="ct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2"/>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06" name="Google Shape;106;p12"/>
          <p:cNvSpPr txBox="1"/>
          <p:nvPr/>
        </p:nvSpPr>
        <p:spPr>
          <a:xfrm>
            <a:off x="140207" y="1053217"/>
            <a:ext cx="14049947" cy="64633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Factors affecting Throughput</a:t>
            </a:r>
            <a:endParaRPr/>
          </a:p>
          <a:p>
            <a:pPr indent="-114300" lvl="0" marL="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Network Congestion:</a:t>
            </a:r>
            <a:r>
              <a:rPr b="0" i="0" lang="en-US" sz="1800" u="none" cap="none" strike="noStrike">
                <a:solidFill>
                  <a:srgbClr val="000000"/>
                </a:solidFill>
                <a:latin typeface="Times New Roman"/>
                <a:ea typeface="Times New Roman"/>
                <a:cs typeface="Times New Roman"/>
                <a:sym typeface="Times New Roman"/>
              </a:rPr>
              <a:t> High levels of traffic on a network can lead to congestion, reducing the available bandwidth and impacting throughput.</a:t>
            </a:r>
            <a:endParaRPr/>
          </a:p>
          <a:p>
            <a:pPr indent="-114300" lvl="0" marL="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Bandwidth Limitations:</a:t>
            </a:r>
            <a:r>
              <a:rPr b="0" i="0" lang="en-US" sz="1800" u="none" cap="none" strike="noStrike">
                <a:solidFill>
                  <a:srgbClr val="000000"/>
                </a:solidFill>
                <a:latin typeface="Times New Roman"/>
                <a:ea typeface="Times New Roman"/>
                <a:cs typeface="Times New Roman"/>
                <a:sym typeface="Times New Roman"/>
              </a:rPr>
              <a:t> The maximum capacity of the network or communication channel can constrain throughput. Upgrading to higher bandwidth connections can address this limitation.</a:t>
            </a:r>
            <a:endParaRPr/>
          </a:p>
          <a:p>
            <a:pPr indent="-114300" lvl="0" marL="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Hardware Performance:</a:t>
            </a:r>
            <a:r>
              <a:rPr b="0" i="0" lang="en-US" sz="1800" u="none" cap="none" strike="noStrike">
                <a:solidFill>
                  <a:srgbClr val="000000"/>
                </a:solidFill>
                <a:latin typeface="Times New Roman"/>
                <a:ea typeface="Times New Roman"/>
                <a:cs typeface="Times New Roman"/>
                <a:sym typeface="Times New Roman"/>
              </a:rPr>
              <a:t> The capabilities of routers, switches, and other networking equipment can influence throughput. Upgrading hardware or optimizing configurations may be necessary to improve performance.</a:t>
            </a:r>
            <a:endParaRPr/>
          </a:p>
          <a:p>
            <a:pPr indent="-114300" lvl="0" marL="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Software Efficiency:</a:t>
            </a:r>
            <a:r>
              <a:rPr b="0" i="0" lang="en-US" sz="1800" u="none" cap="none" strike="noStrike">
                <a:solidFill>
                  <a:srgbClr val="000000"/>
                </a:solidFill>
                <a:latin typeface="Times New Roman"/>
                <a:ea typeface="Times New Roman"/>
                <a:cs typeface="Times New Roman"/>
                <a:sym typeface="Times New Roman"/>
              </a:rPr>
              <a:t> Inefficient software design or poorly optimized algorithms can contribute to reduced throughput. </a:t>
            </a:r>
            <a:endParaRPr/>
          </a:p>
          <a:p>
            <a:pPr indent="-114300" lvl="0" marL="0" marR="0" rtl="0" algn="l">
              <a:lnSpc>
                <a:spcPct val="100000"/>
              </a:lnSpc>
              <a:spcBef>
                <a:spcPts val="0"/>
              </a:spcBef>
              <a:spcAft>
                <a:spcPts val="0"/>
              </a:spcAft>
              <a:buClr>
                <a:srgbClr val="000000"/>
              </a:buClr>
              <a:buSzPts val="1800"/>
              <a:buFont typeface="Arial"/>
              <a:buChar char="•"/>
            </a:pPr>
            <a:r>
              <a:rPr b="1" i="0" lang="en-US" sz="1800" u="none" cap="none" strike="noStrike">
                <a:solidFill>
                  <a:srgbClr val="000000"/>
                </a:solidFill>
                <a:latin typeface="Times New Roman"/>
                <a:ea typeface="Times New Roman"/>
                <a:cs typeface="Times New Roman"/>
                <a:sym typeface="Times New Roman"/>
              </a:rPr>
              <a:t>Latency:</a:t>
            </a:r>
            <a:r>
              <a:rPr b="0" i="0" lang="en-US" sz="1800" u="none" cap="none" strike="noStrike">
                <a:solidFill>
                  <a:srgbClr val="000000"/>
                </a:solidFill>
                <a:latin typeface="Times New Roman"/>
                <a:ea typeface="Times New Roman"/>
                <a:cs typeface="Times New Roman"/>
                <a:sym typeface="Times New Roman"/>
              </a:rPr>
              <a:t> High latency can impact throughput, especially in applications where real-time data processing is crucial.</a:t>
            </a:r>
            <a:endParaRPr/>
          </a:p>
          <a:p>
            <a:pPr indent="0" lvl="0" marL="0" marR="0" rtl="0" algn="l">
              <a:lnSpc>
                <a:spcPct val="100000"/>
              </a:lnSpc>
              <a:spcBef>
                <a:spcPts val="0"/>
              </a:spcBef>
              <a:spcAft>
                <a:spcPts val="0"/>
              </a:spcAft>
              <a:buNone/>
            </a:pPr>
            <a:r>
              <a:t/>
            </a:r>
            <a:endParaRPr b="0" i="0" sz="1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Methods to improve Throughput</a:t>
            </a:r>
            <a:endParaRPr/>
          </a:p>
          <a:p>
            <a:pPr indent="-114300" lvl="0" marL="0" marR="0" rtl="0" algn="l">
              <a:lnSpc>
                <a:spcPct val="100000"/>
              </a:lnSpc>
              <a:spcBef>
                <a:spcPts val="0"/>
              </a:spcBef>
              <a:spcAft>
                <a:spcPts val="0"/>
              </a:spcAft>
              <a:buClr>
                <a:srgbClr val="000000"/>
              </a:buClr>
              <a:buSzPts val="1800"/>
              <a:buFont typeface="Arial"/>
              <a:buAutoNum type="arabicPeriod"/>
            </a:pPr>
            <a:r>
              <a:rPr b="1" i="0" lang="en-US" sz="1800" u="none" cap="none" strike="noStrike">
                <a:solidFill>
                  <a:srgbClr val="000000"/>
                </a:solidFill>
                <a:latin typeface="Times New Roman"/>
                <a:ea typeface="Times New Roman"/>
                <a:cs typeface="Times New Roman"/>
                <a:sym typeface="Times New Roman"/>
              </a:rPr>
              <a:t>Network Optimization: 1. </a:t>
            </a:r>
            <a:r>
              <a:rPr b="0" i="0" lang="en-US" sz="1800" u="none" cap="none" strike="noStrike">
                <a:solidFill>
                  <a:srgbClr val="000000"/>
                </a:solidFill>
                <a:latin typeface="Times New Roman"/>
                <a:ea typeface="Times New Roman"/>
                <a:cs typeface="Times New Roman"/>
                <a:sym typeface="Times New Roman"/>
              </a:rPr>
              <a:t>Utilize efficient network protocols to minimize overhead.</a:t>
            </a:r>
            <a:endParaRPr/>
          </a:p>
          <a:p>
            <a:pPr indent="0" lvl="1" marL="45720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2. Optimize routing algorithms to reduce latency and packet loss.</a:t>
            </a:r>
            <a:endParaRPr/>
          </a:p>
          <a:p>
            <a:pPr indent="-114300" lvl="0" marL="0" marR="0" rtl="0" algn="l">
              <a:lnSpc>
                <a:spcPct val="100000"/>
              </a:lnSpc>
              <a:spcBef>
                <a:spcPts val="0"/>
              </a:spcBef>
              <a:spcAft>
                <a:spcPts val="0"/>
              </a:spcAft>
              <a:buClr>
                <a:srgbClr val="000000"/>
              </a:buClr>
              <a:buSzPts val="1800"/>
              <a:buFont typeface="Arial"/>
              <a:buAutoNum type="arabicPeriod"/>
            </a:pPr>
            <a:r>
              <a:rPr b="1" i="0" lang="en-US" sz="1800" u="sng" cap="none" strike="noStrike">
                <a:solidFill>
                  <a:srgbClr val="000000"/>
                </a:solidFill>
                <a:latin typeface="Times New Roman"/>
                <a:ea typeface="Times New Roman"/>
                <a:cs typeface="Times New Roman"/>
                <a:sym typeface="Times New Roman"/>
                <a:hlinkClick r:id="rId3">
                  <a:extLst>
                    <a:ext uri="{A12FA001-AC4F-418D-AE19-62706E023703}">
                      <ahyp:hlinkClr val="tx"/>
                    </a:ext>
                  </a:extLst>
                </a:hlinkClick>
              </a:rPr>
              <a:t>Load Balancing</a:t>
            </a:r>
            <a:r>
              <a:rPr b="1" i="0" lang="en-US" sz="1800" u="none" cap="none" strike="noStrike">
                <a:solidFill>
                  <a:srgbClr val="000000"/>
                </a:solidFill>
                <a:latin typeface="Times New Roman"/>
                <a:ea typeface="Times New Roman"/>
                <a:cs typeface="Times New Roman"/>
                <a:sym typeface="Times New Roman"/>
              </a:rPr>
              <a:t>: 1. </a:t>
            </a:r>
            <a:r>
              <a:rPr b="0" i="0" lang="en-US" sz="1800" u="none" cap="none" strike="noStrike">
                <a:solidFill>
                  <a:srgbClr val="000000"/>
                </a:solidFill>
                <a:latin typeface="Times New Roman"/>
                <a:ea typeface="Times New Roman"/>
                <a:cs typeface="Times New Roman"/>
                <a:sym typeface="Times New Roman"/>
              </a:rPr>
              <a:t>Distribute network traffic evenly across multiple servers or paths.</a:t>
            </a:r>
            <a:endParaRPr/>
          </a:p>
          <a:p>
            <a:pPr indent="-285750" lvl="1" marL="742950" marR="0" rtl="0" algn="l">
              <a:lnSpc>
                <a:spcPct val="100000"/>
              </a:lnSpc>
              <a:spcBef>
                <a:spcPts val="0"/>
              </a:spcBef>
              <a:spcAft>
                <a:spcPts val="0"/>
              </a:spcAft>
              <a:buClr>
                <a:srgbClr val="000000"/>
              </a:buClr>
              <a:buSzPts val="1800"/>
              <a:buFont typeface="Arial"/>
              <a:buAutoNum type="arabicPeriod" startAt="2"/>
            </a:pPr>
            <a:r>
              <a:rPr b="0" i="0" lang="en-US" sz="1800" u="none" cap="none" strike="noStrike">
                <a:solidFill>
                  <a:srgbClr val="000000"/>
                </a:solidFill>
                <a:latin typeface="Times New Roman"/>
                <a:ea typeface="Times New Roman"/>
                <a:cs typeface="Times New Roman"/>
                <a:sym typeface="Times New Roman"/>
              </a:rPr>
              <a:t>Prevents resource overutilization on specific nodes, improving overall throughput.</a:t>
            </a:r>
            <a:endParaRPr/>
          </a:p>
          <a:p>
            <a:pPr indent="-114300" lvl="0" marL="0" marR="0" rtl="0" algn="l">
              <a:lnSpc>
                <a:spcPct val="100000"/>
              </a:lnSpc>
              <a:spcBef>
                <a:spcPts val="0"/>
              </a:spcBef>
              <a:spcAft>
                <a:spcPts val="0"/>
              </a:spcAft>
              <a:buClr>
                <a:srgbClr val="000000"/>
              </a:buClr>
              <a:buSzPts val="1800"/>
              <a:buFont typeface="Arial"/>
              <a:buAutoNum type="arabicPeriod"/>
            </a:pPr>
            <a:r>
              <a:rPr b="1" i="0" lang="en-US" sz="1800" u="none" cap="none" strike="noStrike">
                <a:solidFill>
                  <a:srgbClr val="000000"/>
                </a:solidFill>
                <a:latin typeface="Times New Roman"/>
                <a:ea typeface="Times New Roman"/>
                <a:cs typeface="Times New Roman"/>
                <a:sym typeface="Times New Roman"/>
              </a:rPr>
              <a:t>Hardware Upgrades: 1. </a:t>
            </a:r>
            <a:r>
              <a:rPr b="0" i="0" lang="en-US" sz="1800" u="none" cap="none" strike="noStrike">
                <a:solidFill>
                  <a:srgbClr val="000000"/>
                </a:solidFill>
                <a:latin typeface="Times New Roman"/>
                <a:ea typeface="Times New Roman"/>
                <a:cs typeface="Times New Roman"/>
                <a:sym typeface="Times New Roman"/>
              </a:rPr>
              <a:t>Upgrade network devices, such as routers, switches, and NICs, to higher-performing models.</a:t>
            </a:r>
            <a:endParaRPr/>
          </a:p>
          <a:p>
            <a:pPr indent="0" lvl="1" marL="45720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2. Ensure that servers and storage devices meet the demands of the workload.</a:t>
            </a:r>
            <a:endParaRPr/>
          </a:p>
          <a:p>
            <a:pPr indent="-114300" lvl="0" marL="0" marR="0" rtl="0" algn="l">
              <a:lnSpc>
                <a:spcPct val="100000"/>
              </a:lnSpc>
              <a:spcBef>
                <a:spcPts val="0"/>
              </a:spcBef>
              <a:spcAft>
                <a:spcPts val="0"/>
              </a:spcAft>
              <a:buClr>
                <a:srgbClr val="000000"/>
              </a:buClr>
              <a:buSzPts val="1800"/>
              <a:buFont typeface="Arial"/>
              <a:buAutoNum type="arabicPeriod"/>
            </a:pPr>
            <a:r>
              <a:rPr b="1" i="0" lang="en-US" sz="1800" u="none" cap="none" strike="noStrike">
                <a:solidFill>
                  <a:srgbClr val="000000"/>
                </a:solidFill>
                <a:latin typeface="Times New Roman"/>
                <a:ea typeface="Times New Roman"/>
                <a:cs typeface="Times New Roman"/>
                <a:sym typeface="Times New Roman"/>
              </a:rPr>
              <a:t>Software Optimization: 1. </a:t>
            </a:r>
            <a:r>
              <a:rPr b="0" i="0" lang="en-US" sz="1800" u="none" cap="none" strike="noStrike">
                <a:solidFill>
                  <a:srgbClr val="000000"/>
                </a:solidFill>
                <a:latin typeface="Times New Roman"/>
                <a:ea typeface="Times New Roman"/>
                <a:cs typeface="Times New Roman"/>
                <a:sym typeface="Times New Roman"/>
              </a:rPr>
              <a:t>Optimize algorithms and code to reduce processing time.</a:t>
            </a:r>
            <a:endParaRPr/>
          </a:p>
          <a:p>
            <a:pPr indent="0" lvl="1" marL="45720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2. Minimize unnecessary computations and improve code efficiency.</a:t>
            </a:r>
            <a:endParaRPr/>
          </a:p>
          <a:p>
            <a:pPr indent="-114300" lvl="0" marL="0" marR="0" rtl="0" algn="l">
              <a:lnSpc>
                <a:spcPct val="100000"/>
              </a:lnSpc>
              <a:spcBef>
                <a:spcPts val="0"/>
              </a:spcBef>
              <a:spcAft>
                <a:spcPts val="0"/>
              </a:spcAft>
              <a:buClr>
                <a:srgbClr val="000000"/>
              </a:buClr>
              <a:buSzPts val="1800"/>
              <a:buFont typeface="Arial"/>
              <a:buAutoNum type="arabicPeriod"/>
            </a:pPr>
            <a:r>
              <a:rPr b="1" i="0" lang="en-US" sz="1800" u="none" cap="none" strike="noStrike">
                <a:solidFill>
                  <a:srgbClr val="000000"/>
                </a:solidFill>
                <a:latin typeface="Times New Roman"/>
                <a:ea typeface="Times New Roman"/>
                <a:cs typeface="Times New Roman"/>
                <a:sym typeface="Times New Roman"/>
              </a:rPr>
              <a:t>Compression Techniques: 1. </a:t>
            </a:r>
            <a:r>
              <a:rPr b="0" i="0" lang="en-US" sz="1800" u="none" cap="none" strike="noStrike">
                <a:solidFill>
                  <a:srgbClr val="000000"/>
                </a:solidFill>
                <a:latin typeface="Times New Roman"/>
                <a:ea typeface="Times New Roman"/>
                <a:cs typeface="Times New Roman"/>
                <a:sym typeface="Times New Roman"/>
              </a:rPr>
              <a:t>Use data compression to reduce the amount of data transmitted over the network.</a:t>
            </a:r>
            <a:endParaRPr/>
          </a:p>
          <a:p>
            <a:pPr indent="0" lvl="1" marL="45720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2. Decreases the time required for data transfer, improving throughput.</a:t>
            </a:r>
            <a:endParaRPr/>
          </a:p>
          <a:p>
            <a:pPr indent="-114300" lvl="0" marL="0" marR="0" rtl="0" algn="l">
              <a:lnSpc>
                <a:spcPct val="100000"/>
              </a:lnSpc>
              <a:spcBef>
                <a:spcPts val="0"/>
              </a:spcBef>
              <a:spcAft>
                <a:spcPts val="0"/>
              </a:spcAft>
              <a:buClr>
                <a:srgbClr val="000000"/>
              </a:buClr>
              <a:buSzPts val="1800"/>
              <a:buFont typeface="Arial"/>
              <a:buAutoNum type="arabicPeriod"/>
            </a:pPr>
            <a:r>
              <a:rPr b="1" i="0" lang="en-US" sz="1800" u="none" cap="none" strike="noStrike">
                <a:solidFill>
                  <a:srgbClr val="000000"/>
                </a:solidFill>
                <a:latin typeface="Times New Roman"/>
                <a:ea typeface="Times New Roman"/>
                <a:cs typeface="Times New Roman"/>
                <a:sym typeface="Times New Roman"/>
              </a:rPr>
              <a:t>Caching Strategies:</a:t>
            </a:r>
            <a:endParaRPr b="0" i="0" sz="1800" u="none" cap="none" strike="noStrike">
              <a:solidFill>
                <a:srgbClr val="000000"/>
              </a:solidFill>
              <a:latin typeface="Times New Roman"/>
              <a:ea typeface="Times New Roman"/>
              <a:cs typeface="Times New Roman"/>
              <a:sym typeface="Times New Roman"/>
            </a:endParaRPr>
          </a:p>
          <a:p>
            <a:pPr indent="0" lvl="1" marL="45720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1. Implement caching mechanisms to store and retrieve frequently used data locally.</a:t>
            </a:r>
            <a:endParaRPr/>
          </a:p>
          <a:p>
            <a:pPr indent="0" lvl="1" marL="45720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2. Reduces the need to fetch data from slower external sources, improving response times and throughput.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3"/>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12" name="Google Shape;112;p13"/>
          <p:cNvSpPr txBox="1"/>
          <p:nvPr/>
        </p:nvSpPr>
        <p:spPr>
          <a:xfrm>
            <a:off x="390144" y="1264087"/>
            <a:ext cx="12216300" cy="5633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When a system is said to be consistent, every time there is a write then a read, the returned value will always be the most recent written value. This ensures that the data is consistent from one node to another in the distributed environment.</a:t>
            </a:r>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127000" lvl="0" marL="0" marR="0" rtl="0" algn="l">
              <a:lnSpc>
                <a:spcPct val="100000"/>
              </a:lnSpc>
              <a:spcBef>
                <a:spcPts val="0"/>
              </a:spcBef>
              <a:spcAft>
                <a:spcPts val="0"/>
              </a:spcAft>
              <a:buClr>
                <a:srgbClr val="000000"/>
              </a:buClr>
              <a:buSzPts val="2000"/>
              <a:buFont typeface="Arial"/>
              <a:buChar char="•"/>
            </a:pPr>
            <a:r>
              <a:rPr b="1" i="0" lang="en-US" sz="2000" u="sng" cap="none" strike="noStrike">
                <a:solidFill>
                  <a:srgbClr val="000000"/>
                </a:solidFill>
                <a:latin typeface="Times New Roman"/>
                <a:ea typeface="Times New Roman"/>
                <a:cs typeface="Times New Roman"/>
                <a:sym typeface="Times New Roman"/>
                <a:hlinkClick r:id="rId3">
                  <a:extLst>
                    <a:ext uri="{A12FA001-AC4F-418D-AE19-62706E023703}">
                      <ahyp:hlinkClr val="tx"/>
                    </a:ext>
                  </a:extLst>
                </a:hlinkClick>
              </a:rPr>
              <a:t>Strong Consistency</a:t>
            </a:r>
            <a:r>
              <a:rPr b="1" i="0" lang="en-US" sz="2000" u="none" cap="none" strike="noStrike">
                <a:solidFill>
                  <a:srgbClr val="000000"/>
                </a:solidFill>
                <a:latin typeface="Times New Roman"/>
                <a:ea typeface="Times New Roman"/>
                <a:cs typeface="Times New Roman"/>
                <a:sym typeface="Times New Roman"/>
              </a:rPr>
              <a:t>:</a:t>
            </a:r>
            <a:r>
              <a:rPr b="0" i="0" lang="en-US" sz="2000" u="none" cap="none" strike="noStrike">
                <a:solidFill>
                  <a:srgbClr val="000000"/>
                </a:solidFill>
                <a:latin typeface="Times New Roman"/>
                <a:ea typeface="Times New Roman"/>
                <a:cs typeface="Times New Roman"/>
                <a:sym typeface="Times New Roman"/>
              </a:rPr>
              <a:t> Ensures that if a write is totally done, from that point on any reads will result to the write. This is somewhat similar to the ACID properties that are found in the traditional database systems where any transaction, or set of operations, is required to be affirmed as whole and correct before other transactions can begin.</a:t>
            </a:r>
            <a:endParaRPr/>
          </a:p>
          <a:p>
            <a:pPr indent="0" lvl="0" marL="0" marR="0" rtl="0" algn="l">
              <a:lnSpc>
                <a:spcPct val="100000"/>
              </a:lnSpc>
              <a:spcBef>
                <a:spcPts val="0"/>
              </a:spcBef>
              <a:spcAft>
                <a:spcPts val="0"/>
              </a:spcAft>
              <a:buNone/>
            </a:pPr>
            <a:r>
              <a:rPr b="0" i="0" lang="en-US" sz="2000" u="none" cap="none" strike="noStrike">
                <a:solidFill>
                  <a:srgbClr val="000000"/>
                </a:solidFill>
                <a:latin typeface="Times New Roman"/>
                <a:ea typeface="Times New Roman"/>
                <a:cs typeface="Times New Roman"/>
                <a:sym typeface="Times New Roman"/>
              </a:rPr>
              <a:t> </a:t>
            </a:r>
            <a:endParaRPr/>
          </a:p>
          <a:p>
            <a:pPr indent="-127000" lvl="0" marL="0" marR="0" rtl="0" algn="l">
              <a:lnSpc>
                <a:spcPct val="100000"/>
              </a:lnSpc>
              <a:spcBef>
                <a:spcPts val="0"/>
              </a:spcBef>
              <a:spcAft>
                <a:spcPts val="0"/>
              </a:spcAft>
              <a:buClr>
                <a:srgbClr val="000000"/>
              </a:buClr>
              <a:buSzPts val="2000"/>
              <a:buFont typeface="Arial"/>
              <a:buChar char="•"/>
            </a:pPr>
            <a:r>
              <a:rPr b="1" i="0" lang="en-US" sz="2000" u="sng" cap="none" strike="noStrike">
                <a:solidFill>
                  <a:srgbClr val="000000"/>
                </a:solidFill>
                <a:latin typeface="Times New Roman"/>
                <a:ea typeface="Times New Roman"/>
                <a:cs typeface="Times New Roman"/>
                <a:sym typeface="Times New Roman"/>
                <a:hlinkClick r:id="rId4">
                  <a:extLst>
                    <a:ext uri="{A12FA001-AC4F-418D-AE19-62706E023703}">
                      <ahyp:hlinkClr val="tx"/>
                    </a:ext>
                  </a:extLst>
                </a:hlinkClick>
              </a:rPr>
              <a:t>Eventual Consistency</a:t>
            </a:r>
            <a:r>
              <a:rPr b="1" i="0" lang="en-US" sz="2000" u="none" cap="none" strike="noStrike">
                <a:solidFill>
                  <a:srgbClr val="000000"/>
                </a:solidFill>
                <a:latin typeface="Times New Roman"/>
                <a:ea typeface="Times New Roman"/>
                <a:cs typeface="Times New Roman"/>
                <a:sym typeface="Times New Roman"/>
              </a:rPr>
              <a:t>:</a:t>
            </a:r>
            <a:r>
              <a:rPr b="0" i="0" lang="en-US" sz="2000" u="none" cap="none" strike="noStrike">
                <a:solidFill>
                  <a:srgbClr val="000000"/>
                </a:solidFill>
                <a:latin typeface="Times New Roman"/>
                <a:ea typeface="Times New Roman"/>
                <a:cs typeface="Times New Roman"/>
                <a:sym typeface="Times New Roman"/>
              </a:rPr>
              <a:t> Guarantees always that if any two nodes are allowed enough time to make computations, they will in the long run have the same value, although in the short run, they can have dissimilar values. This is normally used in systems where accuracy is not as important compared to the availability and performance of the system. A common example is the Domain Name System (DNS), where it takes time for changes to propagate across all servers, but eventually, everyone will see the correct address</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a:p>
            <a:pPr indent="-127000" lvl="0" marL="0" marR="0" rtl="0" algn="l">
              <a:lnSpc>
                <a:spcPct val="100000"/>
              </a:lnSpc>
              <a:spcBef>
                <a:spcPts val="0"/>
              </a:spcBef>
              <a:spcAft>
                <a:spcPts val="0"/>
              </a:spcAft>
              <a:buClr>
                <a:srgbClr val="000000"/>
              </a:buClr>
              <a:buSzPts val="2000"/>
              <a:buFont typeface="Arial"/>
              <a:buChar char="•"/>
            </a:pPr>
            <a:r>
              <a:rPr b="1" i="0" lang="en-US" sz="2000" u="sng" cap="none" strike="noStrike">
                <a:solidFill>
                  <a:srgbClr val="000000"/>
                </a:solidFill>
                <a:latin typeface="Times New Roman"/>
                <a:ea typeface="Times New Roman"/>
                <a:cs typeface="Times New Roman"/>
                <a:sym typeface="Times New Roman"/>
                <a:hlinkClick r:id="rId5">
                  <a:extLst>
                    <a:ext uri="{A12FA001-AC4F-418D-AE19-62706E023703}">
                      <ahyp:hlinkClr val="tx"/>
                    </a:ext>
                  </a:extLst>
                </a:hlinkClick>
              </a:rPr>
              <a:t>Causal Consistency</a:t>
            </a:r>
            <a:r>
              <a:rPr b="1" i="0" lang="en-US" sz="2000" u="none" cap="none" strike="noStrike">
                <a:solidFill>
                  <a:srgbClr val="000000"/>
                </a:solidFill>
                <a:latin typeface="Times New Roman"/>
                <a:ea typeface="Times New Roman"/>
                <a:cs typeface="Times New Roman"/>
                <a:sym typeface="Times New Roman"/>
              </a:rPr>
              <a:t>: </a:t>
            </a:r>
            <a:r>
              <a:rPr b="0" i="0" lang="en-US" sz="2000" u="none" cap="none" strike="noStrike">
                <a:solidFill>
                  <a:srgbClr val="000000"/>
                </a:solidFill>
                <a:latin typeface="Times New Roman"/>
                <a:ea typeface="Times New Roman"/>
                <a:cs typeface="Times New Roman"/>
                <a:sym typeface="Times New Roman"/>
              </a:rPr>
              <a:t>Makes sure that all nodes get to view operations that are related in terms of cause and effect at the same time. This is weaker than strong consistency but stronger than eventual consistency. A common example is a collaborative document editing tool, like Google Docs, where edits made by different users are causally related and must be seen in the correct order</a:t>
            </a:r>
            <a:endParaRPr/>
          </a:p>
        </p:txBody>
      </p:sp>
      <p:sp>
        <p:nvSpPr>
          <p:cNvPr id="113" name="Google Shape;113;p13"/>
          <p:cNvSpPr txBox="1"/>
          <p:nvPr/>
        </p:nvSpPr>
        <p:spPr>
          <a:xfrm>
            <a:off x="304800" y="0"/>
            <a:ext cx="5900928"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Times New Roman"/>
                <a:ea typeface="Times New Roman"/>
                <a:cs typeface="Times New Roman"/>
                <a:sym typeface="Times New Roman"/>
              </a:rPr>
              <a:t>Consistency</a:t>
            </a:r>
            <a:endParaRPr b="1" i="0" sz="3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4"/>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19" name="Google Shape;119;p14"/>
          <p:cNvSpPr txBox="1"/>
          <p:nvPr/>
        </p:nvSpPr>
        <p:spPr>
          <a:xfrm>
            <a:off x="390144" y="1264087"/>
            <a:ext cx="13447776" cy="3477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Times New Roman"/>
                <a:ea typeface="Times New Roman"/>
                <a:cs typeface="Times New Roman"/>
                <a:sym typeface="Times New Roman"/>
              </a:rPr>
              <a:t>In a distributed system, availability gives every request a response even if it is a failed one. This is because, in an available system, all the working nodes have to be able to respond to queries and answer even if it is with wrong or old data. Some of the importance of availability include; The importance of availability cannot be over-emphasized when it comes to IT service delivery since some systems will require to be up and responsive always. Some types of availability include:</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000" u="sng" cap="none" strike="noStrike">
                <a:solidFill>
                  <a:schemeClr val="dk1"/>
                </a:solidFill>
                <a:latin typeface="Times New Roman"/>
                <a:ea typeface="Times New Roman"/>
                <a:cs typeface="Times New Roman"/>
                <a:sym typeface="Times New Roman"/>
                <a:hlinkClick r:id="rId3">
                  <a:extLst>
                    <a:ext uri="{A12FA001-AC4F-418D-AE19-62706E023703}">
                      <ahyp:hlinkClr val="tx"/>
                    </a:ext>
                  </a:extLst>
                </a:hlinkClick>
              </a:rPr>
              <a:t>High Availability</a:t>
            </a:r>
            <a:r>
              <a:rPr b="1" i="0" lang="en-US" sz="2000" u="none" cap="none" strike="noStrike">
                <a:solidFill>
                  <a:srgbClr val="000000"/>
                </a:solidFill>
                <a:latin typeface="Times New Roman"/>
                <a:ea typeface="Times New Roman"/>
                <a:cs typeface="Times New Roman"/>
                <a:sym typeface="Times New Roman"/>
              </a:rPr>
              <a:t>:</a:t>
            </a:r>
            <a:r>
              <a:rPr b="0" i="0" lang="en-US" sz="2000" u="none" cap="none" strike="noStrike">
                <a:solidFill>
                  <a:srgbClr val="000000"/>
                </a:solidFill>
                <a:latin typeface="Times New Roman"/>
                <a:ea typeface="Times New Roman"/>
                <a:cs typeface="Times New Roman"/>
                <a:sym typeface="Times New Roman"/>
              </a:rPr>
              <a:t> Makes sure that the system is up and running for most of the time needs. High availability systems are those systems, which are intended to work even if they fail and usually work at this level through redundancy and fail-over techniques. </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000" u="sng" cap="none" strike="noStrike">
                <a:solidFill>
                  <a:srgbClr val="000000"/>
                </a:solidFill>
                <a:latin typeface="Times New Roman"/>
                <a:ea typeface="Times New Roman"/>
                <a:cs typeface="Times New Roman"/>
                <a:sym typeface="Times New Roman"/>
              </a:rPr>
              <a:t>Partial Availability</a:t>
            </a:r>
            <a:r>
              <a:rPr b="1" i="0" lang="en-US" sz="2000" u="none" cap="none" strike="noStrike">
                <a:solidFill>
                  <a:srgbClr val="000000"/>
                </a:solidFill>
                <a:latin typeface="Times New Roman"/>
                <a:ea typeface="Times New Roman"/>
                <a:cs typeface="Times New Roman"/>
                <a:sym typeface="Times New Roman"/>
              </a:rPr>
              <a:t>: </a:t>
            </a:r>
            <a:r>
              <a:rPr b="0" i="0" lang="en-US" sz="2000" u="none" cap="none" strike="noStrike">
                <a:solidFill>
                  <a:srgbClr val="000000"/>
                </a:solidFill>
                <a:latin typeface="Times New Roman"/>
                <a:ea typeface="Times New Roman"/>
                <a:cs typeface="Times New Roman"/>
                <a:sym typeface="Times New Roman"/>
              </a:rPr>
              <a:t>It is not correct to consider that this system is either available or unavailable because some sections may be available while others are not depending on the failure situation. This can be observed in systems that support a degraded mode of operation.</a:t>
            </a:r>
            <a:endParaRPr/>
          </a:p>
        </p:txBody>
      </p:sp>
      <p:sp>
        <p:nvSpPr>
          <p:cNvPr id="120" name="Google Shape;120;p14"/>
          <p:cNvSpPr txBox="1"/>
          <p:nvPr/>
        </p:nvSpPr>
        <p:spPr>
          <a:xfrm>
            <a:off x="304800" y="0"/>
            <a:ext cx="5900928"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Times New Roman"/>
                <a:ea typeface="Times New Roman"/>
                <a:cs typeface="Times New Roman"/>
                <a:sym typeface="Times New Roman"/>
              </a:rPr>
              <a:t>Availability</a:t>
            </a:r>
            <a:endParaRPr b="1" i="0" sz="3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5"/>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aphicFrame>
        <p:nvGraphicFramePr>
          <p:cNvPr id="126" name="Google Shape;126;p15"/>
          <p:cNvGraphicFramePr/>
          <p:nvPr/>
        </p:nvGraphicFramePr>
        <p:xfrm>
          <a:off x="1169194" y="1248061"/>
          <a:ext cx="3000000" cy="3000000"/>
        </p:xfrm>
        <a:graphic>
          <a:graphicData uri="http://schemas.openxmlformats.org/drawingml/2006/table">
            <a:tbl>
              <a:tblPr bandRow="1" firstRow="1">
                <a:noFill/>
                <a:tableStyleId>{4C856D8D-1EDB-44F1-B801-007FA1E0277F}</a:tableStyleId>
              </a:tblPr>
              <a:tblGrid>
                <a:gridCol w="4255425"/>
                <a:gridCol w="4255425"/>
                <a:gridCol w="4255425"/>
              </a:tblGrid>
              <a:tr h="370850">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Feature</a:t>
                      </a:r>
                      <a:endParaRPr/>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Consistency</a:t>
                      </a:r>
                      <a:endParaRPr/>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Availability</a:t>
                      </a:r>
                      <a:endParaRPr/>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Definition</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Ensures all nodes have the same data simultaneously.</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Ensures every request receives a response.</a:t>
                      </a:r>
                      <a:endParaRPr/>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Primary Goal</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Data accuracy and integrity.</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Service continuity and responsiveness.</a:t>
                      </a:r>
                      <a:endParaRPr/>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Response Behavior</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May delay responses to ensure data is up-to-date.</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Always provides a response, even if data is stale.</a:t>
                      </a:r>
                      <a:endParaRPr/>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Trade-offs</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May sacrifice availability for data correctness.</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May sacrifice consistency for higher uptime.</a:t>
                      </a:r>
                      <a:endParaRPr/>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Typical Use Cases</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Banking systems, transaction processing.</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Web services, online applications.</a:t>
                      </a:r>
                      <a:endParaRPr/>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CAP Theorem Focus</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Consistency and Partition Tolerance.</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Availability and Partition Tolerance.</a:t>
                      </a:r>
                      <a:endParaRPr/>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Complexity</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Higher complexity due to synchronization.</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Lower complexity, easier to implement.</a:t>
                      </a:r>
                      <a:endParaRPr/>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Failure Handling</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May reject requests to ensure data consistency.</a:t>
                      </a:r>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latin typeface="Times New Roman"/>
                          <a:ea typeface="Times New Roman"/>
                          <a:cs typeface="Times New Roman"/>
                          <a:sym typeface="Times New Roman"/>
                        </a:rPr>
                        <a:t>Always responds to requests, even during failures.</a:t>
                      </a:r>
                      <a:endParaRPr/>
                    </a:p>
                  </a:txBody>
                  <a:tcPr marT="45725" marB="45725" marR="91450" marL="91450" anchor="ct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6"/>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32" name="Google Shape;132;p16"/>
          <p:cNvSpPr txBox="1"/>
          <p:nvPr/>
        </p:nvSpPr>
        <p:spPr>
          <a:xfrm>
            <a:off x="512064" y="1267944"/>
            <a:ext cx="12569952" cy="59400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Benefits of Consistency </a:t>
            </a:r>
            <a:endParaRPr/>
          </a:p>
          <a:p>
            <a:pPr indent="-127000" lvl="0" marL="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000000"/>
                </a:solidFill>
                <a:latin typeface="Times New Roman"/>
                <a:ea typeface="Times New Roman"/>
                <a:cs typeface="Times New Roman"/>
                <a:sym typeface="Times New Roman"/>
              </a:rPr>
              <a:t>Data Integrity: </a:t>
            </a:r>
            <a:r>
              <a:rPr b="0" i="0" lang="en-US" sz="2000" u="none" cap="none" strike="noStrike">
                <a:solidFill>
                  <a:srgbClr val="000000"/>
                </a:solidFill>
                <a:latin typeface="Times New Roman"/>
                <a:ea typeface="Times New Roman"/>
                <a:cs typeface="Times New Roman"/>
                <a:sym typeface="Times New Roman"/>
              </a:rPr>
              <a:t>Checks the integrity of data in all the nodes that has been sent to it by other nodes. This is essential especially in an environment where the presence of wrong data, or outdated data may cause severe problems, for instance, in banking and or in medical records. </a:t>
            </a:r>
            <a:endParaRPr/>
          </a:p>
          <a:p>
            <a:pPr indent="-127000" lvl="0" marL="0" marR="0" rtl="0" algn="l">
              <a:lnSpc>
                <a:spcPct val="100000"/>
              </a:lnSpc>
              <a:spcBef>
                <a:spcPts val="0"/>
              </a:spcBef>
              <a:spcAft>
                <a:spcPts val="0"/>
              </a:spcAft>
              <a:buClr>
                <a:srgbClr val="000000"/>
              </a:buClr>
              <a:buSzPts val="2000"/>
              <a:buFont typeface="Arial"/>
              <a:buChar char="•"/>
            </a:pPr>
            <a:r>
              <a:rPr b="1" i="0" lang="en-US" sz="2000" u="sng" cap="none" strike="noStrike">
                <a:solidFill>
                  <a:srgbClr val="000000"/>
                </a:solidFill>
                <a:latin typeface="Times New Roman"/>
                <a:ea typeface="Times New Roman"/>
                <a:cs typeface="Times New Roman"/>
                <a:sym typeface="Times New Roman"/>
                <a:hlinkClick r:id="rId3">
                  <a:extLst>
                    <a:ext uri="{A12FA001-AC4F-418D-AE19-62706E023703}">
                      <ahyp:hlinkClr val="tx"/>
                    </a:ext>
                  </a:extLst>
                </a:hlinkClick>
              </a:rPr>
              <a:t>Reliability</a:t>
            </a:r>
            <a:r>
              <a:rPr b="1" i="0" lang="en-US" sz="2000" u="none" cap="none" strike="noStrike">
                <a:solidFill>
                  <a:srgbClr val="000000"/>
                </a:solidFill>
                <a:latin typeface="Times New Roman"/>
                <a:ea typeface="Times New Roman"/>
                <a:cs typeface="Times New Roman"/>
                <a:sym typeface="Times New Roman"/>
              </a:rPr>
              <a:t>:</a:t>
            </a:r>
            <a:r>
              <a:rPr b="0" i="0" lang="en-US" sz="2000" u="none" cap="none" strike="noStrike">
                <a:solidFill>
                  <a:srgbClr val="000000"/>
                </a:solidFill>
                <a:latin typeface="Times New Roman"/>
                <a:ea typeface="Times New Roman"/>
                <a:cs typeface="Times New Roman"/>
                <a:sym typeface="Times New Roman"/>
              </a:rPr>
              <a:t> Avoids having irregularities in the data set. More so where data accuracy is critical, having the entire system in a consistent state all the nodes are guaranteed that the behavior of the system will be as expected.</a:t>
            </a:r>
            <a:endParaRPr/>
          </a:p>
          <a:p>
            <a:pPr indent="-127000" lvl="0" marL="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000000"/>
                </a:solidFill>
                <a:latin typeface="Times New Roman"/>
                <a:ea typeface="Times New Roman"/>
                <a:cs typeface="Times New Roman"/>
                <a:sym typeface="Times New Roman"/>
              </a:rPr>
              <a:t>Predictability: </a:t>
            </a:r>
            <a:r>
              <a:rPr b="0" i="0" lang="en-US" sz="2000" u="none" cap="none" strike="noStrike">
                <a:solidFill>
                  <a:srgbClr val="000000"/>
                </a:solidFill>
                <a:latin typeface="Times New Roman"/>
                <a:ea typeface="Times New Roman"/>
                <a:cs typeface="Times New Roman"/>
                <a:sym typeface="Times New Roman"/>
              </a:rPr>
              <a:t>Ensures that all read and write operations are easily determinable by a user. End users may always be assured of acquiring the latest data, thereby easing the computational concepts pertaining to data in an application. </a:t>
            </a:r>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Use Cases of Consistency</a:t>
            </a:r>
            <a:endParaRPr/>
          </a:p>
          <a:p>
            <a:pPr indent="-127000" lvl="0" marL="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000000"/>
                </a:solidFill>
                <a:latin typeface="Times New Roman"/>
                <a:ea typeface="Times New Roman"/>
                <a:cs typeface="Times New Roman"/>
                <a:sym typeface="Times New Roman"/>
              </a:rPr>
              <a:t>Banking Systems:</a:t>
            </a:r>
            <a:r>
              <a:rPr b="0" i="0" lang="en-US" sz="2000" u="none" cap="none" strike="noStrike">
                <a:solidFill>
                  <a:srgbClr val="000000"/>
                </a:solidFill>
                <a:latin typeface="Times New Roman"/>
                <a:ea typeface="Times New Roman"/>
                <a:cs typeface="Times New Roman"/>
                <a:sym typeface="Times New Roman"/>
              </a:rPr>
              <a:t> Where transaction processing is important. It is necessary to maintain proper records and intact security measures that address the problems such as double-spend or undesired balance. </a:t>
            </a:r>
            <a:endParaRPr/>
          </a:p>
          <a:p>
            <a:pPr indent="-127000" lvl="0" marL="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000000"/>
                </a:solidFill>
                <a:latin typeface="Times New Roman"/>
                <a:ea typeface="Times New Roman"/>
                <a:cs typeface="Times New Roman"/>
                <a:sym typeface="Times New Roman"/>
              </a:rPr>
              <a:t>Inventory Management:</a:t>
            </a:r>
            <a:r>
              <a:rPr b="0" i="0" lang="en-US" sz="2000" u="none" cap="none" strike="noStrike">
                <a:solidFill>
                  <a:srgbClr val="000000"/>
                </a:solidFill>
                <a:latin typeface="Times New Roman"/>
                <a:ea typeface="Times New Roman"/>
                <a:cs typeface="Times New Roman"/>
                <a:sym typeface="Times New Roman"/>
              </a:rPr>
              <a:t> To make certain that inventory is correctly recorded in other premises. For businesses that use multiple warehouses or Stores when it comes to inventory management consistency helps them maintain accurate stock status to evade such problems as overselling. </a:t>
            </a:r>
            <a:endParaRPr/>
          </a:p>
          <a:p>
            <a:pPr indent="-127000" lvl="0" marL="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000000"/>
                </a:solidFill>
                <a:latin typeface="Times New Roman"/>
                <a:ea typeface="Times New Roman"/>
                <a:cs typeface="Times New Roman"/>
                <a:sym typeface="Times New Roman"/>
              </a:rPr>
              <a:t>Distributed Databases: </a:t>
            </a:r>
            <a:r>
              <a:rPr b="0" i="0" lang="en-US" sz="2000" u="none" cap="none" strike="noStrike">
                <a:solidFill>
                  <a:srgbClr val="000000"/>
                </a:solidFill>
                <a:latin typeface="Times New Roman"/>
                <a:ea typeface="Times New Roman"/>
                <a:cs typeface="Times New Roman"/>
                <a:sym typeface="Times New Roman"/>
              </a:rPr>
              <a:t>When data correctness and entry standardization are critical. In systems where data is stored and retrieved at any of the nodes in the network, consistency means that all nodes mirror each other’s state and important to prevent data inconsistencies and anomalies.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7"/>
          <p:cNvSpPr txBox="1"/>
          <p:nvPr>
            <p:ph idx="12" type="sldNum"/>
          </p:nvPr>
        </p:nvSpPr>
        <p:spPr>
          <a:xfrm>
            <a:off x="10270093" y="7629104"/>
            <a:ext cx="3343752" cy="43823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38" name="Google Shape;138;p17"/>
          <p:cNvSpPr txBox="1"/>
          <p:nvPr/>
        </p:nvSpPr>
        <p:spPr>
          <a:xfrm>
            <a:off x="170688" y="1267944"/>
            <a:ext cx="13655040" cy="65556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Times New Roman"/>
                <a:ea typeface="Times New Roman"/>
                <a:cs typeface="Times New Roman"/>
                <a:sym typeface="Times New Roman"/>
              </a:rPr>
              <a:t>Benefits of Availability </a:t>
            </a:r>
            <a:endParaRPr/>
          </a:p>
          <a:p>
            <a:pPr indent="0" lvl="0" marL="0" marR="0" rtl="0" algn="l">
              <a:lnSpc>
                <a:spcPct val="100000"/>
              </a:lnSpc>
              <a:spcBef>
                <a:spcPts val="0"/>
              </a:spcBef>
              <a:spcAft>
                <a:spcPts val="0"/>
              </a:spcAft>
              <a:buNone/>
            </a:pPr>
            <a:r>
              <a:rPr b="1" i="0" lang="en-US" sz="2000" u="none" cap="none" strike="noStrike">
                <a:solidFill>
                  <a:srgbClr val="000000"/>
                </a:solidFill>
                <a:latin typeface="Times New Roman"/>
                <a:ea typeface="Times New Roman"/>
                <a:cs typeface="Times New Roman"/>
                <a:sym typeface="Times New Roman"/>
              </a:rPr>
              <a:t>Service Continuity: </a:t>
            </a:r>
            <a:r>
              <a:rPr b="0" i="0" lang="en-US" sz="2000" u="none" cap="none" strike="noStrike">
                <a:solidFill>
                  <a:srgbClr val="000000"/>
                </a:solidFill>
                <a:latin typeface="Times New Roman"/>
                <a:ea typeface="Times New Roman"/>
                <a:cs typeface="Times New Roman"/>
                <a:sym typeface="Times New Roman"/>
              </a:rPr>
              <a:t>Maintains the system to function well at all times as expected. High availability is required for applications that have to be always available in the application space to the users regardless of failures or high loads. </a:t>
            </a:r>
            <a:endParaRPr/>
          </a:p>
          <a:p>
            <a:pPr indent="0" lvl="0" marL="0" marR="0" rtl="0" algn="l">
              <a:lnSpc>
                <a:spcPct val="100000"/>
              </a:lnSpc>
              <a:spcBef>
                <a:spcPts val="0"/>
              </a:spcBef>
              <a:spcAft>
                <a:spcPts val="0"/>
              </a:spcAft>
              <a:buNone/>
            </a:pPr>
            <a:r>
              <a:rPr b="1" i="0" lang="en-US" sz="2000" u="none" cap="none" strike="noStrike">
                <a:solidFill>
                  <a:srgbClr val="000000"/>
                </a:solidFill>
                <a:latin typeface="Times New Roman"/>
                <a:ea typeface="Times New Roman"/>
                <a:cs typeface="Times New Roman"/>
                <a:sym typeface="Times New Roman"/>
              </a:rPr>
              <a:t>User Experience:</a:t>
            </a:r>
            <a:r>
              <a:rPr b="0" i="0" lang="en-US" sz="2000" u="none" cap="none" strike="noStrike">
                <a:solidFill>
                  <a:srgbClr val="000000"/>
                </a:solidFill>
                <a:latin typeface="Times New Roman"/>
                <a:ea typeface="Times New Roman"/>
                <a:cs typeface="Times New Roman"/>
                <a:sym typeface="Times New Roman"/>
              </a:rPr>
              <a:t> Works within the framework of user demands requirement, and assurance of timely feedback to users thereby improving the user satisfaction. Availability-oriented systems guarantee that the client is constantly able to use the application with no disruptions of any sort. </a:t>
            </a:r>
            <a:endParaRPr/>
          </a:p>
          <a:p>
            <a:pPr indent="0" lvl="0" marL="0" marR="0" rtl="0" algn="l">
              <a:lnSpc>
                <a:spcPct val="100000"/>
              </a:lnSpc>
              <a:spcBef>
                <a:spcPts val="0"/>
              </a:spcBef>
              <a:spcAft>
                <a:spcPts val="0"/>
              </a:spcAft>
              <a:buNone/>
            </a:pPr>
            <a:r>
              <a:rPr b="1" i="0" lang="en-US" sz="2000" u="sng" cap="none" strike="noStrike">
                <a:solidFill>
                  <a:schemeClr val="dk1"/>
                </a:solidFill>
                <a:latin typeface="Times New Roman"/>
                <a:ea typeface="Times New Roman"/>
                <a:cs typeface="Times New Roman"/>
                <a:sym typeface="Times New Roman"/>
                <a:hlinkClick r:id="rId3">
                  <a:extLst>
                    <a:ext uri="{A12FA001-AC4F-418D-AE19-62706E023703}">
                      <ahyp:hlinkClr val="tx"/>
                    </a:ext>
                  </a:extLst>
                </a:hlinkClick>
              </a:rPr>
              <a:t>Resilience</a:t>
            </a:r>
            <a:r>
              <a:rPr b="1" i="0" lang="en-US" sz="2000" u="none" cap="none" strike="noStrike">
                <a:solidFill>
                  <a:schemeClr val="dk1"/>
                </a:solidFill>
                <a:latin typeface="Times New Roman"/>
                <a:ea typeface="Times New Roman"/>
                <a:cs typeface="Times New Roman"/>
                <a:sym typeface="Times New Roman"/>
              </a:rPr>
              <a:t>:</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rgbClr val="000000"/>
                </a:solidFill>
                <a:latin typeface="Times New Roman"/>
                <a:ea typeface="Times New Roman"/>
                <a:cs typeface="Times New Roman"/>
                <a:sym typeface="Times New Roman"/>
              </a:rPr>
              <a:t>Can work with one or more nodes of a cluster being unavailable or the communication between nodes being severed without affecting service. Making the system fault tolerant enhances the availability aspect of the software and makes the internet application more reliable. </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i="0" lang="en-US" sz="2000" u="none" cap="none" strike="noStrike">
                <a:solidFill>
                  <a:srgbClr val="000000"/>
                </a:solidFill>
                <a:latin typeface="Times New Roman"/>
                <a:ea typeface="Times New Roman"/>
                <a:cs typeface="Times New Roman"/>
                <a:sym typeface="Times New Roman"/>
              </a:rPr>
              <a:t>Use Cases of Availability</a:t>
            </a:r>
            <a:endParaRPr/>
          </a:p>
          <a:p>
            <a:pPr indent="0" lvl="0" marL="0" marR="0" rtl="0" algn="l">
              <a:lnSpc>
                <a:spcPct val="100000"/>
              </a:lnSpc>
              <a:spcBef>
                <a:spcPts val="0"/>
              </a:spcBef>
              <a:spcAft>
                <a:spcPts val="0"/>
              </a:spcAft>
              <a:buNone/>
            </a:pPr>
            <a:r>
              <a:rPr b="1" i="0" lang="en-US" sz="2000" u="none" cap="none" strike="noStrike">
                <a:solidFill>
                  <a:srgbClr val="000000"/>
                </a:solidFill>
                <a:latin typeface="Times New Roman"/>
                <a:ea typeface="Times New Roman"/>
                <a:cs typeface="Times New Roman"/>
                <a:sym typeface="Times New Roman"/>
              </a:rPr>
              <a:t>E-commerce Websites: </a:t>
            </a:r>
            <a:r>
              <a:rPr b="0" i="0" lang="en-US" sz="2000" u="none" cap="none" strike="noStrike">
                <a:solidFill>
                  <a:srgbClr val="000000"/>
                </a:solidFill>
                <a:latin typeface="Times New Roman"/>
                <a:ea typeface="Times New Roman"/>
                <a:cs typeface="Times New Roman"/>
                <a:sym typeface="Times New Roman"/>
              </a:rPr>
              <a:t>Where continuity as well as response time is an essential factor that determines the use of the application. As for the online retailing, availability directly affects a range of user activities such as, products and services’ viewing, order placing or even payments making, thus influencing the sales and customers’ satisfaction. </a:t>
            </a:r>
            <a:endParaRPr/>
          </a:p>
          <a:p>
            <a:pPr indent="0" lvl="0" marL="0" marR="0" rtl="0" algn="l">
              <a:lnSpc>
                <a:spcPct val="100000"/>
              </a:lnSpc>
              <a:spcBef>
                <a:spcPts val="0"/>
              </a:spcBef>
              <a:spcAft>
                <a:spcPts val="0"/>
              </a:spcAft>
              <a:buNone/>
            </a:pPr>
            <a:r>
              <a:rPr b="1" i="0" lang="en-US" sz="2000" u="none" cap="none" strike="noStrike">
                <a:solidFill>
                  <a:srgbClr val="000000"/>
                </a:solidFill>
                <a:latin typeface="Times New Roman"/>
                <a:ea typeface="Times New Roman"/>
                <a:cs typeface="Times New Roman"/>
                <a:sym typeface="Times New Roman"/>
              </a:rPr>
              <a:t>Social Media Platforms: </a:t>
            </a:r>
            <a:r>
              <a:rPr b="0" i="0" lang="en-US" sz="2000" u="none" cap="none" strike="noStrike">
                <a:solidFill>
                  <a:srgbClr val="000000"/>
                </a:solidFill>
                <a:latin typeface="Times New Roman"/>
                <a:ea typeface="Times New Roman"/>
                <a:cs typeface="Times New Roman"/>
                <a:sym typeface="Times New Roman"/>
              </a:rPr>
              <a:t>That users can always upload and download material. Consumers of content shared via the social media do expect constant availability of this content, high availability is central in the sustaining of interest and overall satisfaction. </a:t>
            </a:r>
            <a:endParaRPr/>
          </a:p>
          <a:p>
            <a:pPr indent="0" lvl="0" marL="0" marR="0" rtl="0" algn="l">
              <a:lnSpc>
                <a:spcPct val="100000"/>
              </a:lnSpc>
              <a:spcBef>
                <a:spcPts val="0"/>
              </a:spcBef>
              <a:spcAft>
                <a:spcPts val="0"/>
              </a:spcAft>
              <a:buNone/>
            </a:pPr>
            <a:r>
              <a:rPr b="1" i="0" lang="en-US" sz="2000" u="none" cap="none" strike="noStrike">
                <a:solidFill>
                  <a:srgbClr val="000000"/>
                </a:solidFill>
                <a:latin typeface="Times New Roman"/>
                <a:ea typeface="Times New Roman"/>
                <a:cs typeface="Times New Roman"/>
                <a:sym typeface="Times New Roman"/>
              </a:rPr>
              <a:t>Content Delivery Networks (CDNs):</a:t>
            </a:r>
            <a:r>
              <a:rPr b="0" i="0" lang="en-US" sz="2000" u="none" cap="none" strike="noStrike">
                <a:solidFill>
                  <a:srgbClr val="000000"/>
                </a:solidFill>
                <a:latin typeface="Times New Roman"/>
                <a:ea typeface="Times New Roman"/>
                <a:cs typeface="Times New Roman"/>
                <a:sym typeface="Times New Roman"/>
              </a:rPr>
              <a:t> Offering maximum access of information to the world population. CDNs provide the content in multiple servers globally to enable quick and accurate delivery to the user no matter the region as they rely on high availability to provide performance and reliability.</a:t>
            </a:r>
            <a:endParaRPr/>
          </a:p>
          <a:p>
            <a:pPr indent="0" lvl="0" marL="0" marR="0" rtl="0" algn="l">
              <a:lnSpc>
                <a:spcPct val="100000"/>
              </a:lnSpc>
              <a:spcBef>
                <a:spcPts val="0"/>
              </a:spcBef>
              <a:spcAft>
                <a:spcPts val="0"/>
              </a:spcAft>
              <a:buNone/>
            </a:pPr>
            <a:br>
              <a:rPr b="0" i="0" lang="en-US" sz="2000" u="none" cap="none" strike="noStrike">
                <a:solidFill>
                  <a:srgbClr val="000000"/>
                </a:solidFill>
                <a:latin typeface="Arial"/>
                <a:ea typeface="Arial"/>
                <a:cs typeface="Arial"/>
                <a:sym typeface="Arial"/>
              </a:rPr>
            </a:br>
            <a:endParaRPr b="0" i="0" sz="20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