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27" roundtripDataSignature="AMtx7mh2cqRudaNsk5+N+vnN4ukSNy8Y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 name="Google Shape;3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0" name="Google Shape;40;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p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 name="Google Shape;57;p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 name="Google Shape;63;p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p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 name="Google Shape;77;p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 name="Google Shape;83;p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0" name="Google Shape;90;p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7" name="Google Shape;97;p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 name="Google Shape;104;p1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 name="Google Shape;111;p1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 name="Google Shape;118;p1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1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p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 name="Google Shape;141;p1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9" name="Google Shape;149;p1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p1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5" name="Google Shape;165;p1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33079cded_0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g3733079cded_0_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p1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5" name="Google Shape;185;p2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 name="Google Shape;26;p2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SzPts val="3200"/>
              <a:buChar char="•"/>
              <a:defRPr/>
            </a:lvl1pPr>
            <a:lvl2pPr indent="-406400" lvl="1" marL="914400" algn="l">
              <a:lnSpc>
                <a:spcPct val="100000"/>
              </a:lnSpc>
              <a:spcBef>
                <a:spcPts val="560"/>
              </a:spcBef>
              <a:spcAft>
                <a:spcPts val="0"/>
              </a:spcAft>
              <a:buSzPts val="2800"/>
              <a:buChar char="–"/>
              <a:defRPr/>
            </a:lvl2pPr>
            <a:lvl3pPr indent="-381000" lvl="2" marL="1371600" algn="l">
              <a:lnSpc>
                <a:spcPct val="100000"/>
              </a:lnSpc>
              <a:spcBef>
                <a:spcPts val="480"/>
              </a:spcBef>
              <a:spcAft>
                <a:spcPts val="0"/>
              </a:spcAft>
              <a:buSzPts val="2400"/>
              <a:buChar char="•"/>
              <a:defRPr/>
            </a:lvl3pPr>
            <a:lvl4pPr indent="-355600" lvl="3" marL="1828800" algn="l">
              <a:lnSpc>
                <a:spcPct val="100000"/>
              </a:lnSpc>
              <a:spcBef>
                <a:spcPts val="400"/>
              </a:spcBef>
              <a:spcAft>
                <a:spcPts val="0"/>
              </a:spcAft>
              <a:buSzPts val="2000"/>
              <a:buChar char="–"/>
              <a:defRPr/>
            </a:lvl4pPr>
            <a:lvl5pPr indent="-355600" lvl="4" marL="2286000" algn="l">
              <a:lnSpc>
                <a:spcPct val="100000"/>
              </a:lnSpc>
              <a:spcBef>
                <a:spcPts val="400"/>
              </a:spcBef>
              <a:spcAft>
                <a:spcPts val="0"/>
              </a:spcAft>
              <a:buSzPts val="2000"/>
              <a:buChar char="»"/>
              <a:defRPr/>
            </a:lvl5pPr>
            <a:lvl6pPr indent="-355600" lvl="5" marL="2743200" algn="l">
              <a:lnSpc>
                <a:spcPct val="100000"/>
              </a:lnSpc>
              <a:spcBef>
                <a:spcPts val="400"/>
              </a:spcBef>
              <a:spcAft>
                <a:spcPts val="0"/>
              </a:spcAft>
              <a:buSzPts val="2000"/>
              <a:buChar char="•"/>
              <a:defRPr/>
            </a:lvl6pPr>
            <a:lvl7pPr indent="-355600" lvl="6" marL="3200400" algn="l">
              <a:lnSpc>
                <a:spcPct val="100000"/>
              </a:lnSpc>
              <a:spcBef>
                <a:spcPts val="400"/>
              </a:spcBef>
              <a:spcAft>
                <a:spcPts val="0"/>
              </a:spcAft>
              <a:buSzPts val="2000"/>
              <a:buChar char="•"/>
              <a:defRPr/>
            </a:lvl7pPr>
            <a:lvl8pPr indent="-355600" lvl="7" marL="3657600" algn="l">
              <a:lnSpc>
                <a:spcPct val="100000"/>
              </a:lnSpc>
              <a:spcBef>
                <a:spcPts val="400"/>
              </a:spcBef>
              <a:spcAft>
                <a:spcPts val="0"/>
              </a:spcAft>
              <a:buSzPts val="2000"/>
              <a:buChar char="•"/>
              <a:defRPr/>
            </a:lvl8pPr>
            <a:lvl9pPr indent="-355600" lvl="8" marL="4114800" algn="l">
              <a:lnSpc>
                <a:spcPct val="100000"/>
              </a:lnSpc>
              <a:spcBef>
                <a:spcPts val="400"/>
              </a:spcBef>
              <a:spcAft>
                <a:spcPts val="0"/>
              </a:spcAft>
              <a:buSzPts val="2000"/>
              <a:buChar char="•"/>
              <a:defRPr/>
            </a:lvl9pPr>
          </a:lstStyle>
          <a:p/>
        </p:txBody>
      </p:sp>
      <p:sp>
        <p:nvSpPr>
          <p:cNvPr id="27" name="Google Shape;27;p22"/>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2"/>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SzPts val="1200"/>
              <a:buNone/>
              <a:defRPr/>
            </a:lvl1pPr>
            <a:lvl2pPr indent="0" lvl="1" marL="0" marR="0" algn="r">
              <a:lnSpc>
                <a:spcPct val="100000"/>
              </a:lnSpc>
              <a:spcBef>
                <a:spcPts val="0"/>
              </a:spcBef>
              <a:spcAft>
                <a:spcPts val="0"/>
              </a:spcAft>
              <a:buSzPts val="1200"/>
              <a:buNone/>
              <a:defRPr/>
            </a:lvl2pPr>
            <a:lvl3pPr indent="0" lvl="2" marL="0" marR="0" algn="r">
              <a:lnSpc>
                <a:spcPct val="100000"/>
              </a:lnSpc>
              <a:spcBef>
                <a:spcPts val="0"/>
              </a:spcBef>
              <a:spcAft>
                <a:spcPts val="0"/>
              </a:spcAft>
              <a:buSzPts val="1200"/>
              <a:buNone/>
              <a:defRPr/>
            </a:lvl3pPr>
            <a:lvl4pPr indent="0" lvl="3" marL="0" marR="0" algn="r">
              <a:lnSpc>
                <a:spcPct val="100000"/>
              </a:lnSpc>
              <a:spcBef>
                <a:spcPts val="0"/>
              </a:spcBef>
              <a:spcAft>
                <a:spcPts val="0"/>
              </a:spcAft>
              <a:buSzPts val="1200"/>
              <a:buNone/>
              <a:defRPr/>
            </a:lvl4pPr>
            <a:lvl5pPr indent="0" lvl="4" marL="0" marR="0" algn="r">
              <a:lnSpc>
                <a:spcPct val="100000"/>
              </a:lnSpc>
              <a:spcBef>
                <a:spcPts val="0"/>
              </a:spcBef>
              <a:spcAft>
                <a:spcPts val="0"/>
              </a:spcAft>
              <a:buSzPts val="1200"/>
              <a:buNone/>
              <a:defRPr/>
            </a:lvl5pPr>
            <a:lvl6pPr indent="0" lvl="5" marL="0" marR="0" algn="r">
              <a:lnSpc>
                <a:spcPct val="100000"/>
              </a:lnSpc>
              <a:spcBef>
                <a:spcPts val="0"/>
              </a:spcBef>
              <a:spcAft>
                <a:spcPts val="0"/>
              </a:spcAft>
              <a:buSzPts val="1200"/>
              <a:buNone/>
              <a:defRPr/>
            </a:lvl6pPr>
            <a:lvl7pPr indent="0" lvl="6" marL="0" marR="0" algn="r">
              <a:lnSpc>
                <a:spcPct val="100000"/>
              </a:lnSpc>
              <a:spcBef>
                <a:spcPts val="0"/>
              </a:spcBef>
              <a:spcAft>
                <a:spcPts val="0"/>
              </a:spcAft>
              <a:buSzPts val="1200"/>
              <a:buNone/>
              <a:defRPr/>
            </a:lvl7pPr>
            <a:lvl8pPr indent="0" lvl="7" marL="0" marR="0" algn="r">
              <a:lnSpc>
                <a:spcPct val="100000"/>
              </a:lnSpc>
              <a:spcBef>
                <a:spcPts val="0"/>
              </a:spcBef>
              <a:spcAft>
                <a:spcPts val="0"/>
              </a:spcAft>
              <a:buSzPts val="1200"/>
              <a:buNone/>
              <a:defRPr/>
            </a:lvl8pPr>
            <a:lvl9pPr indent="0" lvl="8" marL="0" marR="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23"/>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23"/>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3" name="Google Shape;33;p23"/>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3"/>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21"/>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1"/>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1"/>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21"/>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21"/>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21"/>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21"/>
          <p:cNvGrpSpPr/>
          <p:nvPr/>
        </p:nvGrpSpPr>
        <p:grpSpPr>
          <a:xfrm>
            <a:off x="9633189" y="2"/>
            <a:ext cx="4697174" cy="1051763"/>
            <a:chOff x="6096000" y="3924300"/>
            <a:chExt cx="2997200" cy="876300"/>
          </a:xfrm>
        </p:grpSpPr>
        <p:sp>
          <p:nvSpPr>
            <p:cNvPr id="20" name="Google Shape;20;p21"/>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21"/>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21"/>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21"/>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
          <p:cNvSpPr txBox="1"/>
          <p:nvPr/>
        </p:nvSpPr>
        <p:spPr>
          <a:xfrm>
            <a:off x="3218190" y="6976175"/>
            <a:ext cx="7981707" cy="632967"/>
          </a:xfrm>
          <a:prstGeom prst="rect">
            <a:avLst/>
          </a:prstGeom>
          <a:noFill/>
          <a:ln>
            <a:noFill/>
          </a:ln>
        </p:spPr>
        <p:txBody>
          <a:bodyPr anchorCtr="0" anchor="t" bIns="44750" lIns="89525" spcFirstLastPara="1" rIns="89525" wrap="square" tIns="44750">
            <a:spAutoFit/>
          </a:bodyPr>
          <a:lstStyle/>
          <a:p>
            <a:pPr indent="0" lvl="0" marL="0" marR="0" rtl="0" algn="ctr">
              <a:lnSpc>
                <a:spcPct val="100000"/>
              </a:lnSpc>
              <a:spcBef>
                <a:spcPts val="0"/>
              </a:spcBef>
              <a:spcAft>
                <a:spcPts val="0"/>
              </a:spcAft>
              <a:buNone/>
            </a:pPr>
            <a:r>
              <a:rPr b="1" i="0" lang="en-US" sz="1762" u="none" cap="none" strike="noStrike">
                <a:solidFill>
                  <a:schemeClr val="dk1"/>
                </a:solidFill>
                <a:latin typeface="Times New Roman"/>
                <a:ea typeface="Times New Roman"/>
                <a:cs typeface="Times New Roman"/>
                <a:sym typeface="Times New Roman"/>
              </a:rPr>
              <a:t>Chitkara University Institute of Engineering and Technology,</a:t>
            </a:r>
            <a:br>
              <a:rPr b="0" i="0" lang="en-US" sz="1762" u="none" cap="none" strike="noStrike">
                <a:solidFill>
                  <a:schemeClr val="dk1"/>
                </a:solidFill>
                <a:latin typeface="Times New Roman"/>
                <a:ea typeface="Times New Roman"/>
                <a:cs typeface="Times New Roman"/>
                <a:sym typeface="Times New Roman"/>
              </a:rPr>
            </a:br>
            <a:r>
              <a:rPr b="1" i="0" lang="en-US" sz="1762" u="none" cap="none" strike="noStrike">
                <a:solidFill>
                  <a:schemeClr val="dk1"/>
                </a:solidFill>
                <a:latin typeface="Times New Roman"/>
                <a:ea typeface="Times New Roman"/>
                <a:cs typeface="Times New Roman"/>
                <a:sym typeface="Times New Roman"/>
              </a:rPr>
              <a:t>Chitkara University, Punjab, India</a:t>
            </a:r>
            <a:endParaRPr b="0" i="0" sz="1762" u="none" cap="none" strike="noStrike">
              <a:solidFill>
                <a:schemeClr val="dk1"/>
              </a:solidFill>
              <a:latin typeface="Times New Roman"/>
              <a:ea typeface="Times New Roman"/>
              <a:cs typeface="Times New Roman"/>
              <a:sym typeface="Times New Roman"/>
            </a:endParaRPr>
          </a:p>
        </p:txBody>
      </p:sp>
      <p:sp>
        <p:nvSpPr>
          <p:cNvPr id="43" name="Google Shape;43;p1"/>
          <p:cNvSpPr txBox="1"/>
          <p:nvPr>
            <p:ph idx="12" type="sldNum"/>
          </p:nvPr>
        </p:nvSpPr>
        <p:spPr>
          <a:xfrm>
            <a:off x="10205831" y="7556386"/>
            <a:ext cx="3274548" cy="429165"/>
          </a:xfrm>
          <a:prstGeom prst="rect">
            <a:avLst/>
          </a:prstGeom>
          <a:noFill/>
          <a:ln>
            <a:noFill/>
          </a:ln>
        </p:spPr>
        <p:txBody>
          <a:bodyPr anchorCtr="0" anchor="ctr" bIns="44750" lIns="89525" spcFirstLastPara="1" rIns="89525" wrap="square" tIns="44750">
            <a:noAutofit/>
          </a:bodyPr>
          <a:lstStyle/>
          <a:p>
            <a:pPr indent="0" lvl="0" marL="0" rtl="0" algn="r">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4" name="Google Shape;44;p1"/>
          <p:cNvSpPr/>
          <p:nvPr/>
        </p:nvSpPr>
        <p:spPr>
          <a:xfrm>
            <a:off x="3287315" y="6428509"/>
            <a:ext cx="7668029" cy="547658"/>
          </a:xfrm>
          <a:prstGeom prst="rect">
            <a:avLst/>
          </a:prstGeom>
          <a:solidFill>
            <a:schemeClr val="lt1"/>
          </a:solidFill>
          <a:ln>
            <a:noFill/>
          </a:ln>
        </p:spPr>
        <p:txBody>
          <a:bodyPr anchorCtr="0" anchor="ctr" bIns="44750" lIns="89525" spcFirstLastPara="1" rIns="89525" wrap="square" tIns="44750">
            <a:noAutofit/>
          </a:bodyPr>
          <a:lstStyle/>
          <a:p>
            <a:pPr indent="0" lvl="0" marL="0" marR="0" rtl="0" algn="ctr">
              <a:lnSpc>
                <a:spcPct val="100000"/>
              </a:lnSpc>
              <a:spcBef>
                <a:spcPts val="0"/>
              </a:spcBef>
              <a:spcAft>
                <a:spcPts val="0"/>
              </a:spcAft>
              <a:buNone/>
            </a:pPr>
            <a:r>
              <a:rPr b="0" i="0" lang="en-US" sz="1762" u="none" cap="none" strike="noStrike">
                <a:solidFill>
                  <a:schemeClr val="dk1"/>
                </a:solidFill>
                <a:latin typeface="Times New Roman"/>
                <a:ea typeface="Times New Roman"/>
                <a:cs typeface="Times New Roman"/>
                <a:sym typeface="Times New Roman"/>
              </a:rPr>
              <a:t>Department of Computer Science &amp; Engineering</a:t>
            </a:r>
            <a:endParaRPr b="0" i="0" sz="1762" u="none" cap="none" strike="noStrike">
              <a:solidFill>
                <a:srgbClr val="000000"/>
              </a:solidFill>
              <a:latin typeface="Arial"/>
              <a:ea typeface="Arial"/>
              <a:cs typeface="Arial"/>
              <a:sym typeface="Arial"/>
            </a:endParaRPr>
          </a:p>
        </p:txBody>
      </p:sp>
      <p:sp>
        <p:nvSpPr>
          <p:cNvPr id="45" name="Google Shape;45;p1"/>
          <p:cNvSpPr/>
          <p:nvPr/>
        </p:nvSpPr>
        <p:spPr>
          <a:xfrm>
            <a:off x="1370049" y="2551184"/>
            <a:ext cx="11059612" cy="904220"/>
          </a:xfrm>
          <a:prstGeom prst="rect">
            <a:avLst/>
          </a:prstGeom>
          <a:noFill/>
          <a:ln>
            <a:noFill/>
          </a:ln>
        </p:spPr>
        <p:txBody>
          <a:bodyPr anchorCtr="0" anchor="t" bIns="44750" lIns="89525" spcFirstLastPara="1" rIns="89525" wrap="square" tIns="44750">
            <a:noAutofit/>
          </a:bodyPr>
          <a:lstStyle/>
          <a:p>
            <a:pPr indent="0" lvl="0" marL="0" marR="0" rtl="0" algn="ctr">
              <a:lnSpc>
                <a:spcPct val="100000"/>
              </a:lnSpc>
              <a:spcBef>
                <a:spcPts val="0"/>
              </a:spcBef>
              <a:spcAft>
                <a:spcPts val="0"/>
              </a:spcAft>
              <a:buNone/>
            </a:pPr>
            <a:r>
              <a:rPr b="0" i="0" lang="en-US" sz="3918" u="none" cap="none" strike="noStrike">
                <a:solidFill>
                  <a:schemeClr val="dk1"/>
                </a:solidFill>
                <a:latin typeface="Calibri"/>
                <a:ea typeface="Calibri"/>
                <a:cs typeface="Calibri"/>
                <a:sym typeface="Calibri"/>
              </a:rPr>
              <a:t>LOW-LEVEL DESIGN</a:t>
            </a:r>
            <a:endParaRPr b="0" i="0" sz="3918" u="none" cap="none" strike="noStrike">
              <a:solidFill>
                <a:schemeClr val="dk1"/>
              </a:solidFill>
              <a:latin typeface="Times New Roman"/>
              <a:ea typeface="Times New Roman"/>
              <a:cs typeface="Times New Roman"/>
              <a:sym typeface="Times New Roman"/>
            </a:endParaRPr>
          </a:p>
        </p:txBody>
      </p:sp>
      <p:sp>
        <p:nvSpPr>
          <p:cNvPr id="46" name="Google Shape;46;p1"/>
          <p:cNvSpPr/>
          <p:nvPr/>
        </p:nvSpPr>
        <p:spPr>
          <a:xfrm>
            <a:off x="3759894" y="5826035"/>
            <a:ext cx="8357765" cy="452110"/>
          </a:xfrm>
          <a:prstGeom prst="rect">
            <a:avLst/>
          </a:prstGeom>
          <a:noFill/>
          <a:ln>
            <a:noFill/>
          </a:ln>
        </p:spPr>
        <p:txBody>
          <a:bodyPr anchorCtr="0" anchor="t" bIns="44750" lIns="89525" spcFirstLastPara="1" rIns="89525" wrap="square" tIns="44750">
            <a:noAutofit/>
          </a:bodyPr>
          <a:lstStyle/>
          <a:p>
            <a:pPr indent="0" lvl="0" marL="0" marR="0" rtl="0" algn="l">
              <a:lnSpc>
                <a:spcPct val="100000"/>
              </a:lnSpc>
              <a:spcBef>
                <a:spcPts val="0"/>
              </a:spcBef>
              <a:spcAft>
                <a:spcPts val="0"/>
              </a:spcAft>
              <a:buNone/>
            </a:pPr>
            <a:r>
              <a:rPr b="0" i="0" lang="en-US" sz="2351" u="none" cap="none" strike="noStrike">
                <a:solidFill>
                  <a:schemeClr val="dk1"/>
                </a:solidFill>
                <a:latin typeface="Times New Roman"/>
                <a:ea typeface="Times New Roman"/>
                <a:cs typeface="Times New Roman"/>
                <a:sym typeface="Times New Roman"/>
              </a:rPr>
              <a:t>Bachelor of Engineering- Computer Science &amp; Engineering </a:t>
            </a:r>
            <a:endParaRPr b="0" i="0" sz="2351" u="none" cap="none" strike="noStrike">
              <a:solidFill>
                <a:schemeClr val="dk1"/>
              </a:solidFill>
              <a:latin typeface="Times New Roman"/>
              <a:ea typeface="Times New Roman"/>
              <a:cs typeface="Times New Roman"/>
              <a:sym typeface="Times New Roman"/>
            </a:endParaRPr>
          </a:p>
        </p:txBody>
      </p:sp>
      <p:sp>
        <p:nvSpPr>
          <p:cNvPr id="47" name="Google Shape;47;p1"/>
          <p:cNvSpPr/>
          <p:nvPr/>
        </p:nvSpPr>
        <p:spPr>
          <a:xfrm>
            <a:off x="6021584" y="5449614"/>
            <a:ext cx="3458507" cy="361657"/>
          </a:xfrm>
          <a:prstGeom prst="rect">
            <a:avLst/>
          </a:prstGeom>
          <a:noFill/>
          <a:ln>
            <a:noFill/>
          </a:ln>
        </p:spPr>
        <p:txBody>
          <a:bodyPr anchorCtr="0" anchor="t" bIns="44750" lIns="89525" spcFirstLastPara="1" rIns="89525" wrap="square" tIns="44750">
            <a:noAutofit/>
          </a:bodyPr>
          <a:lstStyle/>
          <a:p>
            <a:pPr indent="0" lvl="0" marL="0" marR="0" rtl="0" algn="l">
              <a:lnSpc>
                <a:spcPct val="100000"/>
              </a:lnSpc>
              <a:spcBef>
                <a:spcPts val="0"/>
              </a:spcBef>
              <a:spcAft>
                <a:spcPts val="0"/>
              </a:spcAft>
              <a:buNone/>
            </a:pPr>
            <a:r>
              <a:rPr b="1" i="0" lang="en-US" sz="1762" u="none" cap="none" strike="noStrike">
                <a:solidFill>
                  <a:srgbClr val="000000"/>
                </a:solidFill>
                <a:latin typeface="Times New Roman"/>
                <a:ea typeface="Times New Roman"/>
                <a:cs typeface="Times New Roman"/>
                <a:sym typeface="Times New Roman"/>
              </a:rPr>
              <a:t>System Design(SD)(22CS024)</a:t>
            </a:r>
            <a:endParaRPr b="1" i="0" sz="2351" u="none" cap="none" strike="noStrike">
              <a:solidFill>
                <a:schemeClr val="dk1"/>
              </a:solidFill>
              <a:latin typeface="Times New Roman"/>
              <a:ea typeface="Times New Roman"/>
              <a:cs typeface="Times New Roman"/>
              <a:sym typeface="Times New Roman"/>
            </a:endParaRPr>
          </a:p>
        </p:txBody>
      </p:sp>
      <p:sp>
        <p:nvSpPr>
          <p:cNvPr id="48" name="Google Shape;48;p1"/>
          <p:cNvSpPr/>
          <p:nvPr/>
        </p:nvSpPr>
        <p:spPr>
          <a:xfrm>
            <a:off x="5075740" y="5599980"/>
            <a:ext cx="4696165" cy="452110"/>
          </a:xfrm>
          <a:prstGeom prst="rect">
            <a:avLst/>
          </a:prstGeom>
          <a:noFill/>
          <a:ln>
            <a:noFill/>
          </a:ln>
        </p:spPr>
        <p:txBody>
          <a:bodyPr anchorCtr="0" anchor="t" bIns="44750" lIns="89525" spcFirstLastPara="1" rIns="89525" wrap="square" tIns="44750">
            <a:noAutofit/>
          </a:bodyPr>
          <a:lstStyle/>
          <a:p>
            <a:pPr indent="0" lvl="0" marL="0" marR="0" rtl="0" algn="ctr">
              <a:lnSpc>
                <a:spcPct val="100000"/>
              </a:lnSpc>
              <a:spcBef>
                <a:spcPts val="0"/>
              </a:spcBef>
              <a:spcAft>
                <a:spcPts val="0"/>
              </a:spcAft>
              <a:buNone/>
            </a:pPr>
            <a:r>
              <a:t/>
            </a:r>
            <a:endParaRPr b="0" i="0" sz="2351"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Design Approaches in Software Engineering</a:t>
            </a:r>
            <a:endParaRPr/>
          </a:p>
        </p:txBody>
      </p:sp>
      <p:sp>
        <p:nvSpPr>
          <p:cNvPr id="54" name="Google Shape;54;p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t/>
            </a:r>
            <a:endParaRPr/>
          </a:p>
          <a:p>
            <a:pPr indent="0" lvl="0" marL="0" rtl="0" algn="just">
              <a:lnSpc>
                <a:spcPct val="100000"/>
              </a:lnSpc>
              <a:spcBef>
                <a:spcPts val="640"/>
              </a:spcBef>
              <a:spcAft>
                <a:spcPts val="0"/>
              </a:spcAft>
              <a:buSzPts val="3200"/>
              <a:buNone/>
            </a:pPr>
            <a:r>
              <a:rPr lang="en-US"/>
              <a:t>Design approaches define </a:t>
            </a:r>
            <a:r>
              <a:rPr b="1" lang="en-US"/>
              <a:t>how</a:t>
            </a:r>
            <a:r>
              <a:rPr lang="en-US"/>
              <a:t> a software system is structured and built from specifications or requirements. They guide the transition from user needs to working code and typically include two main stages:</a:t>
            </a:r>
            <a:endParaRPr/>
          </a:p>
          <a:p>
            <a:pPr indent="-431800" lvl="0" marL="457200" rtl="0" algn="just">
              <a:lnSpc>
                <a:spcPct val="100000"/>
              </a:lnSpc>
              <a:spcBef>
                <a:spcPts val="640"/>
              </a:spcBef>
              <a:spcAft>
                <a:spcPts val="0"/>
              </a:spcAft>
              <a:buSzPts val="3200"/>
              <a:buChar char="•"/>
            </a:pPr>
            <a:r>
              <a:rPr b="1" lang="en-US"/>
              <a:t>High-Level Design (HLD)</a:t>
            </a:r>
            <a:r>
              <a:rPr lang="en-US"/>
              <a:t> – Architectural design, focusing on the system's structure.</a:t>
            </a:r>
            <a:endParaRPr/>
          </a:p>
          <a:p>
            <a:pPr indent="-431800" lvl="0" marL="457200" rtl="0" algn="just">
              <a:lnSpc>
                <a:spcPct val="100000"/>
              </a:lnSpc>
              <a:spcBef>
                <a:spcPts val="640"/>
              </a:spcBef>
              <a:spcAft>
                <a:spcPts val="0"/>
              </a:spcAft>
              <a:buSzPts val="3200"/>
              <a:buChar char="•"/>
            </a:pPr>
            <a:r>
              <a:rPr b="1" lang="en-US"/>
              <a:t>Low-Level Design (LLD)</a:t>
            </a:r>
            <a:r>
              <a:rPr lang="en-US"/>
              <a:t> – Component-level design, focusing on internal logic and implementation details.</a:t>
            </a:r>
            <a:endParaRPr/>
          </a:p>
          <a:p>
            <a:pPr indent="0" lvl="0" marL="0" rtl="0" algn="l">
              <a:lnSpc>
                <a:spcPct val="100000"/>
              </a:lnSpc>
              <a:spcBef>
                <a:spcPts val="640"/>
              </a:spcBef>
              <a:spcAft>
                <a:spcPts val="0"/>
              </a:spcAft>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Cont…</a:t>
            </a:r>
            <a:endParaRPr/>
          </a:p>
        </p:txBody>
      </p:sp>
      <p:sp>
        <p:nvSpPr>
          <p:cNvPr id="60" name="Google Shape;60;p3"/>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640"/>
              </a:spcBef>
              <a:spcAft>
                <a:spcPts val="0"/>
              </a:spcAft>
              <a:buSzPts val="3200"/>
              <a:buNone/>
            </a:pPr>
            <a:r>
              <a:rPr b="1" lang="en-US"/>
              <a:t>Low-Level Design (LLD)</a:t>
            </a:r>
            <a:endParaRPr/>
          </a:p>
          <a:p>
            <a:pPr indent="0" lvl="0" marL="0" rtl="0" algn="just">
              <a:lnSpc>
                <a:spcPct val="100000"/>
              </a:lnSpc>
              <a:spcBef>
                <a:spcPts val="640"/>
              </a:spcBef>
              <a:spcAft>
                <a:spcPts val="0"/>
              </a:spcAft>
              <a:buSzPts val="3200"/>
              <a:buNone/>
            </a:pPr>
            <a:r>
              <a:t/>
            </a:r>
            <a:endParaRPr b="1"/>
          </a:p>
          <a:p>
            <a:pPr indent="-431800" lvl="0" marL="457200" rtl="0" algn="just">
              <a:lnSpc>
                <a:spcPct val="100000"/>
              </a:lnSpc>
              <a:spcBef>
                <a:spcPts val="640"/>
              </a:spcBef>
              <a:spcAft>
                <a:spcPts val="0"/>
              </a:spcAft>
              <a:buSzPts val="3200"/>
              <a:buChar char="•"/>
            </a:pPr>
            <a:r>
              <a:rPr b="1" lang="en-US"/>
              <a:t>Low-Level Design</a:t>
            </a:r>
            <a:r>
              <a:rPr lang="en-US"/>
              <a:t> dives into the </a:t>
            </a:r>
            <a:r>
              <a:rPr b="1" lang="en-US"/>
              <a:t>details of each module</a:t>
            </a:r>
            <a:r>
              <a:rPr lang="en-US"/>
              <a:t> defined in HLD. It explains how individual components will work internally.</a:t>
            </a:r>
            <a:endParaRPr/>
          </a:p>
          <a:p>
            <a:pPr indent="0" lvl="0" marL="0" rtl="0" algn="just">
              <a:lnSpc>
                <a:spcPct val="100000"/>
              </a:lnSpc>
              <a:spcBef>
                <a:spcPts val="640"/>
              </a:spcBef>
              <a:spcAft>
                <a:spcPts val="0"/>
              </a:spcAft>
              <a:buSzPts val="3200"/>
              <a:buNone/>
            </a:pPr>
            <a:r>
              <a:t/>
            </a:r>
            <a:endParaRPr b="1"/>
          </a:p>
          <a:p>
            <a:pPr indent="0" lvl="0" marL="0" rtl="0" algn="just">
              <a:lnSpc>
                <a:spcPct val="100000"/>
              </a:lnSpc>
              <a:spcBef>
                <a:spcPts val="640"/>
              </a:spcBef>
              <a:spcAft>
                <a:spcPts val="0"/>
              </a:spcAft>
              <a:buSzPts val="3200"/>
              <a:buNone/>
            </a:pPr>
            <a:r>
              <a:rPr b="1" lang="en-US"/>
              <a:t>Key Features:</a:t>
            </a:r>
            <a:endParaRPr/>
          </a:p>
          <a:p>
            <a:pPr indent="-431800" lvl="0" marL="457200" rtl="0" algn="just">
              <a:lnSpc>
                <a:spcPct val="100000"/>
              </a:lnSpc>
              <a:spcBef>
                <a:spcPts val="640"/>
              </a:spcBef>
              <a:spcAft>
                <a:spcPts val="0"/>
              </a:spcAft>
              <a:buSzPts val="3200"/>
              <a:buChar char="•"/>
            </a:pPr>
            <a:r>
              <a:rPr lang="en-US"/>
              <a:t>Focuses on </a:t>
            </a:r>
            <a:r>
              <a:rPr b="1" lang="en-US"/>
              <a:t>class design</a:t>
            </a:r>
            <a:r>
              <a:rPr lang="en-US"/>
              <a:t>, </a:t>
            </a:r>
            <a:r>
              <a:rPr b="1" lang="en-US"/>
              <a:t>method definitions</a:t>
            </a:r>
            <a:r>
              <a:rPr lang="en-US"/>
              <a:t>, and </a:t>
            </a:r>
            <a:r>
              <a:rPr b="1" lang="en-US"/>
              <a:t>business logic</a:t>
            </a:r>
            <a:r>
              <a:rPr lang="en-US"/>
              <a:t>.</a:t>
            </a:r>
            <a:endParaRPr/>
          </a:p>
          <a:p>
            <a:pPr indent="-431800" lvl="0" marL="457200" rtl="0" algn="just">
              <a:lnSpc>
                <a:spcPct val="100000"/>
              </a:lnSpc>
              <a:spcBef>
                <a:spcPts val="640"/>
              </a:spcBef>
              <a:spcAft>
                <a:spcPts val="0"/>
              </a:spcAft>
              <a:buSzPts val="3200"/>
              <a:buChar char="•"/>
            </a:pPr>
            <a:r>
              <a:rPr lang="en-US"/>
              <a:t>Specifies </a:t>
            </a:r>
            <a:r>
              <a:rPr b="1" lang="en-US"/>
              <a:t>algorithms</a:t>
            </a:r>
            <a:r>
              <a:rPr lang="en-US"/>
              <a:t>, </a:t>
            </a:r>
            <a:r>
              <a:rPr b="1" lang="en-US"/>
              <a:t>data structures</a:t>
            </a:r>
            <a:r>
              <a:rPr lang="en-US"/>
              <a:t>, and </a:t>
            </a:r>
            <a:r>
              <a:rPr b="1" lang="en-US"/>
              <a:t>database schema</a:t>
            </a:r>
            <a:r>
              <a:rPr lang="en-US"/>
              <a:t>.</a:t>
            </a:r>
            <a:endParaRPr/>
          </a:p>
          <a:p>
            <a:pPr indent="-431800" lvl="0" marL="457200" rtl="0" algn="just">
              <a:lnSpc>
                <a:spcPct val="100000"/>
              </a:lnSpc>
              <a:spcBef>
                <a:spcPts val="640"/>
              </a:spcBef>
              <a:spcAft>
                <a:spcPts val="0"/>
              </a:spcAft>
              <a:buSzPts val="3200"/>
              <a:buChar char="•"/>
            </a:pPr>
            <a:r>
              <a:rPr lang="en-US"/>
              <a:t>Guides developers in the actual </a:t>
            </a:r>
            <a:r>
              <a:rPr b="1" lang="en-US"/>
              <a:t>coding process</a:t>
            </a:r>
            <a:r>
              <a:rPr lang="en-US"/>
              <a:t>.</a:t>
            </a:r>
            <a:endParaRPr/>
          </a:p>
          <a:p>
            <a:pPr indent="-228600" lvl="0" marL="457200" rtl="0" algn="l">
              <a:lnSpc>
                <a:spcPct val="100000"/>
              </a:lnSpc>
              <a:spcBef>
                <a:spcPts val="640"/>
              </a:spcBef>
              <a:spcAft>
                <a:spcPts val="0"/>
              </a:spcAft>
              <a:buSzPts val="32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25400" rtl="0" algn="ctr">
              <a:lnSpc>
                <a:spcPct val="100000"/>
              </a:lnSpc>
              <a:spcBef>
                <a:spcPts val="0"/>
              </a:spcBef>
              <a:spcAft>
                <a:spcPts val="0"/>
              </a:spcAft>
              <a:buSzPts val="1400"/>
              <a:buNone/>
            </a:pPr>
            <a:r>
              <a:rPr b="1" lang="en-US"/>
              <a:t>Core Components of LLD</a:t>
            </a:r>
            <a:endParaRPr/>
          </a:p>
        </p:txBody>
      </p:sp>
      <p:sp>
        <p:nvSpPr>
          <p:cNvPr id="66" name="Google Shape;66;p4"/>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431800" lvl="0" marL="457200" rtl="0" algn="just">
              <a:lnSpc>
                <a:spcPct val="100000"/>
              </a:lnSpc>
              <a:spcBef>
                <a:spcPts val="640"/>
              </a:spcBef>
              <a:spcAft>
                <a:spcPts val="0"/>
              </a:spcAft>
              <a:buSzPts val="3200"/>
              <a:buChar char="•"/>
            </a:pPr>
            <a:r>
              <a:rPr b="1" lang="en-US" sz="2800"/>
              <a:t>Class Diagrams</a:t>
            </a:r>
            <a:r>
              <a:rPr lang="en-US" sz="2800"/>
              <a:t>: Define the classes, their attributes, methods, and relationships.</a:t>
            </a:r>
            <a:endParaRPr/>
          </a:p>
          <a:p>
            <a:pPr indent="-431800" lvl="0" marL="457200" rtl="0" algn="just">
              <a:lnSpc>
                <a:spcPct val="100000"/>
              </a:lnSpc>
              <a:spcBef>
                <a:spcPts val="640"/>
              </a:spcBef>
              <a:spcAft>
                <a:spcPts val="0"/>
              </a:spcAft>
              <a:buSzPts val="3200"/>
              <a:buChar char="•"/>
            </a:pPr>
            <a:r>
              <a:rPr b="1" lang="en-US" sz="2800"/>
              <a:t>Sequence Diagrams</a:t>
            </a:r>
            <a:r>
              <a:rPr lang="en-US" sz="2800"/>
              <a:t>: Illustrate the sequence of interactions between objects to perform specific tasks.</a:t>
            </a:r>
            <a:endParaRPr/>
          </a:p>
          <a:p>
            <a:pPr indent="-431800" lvl="0" marL="457200" rtl="0" algn="just">
              <a:lnSpc>
                <a:spcPct val="100000"/>
              </a:lnSpc>
              <a:spcBef>
                <a:spcPts val="640"/>
              </a:spcBef>
              <a:spcAft>
                <a:spcPts val="0"/>
              </a:spcAft>
              <a:buSzPts val="3200"/>
              <a:buChar char="•"/>
            </a:pPr>
            <a:r>
              <a:rPr b="1" lang="en-US" sz="2800"/>
              <a:t>Data Flow Diagrams</a:t>
            </a:r>
            <a:r>
              <a:rPr lang="en-US" sz="2800"/>
              <a:t>: Show how data moves through the system, highlighting inputs, processes, and outputs.</a:t>
            </a:r>
            <a:endParaRPr/>
          </a:p>
          <a:p>
            <a:pPr indent="-431800" lvl="0" marL="457200" rtl="0" algn="just">
              <a:lnSpc>
                <a:spcPct val="100000"/>
              </a:lnSpc>
              <a:spcBef>
                <a:spcPts val="640"/>
              </a:spcBef>
              <a:spcAft>
                <a:spcPts val="0"/>
              </a:spcAft>
              <a:buSzPts val="3200"/>
              <a:buChar char="•"/>
            </a:pPr>
            <a:r>
              <a:rPr b="1" lang="en-US" sz="2800"/>
              <a:t>Database Schema</a:t>
            </a:r>
            <a:r>
              <a:rPr lang="en-US" sz="2800"/>
              <a:t>: Specifies the structure of the database, including tables, columns, and relationships.</a:t>
            </a:r>
            <a:endParaRPr/>
          </a:p>
          <a:p>
            <a:pPr indent="-431800" lvl="0" marL="457200" rtl="0" algn="just">
              <a:lnSpc>
                <a:spcPct val="100000"/>
              </a:lnSpc>
              <a:spcBef>
                <a:spcPts val="640"/>
              </a:spcBef>
              <a:spcAft>
                <a:spcPts val="0"/>
              </a:spcAft>
              <a:buSzPts val="3200"/>
              <a:buChar char="•"/>
            </a:pPr>
            <a:r>
              <a:rPr b="1" lang="en-US" sz="2800"/>
              <a:t>User Interface Design</a:t>
            </a:r>
            <a:r>
              <a:rPr lang="en-US" sz="2800"/>
              <a:t>: Details the layout and interactions of the user interface elements .</a:t>
            </a:r>
            <a:endParaRPr/>
          </a:p>
          <a:p>
            <a:pPr indent="0" lvl="0" marL="25400" rtl="0" algn="l">
              <a:lnSpc>
                <a:spcPct val="100000"/>
              </a:lnSpc>
              <a:spcBef>
                <a:spcPts val="640"/>
              </a:spcBef>
              <a:spcAft>
                <a:spcPts val="0"/>
              </a:spcAft>
              <a:buSzPts val="3200"/>
              <a:buNone/>
            </a:pPr>
            <a:r>
              <a:t/>
            </a:r>
            <a:endParaRPr/>
          </a:p>
        </p:txBody>
      </p:sp>
      <p:sp>
        <p:nvSpPr>
          <p:cNvPr id="67" name="Google Shape;67;p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Best Practices in LLD</a:t>
            </a:r>
            <a:br>
              <a:rPr b="1" lang="en-US"/>
            </a:br>
            <a:endParaRPr/>
          </a:p>
        </p:txBody>
      </p:sp>
      <p:sp>
        <p:nvSpPr>
          <p:cNvPr id="73" name="Google Shape;73;p5"/>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Char char="•"/>
            </a:pPr>
            <a:r>
              <a:rPr b="1" lang="en-US"/>
              <a:t>Modular Design</a:t>
            </a:r>
            <a:r>
              <a:rPr lang="en-US"/>
              <a:t>: Break down the system into small, independent components with specific functionalities.</a:t>
            </a:r>
            <a:endParaRPr/>
          </a:p>
          <a:p>
            <a:pPr indent="-431800" lvl="0" marL="457200" rtl="0" algn="l">
              <a:lnSpc>
                <a:spcPct val="100000"/>
              </a:lnSpc>
              <a:spcBef>
                <a:spcPts val="640"/>
              </a:spcBef>
              <a:spcAft>
                <a:spcPts val="0"/>
              </a:spcAft>
              <a:buSzPts val="3200"/>
              <a:buChar char="•"/>
            </a:pPr>
            <a:r>
              <a:rPr b="1" lang="en-US"/>
              <a:t>SOLID Principles</a:t>
            </a:r>
            <a:r>
              <a:rPr lang="en-US"/>
              <a:t>: Apply object-oriented design principles to ensure code is maintainable and scalable.</a:t>
            </a:r>
            <a:endParaRPr/>
          </a:p>
          <a:p>
            <a:pPr indent="-431800" lvl="0" marL="457200" rtl="0" algn="l">
              <a:lnSpc>
                <a:spcPct val="100000"/>
              </a:lnSpc>
              <a:spcBef>
                <a:spcPts val="640"/>
              </a:spcBef>
              <a:spcAft>
                <a:spcPts val="0"/>
              </a:spcAft>
              <a:buSzPts val="3200"/>
              <a:buChar char="•"/>
            </a:pPr>
            <a:r>
              <a:rPr b="1" lang="en-US"/>
              <a:t>Design Patterns</a:t>
            </a:r>
            <a:r>
              <a:rPr lang="en-US"/>
              <a:t>: Utilize proven solutions to common design problems to promote code reuse and consistency .</a:t>
            </a:r>
            <a:endParaRPr/>
          </a:p>
          <a:p>
            <a:pPr indent="-431800" lvl="0" marL="457200" rtl="0" algn="l">
              <a:lnSpc>
                <a:spcPct val="100000"/>
              </a:lnSpc>
              <a:spcBef>
                <a:spcPts val="640"/>
              </a:spcBef>
              <a:spcAft>
                <a:spcPts val="0"/>
              </a:spcAft>
              <a:buSzPts val="3200"/>
              <a:buChar char="•"/>
            </a:pPr>
            <a:r>
              <a:rPr b="1" lang="en-US"/>
              <a:t>Separation of Concerns</a:t>
            </a:r>
            <a:r>
              <a:rPr lang="en-US"/>
              <a:t>: Ensure that each module addresses a separate concern, promoting modularity and reducing complexity </a:t>
            </a:r>
            <a:endParaRPr/>
          </a:p>
          <a:p>
            <a:pPr indent="0" lvl="0" marL="25400" rtl="0" algn="l">
              <a:lnSpc>
                <a:spcPct val="100000"/>
              </a:lnSpc>
              <a:spcBef>
                <a:spcPts val="640"/>
              </a:spcBef>
              <a:spcAft>
                <a:spcPts val="0"/>
              </a:spcAft>
              <a:buSzPts val="3200"/>
              <a:buNone/>
            </a:pPr>
            <a:r>
              <a:t/>
            </a:r>
            <a:endParaRPr/>
          </a:p>
        </p:txBody>
      </p:sp>
      <p:sp>
        <p:nvSpPr>
          <p:cNvPr id="74" name="Google Shape;74;p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Deliverables of LLD</a:t>
            </a:r>
            <a:endParaRPr/>
          </a:p>
        </p:txBody>
      </p:sp>
      <p:sp>
        <p:nvSpPr>
          <p:cNvPr id="80" name="Google Shape;80;p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40"/>
              </a:spcBef>
              <a:spcAft>
                <a:spcPts val="0"/>
              </a:spcAft>
              <a:buSzPts val="3200"/>
              <a:buNone/>
            </a:pPr>
            <a:r>
              <a:rPr b="1" lang="en-US"/>
              <a:t>Deliverables:</a:t>
            </a:r>
            <a:endParaRPr/>
          </a:p>
          <a:p>
            <a:pPr indent="0" lvl="0" marL="0" rtl="0" algn="l">
              <a:lnSpc>
                <a:spcPct val="100000"/>
              </a:lnSpc>
              <a:spcBef>
                <a:spcPts val="640"/>
              </a:spcBef>
              <a:spcAft>
                <a:spcPts val="0"/>
              </a:spcAft>
              <a:buSzPts val="3200"/>
              <a:buNone/>
            </a:pPr>
            <a:r>
              <a:t/>
            </a:r>
            <a:endParaRPr b="1"/>
          </a:p>
          <a:p>
            <a:pPr indent="-431800" lvl="0" marL="457200" rtl="0" algn="l">
              <a:lnSpc>
                <a:spcPct val="100000"/>
              </a:lnSpc>
              <a:spcBef>
                <a:spcPts val="640"/>
              </a:spcBef>
              <a:spcAft>
                <a:spcPts val="0"/>
              </a:spcAft>
              <a:buSzPts val="3200"/>
              <a:buChar char="•"/>
            </a:pPr>
            <a:r>
              <a:rPr lang="en-US"/>
              <a:t>Class Diagrams</a:t>
            </a:r>
            <a:endParaRPr/>
          </a:p>
          <a:p>
            <a:pPr indent="-431800" lvl="0" marL="457200" rtl="0" algn="l">
              <a:lnSpc>
                <a:spcPct val="100000"/>
              </a:lnSpc>
              <a:spcBef>
                <a:spcPts val="640"/>
              </a:spcBef>
              <a:spcAft>
                <a:spcPts val="0"/>
              </a:spcAft>
              <a:buSzPts val="3200"/>
              <a:buChar char="•"/>
            </a:pPr>
            <a:r>
              <a:rPr lang="en-US"/>
              <a:t>Sequence Diagrams</a:t>
            </a:r>
            <a:endParaRPr/>
          </a:p>
          <a:p>
            <a:pPr indent="-431800" lvl="0" marL="457200" rtl="0" algn="l">
              <a:lnSpc>
                <a:spcPct val="100000"/>
              </a:lnSpc>
              <a:spcBef>
                <a:spcPts val="640"/>
              </a:spcBef>
              <a:spcAft>
                <a:spcPts val="0"/>
              </a:spcAft>
              <a:buSzPts val="3200"/>
              <a:buChar char="•"/>
            </a:pPr>
            <a:r>
              <a:rPr lang="en-US"/>
              <a:t>Pseudocode / Flowcharts</a:t>
            </a:r>
            <a:endParaRPr/>
          </a:p>
          <a:p>
            <a:pPr indent="-431800" lvl="0" marL="457200" rtl="0" algn="l">
              <a:lnSpc>
                <a:spcPct val="100000"/>
              </a:lnSpc>
              <a:spcBef>
                <a:spcPts val="640"/>
              </a:spcBef>
              <a:spcAft>
                <a:spcPts val="0"/>
              </a:spcAft>
              <a:buSzPts val="3200"/>
              <a:buChar char="•"/>
            </a:pPr>
            <a:r>
              <a:rPr lang="en-US"/>
              <a:t>Database Table Definitions</a:t>
            </a:r>
            <a:endParaRPr/>
          </a:p>
          <a:p>
            <a:pPr indent="0" lvl="0" marL="0" rtl="0" algn="l">
              <a:lnSpc>
                <a:spcPct val="100000"/>
              </a:lnSpc>
              <a:spcBef>
                <a:spcPts val="640"/>
              </a:spcBef>
              <a:spcAft>
                <a:spcPts val="0"/>
              </a:spcAft>
              <a:buSzPts val="32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Benefits of LLD</a:t>
            </a:r>
            <a:br>
              <a:rPr b="1" lang="en-US"/>
            </a:br>
            <a:endParaRPr/>
          </a:p>
        </p:txBody>
      </p:sp>
      <p:sp>
        <p:nvSpPr>
          <p:cNvPr id="86" name="Google Shape;86;p7"/>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431800" lvl="0" marL="457200" rtl="0" algn="just">
              <a:lnSpc>
                <a:spcPct val="100000"/>
              </a:lnSpc>
              <a:spcBef>
                <a:spcPts val="640"/>
              </a:spcBef>
              <a:spcAft>
                <a:spcPts val="0"/>
              </a:spcAft>
              <a:buSzPts val="3200"/>
              <a:buChar char="•"/>
            </a:pPr>
            <a:r>
              <a:rPr b="1" lang="en-US" sz="2800"/>
              <a:t>Clarity and Understanding</a:t>
            </a:r>
            <a:r>
              <a:rPr lang="en-US" sz="2800"/>
              <a:t>: Provides a detailed and clear understanding of how the system will be implemented.</a:t>
            </a:r>
            <a:endParaRPr/>
          </a:p>
          <a:p>
            <a:pPr indent="-431800" lvl="0" marL="457200" rtl="0" algn="just">
              <a:lnSpc>
                <a:spcPct val="100000"/>
              </a:lnSpc>
              <a:spcBef>
                <a:spcPts val="640"/>
              </a:spcBef>
              <a:spcAft>
                <a:spcPts val="0"/>
              </a:spcAft>
              <a:buSzPts val="3200"/>
              <a:buChar char="•"/>
            </a:pPr>
            <a:r>
              <a:rPr b="1" lang="en-US" sz="2800"/>
              <a:t>Efficiency</a:t>
            </a:r>
            <a:r>
              <a:rPr lang="en-US" sz="2800"/>
              <a:t>: Ensures that the system is designed to be efficient, with optimized data structures and algorithms.</a:t>
            </a:r>
            <a:endParaRPr/>
          </a:p>
          <a:p>
            <a:pPr indent="-431800" lvl="0" marL="457200" rtl="0" algn="just">
              <a:lnSpc>
                <a:spcPct val="100000"/>
              </a:lnSpc>
              <a:spcBef>
                <a:spcPts val="640"/>
              </a:spcBef>
              <a:spcAft>
                <a:spcPts val="0"/>
              </a:spcAft>
              <a:buSzPts val="3200"/>
              <a:buChar char="•"/>
            </a:pPr>
            <a:r>
              <a:rPr b="1" lang="en-US" sz="2800"/>
              <a:t>Modularity</a:t>
            </a:r>
            <a:r>
              <a:rPr lang="en-US" sz="2800"/>
              <a:t>: Promotes modularity and reusability by breaking the system into smaller, manageable components.</a:t>
            </a:r>
            <a:endParaRPr/>
          </a:p>
          <a:p>
            <a:pPr indent="-431800" lvl="0" marL="457200" rtl="0" algn="just">
              <a:lnSpc>
                <a:spcPct val="100000"/>
              </a:lnSpc>
              <a:spcBef>
                <a:spcPts val="640"/>
              </a:spcBef>
              <a:spcAft>
                <a:spcPts val="0"/>
              </a:spcAft>
              <a:buSzPts val="3200"/>
              <a:buChar char="•"/>
            </a:pPr>
            <a:r>
              <a:rPr b="1" lang="en-US" sz="2800"/>
              <a:t>Maintenance</a:t>
            </a:r>
            <a:r>
              <a:rPr lang="en-US" sz="2800"/>
              <a:t>: Makes the system easier to maintain and modify in the future by providing a clear design structure.</a:t>
            </a:r>
            <a:endParaRPr/>
          </a:p>
          <a:p>
            <a:pPr indent="-431800" lvl="0" marL="457200" rtl="0" algn="just">
              <a:lnSpc>
                <a:spcPct val="100000"/>
              </a:lnSpc>
              <a:spcBef>
                <a:spcPts val="640"/>
              </a:spcBef>
              <a:spcAft>
                <a:spcPts val="0"/>
              </a:spcAft>
              <a:buSzPts val="3200"/>
              <a:buChar char="•"/>
            </a:pPr>
            <a:r>
              <a:rPr b="1" lang="en-US" sz="2800"/>
              <a:t>Validation</a:t>
            </a:r>
            <a:r>
              <a:rPr lang="en-US" sz="2800"/>
              <a:t>: Helps validate the design against the requirements, ensuring that the system will meet its intended purpose .</a:t>
            </a:r>
            <a:endParaRPr/>
          </a:p>
          <a:p>
            <a:pPr indent="0" lvl="0" marL="25400" rtl="0" algn="l">
              <a:lnSpc>
                <a:spcPct val="100000"/>
              </a:lnSpc>
              <a:spcBef>
                <a:spcPts val="640"/>
              </a:spcBef>
              <a:spcAft>
                <a:spcPts val="0"/>
              </a:spcAft>
              <a:buSzPts val="3200"/>
              <a:buNone/>
            </a:pPr>
            <a:r>
              <a:t/>
            </a:r>
            <a:endParaRPr/>
          </a:p>
        </p:txBody>
      </p:sp>
      <p:sp>
        <p:nvSpPr>
          <p:cNvPr id="87" name="Google Shape;87;p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a:t>
            </a:r>
            <a:endParaRPr/>
          </a:p>
        </p:txBody>
      </p:sp>
      <p:pic>
        <p:nvPicPr>
          <p:cNvPr id="93" name="Google Shape;93;p8"/>
          <p:cNvPicPr preferRelativeResize="0"/>
          <p:nvPr>
            <p:ph idx="1" type="body"/>
          </p:nvPr>
        </p:nvPicPr>
        <p:blipFill rotWithShape="1">
          <a:blip r:embed="rId3">
            <a:alphaModFix/>
          </a:blip>
          <a:srcRect b="0" l="0" r="0" t="0"/>
          <a:stretch/>
        </p:blipFill>
        <p:spPr>
          <a:xfrm>
            <a:off x="2075935" y="2150076"/>
            <a:ext cx="9749481" cy="4782065"/>
          </a:xfrm>
          <a:prstGeom prst="rect">
            <a:avLst/>
          </a:prstGeom>
          <a:noFill/>
          <a:ln>
            <a:noFill/>
          </a:ln>
        </p:spPr>
      </p:pic>
      <p:sp>
        <p:nvSpPr>
          <p:cNvPr id="94" name="Google Shape;94;p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sz="2400"/>
          </a:p>
        </p:txBody>
      </p:sp>
      <p:sp>
        <p:nvSpPr>
          <p:cNvPr id="100" name="Google Shape;100;p9"/>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t>Step 1. Understanding Object-Oriented Principles</a:t>
            </a:r>
            <a:endParaRPr/>
          </a:p>
          <a:p>
            <a:pPr indent="0" lvl="0" marL="25400" rtl="0" algn="just">
              <a:lnSpc>
                <a:spcPct val="100000"/>
              </a:lnSpc>
              <a:spcBef>
                <a:spcPts val="640"/>
              </a:spcBef>
              <a:spcAft>
                <a:spcPts val="0"/>
              </a:spcAft>
              <a:buSzPts val="3200"/>
              <a:buNone/>
            </a:pPr>
            <a:r>
              <a:rPr lang="en-US" sz="2400"/>
              <a:t>The user requirement is processed by using concepts of OOPS programming. OOP concepts serve as the foundation for LLD, and having a deep understanding of them will help you design maintainable and scalable software components. Hence it is recommended to have a strong grip on </a:t>
            </a:r>
            <a:r>
              <a:rPr b="1" lang="en-US" sz="2400"/>
              <a:t>Object-Oriented Programming</a:t>
            </a:r>
            <a:r>
              <a:rPr lang="en-US" sz="2400"/>
              <a:t> principles such as:</a:t>
            </a:r>
            <a:endParaRPr/>
          </a:p>
          <a:p>
            <a:pPr indent="-431800" lvl="0" marL="457200" rtl="0" algn="just">
              <a:lnSpc>
                <a:spcPct val="100000"/>
              </a:lnSpc>
              <a:spcBef>
                <a:spcPts val="640"/>
              </a:spcBef>
              <a:spcAft>
                <a:spcPts val="0"/>
              </a:spcAft>
              <a:buSzPts val="3200"/>
              <a:buChar char="•"/>
            </a:pPr>
            <a:r>
              <a:rPr b="1" lang="en-US" sz="2400"/>
              <a:t>Encapsulation</a:t>
            </a:r>
            <a:r>
              <a:rPr lang="en-US" sz="2400"/>
              <a:t>: Bundling data and the methods that operate on that data within one unit.</a:t>
            </a:r>
            <a:endParaRPr/>
          </a:p>
          <a:p>
            <a:pPr indent="-431800" lvl="0" marL="457200" rtl="0" algn="just">
              <a:lnSpc>
                <a:spcPct val="100000"/>
              </a:lnSpc>
              <a:spcBef>
                <a:spcPts val="640"/>
              </a:spcBef>
              <a:spcAft>
                <a:spcPts val="0"/>
              </a:spcAft>
              <a:buSzPts val="3200"/>
              <a:buChar char="•"/>
            </a:pPr>
            <a:r>
              <a:rPr b="1" lang="en-US" sz="2400"/>
              <a:t>Inheritance</a:t>
            </a:r>
            <a:r>
              <a:rPr lang="en-US" sz="2400"/>
              <a:t>: Mechanism where a new class can inherit the properties and methods of an existing class.</a:t>
            </a:r>
            <a:endParaRPr/>
          </a:p>
          <a:p>
            <a:pPr indent="-431800" lvl="0" marL="457200" rtl="0" algn="just">
              <a:lnSpc>
                <a:spcPct val="100000"/>
              </a:lnSpc>
              <a:spcBef>
                <a:spcPts val="640"/>
              </a:spcBef>
              <a:spcAft>
                <a:spcPts val="0"/>
              </a:spcAft>
              <a:buSzPts val="3200"/>
              <a:buChar char="•"/>
            </a:pPr>
            <a:r>
              <a:rPr b="1" lang="en-US" sz="2400"/>
              <a:t>Polymorphism</a:t>
            </a:r>
            <a:r>
              <a:rPr lang="en-US" sz="2400"/>
              <a:t>: Ability of different classes to respond to the same method in different ways.</a:t>
            </a:r>
            <a:endParaRPr/>
          </a:p>
          <a:p>
            <a:pPr indent="-431800" lvl="0" marL="457200" rtl="0" algn="just">
              <a:lnSpc>
                <a:spcPct val="100000"/>
              </a:lnSpc>
              <a:spcBef>
                <a:spcPts val="640"/>
              </a:spcBef>
              <a:spcAft>
                <a:spcPts val="0"/>
              </a:spcAft>
              <a:buSzPts val="3200"/>
              <a:buChar char="•"/>
            </a:pPr>
            <a:r>
              <a:rPr b="1" lang="en-US" sz="2400"/>
              <a:t>Abstraction</a:t>
            </a:r>
            <a:r>
              <a:rPr lang="en-US" sz="2400"/>
              <a:t>: Hiding the complex implementation details while showing only the essential features of an object.</a:t>
            </a:r>
            <a:endParaRPr/>
          </a:p>
          <a:p>
            <a:pPr indent="0" lvl="0" marL="25400" rtl="0" algn="just">
              <a:lnSpc>
                <a:spcPct val="100000"/>
              </a:lnSpc>
              <a:spcBef>
                <a:spcPts val="640"/>
              </a:spcBef>
              <a:spcAft>
                <a:spcPts val="0"/>
              </a:spcAft>
              <a:buSzPts val="3200"/>
              <a:buNone/>
            </a:pPr>
            <a:r>
              <a:t/>
            </a:r>
            <a:endParaRPr sz="2400"/>
          </a:p>
        </p:txBody>
      </p:sp>
      <p:sp>
        <p:nvSpPr>
          <p:cNvPr id="101" name="Google Shape;101;p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07" name="Google Shape;107;p10"/>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800"/>
              <a:t>Step 2. Analyzing and Designing Components</a:t>
            </a:r>
            <a:endParaRPr/>
          </a:p>
          <a:p>
            <a:pPr indent="0" lvl="0" marL="25400" rtl="0" algn="just">
              <a:lnSpc>
                <a:spcPct val="100000"/>
              </a:lnSpc>
              <a:spcBef>
                <a:spcPts val="640"/>
              </a:spcBef>
              <a:spcAft>
                <a:spcPts val="0"/>
              </a:spcAft>
              <a:buSzPts val="3200"/>
              <a:buNone/>
            </a:pPr>
            <a:r>
              <a:rPr lang="en-US" sz="2800"/>
              <a:t>LLD requires you to </a:t>
            </a:r>
            <a:r>
              <a:rPr b="1" lang="en-US" sz="2800"/>
              <a:t>analyze real-world problems</a:t>
            </a:r>
            <a:r>
              <a:rPr lang="en-US" sz="2800"/>
              <a:t> and break them down into </a:t>
            </a:r>
            <a:r>
              <a:rPr b="1" lang="en-US" sz="2800"/>
              <a:t>object-world problems</a:t>
            </a:r>
            <a:r>
              <a:rPr lang="en-US" sz="2800"/>
              <a:t> using OOP concepts. This is a critical step where </a:t>
            </a:r>
            <a:r>
              <a:rPr b="1" lang="en-US" sz="2800"/>
              <a:t>real-world entities</a:t>
            </a:r>
            <a:r>
              <a:rPr lang="en-US" sz="2800"/>
              <a:t> are modeled into </a:t>
            </a:r>
            <a:r>
              <a:rPr b="1" lang="en-US" sz="2800"/>
              <a:t>objects and classes</a:t>
            </a:r>
            <a:r>
              <a:rPr lang="en-US" sz="2800"/>
              <a:t>.</a:t>
            </a:r>
            <a:endParaRPr/>
          </a:p>
          <a:p>
            <a:pPr indent="0" lvl="0" marL="25400" rtl="0" algn="just">
              <a:lnSpc>
                <a:spcPct val="100000"/>
              </a:lnSpc>
              <a:spcBef>
                <a:spcPts val="640"/>
              </a:spcBef>
              <a:spcAft>
                <a:spcPts val="0"/>
              </a:spcAft>
              <a:buSzPts val="3200"/>
              <a:buNone/>
            </a:pPr>
            <a:r>
              <a:rPr lang="en-US" sz="2800"/>
              <a:t>You should focus on:</a:t>
            </a:r>
            <a:endParaRPr/>
          </a:p>
          <a:p>
            <a:pPr indent="-431800" lvl="0" marL="457200" rtl="0" algn="just">
              <a:lnSpc>
                <a:spcPct val="100000"/>
              </a:lnSpc>
              <a:spcBef>
                <a:spcPts val="640"/>
              </a:spcBef>
              <a:spcAft>
                <a:spcPts val="0"/>
              </a:spcAft>
              <a:buSzPts val="3200"/>
              <a:buChar char="•"/>
            </a:pPr>
            <a:r>
              <a:rPr b="1" lang="en-US" sz="2800"/>
              <a:t>Identifying classes and objects</a:t>
            </a:r>
            <a:r>
              <a:rPr lang="en-US" sz="2800"/>
              <a:t> based on the system requirements.</a:t>
            </a:r>
            <a:endParaRPr/>
          </a:p>
          <a:p>
            <a:pPr indent="-431800" lvl="0" marL="457200" rtl="0" algn="just">
              <a:lnSpc>
                <a:spcPct val="100000"/>
              </a:lnSpc>
              <a:spcBef>
                <a:spcPts val="640"/>
              </a:spcBef>
              <a:spcAft>
                <a:spcPts val="0"/>
              </a:spcAft>
              <a:buSzPts val="3200"/>
              <a:buChar char="•"/>
            </a:pPr>
            <a:r>
              <a:rPr b="1" lang="en-US" sz="2800"/>
              <a:t>Determining relationships</a:t>
            </a:r>
            <a:r>
              <a:rPr lang="en-US" sz="2800"/>
              <a:t> (like associations, inheritance, etc.) between different entities.</a:t>
            </a:r>
            <a:endParaRPr/>
          </a:p>
          <a:p>
            <a:pPr indent="-431800" lvl="0" marL="457200" rtl="0" algn="just">
              <a:lnSpc>
                <a:spcPct val="100000"/>
              </a:lnSpc>
              <a:spcBef>
                <a:spcPts val="640"/>
              </a:spcBef>
              <a:spcAft>
                <a:spcPts val="0"/>
              </a:spcAft>
              <a:buSzPts val="3200"/>
              <a:buChar char="•"/>
            </a:pPr>
            <a:r>
              <a:rPr lang="en-US" sz="2800"/>
              <a:t>Using </a:t>
            </a:r>
            <a:r>
              <a:rPr b="1" lang="en-US" sz="2800"/>
              <a:t>SOLID principles</a:t>
            </a:r>
            <a:r>
              <a:rPr lang="en-US" sz="2800"/>
              <a:t> to ensure your design is clean, maintainable, and scalable.</a:t>
            </a:r>
            <a:endParaRPr/>
          </a:p>
          <a:p>
            <a:pPr indent="0" lvl="0" marL="25400" rtl="0" algn="just">
              <a:lnSpc>
                <a:spcPct val="100000"/>
              </a:lnSpc>
              <a:spcBef>
                <a:spcPts val="640"/>
              </a:spcBef>
              <a:spcAft>
                <a:spcPts val="0"/>
              </a:spcAft>
              <a:buSzPts val="3200"/>
              <a:buNone/>
            </a:pPr>
            <a:r>
              <a:t/>
            </a:r>
            <a:endParaRPr sz="2800"/>
          </a:p>
        </p:txBody>
      </p:sp>
      <p:sp>
        <p:nvSpPr>
          <p:cNvPr id="108" name="Google Shape;108;p1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1"/>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14" name="Google Shape;114;p11"/>
          <p:cNvSpPr txBox="1"/>
          <p:nvPr>
            <p:ph idx="1" type="body"/>
          </p:nvPr>
        </p:nvSpPr>
        <p:spPr>
          <a:xfrm>
            <a:off x="379900" y="1187625"/>
            <a:ext cx="13233900" cy="6879900"/>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t>Step 3. Implementing Design Patterns</a:t>
            </a:r>
            <a:endParaRPr/>
          </a:p>
          <a:p>
            <a:pPr indent="0" lvl="0" marL="25400" rtl="0" algn="just">
              <a:lnSpc>
                <a:spcPct val="100000"/>
              </a:lnSpc>
              <a:spcBef>
                <a:spcPts val="640"/>
              </a:spcBef>
              <a:spcAft>
                <a:spcPts val="0"/>
              </a:spcAft>
              <a:buSzPts val="3200"/>
              <a:buNone/>
            </a:pPr>
            <a:r>
              <a:rPr b="1" lang="en-US" sz="2400"/>
              <a:t>T</a:t>
            </a:r>
            <a:r>
              <a:rPr lang="en-US" sz="2400"/>
              <a:t>he implementation of our above object-oriented problem is carried out with the help of design patterns. Design patterns are </a:t>
            </a:r>
            <a:r>
              <a:rPr b="1" lang="en-US" sz="2400"/>
              <a:t>reusable solutions</a:t>
            </a:r>
            <a:r>
              <a:rPr lang="en-US" sz="2400"/>
              <a:t> to common problems encountered in software design. </a:t>
            </a:r>
            <a:endParaRPr/>
          </a:p>
          <a:p>
            <a:pPr indent="0" lvl="0" marL="25400" rtl="0" algn="just">
              <a:lnSpc>
                <a:spcPct val="100000"/>
              </a:lnSpc>
              <a:spcBef>
                <a:spcPts val="640"/>
              </a:spcBef>
              <a:spcAft>
                <a:spcPts val="0"/>
              </a:spcAft>
              <a:buSzPts val="3200"/>
              <a:buNone/>
            </a:pPr>
            <a:r>
              <a:rPr lang="en-US" sz="2400"/>
              <a:t>They provide a </a:t>
            </a:r>
            <a:r>
              <a:rPr b="1" lang="en-US" sz="2400"/>
              <a:t>structured approach</a:t>
            </a:r>
            <a:r>
              <a:rPr lang="en-US" sz="2400"/>
              <a:t> to design by capturing best practices and proven solutions, making it easier to develop scalable, maintainable, and efficient software. By using these patterns, developers can solve problems more effectively while adhering to best practices.</a:t>
            </a:r>
            <a:endParaRPr/>
          </a:p>
          <a:p>
            <a:pPr indent="-431800" lvl="0" marL="457200" rtl="0" algn="just">
              <a:lnSpc>
                <a:spcPct val="100000"/>
              </a:lnSpc>
              <a:spcBef>
                <a:spcPts val="640"/>
              </a:spcBef>
              <a:spcAft>
                <a:spcPts val="0"/>
              </a:spcAft>
              <a:buSzPts val="3200"/>
              <a:buChar char="•"/>
            </a:pPr>
            <a:r>
              <a:rPr b="1" lang="en-US" sz="2400"/>
              <a:t>Creational Patterns</a:t>
            </a:r>
            <a:r>
              <a:rPr lang="en-US" sz="2400"/>
              <a:t> </a:t>
            </a:r>
            <a:endParaRPr sz="2400"/>
          </a:p>
          <a:p>
            <a:pPr indent="-342900" lvl="0" marL="457200" rtl="0" algn="just">
              <a:lnSpc>
                <a:spcPct val="100000"/>
              </a:lnSpc>
              <a:spcBef>
                <a:spcPts val="0"/>
              </a:spcBef>
              <a:spcAft>
                <a:spcPts val="0"/>
              </a:spcAft>
              <a:buSzPts val="1800"/>
              <a:buFont typeface="Arial"/>
              <a:buChar char="•"/>
            </a:pPr>
            <a:r>
              <a:rPr b="1" lang="en-US" sz="1800">
                <a:latin typeface="Arial"/>
                <a:ea typeface="Arial"/>
                <a:cs typeface="Arial"/>
                <a:sym typeface="Arial"/>
              </a:rPr>
              <a:t>Singleton</a:t>
            </a:r>
            <a:r>
              <a:rPr lang="en-US" sz="1800">
                <a:latin typeface="Arial"/>
                <a:ea typeface="Arial"/>
                <a:cs typeface="Arial"/>
                <a:sym typeface="Arial"/>
              </a:rPr>
              <a:t>: ensures only </a:t>
            </a:r>
            <a:r>
              <a:rPr b="1" lang="en-US" sz="1800">
                <a:latin typeface="Arial"/>
                <a:ea typeface="Arial"/>
                <a:cs typeface="Arial"/>
                <a:sym typeface="Arial"/>
              </a:rPr>
              <a:t>one instance</a:t>
            </a:r>
            <a:r>
              <a:rPr lang="en-US" sz="1800">
                <a:latin typeface="Arial"/>
                <a:ea typeface="Arial"/>
                <a:cs typeface="Arial"/>
                <a:sym typeface="Arial"/>
              </a:rPr>
              <a:t> of a class exists (e.g., database connection manager).</a:t>
            </a:r>
            <a:endParaRPr sz="1800">
              <a:latin typeface="Arial"/>
              <a:ea typeface="Arial"/>
              <a:cs typeface="Arial"/>
              <a:sym typeface="Arial"/>
            </a:endParaRPr>
          </a:p>
          <a:p>
            <a:pPr indent="-342900" lvl="0" marL="457200" rtl="0" algn="just">
              <a:spcBef>
                <a:spcPts val="640"/>
              </a:spcBef>
              <a:spcAft>
                <a:spcPts val="0"/>
              </a:spcAft>
              <a:buSzPts val="1800"/>
              <a:buChar char="•"/>
            </a:pPr>
            <a:r>
              <a:rPr b="1" lang="en-US" sz="1800">
                <a:latin typeface="Arial"/>
                <a:ea typeface="Arial"/>
                <a:cs typeface="Arial"/>
                <a:sym typeface="Arial"/>
              </a:rPr>
              <a:t>Factory Method</a:t>
            </a:r>
            <a:r>
              <a:rPr lang="en-US" sz="1800">
                <a:latin typeface="Arial"/>
                <a:ea typeface="Arial"/>
                <a:cs typeface="Arial"/>
                <a:sym typeface="Arial"/>
              </a:rPr>
              <a:t>: provides an interface for creating objects, letting subclasses decide which class to instantiate (e.g., different types of users in a system).</a:t>
            </a:r>
            <a:endParaRPr sz="1800">
              <a:latin typeface="Arial"/>
              <a:ea typeface="Arial"/>
              <a:cs typeface="Arial"/>
              <a:sym typeface="Arial"/>
            </a:endParaRPr>
          </a:p>
          <a:p>
            <a:pPr indent="-431800" lvl="0" marL="457200" rtl="0" algn="just">
              <a:lnSpc>
                <a:spcPct val="100000"/>
              </a:lnSpc>
              <a:spcBef>
                <a:spcPts val="640"/>
              </a:spcBef>
              <a:spcAft>
                <a:spcPts val="0"/>
              </a:spcAft>
              <a:buSzPts val="3200"/>
              <a:buChar char="•"/>
            </a:pPr>
            <a:r>
              <a:rPr b="1" lang="en-US" sz="2400"/>
              <a:t>Behavioral Patterns</a:t>
            </a:r>
            <a:r>
              <a:rPr lang="en-US" sz="2400"/>
              <a:t> (e.g., Observer, Strategy): Focus on communication between objects and how they interact with each other.</a:t>
            </a:r>
            <a:endParaRPr/>
          </a:p>
          <a:p>
            <a:pPr indent="-431800" lvl="0" marL="457200" rtl="0" algn="just">
              <a:lnSpc>
                <a:spcPct val="100000"/>
              </a:lnSpc>
              <a:spcBef>
                <a:spcPts val="640"/>
              </a:spcBef>
              <a:spcAft>
                <a:spcPts val="0"/>
              </a:spcAft>
              <a:buSzPts val="3200"/>
              <a:buChar char="•"/>
            </a:pPr>
            <a:r>
              <a:rPr b="1" lang="en-US" sz="2400"/>
              <a:t>Structural Patterns</a:t>
            </a:r>
            <a:r>
              <a:rPr lang="en-US" sz="2400"/>
              <a:t> (e.g., Adapter, Composite): These patterns are concerned with simplifying the structure of the system and its components.</a:t>
            </a:r>
            <a:endParaRPr/>
          </a:p>
          <a:p>
            <a:pPr indent="0" lvl="0" marL="25400" rtl="0" algn="just">
              <a:lnSpc>
                <a:spcPct val="100000"/>
              </a:lnSpc>
              <a:spcBef>
                <a:spcPts val="640"/>
              </a:spcBef>
              <a:spcAft>
                <a:spcPts val="0"/>
              </a:spcAft>
              <a:buSzPts val="3200"/>
              <a:buNone/>
            </a:pPr>
            <a:r>
              <a:t/>
            </a:r>
            <a:endParaRPr sz="2400"/>
          </a:p>
        </p:txBody>
      </p:sp>
      <p:sp>
        <p:nvSpPr>
          <p:cNvPr id="115" name="Google Shape;115;p1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21" name="Google Shape;121;p1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t>Step 4. Use of UML Diagram in LLD</a:t>
            </a:r>
            <a:endParaRPr/>
          </a:p>
          <a:p>
            <a:pPr indent="0" lvl="0" marL="25400" rtl="0" algn="just">
              <a:lnSpc>
                <a:spcPct val="100000"/>
              </a:lnSpc>
              <a:spcBef>
                <a:spcPts val="640"/>
              </a:spcBef>
              <a:spcAft>
                <a:spcPts val="0"/>
              </a:spcAft>
              <a:buSzPts val="3200"/>
              <a:buNone/>
            </a:pPr>
            <a:r>
              <a:rPr b="1" lang="en-US" sz="2400"/>
              <a:t>Unified Modeling Language</a:t>
            </a:r>
            <a:r>
              <a:rPr lang="en-US" sz="2400"/>
              <a:t> is a visual representation used to design and model the system. UML diagrams play an important role in converting HLD to LLD. They provide a proper and clear </a:t>
            </a:r>
            <a:r>
              <a:rPr b="1" lang="en-US" sz="2400"/>
              <a:t>visual representation </a:t>
            </a:r>
            <a:r>
              <a:rPr lang="en-US" sz="2400"/>
              <a:t>of the components and their relationships, which helps developers significantly.</a:t>
            </a:r>
            <a:endParaRPr/>
          </a:p>
          <a:p>
            <a:pPr indent="0" lvl="0" marL="25400" rtl="0" algn="just">
              <a:lnSpc>
                <a:spcPct val="100000"/>
              </a:lnSpc>
              <a:spcBef>
                <a:spcPts val="640"/>
              </a:spcBef>
              <a:spcAft>
                <a:spcPts val="0"/>
              </a:spcAft>
              <a:buSzPts val="3200"/>
              <a:buNone/>
            </a:pPr>
            <a:r>
              <a:rPr lang="en-US" sz="2400"/>
              <a:t>Some of the most important UML diagrams used in LLD include:</a:t>
            </a:r>
            <a:endParaRPr/>
          </a:p>
          <a:p>
            <a:pPr indent="-431800" lvl="0" marL="457200" rtl="0" algn="just">
              <a:lnSpc>
                <a:spcPct val="100000"/>
              </a:lnSpc>
              <a:spcBef>
                <a:spcPts val="640"/>
              </a:spcBef>
              <a:spcAft>
                <a:spcPts val="0"/>
              </a:spcAft>
              <a:buSzPts val="3200"/>
              <a:buChar char="•"/>
            </a:pPr>
            <a:r>
              <a:rPr b="1" lang="en-US" sz="2400"/>
              <a:t>Class Diagrams</a:t>
            </a:r>
            <a:r>
              <a:rPr lang="en-US" sz="2400"/>
              <a:t>: Represent the structure of the system in terms of its classes and the relationships between them.</a:t>
            </a:r>
            <a:endParaRPr/>
          </a:p>
          <a:p>
            <a:pPr indent="-431800" lvl="0" marL="457200" rtl="0" algn="just">
              <a:lnSpc>
                <a:spcPct val="100000"/>
              </a:lnSpc>
              <a:spcBef>
                <a:spcPts val="640"/>
              </a:spcBef>
              <a:spcAft>
                <a:spcPts val="0"/>
              </a:spcAft>
              <a:buSzPts val="3200"/>
              <a:buChar char="•"/>
            </a:pPr>
            <a:r>
              <a:rPr b="1" lang="en-US" sz="2400"/>
              <a:t>Sequence Diagrams</a:t>
            </a:r>
            <a:r>
              <a:rPr lang="en-US" sz="2400"/>
              <a:t>: Illustrate how objects interact over time, showing the sequence of method calls.</a:t>
            </a:r>
            <a:endParaRPr/>
          </a:p>
          <a:p>
            <a:pPr indent="-431800" lvl="0" marL="457200" rtl="0" algn="just">
              <a:lnSpc>
                <a:spcPct val="100000"/>
              </a:lnSpc>
              <a:spcBef>
                <a:spcPts val="640"/>
              </a:spcBef>
              <a:spcAft>
                <a:spcPts val="0"/>
              </a:spcAft>
              <a:buSzPts val="3200"/>
              <a:buChar char="•"/>
            </a:pPr>
            <a:r>
              <a:rPr b="1" lang="en-US" sz="2400"/>
              <a:t>Activity Diagrams</a:t>
            </a:r>
            <a:r>
              <a:rPr lang="en-US" sz="2400"/>
              <a:t>: Show the workflow or activities of a system component.</a:t>
            </a:r>
            <a:endParaRPr/>
          </a:p>
          <a:p>
            <a:pPr indent="-431800" lvl="0" marL="457200" rtl="0" algn="just">
              <a:lnSpc>
                <a:spcPct val="100000"/>
              </a:lnSpc>
              <a:spcBef>
                <a:spcPts val="640"/>
              </a:spcBef>
              <a:spcAft>
                <a:spcPts val="0"/>
              </a:spcAft>
              <a:buSzPts val="3200"/>
              <a:buChar char="•"/>
            </a:pPr>
            <a:r>
              <a:rPr b="1" lang="en-US" sz="2400"/>
              <a:t>State Diagrams</a:t>
            </a:r>
            <a:r>
              <a:rPr lang="en-US" sz="2400"/>
              <a:t>: Represent the different states of a component or object and the transitions between these states.</a:t>
            </a:r>
            <a:endParaRPr/>
          </a:p>
          <a:p>
            <a:pPr indent="-431800" lvl="0" marL="457200" rtl="0" algn="just">
              <a:lnSpc>
                <a:spcPct val="100000"/>
              </a:lnSpc>
              <a:spcBef>
                <a:spcPts val="640"/>
              </a:spcBef>
              <a:spcAft>
                <a:spcPts val="0"/>
              </a:spcAft>
              <a:buSzPts val="3200"/>
              <a:buChar char="•"/>
            </a:pPr>
            <a:r>
              <a:rPr b="1" lang="en-US" sz="2400"/>
              <a:t>Use Case Diagrams</a:t>
            </a:r>
            <a:r>
              <a:rPr lang="en-US" sz="2400"/>
              <a:t>: Define the functional requirements of the system by showing different user interactions.</a:t>
            </a:r>
            <a:endParaRPr/>
          </a:p>
          <a:p>
            <a:pPr indent="0" lvl="0" marL="25400" rtl="0" algn="just">
              <a:lnSpc>
                <a:spcPct val="100000"/>
              </a:lnSpc>
              <a:spcBef>
                <a:spcPts val="640"/>
              </a:spcBef>
              <a:spcAft>
                <a:spcPts val="0"/>
              </a:spcAft>
              <a:buSzPts val="3200"/>
              <a:buNone/>
            </a:pPr>
            <a:r>
              <a:t/>
            </a:r>
            <a:endParaRPr sz="2400"/>
          </a:p>
          <a:p>
            <a:pPr indent="0" lvl="0" marL="25400" rtl="0" algn="just">
              <a:lnSpc>
                <a:spcPct val="100000"/>
              </a:lnSpc>
              <a:spcBef>
                <a:spcPts val="640"/>
              </a:spcBef>
              <a:spcAft>
                <a:spcPts val="0"/>
              </a:spcAft>
              <a:buSzPts val="3200"/>
              <a:buNone/>
            </a:pPr>
            <a:r>
              <a:t/>
            </a:r>
            <a:endParaRPr sz="2400"/>
          </a:p>
        </p:txBody>
      </p:sp>
      <p:sp>
        <p:nvSpPr>
          <p:cNvPr id="122" name="Google Shape;122;p1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3"/>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28" name="Google Shape;128;p13"/>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US"/>
              <a:t>Class Diagram:</a:t>
            </a:r>
            <a:endParaRPr/>
          </a:p>
          <a:p>
            <a:pPr indent="0" lvl="0" marL="25400" rtl="0" algn="l">
              <a:lnSpc>
                <a:spcPct val="100000"/>
              </a:lnSpc>
              <a:spcBef>
                <a:spcPts val="640"/>
              </a:spcBef>
              <a:spcAft>
                <a:spcPts val="0"/>
              </a:spcAft>
              <a:buSzPts val="3200"/>
              <a:buNone/>
            </a:pPr>
            <a:r>
              <a:t/>
            </a:r>
            <a:endParaRPr/>
          </a:p>
        </p:txBody>
      </p:sp>
      <p:sp>
        <p:nvSpPr>
          <p:cNvPr id="129" name="Google Shape;129;p1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imple class diagram – Charts" id="130" name="Google Shape;130;p13"/>
          <p:cNvPicPr preferRelativeResize="0"/>
          <p:nvPr/>
        </p:nvPicPr>
        <p:blipFill rotWithShape="1">
          <a:blip r:embed="rId3">
            <a:alphaModFix/>
          </a:blip>
          <a:srcRect b="0" l="0" r="0" t="0"/>
          <a:stretch/>
        </p:blipFill>
        <p:spPr>
          <a:xfrm>
            <a:off x="3978275" y="2181224"/>
            <a:ext cx="8464979" cy="47385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36" name="Google Shape;136;p14"/>
          <p:cNvSpPr txBox="1"/>
          <p:nvPr>
            <p:ph idx="1" type="body"/>
          </p:nvPr>
        </p:nvSpPr>
        <p:spPr>
          <a:xfrm>
            <a:off x="716522" y="1396314"/>
            <a:ext cx="12897326" cy="5682139"/>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US"/>
              <a:t>Sequence Diagram:</a:t>
            </a:r>
            <a:endParaRPr/>
          </a:p>
          <a:p>
            <a:pPr indent="0" lvl="0" marL="25400" rtl="0" algn="l">
              <a:lnSpc>
                <a:spcPct val="100000"/>
              </a:lnSpc>
              <a:spcBef>
                <a:spcPts val="640"/>
              </a:spcBef>
              <a:spcAft>
                <a:spcPts val="0"/>
              </a:spcAft>
              <a:buSzPts val="3200"/>
              <a:buNone/>
            </a:pPr>
            <a:r>
              <a:t/>
            </a:r>
            <a:endParaRPr/>
          </a:p>
        </p:txBody>
      </p:sp>
      <p:sp>
        <p:nvSpPr>
          <p:cNvPr id="137" name="Google Shape;137;p1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UML Sequence Diagram Example | EdrawMax Template" id="138" name="Google Shape;138;p14"/>
          <p:cNvPicPr preferRelativeResize="0"/>
          <p:nvPr/>
        </p:nvPicPr>
        <p:blipFill rotWithShape="1">
          <a:blip r:embed="rId3">
            <a:alphaModFix/>
          </a:blip>
          <a:srcRect b="0" l="0" r="0" t="0"/>
          <a:stretch/>
        </p:blipFill>
        <p:spPr>
          <a:xfrm>
            <a:off x="1986434" y="2395242"/>
            <a:ext cx="11123613" cy="468321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44" name="Google Shape;144;p15"/>
          <p:cNvSpPr txBox="1"/>
          <p:nvPr>
            <p:ph idx="1" type="body"/>
          </p:nvPr>
        </p:nvSpPr>
        <p:spPr>
          <a:xfrm>
            <a:off x="716522" y="1646250"/>
            <a:ext cx="12897326" cy="5441938"/>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US"/>
              <a:t>Activity Diagram:</a:t>
            </a:r>
            <a:endParaRPr/>
          </a:p>
          <a:p>
            <a:pPr indent="0" lvl="0" marL="25400" rtl="0" algn="l">
              <a:lnSpc>
                <a:spcPct val="100000"/>
              </a:lnSpc>
              <a:spcBef>
                <a:spcPts val="640"/>
              </a:spcBef>
              <a:spcAft>
                <a:spcPts val="0"/>
              </a:spcAft>
              <a:buSzPts val="3200"/>
              <a:buNone/>
            </a:pPr>
            <a:r>
              <a:t/>
            </a:r>
            <a:endParaRPr/>
          </a:p>
        </p:txBody>
      </p:sp>
      <p:sp>
        <p:nvSpPr>
          <p:cNvPr id="145" name="Google Shape;145;p1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What is Activity Diagram?" id="146" name="Google Shape;146;p15"/>
          <p:cNvPicPr preferRelativeResize="0"/>
          <p:nvPr/>
        </p:nvPicPr>
        <p:blipFill rotWithShape="1">
          <a:blip r:embed="rId3">
            <a:alphaModFix/>
          </a:blip>
          <a:srcRect b="0" l="0" r="0" t="0"/>
          <a:stretch/>
        </p:blipFill>
        <p:spPr>
          <a:xfrm>
            <a:off x="3521676" y="2384468"/>
            <a:ext cx="8143102" cy="47037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52" name="Google Shape;152;p16"/>
          <p:cNvSpPr txBox="1"/>
          <p:nvPr>
            <p:ph idx="1" type="body"/>
          </p:nvPr>
        </p:nvSpPr>
        <p:spPr>
          <a:xfrm>
            <a:off x="617668" y="1408670"/>
            <a:ext cx="12897326" cy="6220434"/>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US"/>
              <a:t>State Diagram:</a:t>
            </a:r>
            <a:endParaRPr/>
          </a:p>
          <a:p>
            <a:pPr indent="0" lvl="0" marL="25400" rtl="0" algn="l">
              <a:lnSpc>
                <a:spcPct val="100000"/>
              </a:lnSpc>
              <a:spcBef>
                <a:spcPts val="640"/>
              </a:spcBef>
              <a:spcAft>
                <a:spcPts val="0"/>
              </a:spcAft>
              <a:buSzPts val="3200"/>
              <a:buNone/>
            </a:pPr>
            <a:r>
              <a:t/>
            </a:r>
            <a:endParaRPr/>
          </a:p>
        </p:txBody>
      </p:sp>
      <p:sp>
        <p:nvSpPr>
          <p:cNvPr id="153" name="Google Shape;153;p1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A simple guide to drawing your first state diagram (with examples) | Nulab" id="154" name="Google Shape;154;p16"/>
          <p:cNvPicPr preferRelativeResize="0"/>
          <p:nvPr/>
        </p:nvPicPr>
        <p:blipFill rotWithShape="1">
          <a:blip r:embed="rId3">
            <a:alphaModFix/>
          </a:blip>
          <a:srcRect b="0" l="0" r="0" t="0"/>
          <a:stretch/>
        </p:blipFill>
        <p:spPr>
          <a:xfrm>
            <a:off x="2188734" y="2496065"/>
            <a:ext cx="9753600" cy="450255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60" name="Google Shape;160;p17"/>
          <p:cNvSpPr txBox="1"/>
          <p:nvPr>
            <p:ph idx="1" type="body"/>
          </p:nvPr>
        </p:nvSpPr>
        <p:spPr>
          <a:xfrm>
            <a:off x="716522" y="1646250"/>
            <a:ext cx="12897326" cy="5863151"/>
          </a:xfrm>
          <a:prstGeom prst="rect">
            <a:avLst/>
          </a:prstGeom>
          <a:noFill/>
          <a:ln>
            <a:noFill/>
          </a:ln>
        </p:spPr>
        <p:txBody>
          <a:bodyPr anchorCtr="0" anchor="t" bIns="45700" lIns="91425" spcFirstLastPara="1" rIns="91425" wrap="square" tIns="45700">
            <a:noAutofit/>
          </a:bodyPr>
          <a:lstStyle/>
          <a:p>
            <a:pPr indent="0" lvl="0" marL="25400" rtl="0" algn="l">
              <a:lnSpc>
                <a:spcPct val="100000"/>
              </a:lnSpc>
              <a:spcBef>
                <a:spcPts val="640"/>
              </a:spcBef>
              <a:spcAft>
                <a:spcPts val="0"/>
              </a:spcAft>
              <a:buSzPts val="3200"/>
              <a:buNone/>
            </a:pPr>
            <a:r>
              <a:rPr lang="en-US"/>
              <a:t>Use Case Diagram:</a:t>
            </a:r>
            <a:endParaRPr/>
          </a:p>
          <a:p>
            <a:pPr indent="0" lvl="0" marL="25400" rtl="0" algn="l">
              <a:lnSpc>
                <a:spcPct val="100000"/>
              </a:lnSpc>
              <a:spcBef>
                <a:spcPts val="640"/>
              </a:spcBef>
              <a:spcAft>
                <a:spcPts val="0"/>
              </a:spcAft>
              <a:buSzPts val="3200"/>
              <a:buNone/>
            </a:pPr>
            <a:r>
              <a:t/>
            </a:r>
            <a:endParaRPr/>
          </a:p>
        </p:txBody>
      </p:sp>
      <p:sp>
        <p:nvSpPr>
          <p:cNvPr id="161" name="Google Shape;161;p1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62" name="Google Shape;162;p17"/>
          <p:cNvPicPr preferRelativeResize="0"/>
          <p:nvPr/>
        </p:nvPicPr>
        <p:blipFill rotWithShape="1">
          <a:blip r:embed="rId3">
            <a:alphaModFix/>
          </a:blip>
          <a:srcRect b="0" l="0" r="0" t="0"/>
          <a:stretch/>
        </p:blipFill>
        <p:spPr>
          <a:xfrm>
            <a:off x="3045469" y="2335426"/>
            <a:ext cx="7620000" cy="529367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68" name="Google Shape;168;p18"/>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800"/>
              <a:t>Step 5.</a:t>
            </a:r>
            <a:r>
              <a:rPr lang="en-US" sz="2800"/>
              <a:t> </a:t>
            </a:r>
            <a:r>
              <a:rPr b="1" lang="en-US" sz="2800"/>
              <a:t>Implementing SOLID Principles</a:t>
            </a:r>
            <a:endParaRPr/>
          </a:p>
          <a:p>
            <a:pPr indent="0" lvl="0" marL="25400" rtl="0" algn="just">
              <a:lnSpc>
                <a:spcPct val="100000"/>
              </a:lnSpc>
              <a:spcBef>
                <a:spcPts val="640"/>
              </a:spcBef>
              <a:spcAft>
                <a:spcPts val="0"/>
              </a:spcAft>
              <a:buSzPts val="3200"/>
              <a:buNone/>
            </a:pPr>
            <a:r>
              <a:rPr lang="en-US" sz="2800"/>
              <a:t>These are sets of 5 principles(rules) that are strictly followed as per requirements of the system or requirements for optimal designing. In order to write scalable, flexible, maintainable, and reusable code:</a:t>
            </a:r>
            <a:endParaRPr/>
          </a:p>
          <a:p>
            <a:pPr indent="-431800" lvl="0" marL="457200" rtl="0" algn="just">
              <a:lnSpc>
                <a:spcPct val="100000"/>
              </a:lnSpc>
              <a:spcBef>
                <a:spcPts val="640"/>
              </a:spcBef>
              <a:spcAft>
                <a:spcPts val="0"/>
              </a:spcAft>
              <a:buSzPts val="3200"/>
              <a:buChar char="•"/>
            </a:pPr>
            <a:r>
              <a:rPr b="1" lang="en-US" sz="2800"/>
              <a:t>Single-responsibility principle (SRP):</a:t>
            </a:r>
            <a:r>
              <a:rPr lang="en-US" sz="2800"/>
              <a:t>A class should have a single responsibility</a:t>
            </a:r>
            <a:endParaRPr sz="2800"/>
          </a:p>
          <a:p>
            <a:pPr indent="-431800" lvl="0" marL="457200" rtl="0" algn="just">
              <a:lnSpc>
                <a:spcPct val="100000"/>
              </a:lnSpc>
              <a:spcBef>
                <a:spcPts val="640"/>
              </a:spcBef>
              <a:spcAft>
                <a:spcPts val="0"/>
              </a:spcAft>
              <a:buSzPts val="3200"/>
              <a:buChar char="•"/>
            </a:pPr>
            <a:r>
              <a:rPr b="1" lang="en-US" sz="2800"/>
              <a:t>Open-closed principle (OCP):</a:t>
            </a:r>
            <a:r>
              <a:rPr lang="en-US" sz="2800"/>
              <a:t>Classes should be open for extension, but closed for modification</a:t>
            </a:r>
            <a:endParaRPr sz="2800"/>
          </a:p>
          <a:p>
            <a:pPr indent="-431800" lvl="0" marL="457200" rtl="0" algn="just">
              <a:lnSpc>
                <a:spcPct val="100000"/>
              </a:lnSpc>
              <a:spcBef>
                <a:spcPts val="640"/>
              </a:spcBef>
              <a:spcAft>
                <a:spcPts val="0"/>
              </a:spcAft>
              <a:buSzPts val="3200"/>
              <a:buChar char="•"/>
            </a:pPr>
            <a:r>
              <a:rPr b="1" lang="en-US" sz="2800"/>
              <a:t>Liskov’s Substitution Principle(LSP):</a:t>
            </a:r>
            <a:r>
              <a:rPr lang="en-US" sz="2800"/>
              <a:t>If S is a subtype of T, then objects of type T in a program may be replaced with objects of type S without altering any of the desirable properties of that program.</a:t>
            </a:r>
            <a:endParaRPr sz="2800"/>
          </a:p>
          <a:p>
            <a:pPr indent="0" lvl="0" marL="25400" rtl="0" algn="just">
              <a:lnSpc>
                <a:spcPct val="100000"/>
              </a:lnSpc>
              <a:spcBef>
                <a:spcPts val="640"/>
              </a:spcBef>
              <a:spcAft>
                <a:spcPts val="0"/>
              </a:spcAft>
              <a:buSzPts val="3200"/>
              <a:buNone/>
            </a:pPr>
            <a:r>
              <a:t/>
            </a:r>
            <a:endParaRPr sz="2800"/>
          </a:p>
        </p:txBody>
      </p:sp>
      <p:sp>
        <p:nvSpPr>
          <p:cNvPr id="169" name="Google Shape;169;p1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733079cded_0_3"/>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Procedure of Low Level Design </a:t>
            </a:r>
            <a:r>
              <a:rPr b="1" lang="en-US" sz="2400"/>
              <a:t>cont…</a:t>
            </a:r>
            <a:endParaRPr/>
          </a:p>
        </p:txBody>
      </p:sp>
      <p:sp>
        <p:nvSpPr>
          <p:cNvPr id="175" name="Google Shape;175;g3733079cded_0_3"/>
          <p:cNvSpPr txBox="1"/>
          <p:nvPr>
            <p:ph idx="1" type="body"/>
          </p:nvPr>
        </p:nvSpPr>
        <p:spPr>
          <a:xfrm>
            <a:off x="716522" y="1646250"/>
            <a:ext cx="12897300" cy="5432100"/>
          </a:xfrm>
          <a:prstGeom prst="rect">
            <a:avLst/>
          </a:prstGeom>
          <a:noFill/>
          <a:ln>
            <a:noFill/>
          </a:ln>
        </p:spPr>
        <p:txBody>
          <a:bodyPr anchorCtr="0" anchor="t" bIns="45700" lIns="91425" spcFirstLastPara="1" rIns="91425" wrap="square" tIns="45700">
            <a:noAutofit/>
          </a:bodyPr>
          <a:lstStyle/>
          <a:p>
            <a:pPr indent="-431800" lvl="0" marL="457200" rtl="0" algn="just">
              <a:lnSpc>
                <a:spcPct val="100000"/>
              </a:lnSpc>
              <a:spcBef>
                <a:spcPts val="640"/>
              </a:spcBef>
              <a:spcAft>
                <a:spcPts val="0"/>
              </a:spcAft>
              <a:buSzPts val="3200"/>
              <a:buChar char="•"/>
            </a:pPr>
            <a:r>
              <a:rPr b="1" lang="en-US" sz="2800"/>
              <a:t>Interface Segregation Principle (ISP):</a:t>
            </a:r>
            <a:r>
              <a:rPr lang="en-US" sz="2800"/>
              <a:t>Clients should not be forced to depend on methods that they do not use.</a:t>
            </a:r>
            <a:endParaRPr sz="2800"/>
          </a:p>
          <a:p>
            <a:pPr indent="-431800" lvl="0" marL="457200" rtl="0" algn="just">
              <a:lnSpc>
                <a:spcPct val="100000"/>
              </a:lnSpc>
              <a:spcBef>
                <a:spcPts val="640"/>
              </a:spcBef>
              <a:spcAft>
                <a:spcPts val="0"/>
              </a:spcAft>
              <a:buSzPts val="3200"/>
              <a:buChar char="•"/>
            </a:pPr>
            <a:r>
              <a:rPr b="1" lang="en-US" sz="2800"/>
              <a:t>Dependency Inversion Principle (DIP):</a:t>
            </a:r>
            <a:r>
              <a:rPr lang="en-US" sz="2800"/>
              <a:t>High-level modules should not depend on low-level modules. Both should depend on the abstraction.</a:t>
            </a:r>
            <a:endParaRPr sz="2800"/>
          </a:p>
          <a:p>
            <a:pPr indent="-431800" lvl="0" marL="457200" rtl="0" algn="l">
              <a:lnSpc>
                <a:spcPct val="115000"/>
              </a:lnSpc>
              <a:spcBef>
                <a:spcPts val="0"/>
              </a:spcBef>
              <a:spcAft>
                <a:spcPts val="0"/>
              </a:spcAft>
              <a:buSzPts val="3200"/>
              <a:buChar char="•"/>
            </a:pPr>
            <a:r>
              <a:rPr b="1" lang="en-US" sz="2800"/>
              <a:t>Abstractions should not depend on details. Details should depend on abstractions.</a:t>
            </a:r>
            <a:endParaRPr b="1" sz="2800"/>
          </a:p>
          <a:p>
            <a:pPr indent="0" lvl="0" marL="457200" rtl="0" algn="just">
              <a:lnSpc>
                <a:spcPct val="100000"/>
              </a:lnSpc>
              <a:spcBef>
                <a:spcPts val="1200"/>
              </a:spcBef>
              <a:spcAft>
                <a:spcPts val="0"/>
              </a:spcAft>
              <a:buNone/>
            </a:pPr>
            <a:r>
              <a:t/>
            </a:r>
            <a:endParaRPr b="1" sz="2800"/>
          </a:p>
          <a:p>
            <a:pPr indent="0" lvl="0" marL="25400" rtl="0" algn="just">
              <a:lnSpc>
                <a:spcPct val="100000"/>
              </a:lnSpc>
              <a:spcBef>
                <a:spcPts val="640"/>
              </a:spcBef>
              <a:spcAft>
                <a:spcPts val="0"/>
              </a:spcAft>
              <a:buSzPts val="3200"/>
              <a:buNone/>
            </a:pPr>
            <a:r>
              <a:rPr lang="en-US" sz="2800"/>
              <a:t>It's important to keep in mind that SOLID principles are just guidelines and not strict rules to be followed. </a:t>
            </a:r>
            <a:endParaRPr/>
          </a:p>
          <a:p>
            <a:pPr indent="0" lvl="0" marL="25400" rtl="0" algn="just">
              <a:lnSpc>
                <a:spcPct val="100000"/>
              </a:lnSpc>
              <a:spcBef>
                <a:spcPts val="640"/>
              </a:spcBef>
              <a:spcAft>
                <a:spcPts val="0"/>
              </a:spcAft>
              <a:buSzPts val="3200"/>
              <a:buNone/>
            </a:pPr>
            <a:r>
              <a:t/>
            </a:r>
            <a:endParaRPr sz="2800"/>
          </a:p>
        </p:txBody>
      </p:sp>
      <p:sp>
        <p:nvSpPr>
          <p:cNvPr id="176" name="Google Shape;176;g3733079cded_0_3"/>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a:t>Comparison: High-Level Design vs Low-Level Design</a:t>
            </a:r>
            <a:endParaRPr/>
          </a:p>
        </p:txBody>
      </p:sp>
      <p:pic>
        <p:nvPicPr>
          <p:cNvPr id="182" name="Google Shape;182;p19"/>
          <p:cNvPicPr preferRelativeResize="0"/>
          <p:nvPr>
            <p:ph idx="1" type="body"/>
          </p:nvPr>
        </p:nvPicPr>
        <p:blipFill rotWithShape="1">
          <a:blip r:embed="rId3">
            <a:alphaModFix/>
          </a:blip>
          <a:srcRect b="0" l="0" r="0" t="0"/>
          <a:stretch/>
        </p:blipFill>
        <p:spPr>
          <a:xfrm>
            <a:off x="424475" y="823650"/>
            <a:ext cx="13718700" cy="7125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88" name="Google Shape;188;p20"/>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640"/>
              </a:spcBef>
              <a:spcAft>
                <a:spcPts val="0"/>
              </a:spcAft>
              <a:buSzPts val="3200"/>
              <a:buNone/>
            </a:pPr>
            <a:r>
              <a:t/>
            </a:r>
            <a:endParaRPr sz="8463"/>
          </a:p>
          <a:p>
            <a:pPr indent="0" lvl="0" marL="0" rtl="0" algn="ctr">
              <a:lnSpc>
                <a:spcPct val="100000"/>
              </a:lnSpc>
              <a:spcBef>
                <a:spcPts val="640"/>
              </a:spcBef>
              <a:spcAft>
                <a:spcPts val="0"/>
              </a:spcAft>
              <a:buSzPts val="3200"/>
              <a:buNone/>
            </a:pPr>
            <a:r>
              <a:rPr b="1" lang="en-US" sz="8463"/>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 Ahlawat</dc:creator>
</cp:coreProperties>
</file>