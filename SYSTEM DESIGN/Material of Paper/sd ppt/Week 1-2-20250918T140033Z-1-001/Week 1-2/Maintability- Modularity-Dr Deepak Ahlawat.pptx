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20" roundtripDataSignature="AMtx7mjdNtzQj8V3IBwY2XAZ4mC2McO7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6" name="Google Shape;46;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 name="Google Shape;65;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 name="Google Shape;72;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 name="Google Shape;79;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 name="Google Shape;101;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 name="Google Shape;115;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 name="Google Shape;122;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6" name="Google Shape;136;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16"/>
          <p:cNvPicPr preferRelativeResize="0"/>
          <p:nvPr/>
        </p:nvPicPr>
        <p:blipFill rotWithShape="1">
          <a:blip r:embed="rId2">
            <a:alphaModFix/>
          </a:blip>
          <a:srcRect b="10713" l="0" r="0" t="0"/>
          <a:stretch/>
        </p:blipFill>
        <p:spPr>
          <a:xfrm>
            <a:off x="10270103" y="274375"/>
            <a:ext cx="3224332" cy="762147"/>
          </a:xfrm>
          <a:prstGeom prst="rect">
            <a:avLst/>
          </a:prstGeom>
          <a:noFill/>
          <a:ln>
            <a:noFill/>
          </a:ln>
        </p:spPr>
      </p:pic>
      <p:grpSp>
        <p:nvGrpSpPr>
          <p:cNvPr id="26" name="Google Shape;26;p16"/>
          <p:cNvGrpSpPr/>
          <p:nvPr/>
        </p:nvGrpSpPr>
        <p:grpSpPr>
          <a:xfrm>
            <a:off x="9633189" y="2"/>
            <a:ext cx="4697174" cy="1051763"/>
            <a:chOff x="6096000" y="3924300"/>
            <a:chExt cx="2997200" cy="876300"/>
          </a:xfrm>
        </p:grpSpPr>
        <p:sp>
          <p:nvSpPr>
            <p:cNvPr id="27" name="Google Shape;27;p16"/>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8" name="Google Shape;28;p16"/>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16"/>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0" name="Google Shape;30;p16"/>
          <p:cNvPicPr preferRelativeResize="0"/>
          <p:nvPr/>
        </p:nvPicPr>
        <p:blipFill rotWithShape="1">
          <a:blip r:embed="rId3">
            <a:alphaModFix/>
          </a:blip>
          <a:srcRect b="0" l="0" r="0" t="0"/>
          <a:stretch/>
        </p:blipFill>
        <p:spPr>
          <a:xfrm>
            <a:off x="10270101" y="274378"/>
            <a:ext cx="3010371" cy="731662"/>
          </a:xfrm>
          <a:prstGeom prst="rect">
            <a:avLst/>
          </a:prstGeom>
          <a:noFill/>
          <a:ln>
            <a:noFill/>
          </a:ln>
        </p:spPr>
      </p:pic>
      <p:sp>
        <p:nvSpPr>
          <p:cNvPr id="31" name="Google Shape;31;p16"/>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16"/>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16"/>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17"/>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17"/>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9" name="Google Shape;39;p17"/>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15"/>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5"/>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5"/>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5"/>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15"/>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15"/>
          <p:cNvGrpSpPr/>
          <p:nvPr/>
        </p:nvGrpSpPr>
        <p:grpSpPr>
          <a:xfrm>
            <a:off x="9633189" y="2"/>
            <a:ext cx="4697174" cy="1051763"/>
            <a:chOff x="6096000" y="3924300"/>
            <a:chExt cx="2997200" cy="876300"/>
          </a:xfrm>
        </p:grpSpPr>
        <p:sp>
          <p:nvSpPr>
            <p:cNvPr id="20" name="Google Shape;20;p15"/>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15"/>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5"/>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15"/>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
          <p:cNvSpPr txBox="1"/>
          <p:nvPr/>
        </p:nvSpPr>
        <p:spPr>
          <a:xfrm>
            <a:off x="3134773" y="7036631"/>
            <a:ext cx="815039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Institute of Engineering and Technology,</a:t>
            </a:r>
            <a:br>
              <a:rPr b="0"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Chitkara University, Punjab, India</a:t>
            </a:r>
            <a:endParaRPr b="0" i="0" sz="1800" u="none" cap="none" strike="noStrike">
              <a:solidFill>
                <a:schemeClr val="dk1"/>
              </a:solidFill>
              <a:latin typeface="Times New Roman"/>
              <a:ea typeface="Times New Roman"/>
              <a:cs typeface="Times New Roman"/>
              <a:sym typeface="Times New Roman"/>
            </a:endParaRPr>
          </a:p>
        </p:txBody>
      </p:sp>
      <p:sp>
        <p:nvSpPr>
          <p:cNvPr id="49" name="Google Shape;49;p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50" name="Google Shape;50;p1"/>
          <p:cNvSpPr/>
          <p:nvPr/>
        </p:nvSpPr>
        <p:spPr>
          <a:xfrm>
            <a:off x="3205359" y="6477391"/>
            <a:ext cx="7830086" cy="55923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1782614" y="2024154"/>
            <a:ext cx="11293348" cy="92333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600" u="none" cap="none" strike="noStrike">
                <a:solidFill>
                  <a:srgbClr val="000000"/>
                </a:solidFill>
                <a:latin typeface="Arial"/>
                <a:ea typeface="Arial"/>
                <a:cs typeface="Arial"/>
                <a:sym typeface="Arial"/>
              </a:rPr>
              <a:t>Maintainability- Modular Design</a:t>
            </a:r>
            <a:endParaRPr/>
          </a:p>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dk1"/>
              </a:solidFill>
              <a:latin typeface="Times New Roman"/>
              <a:ea typeface="Times New Roman"/>
              <a:cs typeface="Times New Roman"/>
              <a:sym typeface="Times New Roman"/>
            </a:endParaRPr>
          </a:p>
        </p:txBody>
      </p:sp>
      <p:sp>
        <p:nvSpPr>
          <p:cNvPr id="52" name="Google Shape;52;p1"/>
          <p:cNvSpPr/>
          <p:nvPr/>
        </p:nvSpPr>
        <p:spPr>
          <a:xfrm>
            <a:off x="3583781" y="3865685"/>
            <a:ext cx="85344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Bachelor of Engineering- Computer Science &amp; Engineering </a:t>
            </a:r>
            <a:endParaRPr b="0" i="0" sz="2400" u="none" cap="none" strike="noStrike">
              <a:solidFill>
                <a:schemeClr val="dk1"/>
              </a:solidFill>
              <a:latin typeface="Times New Roman"/>
              <a:ea typeface="Times New Roman"/>
              <a:cs typeface="Times New Roman"/>
              <a:sym typeface="Times New Roman"/>
            </a:endParaRPr>
          </a:p>
        </p:txBody>
      </p:sp>
      <p:sp>
        <p:nvSpPr>
          <p:cNvPr id="53" name="Google Shape;53;p1"/>
          <p:cNvSpPr/>
          <p:nvPr/>
        </p:nvSpPr>
        <p:spPr>
          <a:xfrm>
            <a:off x="6008703" y="4794677"/>
            <a:ext cx="3531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System Design(SD)(22CS024)</a:t>
            </a:r>
            <a:endParaRPr b="1" i="0" sz="2400" u="none" cap="none" strike="noStrike">
              <a:solidFill>
                <a:schemeClr val="dk1"/>
              </a:solidFill>
              <a:latin typeface="Times New Roman"/>
              <a:ea typeface="Times New Roman"/>
              <a:cs typeface="Times New Roman"/>
              <a:sym typeface="Times New Roman"/>
            </a:endParaRPr>
          </a:p>
        </p:txBody>
      </p:sp>
      <p:sp>
        <p:nvSpPr>
          <p:cNvPr id="54" name="Google Shape;54;p1"/>
          <p:cNvSpPr/>
          <p:nvPr/>
        </p:nvSpPr>
        <p:spPr>
          <a:xfrm>
            <a:off x="5031581" y="5631350"/>
            <a:ext cx="4795414" cy="46166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60" name="Google Shape;60;p2"/>
          <p:cNvSpPr txBox="1"/>
          <p:nvPr>
            <p:ph idx="1" type="subTitle"/>
          </p:nvPr>
        </p:nvSpPr>
        <p:spPr>
          <a:xfrm>
            <a:off x="835938" y="1340097"/>
            <a:ext cx="12777907" cy="5630527"/>
          </a:xfrm>
          <a:prstGeom prst="rect">
            <a:avLst/>
          </a:prstGeom>
          <a:noFill/>
          <a:ln>
            <a:noFill/>
          </a:ln>
        </p:spPr>
        <p:txBody>
          <a:bodyPr anchorCtr="0" anchor="t" bIns="45700" lIns="91425" spcFirstLastPara="1" rIns="91425" wrap="square" tIns="45700">
            <a:noAutofit/>
          </a:bodyPr>
          <a:lstStyle/>
          <a:p>
            <a:pPr indent="-457200" lvl="0" marL="482600" rtl="0" algn="just">
              <a:lnSpc>
                <a:spcPct val="100000"/>
              </a:lnSpc>
              <a:spcBef>
                <a:spcPts val="640"/>
              </a:spcBef>
              <a:spcAft>
                <a:spcPts val="0"/>
              </a:spcAft>
              <a:buSzPts val="3200"/>
              <a:buFont typeface="Arial"/>
              <a:buChar char="•"/>
            </a:pPr>
            <a:r>
              <a:rPr lang="en-US">
                <a:solidFill>
                  <a:schemeClr val="dk1"/>
                </a:solidFill>
              </a:rPr>
              <a:t>Maintainability determines how easy and profitable it will be to maintain, update, and do upgrades in the software system. </a:t>
            </a:r>
            <a:endParaRPr/>
          </a:p>
          <a:p>
            <a:pPr indent="-254000" lvl="0" marL="482600" rtl="0" algn="just">
              <a:lnSpc>
                <a:spcPct val="100000"/>
              </a:lnSpc>
              <a:spcBef>
                <a:spcPts val="640"/>
              </a:spcBef>
              <a:spcAft>
                <a:spcPts val="0"/>
              </a:spcAft>
              <a:buSzPts val="3200"/>
              <a:buFont typeface="Arial"/>
              <a:buNone/>
            </a:pPr>
            <a:r>
              <a:t/>
            </a:r>
            <a:endParaRPr>
              <a:solidFill>
                <a:schemeClr val="dk1"/>
              </a:solidFill>
            </a:endParaRPr>
          </a:p>
        </p:txBody>
      </p:sp>
      <p:sp>
        <p:nvSpPr>
          <p:cNvPr id="61" name="Google Shape;61;p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Maintainablity" id="62" name="Google Shape;62;p2"/>
          <p:cNvPicPr preferRelativeResize="0"/>
          <p:nvPr/>
        </p:nvPicPr>
        <p:blipFill rotWithShape="1">
          <a:blip r:embed="rId3">
            <a:alphaModFix/>
          </a:blip>
          <a:srcRect b="0" l="0" r="0" t="0"/>
          <a:stretch/>
        </p:blipFill>
        <p:spPr>
          <a:xfrm>
            <a:off x="2401884" y="2667720"/>
            <a:ext cx="7013965" cy="348233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68" name="Google Shape;68;p3"/>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457200" lvl="0" marL="482600" rtl="0" algn="just">
              <a:lnSpc>
                <a:spcPct val="100000"/>
              </a:lnSpc>
              <a:spcBef>
                <a:spcPts val="640"/>
              </a:spcBef>
              <a:spcAft>
                <a:spcPts val="0"/>
              </a:spcAft>
              <a:buSzPts val="3200"/>
              <a:buFont typeface="Arial"/>
              <a:buChar char="•"/>
            </a:pPr>
            <a:r>
              <a:rPr lang="en-US">
                <a:solidFill>
                  <a:schemeClr val="dk1"/>
                </a:solidFill>
              </a:rPr>
              <a:t>Along with Scalability, trust ability, and Security, Maintainability is also a pivotal factor of a system software. </a:t>
            </a:r>
            <a:endParaRPr/>
          </a:p>
          <a:p>
            <a:pPr indent="-457200" lvl="0" marL="482600" rtl="0" algn="just">
              <a:lnSpc>
                <a:spcPct val="100000"/>
              </a:lnSpc>
              <a:spcBef>
                <a:spcPts val="640"/>
              </a:spcBef>
              <a:spcAft>
                <a:spcPts val="0"/>
              </a:spcAft>
              <a:buSzPts val="3200"/>
              <a:buFont typeface="Arial"/>
              <a:buChar char="•"/>
            </a:pPr>
            <a:r>
              <a:rPr lang="en-US">
                <a:solidFill>
                  <a:schemeClr val="dk1"/>
                </a:solidFill>
              </a:rPr>
              <a:t>Further justifiable a system will be, the easier it'll be for inventors to make changes to it, and the more effective the system will be, the lower the time-out will be in case of an issue. </a:t>
            </a:r>
            <a:endParaRPr/>
          </a:p>
          <a:p>
            <a:pPr indent="-457200" lvl="0" marL="482600" rtl="0" algn="just">
              <a:lnSpc>
                <a:spcPct val="100000"/>
              </a:lnSpc>
              <a:spcBef>
                <a:spcPts val="640"/>
              </a:spcBef>
              <a:spcAft>
                <a:spcPts val="0"/>
              </a:spcAft>
              <a:buSzPts val="3200"/>
              <a:buFont typeface="Arial"/>
              <a:buChar char="•"/>
            </a:pPr>
            <a:r>
              <a:rPr lang="en-US">
                <a:solidFill>
                  <a:schemeClr val="dk1"/>
                </a:solidFill>
              </a:rPr>
              <a:t>A largely justifiable system contains the following characteristics:</a:t>
            </a:r>
            <a:endParaRPr/>
          </a:p>
          <a:p>
            <a:pPr indent="-457200" lvl="0" marL="482600" rtl="0" algn="just">
              <a:lnSpc>
                <a:spcPct val="100000"/>
              </a:lnSpc>
              <a:spcBef>
                <a:spcPts val="640"/>
              </a:spcBef>
              <a:spcAft>
                <a:spcPts val="0"/>
              </a:spcAft>
              <a:buSzPts val="3200"/>
              <a:buFont typeface="Arial"/>
              <a:buChar char="•"/>
            </a:pPr>
            <a:r>
              <a:rPr b="1" lang="en-US">
                <a:solidFill>
                  <a:schemeClr val="dk1"/>
                </a:solidFill>
              </a:rPr>
              <a:t>Modularity:</a:t>
            </a:r>
            <a:r>
              <a:rPr lang="en-US">
                <a:solidFill>
                  <a:schemeClr val="dk1"/>
                </a:solidFill>
              </a:rPr>
              <a:t> It's organized into different factors or modules, allowing maintainers to understand and modify individual pieces without affecting the rest of the system.</a:t>
            </a:r>
            <a:endParaRPr/>
          </a:p>
          <a:p>
            <a:pPr indent="0" lvl="0" marL="25400" rtl="0" algn="just">
              <a:lnSpc>
                <a:spcPct val="100000"/>
              </a:lnSpc>
              <a:spcBef>
                <a:spcPts val="640"/>
              </a:spcBef>
              <a:spcAft>
                <a:spcPts val="0"/>
              </a:spcAft>
              <a:buSzPts val="3200"/>
              <a:buNone/>
            </a:pPr>
            <a:r>
              <a:t/>
            </a:r>
            <a:endParaRPr>
              <a:solidFill>
                <a:schemeClr val="dk1"/>
              </a:solidFill>
            </a:endParaRPr>
          </a:p>
        </p:txBody>
      </p:sp>
      <p:sp>
        <p:nvSpPr>
          <p:cNvPr id="69" name="Google Shape;69;p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75" name="Google Shape;75;p4"/>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457200" lvl="0" marL="482600" rtl="0" algn="just">
              <a:lnSpc>
                <a:spcPct val="100000"/>
              </a:lnSpc>
              <a:spcBef>
                <a:spcPts val="640"/>
              </a:spcBef>
              <a:spcAft>
                <a:spcPts val="0"/>
              </a:spcAft>
              <a:buSzPts val="3200"/>
              <a:buFont typeface="Arial"/>
              <a:buChar char="•"/>
            </a:pPr>
            <a:r>
              <a:rPr b="1" lang="en-US">
                <a:solidFill>
                  <a:schemeClr val="dk1"/>
                </a:solidFill>
              </a:rPr>
              <a:t>Readability:</a:t>
            </a:r>
            <a:r>
              <a:rPr lang="en-US">
                <a:solidFill>
                  <a:schemeClr val="dk1"/>
                </a:solidFill>
              </a:rPr>
              <a:t> Its Codebase is clear, terse, and readable, making it easier for maintainers or other team members to understand and modify.</a:t>
            </a:r>
            <a:endParaRPr/>
          </a:p>
          <a:p>
            <a:pPr indent="-457200" lvl="0" marL="482600" rtl="0" algn="just">
              <a:lnSpc>
                <a:spcPct val="100000"/>
              </a:lnSpc>
              <a:spcBef>
                <a:spcPts val="640"/>
              </a:spcBef>
              <a:spcAft>
                <a:spcPts val="0"/>
              </a:spcAft>
              <a:buSzPts val="3200"/>
              <a:buFont typeface="Arial"/>
              <a:buChar char="•"/>
            </a:pPr>
            <a:r>
              <a:rPr b="1" lang="en-US">
                <a:solidFill>
                  <a:schemeClr val="dk1"/>
                </a:solidFill>
              </a:rPr>
              <a:t>Error Handling:</a:t>
            </a:r>
            <a:r>
              <a:rPr lang="en-US">
                <a:solidFill>
                  <a:schemeClr val="dk1"/>
                </a:solidFill>
              </a:rPr>
              <a:t> It's designed to handle problems or issues effectively, furnishing meaningful error dispatches and avoiding disastrous failures.</a:t>
            </a:r>
            <a:endParaRPr/>
          </a:p>
          <a:p>
            <a:pPr indent="-457200" lvl="0" marL="482600" rtl="0" algn="just">
              <a:lnSpc>
                <a:spcPct val="100000"/>
              </a:lnSpc>
              <a:spcBef>
                <a:spcPts val="640"/>
              </a:spcBef>
              <a:spcAft>
                <a:spcPts val="0"/>
              </a:spcAft>
              <a:buSzPts val="3200"/>
              <a:buFont typeface="Arial"/>
              <a:buChar char="•"/>
            </a:pPr>
            <a:r>
              <a:rPr b="1" lang="en-US">
                <a:solidFill>
                  <a:schemeClr val="dk1"/>
                </a:solidFill>
              </a:rPr>
              <a:t>Utilizes VCS:</a:t>
            </a:r>
            <a:r>
              <a:rPr lang="en-US">
                <a:solidFill>
                  <a:schemeClr val="dk1"/>
                </a:solidFill>
              </a:rPr>
              <a:t> It Utilizes VCS similar to Git for effective shadowing of changes and making collaboration easier.</a:t>
            </a:r>
            <a:endParaRPr/>
          </a:p>
          <a:p>
            <a:pPr indent="-457200" lvl="0" marL="482600" rtl="0" algn="just">
              <a:lnSpc>
                <a:spcPct val="100000"/>
              </a:lnSpc>
              <a:spcBef>
                <a:spcPts val="640"/>
              </a:spcBef>
              <a:spcAft>
                <a:spcPts val="0"/>
              </a:spcAft>
              <a:buSzPts val="3200"/>
              <a:buFont typeface="Arial"/>
              <a:buChar char="•"/>
            </a:pPr>
            <a:r>
              <a:rPr b="1" lang="en-US">
                <a:solidFill>
                  <a:schemeClr val="dk1"/>
                </a:solidFill>
              </a:rPr>
              <a:t>Testability:</a:t>
            </a:r>
            <a:r>
              <a:rPr lang="en-US">
                <a:solidFill>
                  <a:schemeClr val="dk1"/>
                </a:solidFill>
              </a:rPr>
              <a:t> It's effective in testability and helps in relating implicit issues snappily.</a:t>
            </a:r>
            <a:endParaRPr/>
          </a:p>
          <a:p>
            <a:pPr indent="-254000" lvl="0" marL="482600" rtl="0" algn="just">
              <a:lnSpc>
                <a:spcPct val="100000"/>
              </a:lnSpc>
              <a:spcBef>
                <a:spcPts val="640"/>
              </a:spcBef>
              <a:spcAft>
                <a:spcPts val="0"/>
              </a:spcAft>
              <a:buSzPts val="3200"/>
              <a:buFont typeface="Arial"/>
              <a:buNone/>
            </a:pPr>
            <a:r>
              <a:t/>
            </a:r>
            <a:endParaRPr/>
          </a:p>
        </p:txBody>
      </p:sp>
      <p:sp>
        <p:nvSpPr>
          <p:cNvPr id="76" name="Google Shape;76;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82" name="Google Shape;82;p5"/>
          <p:cNvSpPr txBox="1"/>
          <p:nvPr>
            <p:ph idx="1" type="subTitle"/>
          </p:nvPr>
        </p:nvSpPr>
        <p:spPr>
          <a:xfrm>
            <a:off x="481917" y="1470460"/>
            <a:ext cx="14329081" cy="4028136"/>
          </a:xfrm>
          <a:prstGeom prst="rect">
            <a:avLst/>
          </a:prstGeom>
          <a:noFill/>
          <a:ln>
            <a:noFill/>
          </a:ln>
        </p:spPr>
        <p:txBody>
          <a:bodyPr anchorCtr="0" anchor="t" bIns="45700" lIns="91425" spcFirstLastPara="1" rIns="91425" wrap="square" tIns="45700">
            <a:noAutofit/>
          </a:bodyPr>
          <a:lstStyle/>
          <a:p>
            <a:pPr indent="-431800" lvl="0" marL="457200" rtl="0" algn="ctr">
              <a:lnSpc>
                <a:spcPct val="100000"/>
              </a:lnSpc>
              <a:spcBef>
                <a:spcPts val="640"/>
              </a:spcBef>
              <a:spcAft>
                <a:spcPts val="0"/>
              </a:spcAft>
              <a:buSzPts val="3200"/>
              <a:buNone/>
            </a:pPr>
            <a:r>
              <a:rPr b="1" lang="en-US">
                <a:solidFill>
                  <a:schemeClr val="dk1"/>
                </a:solidFill>
              </a:rPr>
              <a:t>Measuring Maintainability</a:t>
            </a:r>
            <a:endParaRPr/>
          </a:p>
          <a:p>
            <a:pPr indent="-431800" lvl="0" marL="457200" rtl="0" algn="ctr">
              <a:lnSpc>
                <a:spcPct val="100000"/>
              </a:lnSpc>
              <a:spcBef>
                <a:spcPts val="640"/>
              </a:spcBef>
              <a:spcAft>
                <a:spcPts val="0"/>
              </a:spcAft>
              <a:buSzPts val="3200"/>
              <a:buNone/>
            </a:pPr>
            <a:r>
              <a:rPr lang="en-US">
                <a:solidFill>
                  <a:schemeClr val="dk1"/>
                </a:solidFill>
              </a:rPr>
              <a:t>While measuring maintainability is subjective, </a:t>
            </a:r>
            <a:endParaRPr/>
          </a:p>
          <a:p>
            <a:pPr indent="-431800" lvl="0" marL="457200" rtl="0" algn="ctr">
              <a:lnSpc>
                <a:spcPct val="100000"/>
              </a:lnSpc>
              <a:spcBef>
                <a:spcPts val="640"/>
              </a:spcBef>
              <a:spcAft>
                <a:spcPts val="0"/>
              </a:spcAft>
              <a:buSzPts val="3200"/>
              <a:buNone/>
            </a:pPr>
            <a:r>
              <a:rPr lang="en-US">
                <a:solidFill>
                  <a:schemeClr val="dk1"/>
                </a:solidFill>
              </a:rPr>
              <a:t>here are some metrics to measure it: -</a:t>
            </a:r>
            <a:endParaRPr/>
          </a:p>
          <a:p>
            <a:pPr indent="-431800" lvl="0" marL="457200" rtl="0" algn="just">
              <a:lnSpc>
                <a:spcPct val="100000"/>
              </a:lnSpc>
              <a:spcBef>
                <a:spcPts val="640"/>
              </a:spcBef>
              <a:spcAft>
                <a:spcPts val="0"/>
              </a:spcAft>
              <a:buSzPts val="3200"/>
              <a:buNone/>
            </a:pPr>
            <a:r>
              <a:t/>
            </a:r>
            <a:endParaRPr/>
          </a:p>
        </p:txBody>
      </p:sp>
      <p:sp>
        <p:nvSpPr>
          <p:cNvPr id="83" name="Google Shape;83;p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84" name="Google Shape;84;p5"/>
          <p:cNvPicPr preferRelativeResize="0"/>
          <p:nvPr/>
        </p:nvPicPr>
        <p:blipFill rotWithShape="1">
          <a:blip r:embed="rId3">
            <a:alphaModFix/>
          </a:blip>
          <a:srcRect b="0" l="0" r="0" t="0"/>
          <a:stretch/>
        </p:blipFill>
        <p:spPr>
          <a:xfrm>
            <a:off x="4893151" y="3337621"/>
            <a:ext cx="5733660" cy="40281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6"/>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90" name="Google Shape;90;p6"/>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Code Duplication</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The percentage of duplicated code present in the system can be an indicator of maintainability. Code duplication occurs when the same or very similar code appears in multiple places within the system. In that case, changes made to one component of duplicated code may need to be applied to other areas too. Code duplication can be measured with static code analysis tools that identify duplicated code segments.</a:t>
            </a:r>
            <a:endParaRPr/>
          </a:p>
          <a:p>
            <a:pPr indent="0" lvl="0" marL="25400" rtl="0" algn="just">
              <a:lnSpc>
                <a:spcPct val="100000"/>
              </a:lnSpc>
              <a:spcBef>
                <a:spcPts val="640"/>
              </a:spcBef>
              <a:spcAft>
                <a:spcPts val="0"/>
              </a:spcAft>
              <a:buSzPts val="3200"/>
              <a:buNone/>
            </a:pPr>
            <a:r>
              <a:rPr b="1" lang="en-US" sz="2400">
                <a:solidFill>
                  <a:schemeClr val="dk1"/>
                </a:solidFill>
              </a:rPr>
              <a:t>Maintainability Index</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It provides an overall score that represents the maintainability of a specific component/Code module/Entire system. The formula for calculating the Maintainability Index varies depending upon the IDE you are using, it basically combines complexity, duplication, and other factors to produce a single value. Higher Maintainability Index scores indicate better maintainability and many people in tech use this metric to identify sections of the codebase that require enhancements.</a:t>
            </a:r>
            <a:endParaRPr/>
          </a:p>
          <a:p>
            <a:pPr indent="-431800" lvl="0" marL="457200" rtl="0" algn="ctr">
              <a:lnSpc>
                <a:spcPct val="100000"/>
              </a:lnSpc>
              <a:spcBef>
                <a:spcPts val="640"/>
              </a:spcBef>
              <a:spcAft>
                <a:spcPts val="0"/>
              </a:spcAft>
              <a:buClr>
                <a:srgbClr val="888888"/>
              </a:buClr>
              <a:buSzPts val="3200"/>
              <a:buNone/>
            </a:pPr>
            <a:r>
              <a:t/>
            </a:r>
            <a:endParaRPr sz="2400"/>
          </a:p>
        </p:txBody>
      </p:sp>
      <p:sp>
        <p:nvSpPr>
          <p:cNvPr id="91" name="Google Shape;91;p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97" name="Google Shape;97;p7"/>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a:solidFill>
                  <a:schemeClr val="dk1"/>
                </a:solidFill>
              </a:rPr>
              <a:t>Test Coverage</a:t>
            </a:r>
            <a:endParaRPr/>
          </a:p>
          <a:p>
            <a:pPr indent="-457200" lvl="0" marL="482600" rtl="0" algn="just">
              <a:lnSpc>
                <a:spcPct val="100000"/>
              </a:lnSpc>
              <a:spcBef>
                <a:spcPts val="640"/>
              </a:spcBef>
              <a:spcAft>
                <a:spcPts val="0"/>
              </a:spcAft>
              <a:buSzPts val="3200"/>
              <a:buFont typeface="Arial"/>
              <a:buChar char="•"/>
            </a:pPr>
            <a:r>
              <a:rPr lang="en-US">
                <a:solidFill>
                  <a:schemeClr val="dk1"/>
                </a:solidFill>
              </a:rPr>
              <a:t>It measures the extent to which automated tests cover the codebase, It helps prevent regressions from being introduced. Test coverage tools assess the extent of code exercised by automated tests, expressed as a percentage.</a:t>
            </a:r>
            <a:endParaRPr/>
          </a:p>
          <a:p>
            <a:pPr indent="0" lvl="0" marL="25400" rtl="0" algn="just">
              <a:lnSpc>
                <a:spcPct val="100000"/>
              </a:lnSpc>
              <a:spcBef>
                <a:spcPts val="640"/>
              </a:spcBef>
              <a:spcAft>
                <a:spcPts val="0"/>
              </a:spcAft>
              <a:buSzPts val="3200"/>
              <a:buNone/>
            </a:pPr>
            <a:r>
              <a:rPr b="1" lang="en-US">
                <a:solidFill>
                  <a:schemeClr val="dk1"/>
                </a:solidFill>
              </a:rPr>
              <a:t>Documentation</a:t>
            </a:r>
            <a:endParaRPr/>
          </a:p>
          <a:p>
            <a:pPr indent="-457200" lvl="0" marL="482600" rtl="0" algn="just">
              <a:lnSpc>
                <a:spcPct val="100000"/>
              </a:lnSpc>
              <a:spcBef>
                <a:spcPts val="640"/>
              </a:spcBef>
              <a:spcAft>
                <a:spcPts val="0"/>
              </a:spcAft>
              <a:buSzPts val="3200"/>
              <a:buFont typeface="Arial"/>
              <a:buChar char="•"/>
            </a:pPr>
            <a:r>
              <a:rPr lang="en-US">
                <a:solidFill>
                  <a:schemeClr val="dk1"/>
                </a:solidFill>
              </a:rPr>
              <a:t>Good documentation reduces the learning curve for new Devs and helps the existing team understand it better during maintenance. A Good documentation is the one, which makes a newcomer understand the project and also covers not only code comments but also architectural decisions, System design, API references, as well.</a:t>
            </a:r>
            <a:endParaRPr/>
          </a:p>
          <a:p>
            <a:pPr indent="-431800" lvl="0" marL="457200" rtl="0" algn="ctr">
              <a:lnSpc>
                <a:spcPct val="100000"/>
              </a:lnSpc>
              <a:spcBef>
                <a:spcPts val="640"/>
              </a:spcBef>
              <a:spcAft>
                <a:spcPts val="0"/>
              </a:spcAft>
              <a:buClr>
                <a:srgbClr val="888888"/>
              </a:buClr>
              <a:buSzPts val="3200"/>
              <a:buNone/>
            </a:pPr>
            <a:r>
              <a:t/>
            </a:r>
            <a:endParaRPr sz="2400"/>
          </a:p>
        </p:txBody>
      </p:sp>
      <p:sp>
        <p:nvSpPr>
          <p:cNvPr id="98" name="Google Shape;98;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04" name="Google Shape;104;p8"/>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Team Collaboration</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A strong collaborative culture within the development team helps them share knowledge with each other, perform Knowledge Transfer programs (KT), mentor newcomers, and work together on maintenance tasks, it helps team members grow together and makes sure someone won't struggle in doing a particular task.</a:t>
            </a:r>
            <a:endParaRPr/>
          </a:p>
          <a:p>
            <a:pPr indent="0" lvl="0" marL="25400" rtl="0" algn="just">
              <a:lnSpc>
                <a:spcPct val="100000"/>
              </a:lnSpc>
              <a:spcBef>
                <a:spcPts val="640"/>
              </a:spcBef>
              <a:spcAft>
                <a:spcPts val="0"/>
              </a:spcAft>
              <a:buSzPts val="3200"/>
              <a:buNone/>
            </a:pPr>
            <a:r>
              <a:rPr b="1" lang="en-US" sz="2400">
                <a:solidFill>
                  <a:schemeClr val="dk1"/>
                </a:solidFill>
              </a:rPr>
              <a:t>Time and Resource constraints</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It's important to balance between speed of development as well as speed of maintainability. A rush by the development team to complete a tight deadline without considering maintainability can lead to complicated future maintenance efforts.</a:t>
            </a:r>
            <a:endParaRPr/>
          </a:p>
          <a:p>
            <a:pPr indent="0" lvl="0" marL="25400" rtl="0" algn="just">
              <a:lnSpc>
                <a:spcPct val="100000"/>
              </a:lnSpc>
              <a:spcBef>
                <a:spcPts val="640"/>
              </a:spcBef>
              <a:spcAft>
                <a:spcPts val="0"/>
              </a:spcAft>
              <a:buSzPts val="3200"/>
              <a:buNone/>
            </a:pPr>
            <a:r>
              <a:rPr b="1" lang="en-US" sz="2400">
                <a:solidFill>
                  <a:schemeClr val="dk1"/>
                </a:solidFill>
              </a:rPr>
              <a:t>Code Churn</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It measures the frequency of changes to a code module over time using Version Control's data. Active maintenance is essential for improvements and bug fixes, but excessive code churn may also indicate instability and the need for more thorough testing. By monitoring, focus areas of the system that may require more attention can be identified during maintenance.</a:t>
            </a:r>
            <a:endParaRPr/>
          </a:p>
          <a:p>
            <a:pPr indent="-431800" lvl="0" marL="457200" rtl="0" algn="ctr">
              <a:lnSpc>
                <a:spcPct val="100000"/>
              </a:lnSpc>
              <a:spcBef>
                <a:spcPts val="640"/>
              </a:spcBef>
              <a:spcAft>
                <a:spcPts val="0"/>
              </a:spcAft>
              <a:buClr>
                <a:srgbClr val="888888"/>
              </a:buClr>
              <a:buSzPts val="3200"/>
              <a:buNone/>
            </a:pPr>
            <a:r>
              <a:t/>
            </a:r>
            <a:endParaRPr sz="2000"/>
          </a:p>
        </p:txBody>
      </p:sp>
      <p:sp>
        <p:nvSpPr>
          <p:cNvPr id="105" name="Google Shape;105;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11" name="Google Shape;111;p9"/>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Cyclomatic Complexity</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It measures the complexity of a code module. Higher complexity is an indication that the code is more complicated to understand and there may be potential easier ways available to break the complexity of a particular code module.</a:t>
            </a:r>
            <a:endParaRPr/>
          </a:p>
          <a:p>
            <a:pPr indent="-431800" lvl="0" marL="457200" rtl="0" algn="ctr">
              <a:lnSpc>
                <a:spcPct val="100000"/>
              </a:lnSpc>
              <a:spcBef>
                <a:spcPts val="640"/>
              </a:spcBef>
              <a:spcAft>
                <a:spcPts val="0"/>
              </a:spcAft>
              <a:buClr>
                <a:srgbClr val="888888"/>
              </a:buClr>
              <a:buSzPts val="3200"/>
              <a:buNone/>
            </a:pPr>
            <a:br>
              <a:rPr lang="en-US"/>
            </a:br>
            <a:endParaRPr/>
          </a:p>
        </p:txBody>
      </p:sp>
      <p:sp>
        <p:nvSpPr>
          <p:cNvPr id="112" name="Google Shape;112;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0"/>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18" name="Google Shape;118;p10"/>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Introduction to Modularity</a:t>
            </a:r>
            <a:endParaRPr/>
          </a:p>
          <a:p>
            <a:pPr indent="-431800" lvl="0" marL="457200" rtl="0" algn="just">
              <a:lnSpc>
                <a:spcPct val="100000"/>
              </a:lnSpc>
              <a:spcBef>
                <a:spcPts val="640"/>
              </a:spcBef>
              <a:spcAft>
                <a:spcPts val="0"/>
              </a:spcAft>
              <a:buSzPts val="3200"/>
              <a:buFont typeface="Arial"/>
              <a:buChar char="•"/>
            </a:pPr>
            <a:r>
              <a:rPr lang="en-US" sz="2400">
                <a:solidFill>
                  <a:schemeClr val="dk1"/>
                </a:solidFill>
              </a:rPr>
              <a:t>In software design, modularity means breaking down big problems into smaller, more manageable parts. Interfaces are like bridges that connect these parts together.</a:t>
            </a:r>
            <a:endParaRPr/>
          </a:p>
          <a:p>
            <a:pPr indent="0" lvl="0" marL="25400" rtl="0" algn="just">
              <a:lnSpc>
                <a:spcPct val="100000"/>
              </a:lnSpc>
              <a:spcBef>
                <a:spcPts val="640"/>
              </a:spcBef>
              <a:spcAft>
                <a:spcPts val="0"/>
              </a:spcAft>
              <a:buSzPts val="3200"/>
              <a:buNone/>
            </a:pPr>
            <a:r>
              <a:t/>
            </a:r>
            <a:endParaRPr sz="2400">
              <a:solidFill>
                <a:schemeClr val="dk1"/>
              </a:solidFill>
            </a:endParaRPr>
          </a:p>
          <a:p>
            <a:pPr indent="-457200" lvl="0" marL="482600" rtl="0" algn="just">
              <a:lnSpc>
                <a:spcPct val="100000"/>
              </a:lnSpc>
              <a:spcBef>
                <a:spcPts val="640"/>
              </a:spcBef>
              <a:spcAft>
                <a:spcPts val="0"/>
              </a:spcAft>
              <a:buSzPts val="3200"/>
              <a:buFont typeface="Arial"/>
              <a:buChar char="•"/>
            </a:pPr>
            <a:r>
              <a:rPr i="1" lang="en-US">
                <a:solidFill>
                  <a:schemeClr val="dk1"/>
                </a:solidFill>
              </a:rPr>
              <a:t>Definition: The process of breaking down a complex system into smaller, more manageable components or modules is known as modularity in system design. Each module is designed to perform a certain task or function, and these modules work together to achieve the overall functionality of the system.</a:t>
            </a:r>
            <a:endParaRPr>
              <a:solidFill>
                <a:schemeClr val="dk1"/>
              </a:solidFill>
            </a:endParaRPr>
          </a:p>
        </p:txBody>
      </p:sp>
      <p:sp>
        <p:nvSpPr>
          <p:cNvPr id="119" name="Google Shape;119;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25" name="Google Shape;125;p11"/>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The key characteristics of modularity </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Flexibility:</a:t>
            </a:r>
            <a:r>
              <a:rPr lang="en-US" sz="2400">
                <a:solidFill>
                  <a:schemeClr val="dk1"/>
                </a:solidFill>
              </a:rPr>
              <a:t> Allows for easy customization and adaptation to changing requirements.</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Abstraction: </a:t>
            </a:r>
            <a:r>
              <a:rPr lang="en-US" sz="2400">
                <a:solidFill>
                  <a:schemeClr val="dk1"/>
                </a:solidFill>
              </a:rPr>
              <a:t>Modules provide clear, high-level interfaces abstracting complex functionality.</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Collaboration: </a:t>
            </a:r>
            <a:r>
              <a:rPr lang="en-US" sz="2400">
                <a:solidFill>
                  <a:schemeClr val="dk1"/>
                </a:solidFill>
              </a:rPr>
              <a:t>allows teams to operate independently on various modules, which promotes parallel development.</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Testing: </a:t>
            </a:r>
            <a:r>
              <a:rPr lang="en-US" sz="2400">
                <a:solidFill>
                  <a:schemeClr val="dk1"/>
                </a:solidFill>
              </a:rPr>
              <a:t>Modular systems are easier to test as each module can be tested separately, promoting robustness.</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Documentation: </a:t>
            </a:r>
            <a:r>
              <a:rPr lang="en-US" sz="2400">
                <a:solidFill>
                  <a:schemeClr val="dk1"/>
                </a:solidFill>
              </a:rPr>
              <a:t>Encourages better documentation practices as module interfaces need to be well-defined and documented.</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Interchangeability: </a:t>
            </a:r>
            <a:r>
              <a:rPr lang="en-US" sz="2400">
                <a:solidFill>
                  <a:schemeClr val="dk1"/>
                </a:solidFill>
              </a:rPr>
              <a:t>Modules can be swapped or upgraded without affecting the overall system functionality, promoting interoperability.</a:t>
            </a:r>
            <a:endParaRPr/>
          </a:p>
          <a:p>
            <a:pPr indent="-431800" lvl="0" marL="457200" rtl="0" algn="ctr">
              <a:lnSpc>
                <a:spcPct val="100000"/>
              </a:lnSpc>
              <a:spcBef>
                <a:spcPts val="640"/>
              </a:spcBef>
              <a:spcAft>
                <a:spcPts val="0"/>
              </a:spcAft>
              <a:buClr>
                <a:srgbClr val="888888"/>
              </a:buClr>
              <a:buSzPts val="3200"/>
              <a:buNone/>
            </a:pPr>
            <a:r>
              <a:t/>
            </a:r>
            <a:endParaRPr sz="2400"/>
          </a:p>
        </p:txBody>
      </p:sp>
      <p:sp>
        <p:nvSpPr>
          <p:cNvPr id="126" name="Google Shape;126;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2"/>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2" name="Google Shape;132;p12"/>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b="1" lang="en-US" sz="2400">
                <a:solidFill>
                  <a:schemeClr val="dk1"/>
                </a:solidFill>
              </a:rPr>
              <a:t>Below are the key components of Modular Design:</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Modules:</a:t>
            </a:r>
            <a:r>
              <a:rPr lang="en-US" sz="2400">
                <a:solidFill>
                  <a:schemeClr val="dk1"/>
                </a:solidFill>
              </a:rPr>
              <a:t> These are the smaller, separate components that comprise the system as a whole. Every module is self-contained, has clearly defined interfaces to other modules, and is made to carry out a specific task.</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Interfaces</a:t>
            </a:r>
            <a:r>
              <a:rPr lang="en-US" sz="2400">
                <a:solidFill>
                  <a:schemeClr val="dk1"/>
                </a:solidFill>
              </a:rPr>
              <a:t>: These are where modules can communicate with one another. Interfaces, which can be software, mechanical, or electrical connections, specify how the modules communicate with one another.</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Subsystems</a:t>
            </a:r>
            <a:r>
              <a:rPr lang="en-US" sz="2400">
                <a:solidFill>
                  <a:schemeClr val="dk1"/>
                </a:solidFill>
              </a:rPr>
              <a:t>: These are groups of modules that work together to perform a specific function within the overall system.</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Integration:</a:t>
            </a:r>
            <a:r>
              <a:rPr lang="en-US" sz="2400">
                <a:solidFill>
                  <a:schemeClr val="dk1"/>
                </a:solidFill>
              </a:rPr>
              <a:t> This involves integrating the various modules to form an integrated unit and testing the system as a whole to make sure everything is operating as it should.</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Maintenance</a:t>
            </a:r>
            <a:r>
              <a:rPr lang="en-US" sz="2400">
                <a:solidFill>
                  <a:schemeClr val="dk1"/>
                </a:solidFill>
              </a:rPr>
              <a:t>: To make sure the system keeps functioning properly, this involves maintaining an eye on it and updating it as necessary. In some cases, this may involve changing or swapping out certain modules.</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Documentation: </a:t>
            </a:r>
            <a:r>
              <a:rPr lang="en-US" sz="2400">
                <a:solidFill>
                  <a:schemeClr val="dk1"/>
                </a:solidFill>
              </a:rPr>
              <a:t>This includes all of the technical and operational information about the system, including schematics, manuals, and instructions for use.</a:t>
            </a:r>
            <a:endParaRPr/>
          </a:p>
          <a:p>
            <a:pPr indent="-431800" lvl="0" marL="457200" rtl="0" algn="ctr">
              <a:lnSpc>
                <a:spcPct val="100000"/>
              </a:lnSpc>
              <a:spcBef>
                <a:spcPts val="640"/>
              </a:spcBef>
              <a:spcAft>
                <a:spcPts val="0"/>
              </a:spcAft>
              <a:buClr>
                <a:srgbClr val="888888"/>
              </a:buClr>
              <a:buSzPts val="3200"/>
              <a:buNone/>
            </a:pPr>
            <a:r>
              <a:t/>
            </a:r>
            <a:endParaRPr sz="2000"/>
          </a:p>
        </p:txBody>
      </p:sp>
      <p:sp>
        <p:nvSpPr>
          <p:cNvPr id="133" name="Google Shape;133;p1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9" name="Google Shape;139;p13"/>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0" lvl="0" marL="25400" rtl="0" algn="just">
              <a:lnSpc>
                <a:spcPct val="100000"/>
              </a:lnSpc>
              <a:spcBef>
                <a:spcPts val="640"/>
              </a:spcBef>
              <a:spcAft>
                <a:spcPts val="0"/>
              </a:spcAft>
              <a:buSzPts val="3200"/>
              <a:buNone/>
            </a:pPr>
            <a:r>
              <a:rPr lang="en-US" sz="2400">
                <a:solidFill>
                  <a:schemeClr val="dk1"/>
                </a:solidFill>
              </a:rPr>
              <a:t>Some of the important benefits of modularity are:</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Improved flexibility:</a:t>
            </a:r>
            <a:r>
              <a:rPr lang="en-US" sz="2400">
                <a:solidFill>
                  <a:schemeClr val="dk1"/>
                </a:solidFill>
              </a:rPr>
              <a:t> Modular designs allow individual components or modules to be easily added, removed, or replaced, making it easy to modify the product to meet changing needs or requirements.</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Increased efficiency</a:t>
            </a:r>
            <a:r>
              <a:rPr lang="en-US" sz="2400">
                <a:solidFill>
                  <a:schemeClr val="dk1"/>
                </a:solidFill>
              </a:rPr>
              <a:t>: Modular designs enable different parts of the product to be developed and tested independently, allowing for faster development and more efficient use of resources.</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Improved quality</a:t>
            </a:r>
            <a:r>
              <a:rPr lang="en-US" sz="2400">
                <a:solidFill>
                  <a:schemeClr val="dk1"/>
                </a:solidFill>
              </a:rPr>
              <a:t>: By enabling more extensive testing of individual parts and making it easier to employ better materials and building methods, modular designs can raise a product's overall quality.</a:t>
            </a:r>
            <a:endParaRPr/>
          </a:p>
          <a:p>
            <a:pPr indent="-431800" lvl="0" marL="457200" rtl="0" algn="just">
              <a:lnSpc>
                <a:spcPct val="100000"/>
              </a:lnSpc>
              <a:spcBef>
                <a:spcPts val="640"/>
              </a:spcBef>
              <a:spcAft>
                <a:spcPts val="0"/>
              </a:spcAft>
              <a:buSzPts val="3200"/>
              <a:buFont typeface="Arial"/>
              <a:buChar char="•"/>
            </a:pPr>
            <a:r>
              <a:rPr b="1" lang="en-US" sz="2400">
                <a:solidFill>
                  <a:schemeClr val="dk1"/>
                </a:solidFill>
              </a:rPr>
              <a:t>Enhanced scalability</a:t>
            </a:r>
            <a:r>
              <a:rPr lang="en-US" sz="2400">
                <a:solidFill>
                  <a:schemeClr val="dk1"/>
                </a:solidFill>
              </a:rPr>
              <a:t>: Because modules can be added or removed as needed, modular designs may ease the process of scaling a product up or down in terms of size, capacity, or capability.</a:t>
            </a:r>
            <a:endParaRPr/>
          </a:p>
          <a:p>
            <a:pPr indent="-431800" lvl="0" marL="457200" rtl="0" algn="ctr">
              <a:lnSpc>
                <a:spcPct val="100000"/>
              </a:lnSpc>
              <a:spcBef>
                <a:spcPts val="640"/>
              </a:spcBef>
              <a:spcAft>
                <a:spcPts val="0"/>
              </a:spcAft>
              <a:buClr>
                <a:srgbClr val="888888"/>
              </a:buClr>
              <a:buSzPts val="3200"/>
              <a:buNone/>
            </a:pPr>
            <a:r>
              <a:t/>
            </a:r>
            <a:endParaRPr sz="2400"/>
          </a:p>
        </p:txBody>
      </p:sp>
      <p:sp>
        <p:nvSpPr>
          <p:cNvPr id="140" name="Google Shape;140;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4"/>
          <p:cNvSpPr txBox="1"/>
          <p:nvPr>
            <p:ph type="ctrTitle"/>
          </p:nvPr>
        </p:nvSpPr>
        <p:spPr>
          <a:xfrm>
            <a:off x="10" y="3"/>
            <a:ext cx="8598218" cy="109749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46" name="Google Shape;146;p14"/>
          <p:cNvSpPr txBox="1"/>
          <p:nvPr>
            <p:ph idx="1" type="subTitle"/>
          </p:nvPr>
        </p:nvSpPr>
        <p:spPr>
          <a:xfrm>
            <a:off x="835942" y="1646241"/>
            <a:ext cx="12777907" cy="5670373"/>
          </a:xfrm>
          <a:prstGeom prst="rect">
            <a:avLst/>
          </a:prstGeom>
          <a:noFill/>
          <a:ln>
            <a:noFill/>
          </a:ln>
        </p:spPr>
        <p:txBody>
          <a:bodyPr anchorCtr="0" anchor="t" bIns="45700" lIns="91425" spcFirstLastPara="1" rIns="91425" wrap="square" tIns="45700">
            <a:noAutofit/>
          </a:bodyPr>
          <a:lstStyle/>
          <a:p>
            <a:pPr indent="-431800" lvl="0" marL="457200" rtl="0" algn="ctr">
              <a:lnSpc>
                <a:spcPct val="100000"/>
              </a:lnSpc>
              <a:spcBef>
                <a:spcPts val="640"/>
              </a:spcBef>
              <a:spcAft>
                <a:spcPts val="0"/>
              </a:spcAft>
              <a:buClr>
                <a:srgbClr val="888888"/>
              </a:buClr>
              <a:buSzPts val="3200"/>
              <a:buNone/>
            </a:pPr>
            <a:r>
              <a:t/>
            </a:r>
            <a:endParaRPr b="1" sz="6000">
              <a:solidFill>
                <a:schemeClr val="dk1"/>
              </a:solidFill>
            </a:endParaRPr>
          </a:p>
          <a:p>
            <a:pPr indent="-431800" lvl="0" marL="457200" rtl="0" algn="ctr">
              <a:lnSpc>
                <a:spcPct val="100000"/>
              </a:lnSpc>
              <a:spcBef>
                <a:spcPts val="640"/>
              </a:spcBef>
              <a:spcAft>
                <a:spcPts val="0"/>
              </a:spcAft>
              <a:buClr>
                <a:srgbClr val="888888"/>
              </a:buClr>
              <a:buSzPts val="3200"/>
              <a:buNone/>
            </a:pPr>
            <a:r>
              <a:t/>
            </a:r>
            <a:endParaRPr b="1" sz="6000">
              <a:solidFill>
                <a:schemeClr val="dk1"/>
              </a:solidFill>
            </a:endParaRPr>
          </a:p>
          <a:p>
            <a:pPr indent="-431800" lvl="0" marL="457200" rtl="0" algn="ctr">
              <a:lnSpc>
                <a:spcPct val="100000"/>
              </a:lnSpc>
              <a:spcBef>
                <a:spcPts val="640"/>
              </a:spcBef>
              <a:spcAft>
                <a:spcPts val="0"/>
              </a:spcAft>
              <a:buClr>
                <a:srgbClr val="888888"/>
              </a:buClr>
              <a:buSzPts val="3200"/>
              <a:buNone/>
            </a:pPr>
            <a:r>
              <a:rPr b="1" lang="en-US" sz="6000">
                <a:solidFill>
                  <a:schemeClr val="dk1"/>
                </a:solidFill>
              </a:rPr>
              <a:t>THANK YOU</a:t>
            </a:r>
            <a:endParaRPr/>
          </a:p>
        </p:txBody>
      </p:sp>
      <p:sp>
        <p:nvSpPr>
          <p:cNvPr id="147" name="Google Shape;147;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 Ahlawat</dc:creator>
</cp:coreProperties>
</file>