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9144000"/>
  <p:notesSz cx="6858000" cy="9947275"/>
  <p:embeddedFontLst>
    <p:embeddedFont>
      <p:font typeface="Nuni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8" roundtripDataSignature="AMtx7mgzbBinzCFiq5GZr3pUwSr/3Wkw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Nunito-bold.fntdata"/><Relationship Id="rId12" Type="http://schemas.openxmlformats.org/officeDocument/2006/relationships/slide" Target="slides/slide7.xml"/><Relationship Id="rId34" Type="http://schemas.openxmlformats.org/officeDocument/2006/relationships/font" Target="fonts/Nunito-regular.fntdata"/><Relationship Id="rId15" Type="http://schemas.openxmlformats.org/officeDocument/2006/relationships/slide" Target="slides/slide10.xml"/><Relationship Id="rId37" Type="http://schemas.openxmlformats.org/officeDocument/2006/relationships/font" Target="fonts/Nunito-boldItalic.fntdata"/><Relationship Id="rId14" Type="http://schemas.openxmlformats.org/officeDocument/2006/relationships/slide" Target="slides/slide9.xml"/><Relationship Id="rId36" Type="http://schemas.openxmlformats.org/officeDocument/2006/relationships/font" Target="fonts/Nunito-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9736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97364"/>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724956"/>
            <a:ext cx="5486400" cy="4476274"/>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48185"/>
            <a:ext cx="2971800" cy="497364"/>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9448185"/>
            <a:ext cx="2971800" cy="497364"/>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txBox="1"/>
          <p:nvPr>
            <p:ph idx="1" type="body"/>
          </p:nvPr>
        </p:nvSpPr>
        <p:spPr>
          <a:xfrm>
            <a:off x="685800" y="4724956"/>
            <a:ext cx="5486400" cy="4476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 name="Google Shape;44;p2: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685800" y="4724956"/>
            <a:ext cx="5486400" cy="4476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 name="Google Shape;51;p3: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txBox="1"/>
          <p:nvPr>
            <p:ph idx="1" type="body"/>
          </p:nvPr>
        </p:nvSpPr>
        <p:spPr>
          <a:xfrm>
            <a:off x="685800" y="4724956"/>
            <a:ext cx="5486400" cy="4476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8" name="Google Shape;58;p4: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5:notes"/>
          <p:cNvSpPr txBox="1"/>
          <p:nvPr>
            <p:ph idx="1" type="body"/>
          </p:nvPr>
        </p:nvSpPr>
        <p:spPr>
          <a:xfrm>
            <a:off x="685800" y="4724956"/>
            <a:ext cx="5486400" cy="4476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 name="Google Shape;65;p5: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6:notes"/>
          <p:cNvSpPr txBox="1"/>
          <p:nvPr>
            <p:ph idx="1" type="body"/>
          </p:nvPr>
        </p:nvSpPr>
        <p:spPr>
          <a:xfrm>
            <a:off x="685800" y="4724956"/>
            <a:ext cx="5486400" cy="4476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 name="Google Shape;72;p6: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7:notes"/>
          <p:cNvSpPr txBox="1"/>
          <p:nvPr>
            <p:ph idx="1" type="body"/>
          </p:nvPr>
        </p:nvSpPr>
        <p:spPr>
          <a:xfrm>
            <a:off x="685800" y="4724956"/>
            <a:ext cx="5486400" cy="4476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9" name="Google Shape;79;p7: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txBox="1"/>
          <p:nvPr>
            <p:ph idx="1" type="body"/>
          </p:nvPr>
        </p:nvSpPr>
        <p:spPr>
          <a:xfrm>
            <a:off x="685800" y="4724956"/>
            <a:ext cx="5486400" cy="4476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 name="Google Shape;86;p8: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9: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3" name="Google Shape;93;p9: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0: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 name="Google Shape;100;p10: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1: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7" name="Google Shape;107;p11: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2: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4" name="Google Shape;114;p12: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3: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1" name="Google Shape;121;p13: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4: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8" name="Google Shape;128;p14: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5: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5" name="Google Shape;135;p15: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6: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1" name="Google Shape;141;p16: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7: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 name="Google Shape;148;p17: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8: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6" name="Google Shape;156;p18: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9: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3" name="Google Shape;163;p19: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0: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1" name="Google Shape;171;p20: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1: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 name="Google Shape;179;p21: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2: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8" name="Google Shape;188;p22: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3: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 name="Google Shape;197;p23: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4: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24:notes"/>
          <p:cNvSpPr txBox="1"/>
          <p:nvPr>
            <p:ph idx="1" type="body"/>
          </p:nvPr>
        </p:nvSpPr>
        <p:spPr>
          <a:xfrm>
            <a:off x="685800" y="4724956"/>
            <a:ext cx="5486400" cy="447627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205" name="Google Shape;205;p24:notes"/>
          <p:cNvSpPr txBox="1"/>
          <p:nvPr>
            <p:ph idx="12" type="sldNum"/>
          </p:nvPr>
        </p:nvSpPr>
        <p:spPr>
          <a:xfrm>
            <a:off x="3884613" y="9448185"/>
            <a:ext cx="2971800" cy="49736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5: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1" name="Google Shape;211;p25: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6: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9" name="Google Shape;219;p26: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7: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7" name="Google Shape;227;p27: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8: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5" name="Google Shape;235;p28: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9:notes"/>
          <p:cNvSpPr txBox="1"/>
          <p:nvPr>
            <p:ph idx="1" type="body"/>
          </p:nvPr>
        </p:nvSpPr>
        <p:spPr>
          <a:xfrm>
            <a:off x="685800" y="4724956"/>
            <a:ext cx="5486400" cy="4476274"/>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3" name="Google Shape;243;p29: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3.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31"/>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31"/>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7" name="Google Shape;2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pic>
        <p:nvPicPr>
          <p:cNvPr descr="LOGO.gif" id="31" name="Google Shape;31;p32"/>
          <p:cNvPicPr preferRelativeResize="0"/>
          <p:nvPr/>
        </p:nvPicPr>
        <p:blipFill rotWithShape="1">
          <a:blip r:embed="rId2">
            <a:alphaModFix/>
          </a:blip>
          <a:srcRect b="10713" l="0" r="0" t="0"/>
          <a:stretch/>
        </p:blipFill>
        <p:spPr>
          <a:xfrm>
            <a:off x="6553200" y="228600"/>
            <a:ext cx="2057400" cy="635000"/>
          </a:xfrm>
          <a:prstGeom prst="rect">
            <a:avLst/>
          </a:prstGeom>
          <a:noFill/>
          <a:ln>
            <a:noFill/>
          </a:ln>
        </p:spPr>
      </p:pic>
      <p:grpSp>
        <p:nvGrpSpPr>
          <p:cNvPr id="32" name="Google Shape;32;p32"/>
          <p:cNvGrpSpPr/>
          <p:nvPr/>
        </p:nvGrpSpPr>
        <p:grpSpPr>
          <a:xfrm>
            <a:off x="6146800" y="0"/>
            <a:ext cx="2997200" cy="876300"/>
            <a:chOff x="6096000" y="3924300"/>
            <a:chExt cx="2997200" cy="876300"/>
          </a:xfrm>
        </p:grpSpPr>
        <p:sp>
          <p:nvSpPr>
            <p:cNvPr id="33" name="Google Shape;33;p32"/>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34" name="Google Shape;34;p32"/>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35" name="Google Shape;35;p32"/>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logo.jpg" id="36" name="Google Shape;36;p32"/>
          <p:cNvPicPr preferRelativeResize="0"/>
          <p:nvPr/>
        </p:nvPicPr>
        <p:blipFill rotWithShape="1">
          <a:blip r:embed="rId3">
            <a:alphaModFix/>
          </a:blip>
          <a:srcRect b="0" l="0" r="0" t="0"/>
          <a:stretch/>
        </p:blipFill>
        <p:spPr>
          <a:xfrm>
            <a:off x="6553200" y="228600"/>
            <a:ext cx="1920875" cy="609600"/>
          </a:xfrm>
          <a:prstGeom prst="rect">
            <a:avLst/>
          </a:prstGeom>
          <a:noFill/>
          <a:ln>
            <a:noFill/>
          </a:ln>
        </p:spPr>
      </p:pic>
      <p:sp>
        <p:nvSpPr>
          <p:cNvPr id="37" name="Google Shape;37;p3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32"/>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3.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9pPr>
          </a:lstStyle>
          <a:p/>
        </p:txBody>
      </p:sp>
      <p:sp>
        <p:nvSpPr>
          <p:cNvPr id="11" name="Google Shape;11;p30"/>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5" name="Google Shape;15;p30"/>
          <p:cNvSpPr/>
          <p:nvPr/>
        </p:nvSpPr>
        <p:spPr>
          <a:xfrm>
            <a:off x="0" y="0"/>
            <a:ext cx="91440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30"/>
          <p:cNvSpPr/>
          <p:nvPr/>
        </p:nvSpPr>
        <p:spPr>
          <a:xfrm flipH="1" rot="10800000">
            <a:off x="0" y="6705600"/>
            <a:ext cx="9144000" cy="19811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17" name="Google Shape;17;p30"/>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pic>
        <p:nvPicPr>
          <p:cNvPr descr="LOGO.gif" id="18" name="Google Shape;18;p30"/>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grpSp>
        <p:nvGrpSpPr>
          <p:cNvPr id="19" name="Google Shape;19;p30"/>
          <p:cNvGrpSpPr/>
          <p:nvPr/>
        </p:nvGrpSpPr>
        <p:grpSpPr>
          <a:xfrm>
            <a:off x="6146800" y="0"/>
            <a:ext cx="2997200" cy="876300"/>
            <a:chOff x="6096000" y="3924300"/>
            <a:chExt cx="2997200" cy="876300"/>
          </a:xfrm>
        </p:grpSpPr>
        <p:sp>
          <p:nvSpPr>
            <p:cNvPr id="20" name="Google Shape;20;p30"/>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21" name="Google Shape;21;p30"/>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30"/>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logo.jpg" id="23" name="Google Shape;23;p30"/>
          <p:cNvPicPr preferRelativeResize="0"/>
          <p:nvPr/>
        </p:nvPicPr>
        <p:blipFill rotWithShape="1">
          <a:blip r:embed="rId2">
            <a:alphaModFix/>
          </a:blip>
          <a:srcRect b="0" l="0" r="0" t="0"/>
          <a:stretch/>
        </p:blipFill>
        <p:spPr>
          <a:xfrm>
            <a:off x="6553200" y="228600"/>
            <a:ext cx="1920875" cy="609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geeksforgeeks.org/dbms/multi-tier-architecture-of-data-warehous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geeksforgeeks.org/dbms/difference-between-strong-and-weak-entit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hyperlink" Target="https://www.geeksforgeeks.org/dbms/types-of-attributes-in-er-mode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www.geeksforgeeks.org/dbms/what-is-mapping-cardinalities-er-diagram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jp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2.jp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jp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a:br>
            <a:r>
              <a:rPr b="1" lang="en-IN"/>
              <a:t>Types of DBMS Architecture</a:t>
            </a:r>
            <a:br>
              <a:rPr b="1" lang="en-IN"/>
            </a:br>
            <a:endParaRPr/>
          </a:p>
        </p:txBody>
      </p:sp>
      <p:sp>
        <p:nvSpPr>
          <p:cNvPr id="47" name="Google Shape;47;p2"/>
          <p:cNvSpPr txBox="1"/>
          <p:nvPr>
            <p:ph idx="1" type="body"/>
          </p:nvPr>
        </p:nvSpPr>
        <p:spPr>
          <a:xfrm>
            <a:off x="152400" y="1371600"/>
            <a:ext cx="8839200" cy="452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None/>
            </a:pPr>
            <a:r>
              <a:rPr lang="en-IN"/>
              <a:t>There are several types of DBMS Architecture that we use according to the usage requirements.</a:t>
            </a:r>
            <a:endParaRPr/>
          </a:p>
          <a:p>
            <a:pPr indent="-342900" lvl="0" marL="342900" rtl="0" algn="l">
              <a:spcBef>
                <a:spcPts val="640"/>
              </a:spcBef>
              <a:spcAft>
                <a:spcPts val="0"/>
              </a:spcAft>
              <a:buClr>
                <a:schemeClr val="dk1"/>
              </a:buClr>
              <a:buSzPts val="3200"/>
              <a:buChar char="•"/>
            </a:pPr>
            <a:r>
              <a:rPr lang="en-IN"/>
              <a:t>1-Tier Architecture</a:t>
            </a:r>
            <a:endParaRPr/>
          </a:p>
          <a:p>
            <a:pPr indent="-342900" lvl="0" marL="342900" rtl="0" algn="l">
              <a:spcBef>
                <a:spcPts val="640"/>
              </a:spcBef>
              <a:spcAft>
                <a:spcPts val="0"/>
              </a:spcAft>
              <a:buClr>
                <a:schemeClr val="dk1"/>
              </a:buClr>
              <a:buSzPts val="3200"/>
              <a:buChar char="•"/>
            </a:pPr>
            <a:r>
              <a:rPr lang="en-IN"/>
              <a:t>2-Tier Architecture</a:t>
            </a:r>
            <a:endParaRPr/>
          </a:p>
          <a:p>
            <a:pPr indent="-342900" lvl="0" marL="342900" rtl="0" algn="l">
              <a:spcBef>
                <a:spcPts val="640"/>
              </a:spcBef>
              <a:spcAft>
                <a:spcPts val="0"/>
              </a:spcAft>
              <a:buClr>
                <a:schemeClr val="dk1"/>
              </a:buClr>
              <a:buSzPts val="3200"/>
              <a:buChar char="•"/>
            </a:pPr>
            <a:r>
              <a:rPr lang="en-IN"/>
              <a:t>3-Tier Architecture</a:t>
            </a:r>
            <a:endParaRPr/>
          </a:p>
          <a:p>
            <a:pPr indent="-139700" lvl="0" marL="342900" rtl="0" algn="l">
              <a:spcBef>
                <a:spcPts val="640"/>
              </a:spcBef>
              <a:spcAft>
                <a:spcPts val="0"/>
              </a:spcAft>
              <a:buClr>
                <a:schemeClr val="dk1"/>
              </a:buClr>
              <a:buSzPts val="3200"/>
              <a:buNone/>
            </a:pPr>
            <a:r>
              <a:t/>
            </a:r>
            <a:endParaRPr/>
          </a:p>
        </p:txBody>
      </p:sp>
      <p:sp>
        <p:nvSpPr>
          <p:cNvPr id="48" name="Google Shape;48;p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a:br>
            <a:r>
              <a:rPr b="1" lang="en-IN"/>
              <a:t>1-Tier Architecture</a:t>
            </a:r>
            <a:br>
              <a:rPr b="1" lang="en-IN"/>
            </a:br>
            <a:endParaRPr/>
          </a:p>
        </p:txBody>
      </p:sp>
      <p:pic>
        <p:nvPicPr>
          <p:cNvPr id="54" name="Google Shape;54;p3"/>
          <p:cNvPicPr preferRelativeResize="0"/>
          <p:nvPr>
            <p:ph idx="1" type="body"/>
          </p:nvPr>
        </p:nvPicPr>
        <p:blipFill rotWithShape="1">
          <a:blip r:embed="rId3">
            <a:alphaModFix/>
          </a:blip>
          <a:srcRect b="0" l="0" r="0" t="0"/>
          <a:stretch/>
        </p:blipFill>
        <p:spPr>
          <a:xfrm>
            <a:off x="457200" y="1593641"/>
            <a:ext cx="8229600" cy="4081800"/>
          </a:xfrm>
          <a:prstGeom prst="rect">
            <a:avLst/>
          </a:prstGeom>
          <a:noFill/>
          <a:ln>
            <a:noFill/>
          </a:ln>
        </p:spPr>
      </p:pic>
      <p:sp>
        <p:nvSpPr>
          <p:cNvPr id="55" name="Google Shape;55;p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sz="3200"/>
            </a:br>
            <a:r>
              <a:rPr b="1" lang="en-IN" sz="3200"/>
              <a:t>Advantages of 1-Tier Architecture</a:t>
            </a:r>
            <a:br>
              <a:rPr b="1" lang="en-IN" sz="3200"/>
            </a:br>
            <a:endParaRPr/>
          </a:p>
        </p:txBody>
      </p:sp>
      <p:sp>
        <p:nvSpPr>
          <p:cNvPr id="61" name="Google Shape;61;p4"/>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2000"/>
              <a:buChar char="•"/>
            </a:pPr>
            <a:r>
              <a:rPr b="1" lang="en-IN" sz="2000"/>
              <a:t>Simple Architecture:</a:t>
            </a:r>
            <a:r>
              <a:rPr lang="en-IN" sz="2000"/>
              <a:t> 1-Tier Architecture is the most simple architecture to set up, as only a single machine is required to maintain it.</a:t>
            </a:r>
            <a:endParaRPr/>
          </a:p>
          <a:p>
            <a:pPr indent="-342900" lvl="0" marL="342900" rtl="0" algn="l">
              <a:lnSpc>
                <a:spcPct val="150000"/>
              </a:lnSpc>
              <a:spcBef>
                <a:spcPts val="400"/>
              </a:spcBef>
              <a:spcAft>
                <a:spcPts val="0"/>
              </a:spcAft>
              <a:buClr>
                <a:schemeClr val="dk1"/>
              </a:buClr>
              <a:buSzPts val="2000"/>
              <a:buChar char="•"/>
            </a:pPr>
            <a:r>
              <a:rPr b="1" lang="en-IN" sz="2000"/>
              <a:t>Cost-Effective:</a:t>
            </a:r>
            <a:r>
              <a:rPr lang="en-IN" sz="2000"/>
              <a:t> No additional hardware is required for implementing 1-Tier Architecture, which makes it cost-effective.</a:t>
            </a:r>
            <a:endParaRPr/>
          </a:p>
          <a:p>
            <a:pPr indent="-342900" lvl="0" marL="342900" rtl="0" algn="l">
              <a:lnSpc>
                <a:spcPct val="150000"/>
              </a:lnSpc>
              <a:spcBef>
                <a:spcPts val="400"/>
              </a:spcBef>
              <a:spcAft>
                <a:spcPts val="0"/>
              </a:spcAft>
              <a:buClr>
                <a:schemeClr val="dk1"/>
              </a:buClr>
              <a:buSzPts val="2000"/>
              <a:buChar char="•"/>
            </a:pPr>
            <a:r>
              <a:rPr b="1" lang="en-IN" sz="2000"/>
              <a:t>Easy to Implement:</a:t>
            </a:r>
            <a:r>
              <a:rPr lang="en-IN" sz="2000"/>
              <a:t> 1-Tier Architecture can be easily deployed and hence it is mostly used in small projects.</a:t>
            </a:r>
            <a:endParaRPr/>
          </a:p>
          <a:p>
            <a:pPr indent="-228600" lvl="0" marL="342900" rtl="0" algn="l">
              <a:spcBef>
                <a:spcPts val="360"/>
              </a:spcBef>
              <a:spcAft>
                <a:spcPts val="0"/>
              </a:spcAft>
              <a:buClr>
                <a:schemeClr val="dk1"/>
              </a:buClr>
              <a:buSzPts val="1800"/>
              <a:buNone/>
            </a:pPr>
            <a:r>
              <a:t/>
            </a:r>
            <a:endParaRPr sz="1800"/>
          </a:p>
        </p:txBody>
      </p:sp>
      <p:sp>
        <p:nvSpPr>
          <p:cNvPr id="62" name="Google Shape;62;p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sz="3200"/>
            </a:br>
            <a:r>
              <a:rPr b="1" lang="en-IN" sz="3200"/>
              <a:t>Disadvantages of 1-Tier Architecture</a:t>
            </a:r>
            <a:br>
              <a:rPr b="1" lang="en-IN" sz="3200"/>
            </a:br>
            <a:endParaRPr/>
          </a:p>
        </p:txBody>
      </p:sp>
      <p:sp>
        <p:nvSpPr>
          <p:cNvPr id="68" name="Google Shape;68;p5"/>
          <p:cNvSpPr txBox="1"/>
          <p:nvPr>
            <p:ph idx="1" type="body"/>
          </p:nvPr>
        </p:nvSpPr>
        <p:spPr>
          <a:xfrm>
            <a:off x="457200" y="1143000"/>
            <a:ext cx="8229600" cy="53340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2000"/>
              <a:buChar char="•"/>
            </a:pPr>
            <a:r>
              <a:rPr b="1" lang="en-IN" sz="2000"/>
              <a:t>Limited to Single User:</a:t>
            </a:r>
            <a:r>
              <a:rPr lang="en-IN" sz="2000"/>
              <a:t> Only one person can use the application at a time. It’s not designed for multiple users or teamwork.</a:t>
            </a:r>
            <a:endParaRPr/>
          </a:p>
          <a:p>
            <a:pPr indent="-342900" lvl="0" marL="342900" rtl="0" algn="l">
              <a:lnSpc>
                <a:spcPct val="150000"/>
              </a:lnSpc>
              <a:spcBef>
                <a:spcPts val="400"/>
              </a:spcBef>
              <a:spcAft>
                <a:spcPts val="0"/>
              </a:spcAft>
              <a:buClr>
                <a:schemeClr val="dk1"/>
              </a:buClr>
              <a:buSzPts val="2000"/>
              <a:buChar char="•"/>
            </a:pPr>
            <a:r>
              <a:rPr b="1" lang="en-IN" sz="2000"/>
              <a:t>Poor Security:</a:t>
            </a:r>
            <a:r>
              <a:rPr lang="en-IN" sz="2000"/>
              <a:t> Since everything is on the same machine, if someone gets access to the system, they can access both the data and the application easily.</a:t>
            </a:r>
            <a:endParaRPr/>
          </a:p>
          <a:p>
            <a:pPr indent="-342900" lvl="0" marL="342900" rtl="0" algn="l">
              <a:lnSpc>
                <a:spcPct val="150000"/>
              </a:lnSpc>
              <a:spcBef>
                <a:spcPts val="400"/>
              </a:spcBef>
              <a:spcAft>
                <a:spcPts val="0"/>
              </a:spcAft>
              <a:buClr>
                <a:schemeClr val="dk1"/>
              </a:buClr>
              <a:buSzPts val="2000"/>
              <a:buChar char="•"/>
            </a:pPr>
            <a:r>
              <a:rPr b="1" lang="en-IN" sz="2000"/>
              <a:t>No Centralized Control:</a:t>
            </a:r>
            <a:r>
              <a:rPr lang="en-IN" sz="2000"/>
              <a:t> Data is stored locally, so there's no central database. This makes it hard to manage or back up data across multiple devices.</a:t>
            </a:r>
            <a:endParaRPr/>
          </a:p>
          <a:p>
            <a:pPr indent="-342900" lvl="0" marL="342900" rtl="0" algn="l">
              <a:lnSpc>
                <a:spcPct val="150000"/>
              </a:lnSpc>
              <a:spcBef>
                <a:spcPts val="400"/>
              </a:spcBef>
              <a:spcAft>
                <a:spcPts val="0"/>
              </a:spcAft>
              <a:buClr>
                <a:schemeClr val="dk1"/>
              </a:buClr>
              <a:buSzPts val="2000"/>
              <a:buChar char="•"/>
            </a:pPr>
            <a:r>
              <a:rPr b="1" lang="en-IN" sz="2000"/>
              <a:t>Hard to Share Data:</a:t>
            </a:r>
            <a:r>
              <a:rPr lang="en-IN" sz="2000"/>
              <a:t> Sharing data between users is difficult because everything is stored on one computer.</a:t>
            </a:r>
            <a:endParaRPr/>
          </a:p>
          <a:p>
            <a:pPr indent="-139700" lvl="0" marL="342900" rtl="0" algn="l">
              <a:spcBef>
                <a:spcPts val="640"/>
              </a:spcBef>
              <a:spcAft>
                <a:spcPts val="0"/>
              </a:spcAft>
              <a:buClr>
                <a:schemeClr val="dk1"/>
              </a:buClr>
              <a:buSzPts val="3200"/>
              <a:buNone/>
            </a:pPr>
            <a:r>
              <a:t/>
            </a:r>
            <a:endParaRPr/>
          </a:p>
        </p:txBody>
      </p:sp>
      <p:sp>
        <p:nvSpPr>
          <p:cNvPr id="69" name="Google Shape;69;p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a:br>
            <a:r>
              <a:rPr b="1" lang="en-IN"/>
              <a:t>2-Tier Architecture</a:t>
            </a:r>
            <a:br>
              <a:rPr b="1" lang="en-IN"/>
            </a:br>
            <a:endParaRPr/>
          </a:p>
        </p:txBody>
      </p:sp>
      <p:pic>
        <p:nvPicPr>
          <p:cNvPr id="75" name="Google Shape;75;p6"/>
          <p:cNvPicPr preferRelativeResize="0"/>
          <p:nvPr>
            <p:ph idx="1" type="body"/>
          </p:nvPr>
        </p:nvPicPr>
        <p:blipFill rotWithShape="1">
          <a:blip r:embed="rId3">
            <a:alphaModFix/>
          </a:blip>
          <a:srcRect b="0" l="0" r="0" t="0"/>
          <a:stretch/>
        </p:blipFill>
        <p:spPr>
          <a:xfrm>
            <a:off x="762000" y="1295400"/>
            <a:ext cx="7620000" cy="4800600"/>
          </a:xfrm>
          <a:prstGeom prst="rect">
            <a:avLst/>
          </a:prstGeom>
          <a:noFill/>
          <a:ln>
            <a:noFill/>
          </a:ln>
        </p:spPr>
      </p:pic>
      <p:sp>
        <p:nvSpPr>
          <p:cNvPr id="76" name="Google Shape;76;p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a:br>
            <a:r>
              <a:rPr b="1" lang="en-IN"/>
              <a:t>Advantages of 2-Tier Architecture</a:t>
            </a:r>
            <a:br>
              <a:rPr b="1" lang="en-IN"/>
            </a:br>
            <a:endParaRPr/>
          </a:p>
        </p:txBody>
      </p:sp>
      <p:sp>
        <p:nvSpPr>
          <p:cNvPr id="82" name="Google Shape;82;p7"/>
          <p:cNvSpPr txBox="1"/>
          <p:nvPr>
            <p:ph idx="1" type="body"/>
          </p:nvPr>
        </p:nvSpPr>
        <p:spPr>
          <a:xfrm>
            <a:off x="228600" y="1371600"/>
            <a:ext cx="86868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2000"/>
              <a:buChar char="•"/>
            </a:pPr>
            <a:r>
              <a:rPr b="1" lang="en-IN" sz="2000"/>
              <a:t>Easy to Access:</a:t>
            </a:r>
            <a:r>
              <a:rPr lang="en-IN" sz="2000"/>
              <a:t> 2-Tier Architecture makes easy access to the database, which makes fast retrieval.</a:t>
            </a:r>
            <a:endParaRPr/>
          </a:p>
          <a:p>
            <a:pPr indent="-342900" lvl="0" marL="342900" rtl="0" algn="l">
              <a:lnSpc>
                <a:spcPct val="150000"/>
              </a:lnSpc>
              <a:spcBef>
                <a:spcPts val="400"/>
              </a:spcBef>
              <a:spcAft>
                <a:spcPts val="0"/>
              </a:spcAft>
              <a:buClr>
                <a:schemeClr val="dk1"/>
              </a:buClr>
              <a:buSzPts val="2000"/>
              <a:buChar char="•"/>
            </a:pPr>
            <a:r>
              <a:rPr b="1" lang="en-IN" sz="2000"/>
              <a:t>Scalable:</a:t>
            </a:r>
            <a:r>
              <a:rPr lang="en-IN" sz="2000"/>
              <a:t> We can scale the database easily, by adding clients or upgrading hardware.</a:t>
            </a:r>
            <a:endParaRPr/>
          </a:p>
          <a:p>
            <a:pPr indent="-342900" lvl="0" marL="342900" rtl="0" algn="l">
              <a:lnSpc>
                <a:spcPct val="150000"/>
              </a:lnSpc>
              <a:spcBef>
                <a:spcPts val="400"/>
              </a:spcBef>
              <a:spcAft>
                <a:spcPts val="0"/>
              </a:spcAft>
              <a:buClr>
                <a:schemeClr val="dk1"/>
              </a:buClr>
              <a:buSzPts val="2000"/>
              <a:buChar char="•"/>
            </a:pPr>
            <a:r>
              <a:rPr b="1" lang="en-IN" sz="2000"/>
              <a:t>Low Cost:</a:t>
            </a:r>
            <a:r>
              <a:rPr lang="en-IN" sz="2000"/>
              <a:t> 2-Tier Architecture is cheaper than 3-Tier Architecture and </a:t>
            </a:r>
            <a:r>
              <a:rPr lang="en-IN" sz="2000" u="sng">
                <a:solidFill>
                  <a:schemeClr val="hlink"/>
                </a:solidFill>
                <a:hlinkClick r:id="rId3"/>
              </a:rPr>
              <a:t>Multi-Tier Architecture</a:t>
            </a:r>
            <a:r>
              <a:rPr lang="en-IN" sz="2000"/>
              <a:t>.</a:t>
            </a:r>
            <a:endParaRPr/>
          </a:p>
          <a:p>
            <a:pPr indent="-342900" lvl="0" marL="342900" rtl="0" algn="l">
              <a:lnSpc>
                <a:spcPct val="150000"/>
              </a:lnSpc>
              <a:spcBef>
                <a:spcPts val="400"/>
              </a:spcBef>
              <a:spcAft>
                <a:spcPts val="0"/>
              </a:spcAft>
              <a:buClr>
                <a:schemeClr val="dk1"/>
              </a:buClr>
              <a:buSzPts val="2000"/>
              <a:buChar char="•"/>
            </a:pPr>
            <a:r>
              <a:rPr b="1" lang="en-IN" sz="2000"/>
              <a:t>Easy Deployment:</a:t>
            </a:r>
            <a:r>
              <a:rPr lang="en-IN" sz="2000"/>
              <a:t> 2-Tier Architecture is easier to deploy than 3-Tier Architecture.</a:t>
            </a:r>
            <a:endParaRPr/>
          </a:p>
          <a:p>
            <a:pPr indent="-342900" lvl="0" marL="342900" rtl="0" algn="l">
              <a:lnSpc>
                <a:spcPct val="150000"/>
              </a:lnSpc>
              <a:spcBef>
                <a:spcPts val="400"/>
              </a:spcBef>
              <a:spcAft>
                <a:spcPts val="0"/>
              </a:spcAft>
              <a:buClr>
                <a:schemeClr val="dk1"/>
              </a:buClr>
              <a:buSzPts val="2000"/>
              <a:buChar char="•"/>
            </a:pPr>
            <a:r>
              <a:rPr b="1" lang="en-IN" sz="2000"/>
              <a:t>Simple:</a:t>
            </a:r>
            <a:r>
              <a:rPr lang="en-IN" sz="2000"/>
              <a:t> 2-Tier Architecture is easily understandable as well as simple because of only two components.</a:t>
            </a:r>
            <a:endParaRPr/>
          </a:p>
          <a:p>
            <a:pPr indent="-139700" lvl="0" marL="342900" rtl="0" algn="l">
              <a:spcBef>
                <a:spcPts val="640"/>
              </a:spcBef>
              <a:spcAft>
                <a:spcPts val="0"/>
              </a:spcAft>
              <a:buClr>
                <a:schemeClr val="dk1"/>
              </a:buClr>
              <a:buSzPts val="3200"/>
              <a:buNone/>
            </a:pPr>
            <a:r>
              <a:t/>
            </a:r>
            <a:endParaRPr/>
          </a:p>
        </p:txBody>
      </p:sp>
      <p:sp>
        <p:nvSpPr>
          <p:cNvPr id="83" name="Google Shape;83;p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a:br>
            <a:r>
              <a:rPr b="1" lang="en-IN"/>
              <a:t>Disadvantages of 2-Tier Architecture</a:t>
            </a:r>
            <a:br>
              <a:rPr b="1" lang="en-IN"/>
            </a:br>
            <a:endParaRPr/>
          </a:p>
        </p:txBody>
      </p:sp>
      <p:sp>
        <p:nvSpPr>
          <p:cNvPr id="89" name="Google Shape;89;p8"/>
          <p:cNvSpPr txBox="1"/>
          <p:nvPr>
            <p:ph idx="1" type="body"/>
          </p:nvPr>
        </p:nvSpPr>
        <p:spPr>
          <a:xfrm>
            <a:off x="152400" y="990600"/>
            <a:ext cx="8839200" cy="5486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2000"/>
              <a:buChar char="•"/>
            </a:pPr>
            <a:r>
              <a:rPr b="1" lang="en-IN" sz="2000"/>
              <a:t>Limited Scalability:</a:t>
            </a:r>
            <a:r>
              <a:rPr lang="en-IN" sz="2000"/>
              <a:t> As the number of users increases, the system performance can slow down because the server gets overloaded with too many requests.</a:t>
            </a:r>
            <a:endParaRPr/>
          </a:p>
          <a:p>
            <a:pPr indent="-342900" lvl="0" marL="342900" rtl="0" algn="l">
              <a:lnSpc>
                <a:spcPct val="150000"/>
              </a:lnSpc>
              <a:spcBef>
                <a:spcPts val="400"/>
              </a:spcBef>
              <a:spcAft>
                <a:spcPts val="0"/>
              </a:spcAft>
              <a:buClr>
                <a:schemeClr val="dk1"/>
              </a:buClr>
              <a:buSzPts val="2000"/>
              <a:buChar char="•"/>
            </a:pPr>
            <a:r>
              <a:rPr b="1" lang="en-IN" sz="2000"/>
              <a:t>Security Issues:</a:t>
            </a:r>
            <a:r>
              <a:rPr lang="en-IN" sz="2000"/>
              <a:t> Clients connect directly to the database, which can make the system more vulnerable to attacks or data leaks.</a:t>
            </a:r>
            <a:endParaRPr/>
          </a:p>
          <a:p>
            <a:pPr indent="-342900" lvl="0" marL="342900" rtl="0" algn="l">
              <a:lnSpc>
                <a:spcPct val="150000"/>
              </a:lnSpc>
              <a:spcBef>
                <a:spcPts val="400"/>
              </a:spcBef>
              <a:spcAft>
                <a:spcPts val="0"/>
              </a:spcAft>
              <a:buClr>
                <a:schemeClr val="dk1"/>
              </a:buClr>
              <a:buSzPts val="2000"/>
              <a:buChar char="•"/>
            </a:pPr>
            <a:r>
              <a:rPr b="1" lang="en-IN" sz="2000"/>
              <a:t>Tight Coupling:</a:t>
            </a:r>
            <a:r>
              <a:rPr lang="en-IN" sz="2000"/>
              <a:t> The client and the server are closely linked. If the database changes, the client application often needs to be updated too.</a:t>
            </a:r>
            <a:endParaRPr/>
          </a:p>
          <a:p>
            <a:pPr indent="-342900" lvl="0" marL="342900" rtl="0" algn="l">
              <a:lnSpc>
                <a:spcPct val="150000"/>
              </a:lnSpc>
              <a:spcBef>
                <a:spcPts val="400"/>
              </a:spcBef>
              <a:spcAft>
                <a:spcPts val="0"/>
              </a:spcAft>
              <a:buClr>
                <a:schemeClr val="dk1"/>
              </a:buClr>
              <a:buSzPts val="2000"/>
              <a:buChar char="•"/>
            </a:pPr>
            <a:r>
              <a:rPr b="1" lang="en-IN" sz="2000"/>
              <a:t>Difficult Maintenance:</a:t>
            </a:r>
            <a:r>
              <a:rPr lang="en-IN" sz="2000"/>
              <a:t> Managing updates, fixing bugs, or adding features becomes harder when the number of users or systems increases.</a:t>
            </a:r>
            <a:endParaRPr/>
          </a:p>
          <a:p>
            <a:pPr indent="-139700" lvl="0" marL="342900" rtl="0" algn="l">
              <a:spcBef>
                <a:spcPts val="640"/>
              </a:spcBef>
              <a:spcAft>
                <a:spcPts val="0"/>
              </a:spcAft>
              <a:buClr>
                <a:schemeClr val="dk1"/>
              </a:buClr>
              <a:buSzPts val="3200"/>
              <a:buNone/>
            </a:pPr>
            <a:r>
              <a:t/>
            </a:r>
            <a:endParaRPr/>
          </a:p>
        </p:txBody>
      </p:sp>
      <p:sp>
        <p:nvSpPr>
          <p:cNvPr id="90" name="Google Shape;90;p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9"/>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a:br>
            <a:r>
              <a:rPr b="1" lang="en-IN"/>
              <a:t>3-Tier Architecture</a:t>
            </a:r>
            <a:br>
              <a:rPr b="1" lang="en-IN"/>
            </a:br>
            <a:endParaRPr/>
          </a:p>
        </p:txBody>
      </p:sp>
      <p:pic>
        <p:nvPicPr>
          <p:cNvPr id="96" name="Google Shape;96;p9"/>
          <p:cNvPicPr preferRelativeResize="0"/>
          <p:nvPr>
            <p:ph idx="1" type="body"/>
          </p:nvPr>
        </p:nvPicPr>
        <p:blipFill rotWithShape="1">
          <a:blip r:embed="rId3">
            <a:alphaModFix/>
          </a:blip>
          <a:srcRect b="0" l="0" r="0" t="0"/>
          <a:stretch/>
        </p:blipFill>
        <p:spPr>
          <a:xfrm>
            <a:off x="762000" y="1219200"/>
            <a:ext cx="8077200" cy="4724400"/>
          </a:xfrm>
          <a:prstGeom prst="rect">
            <a:avLst/>
          </a:prstGeom>
          <a:noFill/>
          <a:ln>
            <a:noFill/>
          </a:ln>
        </p:spPr>
      </p:pic>
      <p:sp>
        <p:nvSpPr>
          <p:cNvPr id="97" name="Google Shape;97;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lang="en-IN"/>
            </a:br>
            <a:r>
              <a:rPr lang="en-IN"/>
              <a:t>Advantages of 3-Tier Architecture</a:t>
            </a:r>
            <a:br>
              <a:rPr lang="en-IN"/>
            </a:br>
            <a:endParaRPr/>
          </a:p>
        </p:txBody>
      </p:sp>
      <p:sp>
        <p:nvSpPr>
          <p:cNvPr id="103" name="Google Shape;103;p10"/>
          <p:cNvSpPr txBox="1"/>
          <p:nvPr>
            <p:ph idx="1" type="body"/>
          </p:nvPr>
        </p:nvSpPr>
        <p:spPr>
          <a:xfrm>
            <a:off x="152400" y="914400"/>
            <a:ext cx="8534400" cy="4983163"/>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2000"/>
              <a:buChar char="•"/>
            </a:pPr>
            <a:r>
              <a:rPr lang="en-IN" sz="2000"/>
              <a:t>Enhanced scalability: Scalability is enhanced due to the distributed deployment of application servers. Now, individual connections need not be made between the client and server.</a:t>
            </a:r>
            <a:endParaRPr/>
          </a:p>
          <a:p>
            <a:pPr indent="-342900" lvl="0" marL="342900" rtl="0" algn="l">
              <a:lnSpc>
                <a:spcPct val="150000"/>
              </a:lnSpc>
              <a:spcBef>
                <a:spcPts val="400"/>
              </a:spcBef>
              <a:spcAft>
                <a:spcPts val="0"/>
              </a:spcAft>
              <a:buClr>
                <a:schemeClr val="dk1"/>
              </a:buClr>
              <a:buSzPts val="2000"/>
              <a:buChar char="•"/>
            </a:pPr>
            <a:r>
              <a:rPr lang="en-IN" sz="2000"/>
              <a:t>Data Integrity: 3-Tier Architecture maintains Data Integrity. Since there is a middle layer between the client and the server, data corruption can be avoided/removed.</a:t>
            </a:r>
            <a:endParaRPr/>
          </a:p>
          <a:p>
            <a:pPr indent="-342900" lvl="0" marL="342900" rtl="0" algn="l">
              <a:lnSpc>
                <a:spcPct val="150000"/>
              </a:lnSpc>
              <a:spcBef>
                <a:spcPts val="400"/>
              </a:spcBef>
              <a:spcAft>
                <a:spcPts val="0"/>
              </a:spcAft>
              <a:buClr>
                <a:schemeClr val="dk1"/>
              </a:buClr>
              <a:buSzPts val="2000"/>
              <a:buChar char="•"/>
            </a:pPr>
            <a:r>
              <a:rPr lang="en-IN" sz="2000"/>
              <a:t>Security: 3-Tier Architecture Improves Security. This type of model prevents direct interaction of the client with the server thereby reducing access to unauthorized data.</a:t>
            </a:r>
            <a:endParaRPr/>
          </a:p>
        </p:txBody>
      </p:sp>
      <p:sp>
        <p:nvSpPr>
          <p:cNvPr id="104" name="Google Shape;10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a:br>
            <a:r>
              <a:rPr b="1" lang="en-IN"/>
              <a:t>Disadvantages of 3-Tier Architecture</a:t>
            </a:r>
            <a:br>
              <a:rPr b="1" lang="en-IN"/>
            </a:br>
            <a:endParaRPr/>
          </a:p>
        </p:txBody>
      </p:sp>
      <p:sp>
        <p:nvSpPr>
          <p:cNvPr id="110" name="Google Shape;110;p11"/>
          <p:cNvSpPr txBox="1"/>
          <p:nvPr>
            <p:ph idx="1" type="body"/>
          </p:nvPr>
        </p:nvSpPr>
        <p:spPr>
          <a:xfrm>
            <a:off x="152400" y="1066800"/>
            <a:ext cx="8763000" cy="55626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b="1" lang="en-IN" sz="2000"/>
              <a:t>More Complex:</a:t>
            </a:r>
            <a:r>
              <a:rPr lang="en-IN" sz="2000"/>
              <a:t> 3-Tier Architecture is more complex in comparison to 2-Tier Architecture. Communication Points are also doubled in 3-Tier Architecture.</a:t>
            </a:r>
            <a:endParaRPr/>
          </a:p>
          <a:p>
            <a:pPr indent="-342900" lvl="0" marL="342900" rtl="0" algn="just">
              <a:lnSpc>
                <a:spcPct val="150000"/>
              </a:lnSpc>
              <a:spcBef>
                <a:spcPts val="400"/>
              </a:spcBef>
              <a:spcAft>
                <a:spcPts val="0"/>
              </a:spcAft>
              <a:buClr>
                <a:schemeClr val="dk1"/>
              </a:buClr>
              <a:buSzPts val="2000"/>
              <a:buChar char="•"/>
            </a:pPr>
            <a:r>
              <a:rPr b="1" lang="en-IN" sz="2000"/>
              <a:t>Difficult to Interact:</a:t>
            </a:r>
            <a:r>
              <a:rPr lang="en-IN" sz="2000"/>
              <a:t> It becomes difficult for this sort of interaction to take place due to the presence of middle layers.</a:t>
            </a:r>
            <a:endParaRPr/>
          </a:p>
          <a:p>
            <a:pPr indent="-342900" lvl="0" marL="342900" rtl="0" algn="just">
              <a:lnSpc>
                <a:spcPct val="150000"/>
              </a:lnSpc>
              <a:spcBef>
                <a:spcPts val="400"/>
              </a:spcBef>
              <a:spcAft>
                <a:spcPts val="0"/>
              </a:spcAft>
              <a:buClr>
                <a:schemeClr val="dk1"/>
              </a:buClr>
              <a:buSzPts val="2000"/>
              <a:buChar char="•"/>
            </a:pPr>
            <a:r>
              <a:rPr b="1" lang="en-IN" sz="2000"/>
              <a:t>Slower Response Time:</a:t>
            </a:r>
            <a:r>
              <a:rPr lang="en-IN" sz="2000"/>
              <a:t> Since the request passes through an extra layer (application server), it may take more time to get a response compared to 2-Tier systems.</a:t>
            </a:r>
            <a:endParaRPr/>
          </a:p>
          <a:p>
            <a:pPr indent="-342900" lvl="0" marL="342900" rtl="0" algn="just">
              <a:lnSpc>
                <a:spcPct val="150000"/>
              </a:lnSpc>
              <a:spcBef>
                <a:spcPts val="400"/>
              </a:spcBef>
              <a:spcAft>
                <a:spcPts val="0"/>
              </a:spcAft>
              <a:buClr>
                <a:schemeClr val="dk1"/>
              </a:buClr>
              <a:buSzPts val="2000"/>
              <a:buChar char="•"/>
            </a:pPr>
            <a:r>
              <a:rPr b="1" lang="en-IN" sz="2000"/>
              <a:t>Higher Cost:</a:t>
            </a:r>
            <a:r>
              <a:rPr lang="en-IN" sz="2000"/>
              <a:t> Setting up and maintaining three separate layers (client, server and database) requires more hardware, software and skilled people. This makes it more expensive.</a:t>
            </a:r>
            <a:endParaRPr/>
          </a:p>
          <a:p>
            <a:pPr indent="-139700" lvl="0" marL="342900" rtl="0" algn="l">
              <a:spcBef>
                <a:spcPts val="640"/>
              </a:spcBef>
              <a:spcAft>
                <a:spcPts val="0"/>
              </a:spcAft>
              <a:buClr>
                <a:schemeClr val="dk1"/>
              </a:buClr>
              <a:buSzPts val="3200"/>
              <a:buNone/>
            </a:pPr>
            <a:r>
              <a:t/>
            </a:r>
            <a:endParaRPr/>
          </a:p>
        </p:txBody>
      </p:sp>
      <p:sp>
        <p:nvSpPr>
          <p:cNvPr id="111" name="Google Shape;11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a:br>
            <a:r>
              <a:rPr b="1" lang="en-IN"/>
              <a:t>Introduction of ER Model</a:t>
            </a:r>
            <a:br>
              <a:rPr b="1" lang="en-IN"/>
            </a:br>
            <a:endParaRPr/>
          </a:p>
        </p:txBody>
      </p:sp>
      <p:sp>
        <p:nvSpPr>
          <p:cNvPr id="117" name="Google Shape;117;p12"/>
          <p:cNvSpPr txBox="1"/>
          <p:nvPr>
            <p:ph idx="1" type="body"/>
          </p:nvPr>
        </p:nvSpPr>
        <p:spPr>
          <a:xfrm>
            <a:off x="152400" y="1066800"/>
            <a:ext cx="8686800" cy="4830763"/>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lang="en-IN" sz="2000"/>
              <a:t>The Entity-Relationship Model (ER Model) is a conceptual model for designing a databases. This model represents the logical structure of a database, including entities, their attributes and relationships between them.</a:t>
            </a:r>
            <a:endParaRPr/>
          </a:p>
          <a:p>
            <a:pPr indent="-342900" lvl="0" marL="342900" rtl="0" algn="just">
              <a:lnSpc>
                <a:spcPct val="150000"/>
              </a:lnSpc>
              <a:spcBef>
                <a:spcPts val="400"/>
              </a:spcBef>
              <a:spcAft>
                <a:spcPts val="0"/>
              </a:spcAft>
              <a:buClr>
                <a:schemeClr val="dk1"/>
              </a:buClr>
              <a:buSzPts val="2000"/>
              <a:buChar char="•"/>
            </a:pPr>
            <a:r>
              <a:rPr b="1" lang="en-IN" sz="2000"/>
              <a:t>Entity:</a:t>
            </a:r>
            <a:r>
              <a:rPr lang="en-IN" sz="2000"/>
              <a:t> An objects that is stored as data such as </a:t>
            </a:r>
            <a:r>
              <a:rPr i="1" lang="en-IN" sz="2000"/>
              <a:t>Student</a:t>
            </a:r>
            <a:r>
              <a:rPr lang="en-IN" sz="2000"/>
              <a:t>, </a:t>
            </a:r>
            <a:r>
              <a:rPr i="1" lang="en-IN" sz="2000"/>
              <a:t>Course</a:t>
            </a:r>
            <a:r>
              <a:rPr lang="en-IN" sz="2000"/>
              <a:t> or </a:t>
            </a:r>
            <a:r>
              <a:rPr i="1" lang="en-IN" sz="2000"/>
              <a:t>Company</a:t>
            </a:r>
            <a:r>
              <a:rPr lang="en-IN" sz="2000"/>
              <a:t>.</a:t>
            </a:r>
            <a:endParaRPr/>
          </a:p>
          <a:p>
            <a:pPr indent="-342900" lvl="0" marL="342900" rtl="0" algn="just">
              <a:lnSpc>
                <a:spcPct val="150000"/>
              </a:lnSpc>
              <a:spcBef>
                <a:spcPts val="400"/>
              </a:spcBef>
              <a:spcAft>
                <a:spcPts val="0"/>
              </a:spcAft>
              <a:buClr>
                <a:schemeClr val="dk1"/>
              </a:buClr>
              <a:buSzPts val="2000"/>
              <a:buChar char="•"/>
            </a:pPr>
            <a:r>
              <a:rPr b="1" lang="en-IN" sz="2000"/>
              <a:t>Attribute: </a:t>
            </a:r>
            <a:r>
              <a:rPr lang="en-IN" sz="2000"/>
              <a:t>Properties that describes an entity such as </a:t>
            </a:r>
            <a:r>
              <a:rPr i="1" lang="en-IN" sz="2000"/>
              <a:t>StudentID</a:t>
            </a:r>
            <a:r>
              <a:rPr lang="en-IN" sz="2000"/>
              <a:t>, </a:t>
            </a:r>
            <a:r>
              <a:rPr i="1" lang="en-IN" sz="2000"/>
              <a:t>CourseName</a:t>
            </a:r>
            <a:r>
              <a:rPr lang="en-IN" sz="2000"/>
              <a:t>, or </a:t>
            </a:r>
            <a:r>
              <a:rPr i="1" lang="en-IN" sz="2000"/>
              <a:t>EmployeeEmail</a:t>
            </a:r>
            <a:r>
              <a:rPr lang="en-IN" sz="2000"/>
              <a:t>.</a:t>
            </a:r>
            <a:endParaRPr/>
          </a:p>
          <a:p>
            <a:pPr indent="-342900" lvl="0" marL="342900" rtl="0" algn="just">
              <a:lnSpc>
                <a:spcPct val="150000"/>
              </a:lnSpc>
              <a:spcBef>
                <a:spcPts val="400"/>
              </a:spcBef>
              <a:spcAft>
                <a:spcPts val="0"/>
              </a:spcAft>
              <a:buClr>
                <a:schemeClr val="dk1"/>
              </a:buClr>
              <a:buSzPts val="2000"/>
              <a:buChar char="•"/>
            </a:pPr>
            <a:r>
              <a:rPr b="1" lang="en-IN" sz="2000"/>
              <a:t>Relationship:</a:t>
            </a:r>
            <a:r>
              <a:rPr lang="en-IN" sz="2000"/>
              <a:t> A connection between entities such as "a </a:t>
            </a:r>
            <a:r>
              <a:rPr i="1" lang="en-IN" sz="2000"/>
              <a:t>Student</a:t>
            </a:r>
            <a:r>
              <a:rPr lang="en-IN" sz="2000"/>
              <a:t> enrolls in a </a:t>
            </a:r>
            <a:r>
              <a:rPr i="1" lang="en-IN" sz="2000"/>
              <a:t>Course</a:t>
            </a:r>
            <a:r>
              <a:rPr lang="en-IN" sz="2000"/>
              <a:t>".</a:t>
            </a:r>
            <a:endParaRPr/>
          </a:p>
          <a:p>
            <a:pPr indent="-139700" lvl="0" marL="342900" rtl="0" algn="l">
              <a:spcBef>
                <a:spcPts val="640"/>
              </a:spcBef>
              <a:spcAft>
                <a:spcPts val="0"/>
              </a:spcAft>
              <a:buClr>
                <a:schemeClr val="dk1"/>
              </a:buClr>
              <a:buSzPts val="3200"/>
              <a:buNone/>
            </a:pPr>
            <a:r>
              <a:t/>
            </a:r>
            <a:endParaRPr/>
          </a:p>
        </p:txBody>
      </p:sp>
      <p:sp>
        <p:nvSpPr>
          <p:cNvPr id="118" name="Google Shape;11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pic>
        <p:nvPicPr>
          <p:cNvPr id="124" name="Google Shape;124;p13"/>
          <p:cNvPicPr preferRelativeResize="0"/>
          <p:nvPr>
            <p:ph idx="1" type="body"/>
          </p:nvPr>
        </p:nvPicPr>
        <p:blipFill rotWithShape="1">
          <a:blip r:embed="rId3">
            <a:alphaModFix/>
          </a:blip>
          <a:srcRect b="0" l="0" r="0" t="0"/>
          <a:stretch/>
        </p:blipFill>
        <p:spPr>
          <a:xfrm>
            <a:off x="457200" y="914400"/>
            <a:ext cx="8229600" cy="4337297"/>
          </a:xfrm>
          <a:prstGeom prst="rect">
            <a:avLst/>
          </a:prstGeom>
          <a:noFill/>
          <a:ln>
            <a:noFill/>
          </a:ln>
        </p:spPr>
      </p:pic>
      <p:sp>
        <p:nvSpPr>
          <p:cNvPr id="125" name="Google Shape;12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Symbols Used in E-R Model</a:t>
            </a:r>
            <a:endParaRPr/>
          </a:p>
        </p:txBody>
      </p:sp>
      <p:pic>
        <p:nvPicPr>
          <p:cNvPr id="131" name="Google Shape;131;p14"/>
          <p:cNvPicPr preferRelativeResize="0"/>
          <p:nvPr>
            <p:ph idx="1" type="body"/>
          </p:nvPr>
        </p:nvPicPr>
        <p:blipFill rotWithShape="1">
          <a:blip r:embed="rId3">
            <a:alphaModFix/>
          </a:blip>
          <a:srcRect b="0" l="0" r="0" t="0"/>
          <a:stretch/>
        </p:blipFill>
        <p:spPr>
          <a:xfrm>
            <a:off x="914400" y="990600"/>
            <a:ext cx="7315200" cy="4653756"/>
          </a:xfrm>
          <a:prstGeom prst="rect">
            <a:avLst/>
          </a:prstGeom>
          <a:noFill/>
          <a:ln>
            <a:noFill/>
          </a:ln>
        </p:spPr>
      </p:pic>
      <p:sp>
        <p:nvSpPr>
          <p:cNvPr id="132" name="Google Shape;1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5"/>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Components of E-R Diagram</a:t>
            </a:r>
            <a:endParaRPr/>
          </a:p>
        </p:txBody>
      </p:sp>
      <p:pic>
        <p:nvPicPr>
          <p:cNvPr id="138" name="Google Shape;138;p15"/>
          <p:cNvPicPr preferRelativeResize="0"/>
          <p:nvPr/>
        </p:nvPicPr>
        <p:blipFill rotWithShape="1">
          <a:blip r:embed="rId3">
            <a:alphaModFix/>
          </a:blip>
          <a:srcRect b="0" l="0" r="0" t="0"/>
          <a:stretch/>
        </p:blipFill>
        <p:spPr>
          <a:xfrm>
            <a:off x="563075" y="1181100"/>
            <a:ext cx="8288925" cy="5529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sz="3200"/>
            </a:br>
            <a:r>
              <a:rPr b="1" lang="en-IN" sz="3200"/>
              <a:t>What is an Entity?</a:t>
            </a:r>
            <a:br>
              <a:rPr b="1" lang="en-IN" sz="3200"/>
            </a:br>
            <a:endParaRPr/>
          </a:p>
        </p:txBody>
      </p:sp>
      <p:sp>
        <p:nvSpPr>
          <p:cNvPr id="144" name="Google Shape;144;p16"/>
          <p:cNvSpPr txBox="1"/>
          <p:nvPr>
            <p:ph idx="1" type="body"/>
          </p:nvPr>
        </p:nvSpPr>
        <p:spPr>
          <a:xfrm>
            <a:off x="304800" y="1066800"/>
            <a:ext cx="8610600" cy="4830763"/>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lang="en-IN" sz="2000"/>
              <a:t>An Entity represents a real-world object, concept or thing about which data is stored in a database. It act as a building block of a database. Tables in relational database represent these entities.</a:t>
            </a:r>
            <a:endParaRPr/>
          </a:p>
          <a:p>
            <a:pPr indent="-342900" lvl="0" marL="342900" rtl="0" algn="just">
              <a:lnSpc>
                <a:spcPct val="150000"/>
              </a:lnSpc>
              <a:spcBef>
                <a:spcPts val="400"/>
              </a:spcBef>
              <a:spcAft>
                <a:spcPts val="0"/>
              </a:spcAft>
              <a:buClr>
                <a:schemeClr val="dk1"/>
              </a:buClr>
              <a:buSzPts val="2000"/>
              <a:buChar char="•"/>
            </a:pPr>
            <a:r>
              <a:rPr lang="en-IN" sz="2000"/>
              <a:t>Example of entities:</a:t>
            </a:r>
            <a:endParaRPr/>
          </a:p>
          <a:p>
            <a:pPr indent="-342900" lvl="0" marL="342900" rtl="0" algn="just">
              <a:lnSpc>
                <a:spcPct val="150000"/>
              </a:lnSpc>
              <a:spcBef>
                <a:spcPts val="400"/>
              </a:spcBef>
              <a:spcAft>
                <a:spcPts val="0"/>
              </a:spcAft>
              <a:buClr>
                <a:schemeClr val="dk1"/>
              </a:buClr>
              <a:buSzPts val="2000"/>
              <a:buChar char="•"/>
            </a:pPr>
            <a:r>
              <a:rPr b="1" lang="en-IN" sz="2000"/>
              <a:t>Real-World Objects:</a:t>
            </a:r>
            <a:r>
              <a:rPr lang="en-IN" sz="2000"/>
              <a:t> Person, Car, Employee etc.</a:t>
            </a:r>
            <a:endParaRPr/>
          </a:p>
          <a:p>
            <a:pPr indent="-342900" lvl="0" marL="342900" rtl="0" algn="just">
              <a:lnSpc>
                <a:spcPct val="150000"/>
              </a:lnSpc>
              <a:spcBef>
                <a:spcPts val="400"/>
              </a:spcBef>
              <a:spcAft>
                <a:spcPts val="0"/>
              </a:spcAft>
              <a:buClr>
                <a:schemeClr val="dk1"/>
              </a:buClr>
              <a:buSzPts val="2000"/>
              <a:buChar char="•"/>
            </a:pPr>
            <a:r>
              <a:rPr b="1" lang="en-IN" sz="2000"/>
              <a:t>Concepts: </a:t>
            </a:r>
            <a:r>
              <a:rPr lang="en-IN" sz="2000"/>
              <a:t>Course, Event, Reservation etc.</a:t>
            </a:r>
            <a:endParaRPr/>
          </a:p>
          <a:p>
            <a:pPr indent="-342900" lvl="0" marL="342900" rtl="0" algn="just">
              <a:lnSpc>
                <a:spcPct val="150000"/>
              </a:lnSpc>
              <a:spcBef>
                <a:spcPts val="400"/>
              </a:spcBef>
              <a:spcAft>
                <a:spcPts val="0"/>
              </a:spcAft>
              <a:buClr>
                <a:schemeClr val="dk1"/>
              </a:buClr>
              <a:buSzPts val="2000"/>
              <a:buChar char="•"/>
            </a:pPr>
            <a:r>
              <a:rPr b="1" lang="en-IN" sz="2000"/>
              <a:t>Things: </a:t>
            </a:r>
            <a:r>
              <a:rPr lang="en-IN" sz="2000"/>
              <a:t>Product, Document, Device etc.</a:t>
            </a:r>
            <a:endParaRPr/>
          </a:p>
          <a:p>
            <a:pPr indent="-342900" lvl="0" marL="342900" rtl="0" algn="just">
              <a:lnSpc>
                <a:spcPct val="150000"/>
              </a:lnSpc>
              <a:spcBef>
                <a:spcPts val="400"/>
              </a:spcBef>
              <a:spcAft>
                <a:spcPts val="0"/>
              </a:spcAft>
              <a:buClr>
                <a:schemeClr val="dk1"/>
              </a:buClr>
              <a:buSzPts val="2000"/>
              <a:buChar char="•"/>
            </a:pPr>
            <a:r>
              <a:rPr lang="en-IN" sz="2000"/>
              <a:t>The entity type defines the structure of an entity, while individual instances of that type represent specific entities.</a:t>
            </a:r>
            <a:endParaRPr/>
          </a:p>
          <a:p>
            <a:pPr indent="-139700" lvl="0" marL="342900" rtl="0" algn="l">
              <a:spcBef>
                <a:spcPts val="640"/>
              </a:spcBef>
              <a:spcAft>
                <a:spcPts val="0"/>
              </a:spcAft>
              <a:buClr>
                <a:schemeClr val="dk1"/>
              </a:buClr>
              <a:buSzPts val="3200"/>
              <a:buNone/>
            </a:pPr>
            <a:r>
              <a:t/>
            </a:r>
            <a:endParaRPr/>
          </a:p>
        </p:txBody>
      </p:sp>
      <p:sp>
        <p:nvSpPr>
          <p:cNvPr id="145" name="Google Shape;145;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Entity and Entity Set</a:t>
            </a:r>
            <a:endParaRPr/>
          </a:p>
        </p:txBody>
      </p:sp>
      <p:pic>
        <p:nvPicPr>
          <p:cNvPr id="151" name="Google Shape;151;p17"/>
          <p:cNvPicPr preferRelativeResize="0"/>
          <p:nvPr>
            <p:ph idx="1" type="body"/>
          </p:nvPr>
        </p:nvPicPr>
        <p:blipFill rotWithShape="1">
          <a:blip r:embed="rId3">
            <a:alphaModFix/>
          </a:blip>
          <a:srcRect b="0" l="0" r="0" t="0"/>
          <a:stretch/>
        </p:blipFill>
        <p:spPr>
          <a:xfrm>
            <a:off x="5638800" y="1362075"/>
            <a:ext cx="2352675" cy="4133850"/>
          </a:xfrm>
          <a:prstGeom prst="rect">
            <a:avLst/>
          </a:prstGeom>
          <a:noFill/>
          <a:ln>
            <a:noFill/>
          </a:ln>
        </p:spPr>
      </p:pic>
      <p:sp>
        <p:nvSpPr>
          <p:cNvPr id="152" name="Google Shape;15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53" name="Google Shape;153;p17"/>
          <p:cNvSpPr txBox="1"/>
          <p:nvPr/>
        </p:nvSpPr>
        <p:spPr>
          <a:xfrm>
            <a:off x="228600" y="1447800"/>
            <a:ext cx="5050220" cy="327628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273239"/>
              </a:buClr>
              <a:buSzPts val="2000"/>
              <a:buFont typeface="Calibri"/>
              <a:buNone/>
            </a:pPr>
            <a:r>
              <a:rPr b="1" i="0" lang="en-IN" sz="2000">
                <a:solidFill>
                  <a:srgbClr val="273239"/>
                </a:solidFill>
                <a:latin typeface="Calibri"/>
                <a:ea typeface="Calibri"/>
                <a:cs typeface="Calibri"/>
                <a:sym typeface="Calibri"/>
              </a:rPr>
              <a:t>What is an Entity Set?</a:t>
            </a:r>
            <a:endParaRPr/>
          </a:p>
          <a:p>
            <a:pPr indent="0" lvl="0" marL="0" marR="0" rtl="0" algn="just">
              <a:lnSpc>
                <a:spcPct val="150000"/>
              </a:lnSpc>
              <a:spcBef>
                <a:spcPts val="0"/>
              </a:spcBef>
              <a:spcAft>
                <a:spcPts val="0"/>
              </a:spcAft>
              <a:buNone/>
            </a:pPr>
            <a:r>
              <a:rPr b="0" i="0" lang="en-IN" sz="2000">
                <a:solidFill>
                  <a:srgbClr val="273239"/>
                </a:solidFill>
                <a:latin typeface="Calibri"/>
                <a:ea typeface="Calibri"/>
                <a:cs typeface="Calibri"/>
                <a:sym typeface="Calibri"/>
              </a:rPr>
              <a:t>An entity refers to an individual object of an entity type, and the collection of all entities of a particular type is called an entity set. For example, E1 is an entity that belongs to the entity type "Student," and the group of all students forms the entity set.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sz="3200"/>
            </a:br>
            <a:r>
              <a:rPr b="1" lang="en-IN" sz="3200"/>
              <a:t>Types of Entity</a:t>
            </a:r>
            <a:br>
              <a:rPr b="1" lang="en-IN" sz="3200"/>
            </a:br>
            <a:endParaRPr/>
          </a:p>
        </p:txBody>
      </p:sp>
      <p:sp>
        <p:nvSpPr>
          <p:cNvPr id="159" name="Google Shape;159;p18"/>
          <p:cNvSpPr txBox="1"/>
          <p:nvPr>
            <p:ph idx="1" type="body"/>
          </p:nvPr>
        </p:nvSpPr>
        <p:spPr>
          <a:xfrm>
            <a:off x="152400" y="914400"/>
            <a:ext cx="8839200" cy="5715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800"/>
              <a:buNone/>
            </a:pPr>
            <a:r>
              <a:rPr lang="en-IN" sz="1800"/>
              <a:t>There are two main types of entities:</a:t>
            </a:r>
            <a:endParaRPr/>
          </a:p>
          <a:p>
            <a:pPr indent="-342900" lvl="0" marL="342900" rtl="0" algn="just">
              <a:lnSpc>
                <a:spcPct val="150000"/>
              </a:lnSpc>
              <a:spcBef>
                <a:spcPts val="360"/>
              </a:spcBef>
              <a:spcAft>
                <a:spcPts val="0"/>
              </a:spcAft>
              <a:buClr>
                <a:schemeClr val="dk1"/>
              </a:buClr>
              <a:buSzPts val="1800"/>
              <a:buChar char="•"/>
            </a:pPr>
            <a:r>
              <a:rPr b="1" lang="en-IN" sz="1800"/>
              <a:t>Strong Entity</a:t>
            </a:r>
            <a:endParaRPr/>
          </a:p>
          <a:p>
            <a:pPr indent="0" lvl="0" marL="0" rtl="0" algn="just">
              <a:lnSpc>
                <a:spcPct val="150000"/>
              </a:lnSpc>
              <a:spcBef>
                <a:spcPts val="360"/>
              </a:spcBef>
              <a:spcAft>
                <a:spcPts val="0"/>
              </a:spcAft>
              <a:buClr>
                <a:schemeClr val="dk1"/>
              </a:buClr>
              <a:buSzPts val="1800"/>
              <a:buNone/>
            </a:pPr>
            <a:r>
              <a:rPr lang="en-IN" sz="1800"/>
              <a:t>A</a:t>
            </a:r>
            <a:r>
              <a:rPr lang="en-IN" sz="1800" u="sng">
                <a:solidFill>
                  <a:schemeClr val="hlink"/>
                </a:solidFill>
                <a:hlinkClick r:id="rId3"/>
              </a:rPr>
              <a:t> Strong Entity </a:t>
            </a:r>
            <a:r>
              <a:rPr lang="en-IN" sz="1800"/>
              <a:t>is a type of entity that has a key Attribute that can uniquely identify each instance of the entity. A Strong Entity does not depend on any other Entity in the Schema for its identification. It has a primary key that ensures its uniqueness and is represented by a rectangle in an ER diagram.</a:t>
            </a:r>
            <a:endParaRPr/>
          </a:p>
          <a:p>
            <a:pPr indent="-342900" lvl="0" marL="342900" rtl="0" algn="just">
              <a:lnSpc>
                <a:spcPct val="150000"/>
              </a:lnSpc>
              <a:spcBef>
                <a:spcPts val="360"/>
              </a:spcBef>
              <a:spcAft>
                <a:spcPts val="0"/>
              </a:spcAft>
              <a:buClr>
                <a:schemeClr val="dk1"/>
              </a:buClr>
              <a:buSzPts val="1800"/>
              <a:buChar char="•"/>
            </a:pPr>
            <a:r>
              <a:rPr b="1" lang="en-IN" sz="1800"/>
              <a:t>Weak Entity</a:t>
            </a:r>
            <a:endParaRPr/>
          </a:p>
          <a:p>
            <a:pPr indent="0" lvl="0" marL="0" rtl="0" algn="just">
              <a:lnSpc>
                <a:spcPct val="150000"/>
              </a:lnSpc>
              <a:spcBef>
                <a:spcPts val="360"/>
              </a:spcBef>
              <a:spcAft>
                <a:spcPts val="0"/>
              </a:spcAft>
              <a:buClr>
                <a:schemeClr val="dk1"/>
              </a:buClr>
              <a:buSzPts val="1800"/>
              <a:buNone/>
            </a:pPr>
            <a:r>
              <a:rPr lang="en-IN" sz="1800"/>
              <a:t>A Weak Entity cannot be uniquely identified by its own attributes alone. It depends on a strong entity to be identified. A weak entity is associated with an identifying entity (strong entity), which helps in its identification. A weak entity are represented by a double rectangle. The participation of weak entity types is always total. The relationship between the weak entity type and its identifying strong entity type is called identifying relationship and it is represented by a double diamond.</a:t>
            </a:r>
            <a:endParaRPr/>
          </a:p>
          <a:p>
            <a:pPr indent="-139700" lvl="0" marL="342900" rtl="0" algn="l">
              <a:spcBef>
                <a:spcPts val="640"/>
              </a:spcBef>
              <a:spcAft>
                <a:spcPts val="0"/>
              </a:spcAft>
              <a:buClr>
                <a:schemeClr val="dk1"/>
              </a:buClr>
              <a:buSzPts val="3200"/>
              <a:buNone/>
            </a:pPr>
            <a:r>
              <a:t/>
            </a:r>
            <a:endParaRPr/>
          </a:p>
        </p:txBody>
      </p:sp>
      <p:sp>
        <p:nvSpPr>
          <p:cNvPr id="160" name="Google Shape;1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Strong Entity and Weak Entity</a:t>
            </a:r>
            <a:endParaRPr/>
          </a:p>
        </p:txBody>
      </p:sp>
      <p:pic>
        <p:nvPicPr>
          <p:cNvPr id="166" name="Google Shape;166;p19"/>
          <p:cNvPicPr preferRelativeResize="0"/>
          <p:nvPr>
            <p:ph idx="1" type="body"/>
          </p:nvPr>
        </p:nvPicPr>
        <p:blipFill rotWithShape="1">
          <a:blip r:embed="rId3">
            <a:alphaModFix/>
          </a:blip>
          <a:srcRect b="0" l="0" r="0" t="0"/>
          <a:stretch/>
        </p:blipFill>
        <p:spPr>
          <a:xfrm>
            <a:off x="1614487" y="3962400"/>
            <a:ext cx="5915025" cy="1848246"/>
          </a:xfrm>
          <a:prstGeom prst="rect">
            <a:avLst/>
          </a:prstGeom>
          <a:noFill/>
          <a:ln>
            <a:noFill/>
          </a:ln>
        </p:spPr>
      </p:pic>
      <p:sp>
        <p:nvSpPr>
          <p:cNvPr id="167" name="Google Shape;1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68" name="Google Shape;168;p19"/>
          <p:cNvSpPr txBox="1"/>
          <p:nvPr/>
        </p:nvSpPr>
        <p:spPr>
          <a:xfrm>
            <a:off x="533400" y="1295400"/>
            <a:ext cx="7543800" cy="235295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IN" sz="2000">
                <a:solidFill>
                  <a:srgbClr val="273239"/>
                </a:solidFill>
                <a:latin typeface="Calibri"/>
                <a:ea typeface="Calibri"/>
                <a:cs typeface="Calibri"/>
                <a:sym typeface="Calibri"/>
              </a:rPr>
              <a:t>A company may store the information of dependents (Parents, Children, Spouse) of an Employee. But the dependents can't exist without the employee. So dependent will be a Weak Entity Type and Employee will be identifying entity type for dependent, which means it is Strong Entity Type.</a:t>
            </a:r>
            <a:endParaRPr sz="20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a:solidFill>
                  <a:srgbClr val="273239"/>
                </a:solidFill>
                <a:latin typeface="Nunito"/>
                <a:ea typeface="Nunito"/>
                <a:cs typeface="Nunito"/>
                <a:sym typeface="Nunito"/>
              </a:rPr>
            </a:br>
            <a:r>
              <a:rPr b="1" lang="en-IN">
                <a:solidFill>
                  <a:srgbClr val="273239"/>
                </a:solidFill>
                <a:latin typeface="Nunito"/>
                <a:ea typeface="Nunito"/>
                <a:cs typeface="Nunito"/>
                <a:sym typeface="Nunito"/>
              </a:rPr>
              <a:t>Attributes in ER Model</a:t>
            </a:r>
            <a:br>
              <a:rPr b="1" lang="en-IN">
                <a:solidFill>
                  <a:srgbClr val="273239"/>
                </a:solidFill>
                <a:latin typeface="Nunito"/>
                <a:ea typeface="Nunito"/>
                <a:cs typeface="Nunito"/>
                <a:sym typeface="Nunito"/>
              </a:rPr>
            </a:br>
            <a:endParaRPr/>
          </a:p>
        </p:txBody>
      </p:sp>
      <p:sp>
        <p:nvSpPr>
          <p:cNvPr id="174" name="Google Shape;17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Lightbox" id="175" name="Google Shape;175;p20"/>
          <p:cNvPicPr preferRelativeResize="0"/>
          <p:nvPr>
            <p:ph idx="1" type="body"/>
          </p:nvPr>
        </p:nvPicPr>
        <p:blipFill rotWithShape="1">
          <a:blip r:embed="rId3">
            <a:alphaModFix/>
          </a:blip>
          <a:srcRect b="0" l="0" r="0" t="0"/>
          <a:stretch/>
        </p:blipFill>
        <p:spPr>
          <a:xfrm>
            <a:off x="3124200" y="3810000"/>
            <a:ext cx="2209800" cy="1162050"/>
          </a:xfrm>
          <a:prstGeom prst="rect">
            <a:avLst/>
          </a:prstGeom>
          <a:noFill/>
          <a:ln>
            <a:noFill/>
          </a:ln>
        </p:spPr>
      </p:pic>
      <p:sp>
        <p:nvSpPr>
          <p:cNvPr id="176" name="Google Shape;176;p20"/>
          <p:cNvSpPr txBox="1"/>
          <p:nvPr/>
        </p:nvSpPr>
        <p:spPr>
          <a:xfrm>
            <a:off x="457200" y="1295400"/>
            <a:ext cx="8001000" cy="189128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IN" sz="2000" u="sng">
                <a:solidFill>
                  <a:srgbClr val="357960"/>
                </a:solidFill>
                <a:latin typeface="Calibri"/>
                <a:ea typeface="Calibri"/>
                <a:cs typeface="Calibri"/>
                <a:sym typeface="Calibri"/>
                <a:hlinkClick r:id="rId4">
                  <a:extLst>
                    <a:ext uri="{A12FA001-AC4F-418D-AE19-62706E023703}">
                      <ahyp:hlinkClr val="tx"/>
                    </a:ext>
                  </a:extLst>
                </a:hlinkClick>
              </a:rPr>
              <a:t>Attributes </a:t>
            </a:r>
            <a:r>
              <a:rPr b="0" i="0" lang="en-IN" sz="2000">
                <a:solidFill>
                  <a:srgbClr val="273239"/>
                </a:solidFill>
                <a:latin typeface="Calibri"/>
                <a:ea typeface="Calibri"/>
                <a:cs typeface="Calibri"/>
                <a:sym typeface="Calibri"/>
              </a:rPr>
              <a:t>are the properties that define the entity type. For example, for a Student entity Roll_No, Name, DOB, Age, Address, and Mobile_No are the attributes that define entity type Student. In ER diagram, the attribute is represented by an oval.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IN"/>
            </a:br>
            <a:r>
              <a:rPr b="1" lang="en-IN"/>
              <a:t>Types of Attributes</a:t>
            </a:r>
            <a:br>
              <a:rPr b="1" lang="en-IN"/>
            </a:br>
            <a:endParaRPr/>
          </a:p>
        </p:txBody>
      </p:sp>
      <p:sp>
        <p:nvSpPr>
          <p:cNvPr id="182" name="Google Shape;182;p21"/>
          <p:cNvSpPr txBox="1"/>
          <p:nvPr>
            <p:ph idx="1" type="body"/>
          </p:nvPr>
        </p:nvSpPr>
        <p:spPr>
          <a:xfrm>
            <a:off x="152400" y="827314"/>
            <a:ext cx="8915400" cy="5589052"/>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b="1" lang="en-IN" sz="2000"/>
              <a:t>Key Attribute</a:t>
            </a:r>
            <a:endParaRPr/>
          </a:p>
          <a:p>
            <a:pPr indent="0" lvl="0" marL="0" rtl="0" algn="just">
              <a:lnSpc>
                <a:spcPct val="150000"/>
              </a:lnSpc>
              <a:spcBef>
                <a:spcPts val="400"/>
              </a:spcBef>
              <a:spcAft>
                <a:spcPts val="0"/>
              </a:spcAft>
              <a:buClr>
                <a:schemeClr val="dk1"/>
              </a:buClr>
              <a:buSzPts val="2000"/>
              <a:buNone/>
            </a:pPr>
            <a:r>
              <a:rPr lang="en-IN" sz="2000"/>
              <a:t>The attribute which uniquely identifies each entity in the entity set is called the key attribute. For example, Roll_No will be unique for each student. In ER diagram, the key attribute is represented by an oval with an underline.</a:t>
            </a:r>
            <a:endParaRPr/>
          </a:p>
          <a:p>
            <a:pPr indent="-342900" lvl="0" marL="342900" rtl="0" algn="l">
              <a:lnSpc>
                <a:spcPct val="150000"/>
              </a:lnSpc>
              <a:spcBef>
                <a:spcPts val="400"/>
              </a:spcBef>
              <a:spcAft>
                <a:spcPts val="0"/>
              </a:spcAft>
              <a:buClr>
                <a:schemeClr val="dk1"/>
              </a:buClr>
              <a:buSzPts val="2000"/>
              <a:buChar char="•"/>
            </a:pPr>
            <a:r>
              <a:rPr b="1" lang="en-IN" sz="2000"/>
              <a:t>Composite Attribute</a:t>
            </a:r>
            <a:endParaRPr/>
          </a:p>
          <a:p>
            <a:pPr indent="0" lvl="0" marL="0" rtl="0" algn="l">
              <a:lnSpc>
                <a:spcPct val="150000"/>
              </a:lnSpc>
              <a:spcBef>
                <a:spcPts val="400"/>
              </a:spcBef>
              <a:spcAft>
                <a:spcPts val="0"/>
              </a:spcAft>
              <a:buClr>
                <a:schemeClr val="dk1"/>
              </a:buClr>
              <a:buSzPts val="2000"/>
              <a:buNone/>
            </a:pPr>
            <a:r>
              <a:rPr lang="en-IN" sz="2000"/>
              <a:t>An attribute composed of many other attributes is called a composite attribute. For example, the Address attribute of the student Entity type consists of Street, City, State, and Country. In ER diagram, the composite attribute is represented by an oval comprising of ovals.</a:t>
            </a:r>
            <a:endParaRPr/>
          </a:p>
        </p:txBody>
      </p:sp>
      <p:sp>
        <p:nvSpPr>
          <p:cNvPr id="183" name="Google Shape;18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Lightbox" id="184" name="Google Shape;184;p21"/>
          <p:cNvPicPr preferRelativeResize="0"/>
          <p:nvPr/>
        </p:nvPicPr>
        <p:blipFill rotWithShape="1">
          <a:blip r:embed="rId3">
            <a:alphaModFix/>
          </a:blip>
          <a:srcRect b="0" l="0" r="0" t="0"/>
          <a:stretch/>
        </p:blipFill>
        <p:spPr>
          <a:xfrm>
            <a:off x="2569030" y="4663921"/>
            <a:ext cx="4571999" cy="1905000"/>
          </a:xfrm>
          <a:prstGeom prst="rect">
            <a:avLst/>
          </a:prstGeom>
          <a:noFill/>
          <a:ln>
            <a:noFill/>
          </a:ln>
        </p:spPr>
      </p:pic>
      <p:pic>
        <p:nvPicPr>
          <p:cNvPr descr="Lightbox" id="185" name="Google Shape;185;p21"/>
          <p:cNvPicPr preferRelativeResize="0"/>
          <p:nvPr/>
        </p:nvPicPr>
        <p:blipFill rotWithShape="1">
          <a:blip r:embed="rId4">
            <a:alphaModFix/>
          </a:blip>
          <a:srcRect b="0" l="0" r="0" t="0"/>
          <a:stretch/>
        </p:blipFill>
        <p:spPr>
          <a:xfrm>
            <a:off x="2667000" y="827314"/>
            <a:ext cx="1371600" cy="7212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91" name="Google Shape;191;p22"/>
          <p:cNvSpPr txBox="1"/>
          <p:nvPr>
            <p:ph idx="1" type="body"/>
          </p:nvPr>
        </p:nvSpPr>
        <p:spPr>
          <a:xfrm>
            <a:off x="76200" y="990600"/>
            <a:ext cx="8839200" cy="56388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b="1" lang="en-IN" sz="2000"/>
              <a:t>Multivalued Attribute</a:t>
            </a:r>
            <a:endParaRPr/>
          </a:p>
          <a:p>
            <a:pPr indent="0" lvl="0" marL="0" rtl="0" algn="just">
              <a:lnSpc>
                <a:spcPct val="150000"/>
              </a:lnSpc>
              <a:spcBef>
                <a:spcPts val="400"/>
              </a:spcBef>
              <a:spcAft>
                <a:spcPts val="0"/>
              </a:spcAft>
              <a:buClr>
                <a:schemeClr val="dk1"/>
              </a:buClr>
              <a:buSzPts val="2000"/>
              <a:buNone/>
            </a:pPr>
            <a:r>
              <a:rPr lang="en-IN" sz="2000"/>
              <a:t>An attribute consisting of more than one value for a given entity. For example, Phone_No (can be more than one for a given student). In ER diagram, a multivalued attribute is represented by a double oval.</a:t>
            </a:r>
            <a:endParaRPr/>
          </a:p>
          <a:p>
            <a:pPr indent="0" lvl="0" marL="0" rtl="0" algn="just">
              <a:spcBef>
                <a:spcPts val="640"/>
              </a:spcBef>
              <a:spcAft>
                <a:spcPts val="0"/>
              </a:spcAft>
              <a:buClr>
                <a:schemeClr val="dk1"/>
              </a:buClr>
              <a:buSzPts val="3200"/>
              <a:buNone/>
            </a:pPr>
            <a:br>
              <a:rPr lang="en-IN"/>
            </a:br>
            <a:endParaRPr/>
          </a:p>
          <a:p>
            <a:pPr indent="0" lvl="0" marL="0" rtl="0" algn="just">
              <a:spcBef>
                <a:spcPts val="400"/>
              </a:spcBef>
              <a:spcAft>
                <a:spcPts val="0"/>
              </a:spcAft>
              <a:buClr>
                <a:schemeClr val="dk1"/>
              </a:buClr>
              <a:buSzPts val="2000"/>
              <a:buNone/>
            </a:pPr>
            <a:r>
              <a:rPr b="1" lang="en-IN" sz="2000"/>
              <a:t>Derived Attribute</a:t>
            </a:r>
            <a:endParaRPr/>
          </a:p>
          <a:p>
            <a:pPr indent="0" lvl="0" marL="0" rtl="0" algn="just">
              <a:lnSpc>
                <a:spcPct val="150000"/>
              </a:lnSpc>
              <a:spcBef>
                <a:spcPts val="400"/>
              </a:spcBef>
              <a:spcAft>
                <a:spcPts val="0"/>
              </a:spcAft>
              <a:buClr>
                <a:schemeClr val="dk1"/>
              </a:buClr>
              <a:buSzPts val="2000"/>
              <a:buNone/>
            </a:pPr>
            <a:r>
              <a:rPr lang="en-IN" sz="2000"/>
              <a:t>An attribute that can be derived from other attributes of the entity type is known as a derived attribute. e.g.; Age (can be derived from DOB). In ER diagram, the derived attribute is represented by a dashed oval.</a:t>
            </a:r>
            <a:endParaRPr/>
          </a:p>
          <a:p>
            <a:pPr indent="0" lvl="0" marL="0" rtl="0" algn="just">
              <a:spcBef>
                <a:spcPts val="400"/>
              </a:spcBef>
              <a:spcAft>
                <a:spcPts val="0"/>
              </a:spcAft>
              <a:buClr>
                <a:schemeClr val="dk1"/>
              </a:buClr>
              <a:buSzPts val="2000"/>
              <a:buNone/>
            </a:pPr>
            <a:br>
              <a:rPr lang="en-IN" sz="2000"/>
            </a:br>
            <a:endParaRPr sz="2000"/>
          </a:p>
        </p:txBody>
      </p:sp>
      <p:sp>
        <p:nvSpPr>
          <p:cNvPr id="192" name="Google Shape;19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Lightbox" id="193" name="Google Shape;193;p22"/>
          <p:cNvPicPr preferRelativeResize="0"/>
          <p:nvPr/>
        </p:nvPicPr>
        <p:blipFill rotWithShape="1">
          <a:blip r:embed="rId3">
            <a:alphaModFix/>
          </a:blip>
          <a:srcRect b="0" l="0" r="0" t="0"/>
          <a:stretch/>
        </p:blipFill>
        <p:spPr>
          <a:xfrm>
            <a:off x="3352800" y="3079242"/>
            <a:ext cx="1504950" cy="848027"/>
          </a:xfrm>
          <a:prstGeom prst="rect">
            <a:avLst/>
          </a:prstGeom>
          <a:noFill/>
          <a:ln>
            <a:noFill/>
          </a:ln>
        </p:spPr>
      </p:pic>
      <p:pic>
        <p:nvPicPr>
          <p:cNvPr descr="Lightbox" id="194" name="Google Shape;194;p22"/>
          <p:cNvPicPr preferRelativeResize="0"/>
          <p:nvPr/>
        </p:nvPicPr>
        <p:blipFill rotWithShape="1">
          <a:blip r:embed="rId4">
            <a:alphaModFix/>
          </a:blip>
          <a:srcRect b="0" l="0" r="0" t="0"/>
          <a:stretch/>
        </p:blipFill>
        <p:spPr>
          <a:xfrm>
            <a:off x="4825093" y="5546612"/>
            <a:ext cx="1428750" cy="93859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Complete Entity Type with its Attributes</a:t>
            </a:r>
            <a:endParaRPr/>
          </a:p>
        </p:txBody>
      </p:sp>
      <p:sp>
        <p:nvSpPr>
          <p:cNvPr id="200" name="Google Shape;20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Lightbox" id="201" name="Google Shape;201;p23"/>
          <p:cNvPicPr preferRelativeResize="0"/>
          <p:nvPr>
            <p:ph idx="1" type="body"/>
          </p:nvPr>
        </p:nvPicPr>
        <p:blipFill rotWithShape="1">
          <a:blip r:embed="rId3">
            <a:alphaModFix/>
          </a:blip>
          <a:srcRect b="0" l="0" r="0" t="0"/>
          <a:stretch/>
        </p:blipFill>
        <p:spPr>
          <a:xfrm>
            <a:off x="533400" y="1066800"/>
            <a:ext cx="8153400" cy="52895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lnSpc>
                <a:spcPct val="150000"/>
              </a:lnSpc>
              <a:spcBef>
                <a:spcPts val="0"/>
              </a:spcBef>
              <a:spcAft>
                <a:spcPts val="0"/>
              </a:spcAft>
              <a:buNone/>
            </a:pPr>
            <a:r>
              <a:rPr b="1" lang="en-IN" sz="3200"/>
              <a:t>Cardinality in DBMS</a:t>
            </a:r>
            <a:endParaRPr/>
          </a:p>
        </p:txBody>
      </p:sp>
      <p:sp>
        <p:nvSpPr>
          <p:cNvPr id="208" name="Google Shape;208;p24"/>
          <p:cNvSpPr txBox="1"/>
          <p:nvPr>
            <p:ph idx="1" type="body"/>
          </p:nvPr>
        </p:nvSpPr>
        <p:spPr>
          <a:xfrm>
            <a:off x="76200" y="838200"/>
            <a:ext cx="8991600" cy="5867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1800"/>
              <a:buChar char="•"/>
            </a:pPr>
            <a:r>
              <a:rPr lang="en-IN" sz="1800" u="sng">
                <a:solidFill>
                  <a:schemeClr val="hlink"/>
                </a:solidFill>
                <a:hlinkClick r:id="rId3"/>
              </a:rPr>
              <a:t>Cardinality</a:t>
            </a:r>
            <a:r>
              <a:rPr lang="en-IN" sz="1800"/>
              <a:t> of relation expresses the maximum number of possible relationship occurrences for an entity participating in a relationship. Cardinality of a relationship can be defined as the number of times an entity of an entity set participates in a relationship set. Let's suppose a binary relationship R between two entity sets A and B.  The relationship must have one of the following mapping cardinalities:</a:t>
            </a:r>
            <a:endParaRPr/>
          </a:p>
          <a:p>
            <a:pPr indent="-342900" lvl="0" marL="342900" rtl="0" algn="l">
              <a:lnSpc>
                <a:spcPct val="150000"/>
              </a:lnSpc>
              <a:spcBef>
                <a:spcPts val="360"/>
              </a:spcBef>
              <a:spcAft>
                <a:spcPts val="0"/>
              </a:spcAft>
              <a:buClr>
                <a:schemeClr val="dk1"/>
              </a:buClr>
              <a:buSzPts val="1800"/>
              <a:buChar char="•"/>
            </a:pPr>
            <a:r>
              <a:rPr b="1" lang="en-IN" sz="1800"/>
              <a:t>One-to-One: </a:t>
            </a:r>
            <a:r>
              <a:rPr lang="en-IN" sz="1800"/>
              <a:t>When one entity of A is related to at most one entity of B, and vice-versa.</a:t>
            </a:r>
            <a:endParaRPr/>
          </a:p>
          <a:p>
            <a:pPr indent="-342900" lvl="0" marL="342900" rtl="0" algn="l">
              <a:lnSpc>
                <a:spcPct val="150000"/>
              </a:lnSpc>
              <a:spcBef>
                <a:spcPts val="360"/>
              </a:spcBef>
              <a:spcAft>
                <a:spcPts val="0"/>
              </a:spcAft>
              <a:buClr>
                <a:schemeClr val="dk1"/>
              </a:buClr>
              <a:buSzPts val="1800"/>
              <a:buChar char="•"/>
            </a:pPr>
            <a:r>
              <a:rPr b="1" lang="en-IN" sz="1800"/>
              <a:t>One-to-Many:</a:t>
            </a:r>
            <a:r>
              <a:rPr lang="en-IN" sz="1800"/>
              <a:t> When one entity of A is related to one or more than one entity of B. Whereas B is associated with at most one entity in A. </a:t>
            </a:r>
            <a:endParaRPr/>
          </a:p>
          <a:p>
            <a:pPr indent="-342900" lvl="0" marL="342900" rtl="0" algn="l">
              <a:lnSpc>
                <a:spcPct val="150000"/>
              </a:lnSpc>
              <a:spcBef>
                <a:spcPts val="360"/>
              </a:spcBef>
              <a:spcAft>
                <a:spcPts val="0"/>
              </a:spcAft>
              <a:buClr>
                <a:schemeClr val="dk1"/>
              </a:buClr>
              <a:buSzPts val="1800"/>
              <a:buChar char="•"/>
            </a:pPr>
            <a:r>
              <a:rPr b="1" lang="en-IN" sz="1800"/>
              <a:t>Many-to-One: </a:t>
            </a:r>
            <a:r>
              <a:rPr lang="en-IN" sz="1800"/>
              <a:t>When one entity of B is related to one or more than one entity of A. Whereas A is associated with at most one entity in B. </a:t>
            </a:r>
            <a:endParaRPr/>
          </a:p>
          <a:p>
            <a:pPr indent="-342900" lvl="0" marL="342900" rtl="0" algn="l">
              <a:lnSpc>
                <a:spcPct val="150000"/>
              </a:lnSpc>
              <a:spcBef>
                <a:spcPts val="360"/>
              </a:spcBef>
              <a:spcAft>
                <a:spcPts val="0"/>
              </a:spcAft>
              <a:buClr>
                <a:schemeClr val="dk1"/>
              </a:buClr>
              <a:buSzPts val="1800"/>
              <a:buChar char="•"/>
            </a:pPr>
            <a:r>
              <a:rPr b="1" lang="en-IN" sz="1800"/>
              <a:t>Many-to-Many: </a:t>
            </a:r>
            <a:r>
              <a:rPr lang="en-IN" sz="1800"/>
              <a:t>Any number of entities of A is related to any number of entities of B, and vice-versa. </a:t>
            </a:r>
            <a:endParaRPr/>
          </a:p>
          <a:p>
            <a:pPr indent="-228600" lvl="0" marL="342900" rtl="0" algn="just">
              <a:lnSpc>
                <a:spcPct val="150000"/>
              </a:lnSpc>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14" name="Google Shape;21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Lightbox" id="215" name="Google Shape;215;p25"/>
          <p:cNvPicPr preferRelativeResize="0"/>
          <p:nvPr>
            <p:ph idx="1" type="body"/>
          </p:nvPr>
        </p:nvPicPr>
        <p:blipFill rotWithShape="1">
          <a:blip r:embed="rId3">
            <a:alphaModFix/>
          </a:blip>
          <a:srcRect b="0" l="0" r="0" t="0"/>
          <a:stretch/>
        </p:blipFill>
        <p:spPr>
          <a:xfrm>
            <a:off x="533400" y="1066800"/>
            <a:ext cx="7381875" cy="1840473"/>
          </a:xfrm>
          <a:prstGeom prst="rect">
            <a:avLst/>
          </a:prstGeom>
          <a:noFill/>
          <a:ln>
            <a:noFill/>
          </a:ln>
        </p:spPr>
      </p:pic>
      <p:pic>
        <p:nvPicPr>
          <p:cNvPr descr="Lightbox" id="216" name="Google Shape;216;p25"/>
          <p:cNvPicPr preferRelativeResize="0"/>
          <p:nvPr/>
        </p:nvPicPr>
        <p:blipFill rotWithShape="1">
          <a:blip r:embed="rId4">
            <a:alphaModFix/>
          </a:blip>
          <a:srcRect b="0" l="0" r="0" t="0"/>
          <a:stretch/>
        </p:blipFill>
        <p:spPr>
          <a:xfrm>
            <a:off x="1752600" y="3114675"/>
            <a:ext cx="5181600" cy="2676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22" name="Google Shape;22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Lightbox" id="223" name="Google Shape;223;p26"/>
          <p:cNvPicPr preferRelativeResize="0"/>
          <p:nvPr>
            <p:ph idx="1" type="body"/>
          </p:nvPr>
        </p:nvPicPr>
        <p:blipFill rotWithShape="1">
          <a:blip r:embed="rId3">
            <a:alphaModFix/>
          </a:blip>
          <a:srcRect b="0" l="0" r="0" t="0"/>
          <a:stretch/>
        </p:blipFill>
        <p:spPr>
          <a:xfrm>
            <a:off x="304800" y="1143000"/>
            <a:ext cx="8210550" cy="1742281"/>
          </a:xfrm>
          <a:prstGeom prst="rect">
            <a:avLst/>
          </a:prstGeom>
          <a:noFill/>
          <a:ln>
            <a:noFill/>
          </a:ln>
        </p:spPr>
      </p:pic>
      <p:pic>
        <p:nvPicPr>
          <p:cNvPr id="224" name="Google Shape;224;p26"/>
          <p:cNvPicPr preferRelativeResize="0"/>
          <p:nvPr/>
        </p:nvPicPr>
        <p:blipFill rotWithShape="1">
          <a:blip r:embed="rId4">
            <a:alphaModFix/>
          </a:blip>
          <a:srcRect b="0" l="0" r="0" t="0"/>
          <a:stretch/>
        </p:blipFill>
        <p:spPr>
          <a:xfrm>
            <a:off x="1628775" y="2908929"/>
            <a:ext cx="5562600" cy="3114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pic>
        <p:nvPicPr>
          <p:cNvPr id="230" name="Google Shape;230;p27"/>
          <p:cNvPicPr preferRelativeResize="0"/>
          <p:nvPr>
            <p:ph idx="1" type="body"/>
          </p:nvPr>
        </p:nvPicPr>
        <p:blipFill rotWithShape="1">
          <a:blip r:embed="rId3">
            <a:alphaModFix/>
          </a:blip>
          <a:srcRect b="0" l="0" r="0" t="0"/>
          <a:stretch/>
        </p:blipFill>
        <p:spPr>
          <a:xfrm>
            <a:off x="609600" y="1066799"/>
            <a:ext cx="7315200" cy="2108849"/>
          </a:xfrm>
          <a:prstGeom prst="rect">
            <a:avLst/>
          </a:prstGeom>
          <a:noFill/>
          <a:ln>
            <a:noFill/>
          </a:ln>
        </p:spPr>
      </p:pic>
      <p:sp>
        <p:nvSpPr>
          <p:cNvPr id="231" name="Google Shape;231;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32" name="Google Shape;232;p27"/>
          <p:cNvPicPr preferRelativeResize="0"/>
          <p:nvPr/>
        </p:nvPicPr>
        <p:blipFill rotWithShape="1">
          <a:blip r:embed="rId4">
            <a:alphaModFix/>
          </a:blip>
          <a:srcRect b="0" l="0" r="0" t="0"/>
          <a:stretch/>
        </p:blipFill>
        <p:spPr>
          <a:xfrm>
            <a:off x="1676400" y="3175648"/>
            <a:ext cx="5181600" cy="2676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38" name="Google Shape;238;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Lightbox" id="239" name="Google Shape;239;p28"/>
          <p:cNvPicPr preferRelativeResize="0"/>
          <p:nvPr>
            <p:ph idx="1" type="body"/>
          </p:nvPr>
        </p:nvPicPr>
        <p:blipFill rotWithShape="1">
          <a:blip r:embed="rId3">
            <a:alphaModFix/>
          </a:blip>
          <a:srcRect b="0" l="0" r="0" t="0"/>
          <a:stretch/>
        </p:blipFill>
        <p:spPr>
          <a:xfrm>
            <a:off x="304800" y="990600"/>
            <a:ext cx="7686675" cy="2536960"/>
          </a:xfrm>
          <a:prstGeom prst="rect">
            <a:avLst/>
          </a:prstGeom>
          <a:noFill/>
          <a:ln>
            <a:noFill/>
          </a:ln>
        </p:spPr>
      </p:pic>
      <p:pic>
        <p:nvPicPr>
          <p:cNvPr id="240" name="Google Shape;240;p28"/>
          <p:cNvPicPr preferRelativeResize="0"/>
          <p:nvPr/>
        </p:nvPicPr>
        <p:blipFill rotWithShape="1">
          <a:blip r:embed="rId4">
            <a:alphaModFix/>
          </a:blip>
          <a:srcRect b="0" l="0" r="0" t="0"/>
          <a:stretch/>
        </p:blipFill>
        <p:spPr>
          <a:xfrm>
            <a:off x="1066800" y="3276600"/>
            <a:ext cx="6924675" cy="276111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7200"/>
              <a:buNone/>
            </a:pPr>
            <a:r>
              <a:t/>
            </a:r>
            <a:endParaRPr b="1" sz="7200">
              <a:latin typeface="Times New Roman"/>
              <a:ea typeface="Times New Roman"/>
              <a:cs typeface="Times New Roman"/>
              <a:sym typeface="Times New Roman"/>
            </a:endParaRPr>
          </a:p>
          <a:p>
            <a:pPr indent="0" lvl="0" marL="0" rtl="0" algn="ctr">
              <a:spcBef>
                <a:spcPts val="1080"/>
              </a:spcBef>
              <a:spcAft>
                <a:spcPts val="0"/>
              </a:spcAft>
              <a:buClr>
                <a:schemeClr val="dk1"/>
              </a:buClr>
              <a:buSzPts val="5400"/>
              <a:buNone/>
            </a:pPr>
            <a:r>
              <a:rPr b="1" lang="en-IN" sz="5400">
                <a:latin typeface="Times New Roman"/>
                <a:ea typeface="Times New Roman"/>
                <a:cs typeface="Times New Roman"/>
                <a:sym typeface="Times New Roman"/>
              </a:rPr>
              <a:t>THANK YOU</a:t>
            </a:r>
            <a:endParaRPr/>
          </a:p>
        </p:txBody>
      </p:sp>
      <p:sp>
        <p:nvSpPr>
          <p:cNvPr id="246" name="Google Shape;24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