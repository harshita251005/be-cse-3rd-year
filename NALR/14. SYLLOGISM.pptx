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359" r:id="rId2"/>
    <p:sldId id="404" r:id="rId3"/>
    <p:sldId id="360" r:id="rId4"/>
    <p:sldId id="361" r:id="rId5"/>
    <p:sldId id="362" r:id="rId6"/>
    <p:sldId id="363" r:id="rId7"/>
    <p:sldId id="398" r:id="rId8"/>
    <p:sldId id="399" r:id="rId9"/>
    <p:sldId id="400" r:id="rId10"/>
    <p:sldId id="401" r:id="rId11"/>
    <p:sldId id="402" r:id="rId12"/>
    <p:sldId id="403" r:id="rId13"/>
    <p:sldId id="309" r:id="rId14"/>
    <p:sldId id="405" r:id="rId15"/>
    <p:sldId id="312" r:id="rId16"/>
    <p:sldId id="406" r:id="rId17"/>
    <p:sldId id="313" r:id="rId18"/>
    <p:sldId id="407" r:id="rId19"/>
    <p:sldId id="315" r:id="rId20"/>
    <p:sldId id="408" r:id="rId21"/>
    <p:sldId id="316" r:id="rId22"/>
    <p:sldId id="409" r:id="rId23"/>
    <p:sldId id="317" r:id="rId24"/>
    <p:sldId id="410" r:id="rId25"/>
    <p:sldId id="318" r:id="rId26"/>
    <p:sldId id="411" r:id="rId27"/>
    <p:sldId id="320" r:id="rId28"/>
    <p:sldId id="412" r:id="rId29"/>
    <p:sldId id="323" r:id="rId30"/>
    <p:sldId id="413" r:id="rId31"/>
    <p:sldId id="324" r:id="rId32"/>
    <p:sldId id="414" r:id="rId33"/>
    <p:sldId id="329" r:id="rId34"/>
    <p:sldId id="415" r:id="rId35"/>
    <p:sldId id="331" r:id="rId36"/>
    <p:sldId id="416" r:id="rId37"/>
    <p:sldId id="332" r:id="rId38"/>
    <p:sldId id="417" r:id="rId39"/>
    <p:sldId id="333" r:id="rId40"/>
    <p:sldId id="418" r:id="rId41"/>
    <p:sldId id="336" r:id="rId42"/>
    <p:sldId id="419" r:id="rId43"/>
    <p:sldId id="337" r:id="rId44"/>
    <p:sldId id="420" r:id="rId45"/>
    <p:sldId id="340" r:id="rId46"/>
    <p:sldId id="421" r:id="rId47"/>
    <p:sldId id="341" r:id="rId48"/>
    <p:sldId id="422" r:id="rId49"/>
    <p:sldId id="342" r:id="rId50"/>
    <p:sldId id="423" r:id="rId51"/>
    <p:sldId id="343" r:id="rId52"/>
    <p:sldId id="424" r:id="rId53"/>
    <p:sldId id="348" r:id="rId54"/>
    <p:sldId id="425" r:id="rId55"/>
    <p:sldId id="349" r:id="rId56"/>
    <p:sldId id="426" r:id="rId57"/>
    <p:sldId id="350" r:id="rId58"/>
    <p:sldId id="427" r:id="rId59"/>
    <p:sldId id="354" r:id="rId60"/>
    <p:sldId id="428" r:id="rId61"/>
    <p:sldId id="355" r:id="rId62"/>
    <p:sldId id="429" r:id="rId63"/>
    <p:sldId id="39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4" autoAdjust="0"/>
  </p:normalViewPr>
  <p:slideViewPr>
    <p:cSldViewPr snapToGrid="0">
      <p:cViewPr varScale="1">
        <p:scale>
          <a:sx n="79" d="100"/>
          <a:sy n="79" d="100"/>
        </p:scale>
        <p:origin x="420" y="78"/>
      </p:cViewPr>
      <p:guideLst>
        <p:guide orient="horz" pos="2160"/>
        <p:guide pos="384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6/5/2025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18DE1E3-0244-4492-89B0-E666F4294E48}"/>
              </a:ext>
            </a:extLst>
          </p:cNvPr>
          <p:cNvSpPr/>
          <p:nvPr userDrawn="1"/>
        </p:nvSpPr>
        <p:spPr>
          <a:xfrm>
            <a:off x="4005792" y="1338792"/>
            <a:ext cx="4180416" cy="418041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6FCA5F5E-D9F5-4744-B543-9AF39C52DBE3}"/>
              </a:ext>
            </a:extLst>
          </p:cNvPr>
          <p:cNvSpPr/>
          <p:nvPr userDrawn="1"/>
        </p:nvSpPr>
        <p:spPr>
          <a:xfrm rot="10800000" flipH="1">
            <a:off x="5191124" y="6439955"/>
            <a:ext cx="6997050" cy="420957"/>
          </a:xfrm>
          <a:custGeom>
            <a:avLst/>
            <a:gdLst>
              <a:gd name="connsiteX0" fmla="*/ 274746 w 6997050"/>
              <a:gd name="connsiteY0" fmla="*/ 474402 h 474402"/>
              <a:gd name="connsiteX1" fmla="*/ 5454000 w 6997050"/>
              <a:gd name="connsiteY1" fmla="*/ 474402 h 474402"/>
              <a:gd name="connsiteX2" fmla="*/ 5454000 w 6997050"/>
              <a:gd name="connsiteY2" fmla="*/ 473606 h 474402"/>
              <a:gd name="connsiteX3" fmla="*/ 6997050 w 6997050"/>
              <a:gd name="connsiteY3" fmla="*/ 473606 h 474402"/>
              <a:gd name="connsiteX4" fmla="*/ 6997050 w 6997050"/>
              <a:gd name="connsiteY4" fmla="*/ 0 h 474402"/>
              <a:gd name="connsiteX5" fmla="*/ 5454000 w 6997050"/>
              <a:gd name="connsiteY5" fmla="*/ 0 h 474402"/>
              <a:gd name="connsiteX6" fmla="*/ 5454000 w 6997050"/>
              <a:gd name="connsiteY6" fmla="*/ 797 h 474402"/>
              <a:gd name="connsiteX7" fmla="*/ 0 w 6997050"/>
              <a:gd name="connsiteY7" fmla="*/ 797 h 4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7050" h="474402">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B9CDCC60-433C-4D80-B046-60440ADA613D}"/>
              </a:ext>
            </a:extLst>
          </p:cNvPr>
          <p:cNvSpPr/>
          <p:nvPr userDrawn="1"/>
        </p:nvSpPr>
        <p:spPr>
          <a:xfrm>
            <a:off x="1" y="6439956"/>
            <a:ext cx="5490211" cy="418044"/>
          </a:xfrm>
          <a:custGeom>
            <a:avLst/>
            <a:gdLst>
              <a:gd name="connsiteX0" fmla="*/ 0 w 5490211"/>
              <a:gd name="connsiteY0" fmla="*/ 0 h 473605"/>
              <a:gd name="connsiteX1" fmla="*/ 5490211 w 5490211"/>
              <a:gd name="connsiteY1" fmla="*/ 0 h 473605"/>
              <a:gd name="connsiteX2" fmla="*/ 5215520 w 5490211"/>
              <a:gd name="connsiteY2" fmla="*/ 473605 h 473605"/>
              <a:gd name="connsiteX3" fmla="*/ 0 w 5490211"/>
              <a:gd name="connsiteY3" fmla="*/ 473605 h 473605"/>
            </a:gdLst>
            <a:ahLst/>
            <a:cxnLst>
              <a:cxn ang="0">
                <a:pos x="connsiteX0" y="connsiteY0"/>
              </a:cxn>
              <a:cxn ang="0">
                <a:pos x="connsiteX1" y="connsiteY1"/>
              </a:cxn>
              <a:cxn ang="0">
                <a:pos x="connsiteX2" y="connsiteY2"/>
              </a:cxn>
              <a:cxn ang="0">
                <a:pos x="connsiteX3" y="connsiteY3"/>
              </a:cxn>
            </a:cxnLst>
            <a:rect l="l" t="t" r="r" b="b"/>
            <a:pathLst>
              <a:path w="5490211" h="473605">
                <a:moveTo>
                  <a:pt x="0" y="0"/>
                </a:moveTo>
                <a:lnTo>
                  <a:pt x="5490211" y="0"/>
                </a:lnTo>
                <a:lnTo>
                  <a:pt x="5215520" y="473605"/>
                </a:lnTo>
                <a:lnTo>
                  <a:pt x="0" y="473605"/>
                </a:lnTo>
                <a:close/>
              </a:path>
            </a:pathLst>
          </a:custGeom>
          <a:solidFill>
            <a:srgbClr val="FE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CCEF4669-2972-4A62-937C-8770006AA351}"/>
              </a:ext>
            </a:extLst>
          </p:cNvPr>
          <p:cNvSpPr/>
          <p:nvPr userDrawn="1"/>
        </p:nvSpPr>
        <p:spPr>
          <a:xfrm>
            <a:off x="0" y="0"/>
            <a:ext cx="12192000" cy="1016000"/>
          </a:xfrm>
          <a:prstGeom prst="rect">
            <a:avLst/>
          </a:prstGeom>
          <a:gradFill flip="none" rotWithShape="1">
            <a:gsLst>
              <a:gs pos="0">
                <a:srgbClr val="FE6400"/>
              </a:gs>
              <a:gs pos="100000">
                <a:srgbClr val="108E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254000" y="190500"/>
            <a:ext cx="11684000" cy="671250"/>
          </a:xfrm>
        </p:spPr>
        <p:txBody>
          <a:bodyPr>
            <a:normAutofit/>
          </a:bodyPr>
          <a:lstStyle>
            <a:lvl1pPr algn="ctr">
              <a:tabLst>
                <a:tab pos="1790700" algn="l"/>
              </a:tabLst>
              <a:defRPr sz="36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14" name="Footer Placeholder 4">
            <a:extLst>
              <a:ext uri="{FF2B5EF4-FFF2-40B4-BE49-F238E27FC236}">
                <a16:creationId xmlns:a16="http://schemas.microsoft.com/office/drawing/2014/main" id="{EF38C1C8-344A-4ACE-B6A4-2BA3E602ECB5}"/>
              </a:ext>
            </a:extLst>
          </p:cNvPr>
          <p:cNvSpPr txBox="1">
            <a:spLocks/>
          </p:cNvSpPr>
          <p:nvPr userDrawn="1"/>
        </p:nvSpPr>
        <p:spPr>
          <a:xfrm>
            <a:off x="355600" y="5683515"/>
            <a:ext cx="11582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27" name="TextBox 26">
            <a:extLst>
              <a:ext uri="{FF2B5EF4-FFF2-40B4-BE49-F238E27FC236}">
                <a16:creationId xmlns:a16="http://schemas.microsoft.com/office/drawing/2014/main" id="{EFF9B3D1-7DD8-405D-A925-20FEB2EA51F2}"/>
              </a:ext>
            </a:extLst>
          </p:cNvPr>
          <p:cNvSpPr txBox="1"/>
          <p:nvPr userDrawn="1"/>
        </p:nvSpPr>
        <p:spPr>
          <a:xfrm>
            <a:off x="1118954" y="6464312"/>
            <a:ext cx="3394904"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Aptitude Classes by Anuj Sir </a:t>
            </a:r>
          </a:p>
        </p:txBody>
      </p:sp>
      <p:sp>
        <p:nvSpPr>
          <p:cNvPr id="28" name="TextBox 27">
            <a:extLst>
              <a:ext uri="{FF2B5EF4-FFF2-40B4-BE49-F238E27FC236}">
                <a16:creationId xmlns:a16="http://schemas.microsoft.com/office/drawing/2014/main" id="{C26DA40F-1448-4E04-A4CC-A0C240DC53FB}"/>
              </a:ext>
            </a:extLst>
          </p:cNvPr>
          <p:cNvSpPr txBox="1"/>
          <p:nvPr userDrawn="1"/>
        </p:nvSpPr>
        <p:spPr>
          <a:xfrm>
            <a:off x="6252259" y="6464312"/>
            <a:ext cx="5634941"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For more tutorials Visit now www.testurprep.com</a:t>
            </a:r>
          </a:p>
        </p:txBody>
      </p:sp>
      <p:sp>
        <p:nvSpPr>
          <p:cNvPr id="33" name="Oval 32">
            <a:extLst>
              <a:ext uri="{FF2B5EF4-FFF2-40B4-BE49-F238E27FC236}">
                <a16:creationId xmlns:a16="http://schemas.microsoft.com/office/drawing/2014/main" id="{AC4A5B36-9C81-4DC5-AB3E-D53D3DF8AA5F}"/>
              </a:ext>
            </a:extLst>
          </p:cNvPr>
          <p:cNvSpPr/>
          <p:nvPr userDrawn="1"/>
        </p:nvSpPr>
        <p:spPr>
          <a:xfrm>
            <a:off x="158099"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D126FFB0-7B36-4783-8239-761E300FA624}"/>
              </a:ext>
            </a:extLst>
          </p:cNvPr>
          <p:cNvSpPr/>
          <p:nvPr userDrawn="1"/>
        </p:nvSpPr>
        <p:spPr>
          <a:xfrm>
            <a:off x="11311874"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254000" y="1199620"/>
            <a:ext cx="11684000" cy="4991630"/>
          </a:xfrm>
        </p:spPr>
        <p:txBody>
          <a:bodyPr>
            <a:normAutofit/>
          </a:bodyPr>
          <a:lstStyle>
            <a:lvl1pPr>
              <a:defRPr lang="en-IN" sz="2400" dirty="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05-06-2025</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9476" y="609939"/>
            <a:ext cx="11733048" cy="5344511"/>
          </a:xfrm>
        </p:spPr>
        <p:txBody>
          <a:bodyPr>
            <a:normAutofit/>
          </a:bodyPr>
          <a:lstStyle/>
          <a:p>
            <a:pPr algn="ctr">
              <a:buNone/>
            </a:pPr>
            <a:r>
              <a:rPr lang="en-US" sz="8000" b="1" u="sng" dirty="0">
                <a:solidFill>
                  <a:srgbClr val="FF0000"/>
                </a:solidFill>
                <a:latin typeface="Arial Black" pitchFamily="34" charset="0"/>
              </a:rPr>
              <a:t>SYLLOGISM</a:t>
            </a:r>
          </a:p>
          <a:p>
            <a:pPr algn="ctr">
              <a:buNone/>
            </a:pPr>
            <a:r>
              <a:rPr lang="en-US" sz="8000" b="1" dirty="0"/>
              <a:t> </a:t>
            </a:r>
          </a:p>
          <a:p>
            <a:pPr algn="ctr">
              <a:buNone/>
            </a:pPr>
            <a:r>
              <a:rPr lang="en-US" sz="8000" b="1" dirty="0">
                <a:latin typeface="Arial Black" pitchFamily="34" charset="0"/>
              </a:rPr>
              <a:t> </a:t>
            </a:r>
            <a:r>
              <a:rPr lang="en-US" sz="8000" dirty="0"/>
              <a:t> </a:t>
            </a:r>
            <a:endParaRPr lang="en-US" sz="8000" b="1" dirty="0"/>
          </a:p>
          <a:p>
            <a:pPr algn="ctr">
              <a:buNone/>
            </a:pPr>
            <a:r>
              <a:rPr lang="en-US" sz="8000" b="1" dirty="0"/>
              <a:t> </a:t>
            </a:r>
          </a:p>
        </p:txBody>
      </p:sp>
    </p:spTree>
    <p:extLst>
      <p:ext uri="{BB962C8B-B14F-4D97-AF65-F5344CB8AC3E}">
        <p14:creationId xmlns:p14="http://schemas.microsoft.com/office/powerpoint/2010/main" val="3914501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sz="6600" b="1" u="sng" dirty="0">
                <a:solidFill>
                  <a:srgbClr val="FF0000"/>
                </a:solidFill>
                <a:latin typeface="Arial Black" pitchFamily="34" charset="0"/>
              </a:rPr>
              <a:t>SYLLOGISM</a:t>
            </a:r>
          </a:p>
          <a:p>
            <a:pPr>
              <a:buNone/>
            </a:pPr>
            <a:r>
              <a:rPr lang="en-US" sz="1800" b="1" dirty="0"/>
              <a:t> </a:t>
            </a:r>
            <a:endParaRPr lang="en-US" b="1" dirty="0"/>
          </a:p>
          <a:p>
            <a:pPr>
              <a:buNone/>
            </a:pPr>
            <a:r>
              <a:rPr lang="en-US" b="1" dirty="0">
                <a:latin typeface="Arial Black" pitchFamily="34" charset="0"/>
              </a:rPr>
              <a:t> </a:t>
            </a:r>
            <a:r>
              <a:rPr lang="en-US" dirty="0"/>
              <a:t> </a:t>
            </a:r>
            <a:endParaRPr lang="en-US" b="1" dirty="0"/>
          </a:p>
          <a:p>
            <a:pPr>
              <a:buNone/>
            </a:pPr>
            <a:r>
              <a:rPr lang="en-US" b="1" dirty="0"/>
              <a:t> </a:t>
            </a:r>
          </a:p>
        </p:txBody>
      </p:sp>
      <p:pic>
        <p:nvPicPr>
          <p:cNvPr id="5" name="Picture 4"/>
          <p:cNvPicPr>
            <a:picLocks noChangeAspect="1"/>
          </p:cNvPicPr>
          <p:nvPr/>
        </p:nvPicPr>
        <p:blipFill>
          <a:blip r:embed="rId2"/>
          <a:stretch>
            <a:fillRect/>
          </a:stretch>
        </p:blipFill>
        <p:spPr>
          <a:xfrm>
            <a:off x="338765" y="2397512"/>
            <a:ext cx="5207765" cy="4019054"/>
          </a:xfrm>
          <a:prstGeom prst="rect">
            <a:avLst/>
          </a:prstGeom>
        </p:spPr>
      </p:pic>
      <p:pic>
        <p:nvPicPr>
          <p:cNvPr id="4102" name="Picture 6" descr="Solving Syllogism using Venn Diagram Approach – freeAptitudeCa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2902" y="2649561"/>
            <a:ext cx="6089107" cy="3579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9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marL="0" indent="0">
              <a:buNone/>
            </a:pPr>
            <a:r>
              <a:rPr lang="en-US" b="1" u="sng" dirty="0">
                <a:solidFill>
                  <a:srgbClr val="FF0000"/>
                </a:solidFill>
                <a:latin typeface="+mn-lt"/>
              </a:rPr>
              <a:t>What is Syllogism</a:t>
            </a:r>
            <a:r>
              <a:rPr lang="en-US" b="1" dirty="0">
                <a:solidFill>
                  <a:srgbClr val="FF0000"/>
                </a:solidFill>
                <a:latin typeface="+mn-lt"/>
              </a:rPr>
              <a:t>?</a:t>
            </a:r>
            <a:endParaRPr lang="en-US" dirty="0">
              <a:solidFill>
                <a:srgbClr val="FF0000"/>
              </a:solidFill>
              <a:latin typeface="+mn-lt"/>
            </a:endParaRPr>
          </a:p>
          <a:p>
            <a:pPr>
              <a:buFont typeface="Wingdings" panose="05000000000000000000" pitchFamily="2" charset="2"/>
              <a:buChar char="Ø"/>
            </a:pPr>
            <a:r>
              <a:rPr lang="en-US" dirty="0">
                <a:latin typeface="Calibri Light" panose="020F0302020204030204" pitchFamily="34" charset="0"/>
                <a:cs typeface="Calibri Light" panose="020F0302020204030204" pitchFamily="34" charset="0"/>
              </a:rPr>
              <a:t>The word syllogism is derived from the Greek word “syllogismos” which means “conclusion, inference”. Syllogisms are a logical argument of statements using deductive reasoning to arrive at a conclusion. The major contribution to the filed of syllogisms is attributed to Aristotle.</a:t>
            </a:r>
          </a:p>
          <a:p>
            <a:pPr>
              <a:buFont typeface="Wingdings" panose="05000000000000000000" pitchFamily="2" charset="2"/>
              <a:buChar char="Ø"/>
            </a:pPr>
            <a:r>
              <a:rPr lang="en-US" dirty="0">
                <a:latin typeface="Calibri Light" panose="020F0302020204030204" pitchFamily="34" charset="0"/>
                <a:cs typeface="Calibri Light" panose="020F0302020204030204" pitchFamily="34" charset="0"/>
              </a:rPr>
              <a:t>The questions which are asked in this section contain two or more statements, and two or more conclusions follow these statements. One has to find out which of these conclusions logically follow the given statements. The statements have to be taken true even if they seem to be at variance from the commonly known facts</a:t>
            </a:r>
            <a:endParaRPr lang="en-US" b="1" dirty="0">
              <a:solidFill>
                <a:schemeClr val="tx1">
                  <a:lumMod val="95000"/>
                  <a:lumOff val="5000"/>
                </a:schemeClr>
              </a:solidFill>
              <a:latin typeface="Calibri Light" panose="020F0302020204030204" pitchFamily="34" charset="0"/>
              <a:cs typeface="Calibri Light" panose="020F0302020204030204" pitchFamily="34" charset="0"/>
            </a:endParaRPr>
          </a:p>
          <a:p>
            <a:pPr>
              <a:buNone/>
            </a:pPr>
            <a:r>
              <a:rPr lang="en-US" sz="1800" b="1" dirty="0"/>
              <a:t> </a:t>
            </a:r>
            <a:endParaRPr lang="en-US" b="1" dirty="0"/>
          </a:p>
          <a:p>
            <a:pPr>
              <a:buNone/>
            </a:pPr>
            <a:r>
              <a:rPr lang="en-US" b="1" dirty="0">
                <a:latin typeface="Arial Black" pitchFamily="34" charset="0"/>
              </a:rPr>
              <a:t> </a:t>
            </a:r>
            <a:r>
              <a:rPr lang="en-US" dirty="0"/>
              <a:t> </a:t>
            </a:r>
            <a:endParaRPr lang="en-US" b="1" dirty="0"/>
          </a:p>
          <a:p>
            <a:pPr>
              <a:buNone/>
            </a:pPr>
            <a:r>
              <a:rPr lang="en-US" b="1" dirty="0"/>
              <a:t> </a:t>
            </a:r>
          </a:p>
        </p:txBody>
      </p:sp>
    </p:spTree>
    <p:extLst>
      <p:ext uri="{BB962C8B-B14F-4D97-AF65-F5344CB8AC3E}">
        <p14:creationId xmlns:p14="http://schemas.microsoft.com/office/powerpoint/2010/main" val="1962534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77500" lnSpcReduction="20000"/>
          </a:bodyPr>
          <a:lstStyle/>
          <a:p>
            <a:pPr>
              <a:buNone/>
            </a:pPr>
            <a:r>
              <a:rPr lang="en-US" b="1" dirty="0">
                <a:solidFill>
                  <a:schemeClr val="tx1">
                    <a:lumMod val="95000"/>
                    <a:lumOff val="5000"/>
                  </a:schemeClr>
                </a:solidFill>
                <a:latin typeface="Arial Black" pitchFamily="34" charset="0"/>
              </a:rPr>
              <a:t>			                                         </a:t>
            </a:r>
            <a:r>
              <a:rPr lang="en-US" sz="2800" b="1" dirty="0">
                <a:solidFill>
                  <a:srgbClr val="FF0000"/>
                </a:solidFill>
                <a:latin typeface="+mn-lt"/>
              </a:rPr>
              <a:t>SYLLOGISM</a:t>
            </a:r>
          </a:p>
          <a:p>
            <a:pPr marL="0" indent="0">
              <a:buNone/>
            </a:pPr>
            <a:r>
              <a:rPr lang="en-US" sz="3100" b="1" dirty="0">
                <a:solidFill>
                  <a:srgbClr val="FF0000"/>
                </a:solidFill>
              </a:rPr>
              <a:t>The questions of syllogisms of three main parts.</a:t>
            </a:r>
          </a:p>
          <a:p>
            <a:pPr>
              <a:buFont typeface="Wingdings" panose="05000000000000000000" pitchFamily="2" charset="2"/>
              <a:buChar char="Ø"/>
            </a:pPr>
            <a:r>
              <a:rPr lang="en-US" sz="3100" b="1" dirty="0">
                <a:latin typeface="Calibri" panose="020F0502020204030204" pitchFamily="34" charset="0"/>
                <a:cs typeface="Calibri" panose="020F0502020204030204" pitchFamily="34" charset="0"/>
              </a:rPr>
              <a:t>Major premise</a:t>
            </a:r>
          </a:p>
          <a:p>
            <a:pPr>
              <a:buFont typeface="Wingdings" panose="05000000000000000000" pitchFamily="2" charset="2"/>
              <a:buChar char="Ø"/>
            </a:pPr>
            <a:r>
              <a:rPr lang="en-US" sz="3100" b="1" dirty="0">
                <a:latin typeface="Calibri" panose="020F0502020204030204" pitchFamily="34" charset="0"/>
                <a:cs typeface="Calibri" panose="020F0502020204030204" pitchFamily="34" charset="0"/>
              </a:rPr>
              <a:t>Minor premise</a:t>
            </a:r>
          </a:p>
          <a:p>
            <a:pPr>
              <a:buFont typeface="Wingdings" panose="05000000000000000000" pitchFamily="2" charset="2"/>
              <a:buChar char="Ø"/>
            </a:pPr>
            <a:r>
              <a:rPr lang="en-US" sz="3100" b="1" dirty="0">
                <a:latin typeface="Calibri" panose="020F0502020204030204" pitchFamily="34" charset="0"/>
                <a:cs typeface="Calibri" panose="020F0502020204030204" pitchFamily="34" charset="0"/>
              </a:rPr>
              <a:t>Conclusion</a:t>
            </a:r>
          </a:p>
          <a:p>
            <a:pPr marL="0" indent="0">
              <a:buNone/>
            </a:pPr>
            <a:r>
              <a:rPr lang="en-US" sz="3100" dirty="0"/>
              <a:t>   The central premise is a statement in general, believed to be true by the author.</a:t>
            </a:r>
          </a:p>
          <a:p>
            <a:pPr>
              <a:buFont typeface="Wingdings" panose="05000000000000000000" pitchFamily="2" charset="2"/>
              <a:buChar char="Ø"/>
            </a:pPr>
            <a:r>
              <a:rPr lang="en-US" sz="3100" b="1" dirty="0">
                <a:latin typeface="Calibri" panose="020F0502020204030204" pitchFamily="34" charset="0"/>
                <a:cs typeface="Calibri" panose="020F0502020204030204" pitchFamily="34" charset="0"/>
              </a:rPr>
              <a:t>Example:</a:t>
            </a:r>
            <a:r>
              <a:rPr lang="en-US" sz="3100" dirty="0"/>
              <a:t> </a:t>
            </a:r>
            <a:r>
              <a:rPr lang="en-US" sz="3100" dirty="0">
                <a:latin typeface="+mj-lt"/>
              </a:rPr>
              <a:t>All women are smart.</a:t>
            </a:r>
          </a:p>
          <a:p>
            <a:pPr marL="0" indent="0">
              <a:buNone/>
            </a:pPr>
            <a:r>
              <a:rPr lang="en-US" sz="3100" dirty="0">
                <a:latin typeface="+mj-lt"/>
              </a:rPr>
              <a:t>   The minor premise is a specific example of the major premise.</a:t>
            </a:r>
          </a:p>
          <a:p>
            <a:pPr>
              <a:buFont typeface="Wingdings" panose="05000000000000000000" pitchFamily="2" charset="2"/>
              <a:buChar char="Ø"/>
            </a:pPr>
            <a:r>
              <a:rPr lang="en-US" sz="3100" b="1" dirty="0">
                <a:latin typeface="+mn-lt"/>
              </a:rPr>
              <a:t>Example</a:t>
            </a:r>
            <a:r>
              <a:rPr lang="en-US" sz="3100" b="1" dirty="0"/>
              <a:t>:</a:t>
            </a:r>
            <a:r>
              <a:rPr lang="en-US" sz="3100" dirty="0"/>
              <a:t> </a:t>
            </a:r>
            <a:r>
              <a:rPr lang="en-US" sz="3100" dirty="0" err="1">
                <a:latin typeface="+mn-lt"/>
              </a:rPr>
              <a:t>Nisha</a:t>
            </a:r>
            <a:r>
              <a:rPr lang="en-US" sz="3100" dirty="0">
                <a:latin typeface="+mn-lt"/>
              </a:rPr>
              <a:t> is a woman.</a:t>
            </a:r>
          </a:p>
          <a:p>
            <a:pPr marL="0" indent="0">
              <a:buNone/>
            </a:pPr>
            <a:r>
              <a:rPr lang="en-US" sz="3100" dirty="0">
                <a:latin typeface="+mn-lt"/>
              </a:rPr>
              <a:t>   The conclusion is a specific statement which logically follows both major and    minor statement.</a:t>
            </a:r>
          </a:p>
          <a:p>
            <a:pPr>
              <a:buFont typeface="Wingdings" panose="05000000000000000000" pitchFamily="2" charset="2"/>
              <a:buChar char="Ø"/>
            </a:pPr>
            <a:r>
              <a:rPr lang="en-US" sz="3100" b="1" dirty="0">
                <a:latin typeface="Calibri" panose="020F0502020204030204" pitchFamily="34" charset="0"/>
                <a:cs typeface="Calibri" panose="020F0502020204030204" pitchFamily="34" charset="0"/>
              </a:rPr>
              <a:t>Example</a:t>
            </a:r>
            <a:r>
              <a:rPr lang="en-US" sz="3100" b="1" dirty="0"/>
              <a:t>:</a:t>
            </a:r>
            <a:r>
              <a:rPr lang="en-US" sz="3100" dirty="0"/>
              <a:t> </a:t>
            </a:r>
            <a:r>
              <a:rPr lang="en-US" sz="3100" dirty="0" err="1">
                <a:latin typeface="+mn-lt"/>
              </a:rPr>
              <a:t>Nisha</a:t>
            </a:r>
            <a:r>
              <a:rPr lang="en-US" sz="3100" dirty="0">
                <a:latin typeface="+mn-lt"/>
              </a:rPr>
              <a:t> is smart.</a:t>
            </a:r>
          </a:p>
          <a:p>
            <a:pPr marL="0" indent="0">
              <a:buNone/>
            </a:pPr>
            <a:r>
              <a:rPr lang="en-US" sz="3100" dirty="0">
                <a:latin typeface="+mn-lt"/>
              </a:rPr>
              <a:t>   </a:t>
            </a:r>
          </a:p>
          <a:p>
            <a:pPr>
              <a:buNone/>
            </a:pPr>
            <a:endParaRPr lang="en-US" b="1" dirty="0">
              <a:solidFill>
                <a:schemeClr val="tx1">
                  <a:lumMod val="95000"/>
                  <a:lumOff val="5000"/>
                </a:schemeClr>
              </a:solidFill>
              <a:latin typeface="Arial Black" pitchFamily="34" charset="0"/>
            </a:endParaRPr>
          </a:p>
        </p:txBody>
      </p:sp>
    </p:spTree>
    <p:extLst>
      <p:ext uri="{BB962C8B-B14F-4D97-AF65-F5344CB8AC3E}">
        <p14:creationId xmlns:p14="http://schemas.microsoft.com/office/powerpoint/2010/main" val="347486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SYLLOGISM</a:t>
            </a:r>
          </a:p>
          <a:p>
            <a:pPr>
              <a:buNone/>
            </a:pPr>
            <a:r>
              <a:rPr lang="en-US" b="1" dirty="0">
                <a:solidFill>
                  <a:srgbClr val="FF0000"/>
                </a:solidFill>
                <a:latin typeface="+mn-lt"/>
              </a:rPr>
              <a:t>Some more example:- </a:t>
            </a:r>
          </a:p>
          <a:p>
            <a:pPr>
              <a:buNone/>
            </a:pPr>
            <a:endParaRPr lang="en-US" b="1" dirty="0">
              <a:solidFill>
                <a:schemeClr val="tx1">
                  <a:lumMod val="95000"/>
                  <a:lumOff val="5000"/>
                </a:schemeClr>
              </a:solidFill>
              <a:latin typeface="Arial Black" pitchFamily="34" charset="0"/>
            </a:endParaRPr>
          </a:p>
          <a:p>
            <a:pPr>
              <a:buNone/>
            </a:pPr>
            <a:r>
              <a:rPr lang="en-US" sz="1800" b="1" dirty="0"/>
              <a:t> </a:t>
            </a:r>
            <a:endParaRPr lang="en-US" b="1" dirty="0"/>
          </a:p>
          <a:p>
            <a:pPr>
              <a:buNone/>
            </a:pPr>
            <a:r>
              <a:rPr lang="en-US" b="1" dirty="0">
                <a:latin typeface="Arial Black" pitchFamily="34" charset="0"/>
              </a:rPr>
              <a:t> </a:t>
            </a:r>
            <a:r>
              <a:rPr lang="en-US" dirty="0"/>
              <a:t> </a:t>
            </a:r>
            <a:endParaRPr lang="en-US" b="1" dirty="0"/>
          </a:p>
          <a:p>
            <a:pPr>
              <a:buNone/>
            </a:pPr>
            <a:r>
              <a:rPr lang="en-US" b="1" dirty="0"/>
              <a:t> </a:t>
            </a:r>
          </a:p>
        </p:txBody>
      </p:sp>
      <p:graphicFrame>
        <p:nvGraphicFramePr>
          <p:cNvPr id="4" name="Table 3"/>
          <p:cNvGraphicFramePr>
            <a:graphicFrameLocks noGrp="1"/>
          </p:cNvGraphicFramePr>
          <p:nvPr>
            <p:extLst>
              <p:ext uri="{D42A27DB-BD31-4B8C-83A1-F6EECF244321}">
                <p14:modId xmlns:p14="http://schemas.microsoft.com/office/powerpoint/2010/main" val="16929379"/>
              </p:ext>
            </p:extLst>
          </p:nvPr>
        </p:nvGraphicFramePr>
        <p:xfrm>
          <a:off x="253998" y="1957891"/>
          <a:ext cx="11859112" cy="4230693"/>
        </p:xfrm>
        <a:graphic>
          <a:graphicData uri="http://schemas.openxmlformats.org/drawingml/2006/table">
            <a:tbl>
              <a:tblPr>
                <a:tableStyleId>{08FB837D-C827-4EFA-A057-4D05807E0F7C}</a:tableStyleId>
              </a:tblPr>
              <a:tblGrid>
                <a:gridCol w="2964778">
                  <a:extLst>
                    <a:ext uri="{9D8B030D-6E8A-4147-A177-3AD203B41FA5}">
                      <a16:colId xmlns:a16="http://schemas.microsoft.com/office/drawing/2014/main" val="1159049274"/>
                    </a:ext>
                  </a:extLst>
                </a:gridCol>
                <a:gridCol w="2964778">
                  <a:extLst>
                    <a:ext uri="{9D8B030D-6E8A-4147-A177-3AD203B41FA5}">
                      <a16:colId xmlns:a16="http://schemas.microsoft.com/office/drawing/2014/main" val="3705098848"/>
                    </a:ext>
                  </a:extLst>
                </a:gridCol>
                <a:gridCol w="2964778">
                  <a:extLst>
                    <a:ext uri="{9D8B030D-6E8A-4147-A177-3AD203B41FA5}">
                      <a16:colId xmlns:a16="http://schemas.microsoft.com/office/drawing/2014/main" val="2424335157"/>
                    </a:ext>
                  </a:extLst>
                </a:gridCol>
                <a:gridCol w="2964778">
                  <a:extLst>
                    <a:ext uri="{9D8B030D-6E8A-4147-A177-3AD203B41FA5}">
                      <a16:colId xmlns:a16="http://schemas.microsoft.com/office/drawing/2014/main" val="1120148962"/>
                    </a:ext>
                  </a:extLst>
                </a:gridCol>
              </a:tblGrid>
              <a:tr h="1144934">
                <a:tc>
                  <a:txBody>
                    <a:bodyPr/>
                    <a:lstStyle/>
                    <a:p>
                      <a:pPr fontAlgn="t"/>
                      <a:r>
                        <a:rPr lang="en-IN" sz="2400">
                          <a:solidFill>
                            <a:srgbClr val="FF0000"/>
                          </a:solidFill>
                          <a:effectLst/>
                        </a:rPr>
                        <a:t>Major premise</a:t>
                      </a:r>
                      <a:endParaRPr lang="en-IN" sz="2400" b="0">
                        <a:solidFill>
                          <a:srgbClr val="FF0000"/>
                        </a:solidFill>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a:solidFill>
                            <a:srgbClr val="FF0000"/>
                          </a:solidFill>
                          <a:effectLst/>
                        </a:rPr>
                        <a:t>Minor premise</a:t>
                      </a:r>
                      <a:endParaRPr lang="en-IN" sz="2400" b="0">
                        <a:solidFill>
                          <a:srgbClr val="FF0000"/>
                        </a:solidFill>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dirty="0">
                          <a:solidFill>
                            <a:srgbClr val="FF0000"/>
                          </a:solidFill>
                          <a:effectLst/>
                        </a:rPr>
                        <a:t>Conclusion</a:t>
                      </a:r>
                      <a:endParaRPr lang="en-IN" sz="2400" b="0" dirty="0">
                        <a:solidFill>
                          <a:srgbClr val="FF0000"/>
                        </a:solidFill>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dirty="0">
                          <a:solidFill>
                            <a:srgbClr val="FF0000"/>
                          </a:solidFill>
                          <a:effectLst/>
                        </a:rPr>
                        <a:t>Conclusion True/false</a:t>
                      </a:r>
                      <a:endParaRPr lang="en-IN" sz="2400" b="0" dirty="0">
                        <a:solidFill>
                          <a:srgbClr val="FF0000"/>
                        </a:solidFill>
                        <a:effectLst/>
                        <a:latin typeface="Arial" panose="020B0604020202020204" pitchFamily="34" charset="0"/>
                        <a:cs typeface="Arial" panose="020B0604020202020204" pitchFamily="34" charset="0"/>
                      </a:endParaRPr>
                    </a:p>
                  </a:txBody>
                  <a:tcPr marL="43297" marR="43297" marT="43297" marB="43297"/>
                </a:tc>
                <a:extLst>
                  <a:ext uri="{0D108BD9-81ED-4DB2-BD59-A6C34878D82A}">
                    <a16:rowId xmlns:a16="http://schemas.microsoft.com/office/drawing/2014/main" val="2870653804"/>
                  </a:ext>
                </a:extLst>
              </a:tr>
              <a:tr h="1940825">
                <a:tc>
                  <a:txBody>
                    <a:bodyPr/>
                    <a:lstStyle/>
                    <a:p>
                      <a:pPr fontAlgn="t"/>
                      <a:r>
                        <a:rPr lang="en-IN" sz="2400" dirty="0">
                          <a:effectLst/>
                        </a:rPr>
                        <a:t>All dogs are cats.</a:t>
                      </a:r>
                      <a:endParaRPr lang="en-IN" sz="2400" b="0" dirty="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dirty="0">
                          <a:effectLst/>
                        </a:rPr>
                        <a:t>All cats are bulls.</a:t>
                      </a:r>
                      <a:endParaRPr lang="en-IN" sz="2400" b="0" dirty="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a:effectLst/>
                        </a:rPr>
                        <a:t>All bulls are dogs.</a:t>
                      </a:r>
                      <a:endParaRPr lang="en-IN" sz="2400" b="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US" sz="2400">
                          <a:effectLst/>
                        </a:rPr>
                        <a:t>False(it’s true only according to 3rd case)</a:t>
                      </a:r>
                      <a:endParaRPr lang="en-US" sz="2400" b="0">
                        <a:effectLst/>
                        <a:latin typeface="Arial" panose="020B0604020202020204" pitchFamily="34" charset="0"/>
                        <a:cs typeface="Arial" panose="020B0604020202020204" pitchFamily="34" charset="0"/>
                      </a:endParaRPr>
                    </a:p>
                  </a:txBody>
                  <a:tcPr marL="43297" marR="43297" marT="43297" marB="43297"/>
                </a:tc>
                <a:extLst>
                  <a:ext uri="{0D108BD9-81ED-4DB2-BD59-A6C34878D82A}">
                    <a16:rowId xmlns:a16="http://schemas.microsoft.com/office/drawing/2014/main" val="2123248721"/>
                  </a:ext>
                </a:extLst>
              </a:tr>
              <a:tr h="1144934">
                <a:tc>
                  <a:txBody>
                    <a:bodyPr/>
                    <a:lstStyle/>
                    <a:p>
                      <a:pPr fontAlgn="t"/>
                      <a:r>
                        <a:rPr lang="en-IN" sz="2400" dirty="0">
                          <a:effectLst/>
                        </a:rPr>
                        <a:t>All dogs are cats.</a:t>
                      </a:r>
                      <a:endParaRPr lang="en-IN" sz="2400" b="0" dirty="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dirty="0">
                          <a:effectLst/>
                        </a:rPr>
                        <a:t>All cats are bulls.</a:t>
                      </a:r>
                      <a:endParaRPr lang="en-IN" sz="2400" b="0" dirty="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a:effectLst/>
                        </a:rPr>
                        <a:t>All dogs are bulls.</a:t>
                      </a:r>
                      <a:endParaRPr lang="en-IN" sz="2400" b="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US" sz="2400" dirty="0">
                          <a:effectLst/>
                        </a:rPr>
                        <a:t>It’s true( In all the </a:t>
                      </a:r>
                      <a:endParaRPr lang="en-US" sz="2400" b="0" dirty="0">
                        <a:effectLst/>
                        <a:latin typeface="Arial" panose="020B0604020202020204" pitchFamily="34" charset="0"/>
                        <a:cs typeface="Arial" panose="020B0604020202020204" pitchFamily="34" charset="0"/>
                      </a:endParaRPr>
                    </a:p>
                  </a:txBody>
                  <a:tcPr marL="43297" marR="43297" marT="43297" marB="43297"/>
                </a:tc>
                <a:extLst>
                  <a:ext uri="{0D108BD9-81ED-4DB2-BD59-A6C34878D82A}">
                    <a16:rowId xmlns:a16="http://schemas.microsoft.com/office/drawing/2014/main" val="3018374202"/>
                  </a:ext>
                </a:extLst>
              </a:tr>
            </a:tbl>
          </a:graphicData>
        </a:graphic>
      </p:graphicFrame>
    </p:spTree>
    <p:extLst>
      <p:ext uri="{BB962C8B-B14F-4D97-AF65-F5344CB8AC3E}">
        <p14:creationId xmlns:p14="http://schemas.microsoft.com/office/powerpoint/2010/main" val="502694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SYLLOGISM</a:t>
            </a:r>
          </a:p>
          <a:p>
            <a:pPr>
              <a:buNone/>
            </a:pPr>
            <a:r>
              <a:rPr lang="en-US" b="1" dirty="0">
                <a:solidFill>
                  <a:srgbClr val="FF0000"/>
                </a:solidFill>
              </a:rPr>
              <a:t>Note:-  </a:t>
            </a:r>
            <a:r>
              <a:rPr lang="en-US" b="1" dirty="0">
                <a:solidFill>
                  <a:srgbClr val="FF0000"/>
                </a:solidFill>
                <a:latin typeface="+mn-lt"/>
              </a:rPr>
              <a:t>The conclusion should be true according to all the possible cases. One should draw all possible cases before arriving at a conclusion. Below the table that provides that correct combination of Venn diagrams of major and minor premises</a:t>
            </a:r>
          </a:p>
          <a:p>
            <a:pPr>
              <a:buNone/>
            </a:pPr>
            <a:r>
              <a:rPr lang="en-US" sz="1800" b="1" dirty="0"/>
              <a:t> </a:t>
            </a:r>
            <a:endParaRPr lang="en-US" b="1" dirty="0"/>
          </a:p>
          <a:p>
            <a:pPr>
              <a:buNone/>
            </a:pPr>
            <a:r>
              <a:rPr lang="en-US" b="1" dirty="0">
                <a:latin typeface="Arial Black" pitchFamily="34" charset="0"/>
              </a:rPr>
              <a:t> </a:t>
            </a:r>
            <a:r>
              <a:rPr lang="en-US" dirty="0"/>
              <a:t> </a:t>
            </a:r>
            <a:endParaRPr lang="en-US" b="1" dirty="0"/>
          </a:p>
          <a:p>
            <a:pPr>
              <a:buNone/>
            </a:pPr>
            <a:r>
              <a:rPr lang="en-US" b="1" dirty="0"/>
              <a:t> </a:t>
            </a:r>
          </a:p>
        </p:txBody>
      </p:sp>
      <p:pic>
        <p:nvPicPr>
          <p:cNvPr id="2054" name="Picture 6" descr="Three different cases of Venn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55" y="3279648"/>
            <a:ext cx="11204500" cy="3136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997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54057" y="855976"/>
            <a:ext cx="2531719" cy="523220"/>
          </a:xfrm>
          <a:prstGeom prst="rect">
            <a:avLst/>
          </a:prstGeom>
        </p:spPr>
        <p:txBody>
          <a:bodyPr wrap="none">
            <a:spAutoFit/>
          </a:bodyPr>
          <a:lstStyle/>
          <a:p>
            <a:r>
              <a:rPr lang="en-IN" sz="2800" b="1" dirty="0">
                <a:latin typeface="Arial Black" panose="020B0A04020102020204" pitchFamily="34" charset="0"/>
              </a:rPr>
              <a:t>SYLLOGISM</a:t>
            </a:r>
            <a:endParaRPr lang="en-IN" sz="2800" dirty="0">
              <a:latin typeface="Arial Black" panose="020B0A04020102020204" pitchFamily="34" charset="0"/>
            </a:endParaRPr>
          </a:p>
        </p:txBody>
      </p:sp>
      <p:sp>
        <p:nvSpPr>
          <p:cNvPr id="4" name="Rectangle 3"/>
          <p:cNvSpPr/>
          <p:nvPr/>
        </p:nvSpPr>
        <p:spPr>
          <a:xfrm>
            <a:off x="654057" y="1379196"/>
            <a:ext cx="9554950" cy="3046988"/>
          </a:xfrm>
          <a:prstGeom prst="rect">
            <a:avLst/>
          </a:prstGeom>
        </p:spPr>
        <p:txBody>
          <a:bodyPr wrap="square">
            <a:spAutoFit/>
          </a:bodyPr>
          <a:lstStyle/>
          <a:p>
            <a:r>
              <a:rPr lang="en-IN" sz="2400" b="1" dirty="0">
                <a:solidFill>
                  <a:srgbClr val="FF0000"/>
                </a:solidFill>
              </a:rPr>
              <a:t>Types of statements:</a:t>
            </a:r>
          </a:p>
          <a:p>
            <a:endParaRPr lang="en-IN" sz="2400" dirty="0"/>
          </a:p>
          <a:p>
            <a:r>
              <a:rPr lang="en-IN" sz="2400" dirty="0"/>
              <a:t>There are four types of statements in syllogism</a:t>
            </a:r>
          </a:p>
          <a:p>
            <a:r>
              <a:rPr lang="en-IN" sz="2400" b="1" dirty="0"/>
              <a:t>1. All</a:t>
            </a:r>
            <a:endParaRPr lang="en-IN" sz="2400" dirty="0"/>
          </a:p>
          <a:p>
            <a:r>
              <a:rPr lang="en-IN" sz="2400" b="1" dirty="0"/>
              <a:t>2. Some</a:t>
            </a:r>
            <a:endParaRPr lang="en-IN" sz="2400" dirty="0"/>
          </a:p>
          <a:p>
            <a:r>
              <a:rPr lang="en-IN" sz="2400" b="1" dirty="0"/>
              <a:t>3. No</a:t>
            </a:r>
            <a:endParaRPr lang="en-IN" sz="2400" dirty="0"/>
          </a:p>
          <a:p>
            <a:r>
              <a:rPr lang="en-IN" sz="2400" b="1" dirty="0"/>
              <a:t>4. Some not</a:t>
            </a:r>
            <a:endParaRPr lang="en-IN" sz="2400" dirty="0"/>
          </a:p>
          <a:p>
            <a:r>
              <a:rPr lang="en-IN" sz="2400" dirty="0"/>
              <a:t>These statements can be represented will the help of Venn diagram</a:t>
            </a:r>
          </a:p>
        </p:txBody>
      </p:sp>
    </p:spTree>
    <p:extLst>
      <p:ext uri="{BB962C8B-B14F-4D97-AF65-F5344CB8AC3E}">
        <p14:creationId xmlns:p14="http://schemas.microsoft.com/office/powerpoint/2010/main" val="2851871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400334" y="752354"/>
            <a:ext cx="11459569" cy="1938992"/>
          </a:xfrm>
          <a:prstGeom prst="rect">
            <a:avLst/>
          </a:prstGeom>
        </p:spPr>
        <p:txBody>
          <a:bodyPr wrap="square">
            <a:spAutoFit/>
          </a:bodyPr>
          <a:lstStyle/>
          <a:p>
            <a:r>
              <a:rPr lang="en-US" sz="2400" b="1" dirty="0">
                <a:solidFill>
                  <a:srgbClr val="FF0000"/>
                </a:solidFill>
                <a:latin typeface="Arial" panose="020B0604020202020204" pitchFamily="34" charset="0"/>
                <a:cs typeface="Arial" panose="020B0604020202020204" pitchFamily="34" charset="0"/>
              </a:rPr>
              <a:t>1.) </a:t>
            </a:r>
            <a:r>
              <a:rPr lang="en-US" sz="2400" b="1" dirty="0">
                <a:solidFill>
                  <a:srgbClr val="FF0000"/>
                </a:solidFill>
                <a:cs typeface="Arial" panose="020B0604020202020204" pitchFamily="34" charset="0"/>
              </a:rPr>
              <a:t>All STATEMENT</a:t>
            </a:r>
          </a:p>
          <a:p>
            <a:endParaRPr lang="en-IN" sz="2400" b="1" dirty="0">
              <a:latin typeface="Arial" panose="020B0604020202020204" pitchFamily="34" charset="0"/>
              <a:cs typeface="Arial" panose="020B0604020202020204" pitchFamily="34" charset="0"/>
            </a:endParaRPr>
          </a:p>
          <a:p>
            <a:r>
              <a:rPr lang="en-IN" sz="2400" b="1" dirty="0">
                <a:latin typeface="+mj-lt"/>
                <a:cs typeface="Arial" panose="020B0604020202020204" pitchFamily="34" charset="0"/>
              </a:rPr>
              <a:t>All statement is written in the format “ALL A are B”, here A and B represent the subject and object of the statement.</a:t>
            </a:r>
            <a:endParaRPr lang="en-IN" sz="2400" dirty="0">
              <a:latin typeface="+mj-lt"/>
              <a:cs typeface="Arial" panose="020B0604020202020204" pitchFamily="34" charset="0"/>
            </a:endParaRPr>
          </a:p>
          <a:p>
            <a:r>
              <a:rPr lang="en-IN" sz="2400" b="1" dirty="0">
                <a:latin typeface="+mj-lt"/>
                <a:cs typeface="Arial" panose="020B0604020202020204" pitchFamily="34" charset="0"/>
              </a:rPr>
              <a:t>Venn diagram</a:t>
            </a:r>
            <a:endParaRPr lang="en-IN" sz="2400" dirty="0">
              <a:latin typeface="+mj-lt"/>
              <a:cs typeface="Arial" panose="020B0604020202020204" pitchFamily="34" charset="0"/>
            </a:endParaRPr>
          </a:p>
        </p:txBody>
      </p:sp>
      <p:pic>
        <p:nvPicPr>
          <p:cNvPr id="3" name="Picture 2" descr="SYLLOGISM MADE EASY"/>
          <p:cNvPicPr/>
          <p:nvPr/>
        </p:nvPicPr>
        <p:blipFill>
          <a:blip r:embed="rId2">
            <a:extLst>
              <a:ext uri="{28A0092B-C50C-407E-A947-70E740481C1C}">
                <a14:useLocalDpi xmlns:a14="http://schemas.microsoft.com/office/drawing/2010/main" val="0"/>
              </a:ext>
            </a:extLst>
          </a:blip>
          <a:srcRect/>
          <a:stretch>
            <a:fillRect/>
          </a:stretch>
        </p:blipFill>
        <p:spPr bwMode="auto">
          <a:xfrm>
            <a:off x="8212631" y="3977689"/>
            <a:ext cx="1419225" cy="1162050"/>
          </a:xfrm>
          <a:prstGeom prst="rect">
            <a:avLst/>
          </a:prstGeom>
          <a:noFill/>
          <a:ln>
            <a:noFill/>
          </a:ln>
        </p:spPr>
      </p:pic>
      <p:pic>
        <p:nvPicPr>
          <p:cNvPr id="4" name="Picture 3" descr="C:\Users\neeraj\Desktop\Movenent all.png"/>
          <p:cNvPicPr/>
          <p:nvPr/>
        </p:nvPicPr>
        <p:blipFill>
          <a:blip r:embed="rId3">
            <a:extLst>
              <a:ext uri="{28A0092B-C50C-407E-A947-70E740481C1C}">
                <a14:useLocalDpi xmlns:a14="http://schemas.microsoft.com/office/drawing/2010/main" val="0"/>
              </a:ext>
            </a:extLst>
          </a:blip>
          <a:srcRect/>
          <a:stretch>
            <a:fillRect/>
          </a:stretch>
        </p:blipFill>
        <p:spPr bwMode="auto">
          <a:xfrm>
            <a:off x="1284263" y="3011782"/>
            <a:ext cx="5383267" cy="3093864"/>
          </a:xfrm>
          <a:prstGeom prst="rect">
            <a:avLst/>
          </a:prstGeom>
          <a:noFill/>
          <a:ln>
            <a:noFill/>
          </a:ln>
        </p:spPr>
      </p:pic>
    </p:spTree>
    <p:extLst>
      <p:ext uri="{BB962C8B-B14F-4D97-AF65-F5344CB8AC3E}">
        <p14:creationId xmlns:p14="http://schemas.microsoft.com/office/powerpoint/2010/main" val="1785336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412949" y="883271"/>
            <a:ext cx="3068532" cy="461665"/>
          </a:xfrm>
          <a:prstGeom prst="rect">
            <a:avLst/>
          </a:prstGeom>
        </p:spPr>
        <p:txBody>
          <a:bodyPr wrap="none">
            <a:spAutoFit/>
          </a:bodyPr>
          <a:lstStyle/>
          <a:p>
            <a:r>
              <a:rPr lang="en-US" sz="2400" b="1" dirty="0">
                <a:solidFill>
                  <a:srgbClr val="FF0000"/>
                </a:solidFill>
                <a:latin typeface="Arial Black" panose="020B0A04020102020204" pitchFamily="34" charset="0"/>
              </a:rPr>
              <a:t>2.) </a:t>
            </a:r>
            <a:r>
              <a:rPr lang="en-US" sz="2400" b="1" dirty="0">
                <a:solidFill>
                  <a:srgbClr val="FF0000"/>
                </a:solidFill>
              </a:rPr>
              <a:t>SOME STATEMENT</a:t>
            </a:r>
          </a:p>
        </p:txBody>
      </p:sp>
      <p:sp>
        <p:nvSpPr>
          <p:cNvPr id="3" name="Rectangle 2"/>
          <p:cNvSpPr/>
          <p:nvPr/>
        </p:nvSpPr>
        <p:spPr>
          <a:xfrm>
            <a:off x="918949" y="1344936"/>
            <a:ext cx="9862782" cy="830997"/>
          </a:xfrm>
          <a:prstGeom prst="rect">
            <a:avLst/>
          </a:prstGeom>
        </p:spPr>
        <p:txBody>
          <a:bodyPr wrap="square">
            <a:spAutoFit/>
          </a:bodyPr>
          <a:lstStyle/>
          <a:p>
            <a:r>
              <a:rPr lang="en-IN" sz="2400" b="1" dirty="0">
                <a:latin typeface="+mj-lt"/>
                <a:cs typeface="Arial" panose="020B0604020202020204" pitchFamily="34" charset="0"/>
              </a:rPr>
              <a:t>Some statement is written in the format “Some A are B”, here A and B represent the subject and object of the statement.</a:t>
            </a:r>
            <a:endParaRPr lang="en-IN" sz="2400" dirty="0">
              <a:latin typeface="+mj-lt"/>
              <a:cs typeface="Arial" panose="020B0604020202020204" pitchFamily="34" charset="0"/>
            </a:endParaRPr>
          </a:p>
        </p:txBody>
      </p:sp>
      <p:pic>
        <p:nvPicPr>
          <p:cNvPr id="4" name="Picture 3" descr="C:\Users\neeraj\Desktop\some new.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58161" y="2820147"/>
            <a:ext cx="5777455" cy="3240635"/>
          </a:xfrm>
          <a:prstGeom prst="rect">
            <a:avLst/>
          </a:prstGeom>
          <a:noFill/>
          <a:ln>
            <a:noFill/>
          </a:ln>
        </p:spPr>
      </p:pic>
    </p:spTree>
    <p:extLst>
      <p:ext uri="{BB962C8B-B14F-4D97-AF65-F5344CB8AC3E}">
        <p14:creationId xmlns:p14="http://schemas.microsoft.com/office/powerpoint/2010/main" val="117079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548403" y="801384"/>
            <a:ext cx="2704651" cy="461665"/>
          </a:xfrm>
          <a:prstGeom prst="rect">
            <a:avLst/>
          </a:prstGeom>
        </p:spPr>
        <p:txBody>
          <a:bodyPr wrap="none">
            <a:spAutoFit/>
          </a:bodyPr>
          <a:lstStyle/>
          <a:p>
            <a:r>
              <a:rPr lang="en-US" sz="2400" b="1" dirty="0">
                <a:solidFill>
                  <a:srgbClr val="FF0000"/>
                </a:solidFill>
                <a:latin typeface="Arial Black" panose="020B0A04020102020204" pitchFamily="34" charset="0"/>
              </a:rPr>
              <a:t>3.) </a:t>
            </a:r>
            <a:r>
              <a:rPr lang="en-IN" sz="2400" b="1" dirty="0">
                <a:solidFill>
                  <a:srgbClr val="FF0000"/>
                </a:solidFill>
              </a:rPr>
              <a:t>NO</a:t>
            </a:r>
            <a:r>
              <a:rPr lang="en-IN" sz="2400" dirty="0">
                <a:solidFill>
                  <a:srgbClr val="FF0000"/>
                </a:solidFill>
              </a:rPr>
              <a:t> </a:t>
            </a:r>
            <a:r>
              <a:rPr lang="en-IN" sz="2400" b="1" dirty="0">
                <a:solidFill>
                  <a:srgbClr val="FF0000"/>
                </a:solidFill>
              </a:rPr>
              <a:t>STATEMENT</a:t>
            </a:r>
          </a:p>
        </p:txBody>
      </p:sp>
      <p:sp>
        <p:nvSpPr>
          <p:cNvPr id="3" name="Rectangle 2"/>
          <p:cNvSpPr/>
          <p:nvPr/>
        </p:nvSpPr>
        <p:spPr>
          <a:xfrm>
            <a:off x="548403" y="1386217"/>
            <a:ext cx="11175024" cy="830997"/>
          </a:xfrm>
          <a:prstGeom prst="rect">
            <a:avLst/>
          </a:prstGeom>
        </p:spPr>
        <p:txBody>
          <a:bodyPr wrap="square">
            <a:spAutoFit/>
          </a:bodyPr>
          <a:lstStyle/>
          <a:p>
            <a:r>
              <a:rPr lang="en-IN" sz="2400" b="1" dirty="0">
                <a:cs typeface="Arial" panose="020B0604020202020204" pitchFamily="34" charset="0"/>
              </a:rPr>
              <a:t>No statement is written in the format “No A are B”, here A and B represent the subject and object of the statement</a:t>
            </a:r>
            <a:endParaRPr lang="en-IN" sz="2400" dirty="0">
              <a:cs typeface="Arial" panose="020B0604020202020204" pitchFamily="34" charset="0"/>
            </a:endParaRPr>
          </a:p>
        </p:txBody>
      </p:sp>
      <p:pic>
        <p:nvPicPr>
          <p:cNvPr id="4" name="Picture 3" descr="C:\Users\neeraj\Desktop\No Movement.png"/>
          <p:cNvPicPr/>
          <p:nvPr/>
        </p:nvPicPr>
        <p:blipFill>
          <a:blip r:embed="rId2">
            <a:extLst>
              <a:ext uri="{28A0092B-C50C-407E-A947-70E740481C1C}">
                <a14:useLocalDpi xmlns:a14="http://schemas.microsoft.com/office/drawing/2010/main" val="0"/>
              </a:ext>
            </a:extLst>
          </a:blip>
          <a:srcRect/>
          <a:stretch>
            <a:fillRect/>
          </a:stretch>
        </p:blipFill>
        <p:spPr bwMode="auto">
          <a:xfrm>
            <a:off x="3211694" y="2556479"/>
            <a:ext cx="5605955" cy="3632781"/>
          </a:xfrm>
          <a:prstGeom prst="rect">
            <a:avLst/>
          </a:prstGeom>
          <a:noFill/>
          <a:ln>
            <a:noFill/>
          </a:ln>
        </p:spPr>
      </p:pic>
    </p:spTree>
    <p:extLst>
      <p:ext uri="{BB962C8B-B14F-4D97-AF65-F5344CB8AC3E}">
        <p14:creationId xmlns:p14="http://schemas.microsoft.com/office/powerpoint/2010/main" val="4256674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454376" y="787737"/>
            <a:ext cx="3693383" cy="461665"/>
          </a:xfrm>
          <a:prstGeom prst="rect">
            <a:avLst/>
          </a:prstGeom>
        </p:spPr>
        <p:txBody>
          <a:bodyPr wrap="none">
            <a:spAutoFit/>
          </a:bodyPr>
          <a:lstStyle/>
          <a:p>
            <a:r>
              <a:rPr lang="en-US" sz="2400" b="1" dirty="0">
                <a:solidFill>
                  <a:srgbClr val="FF0000"/>
                </a:solidFill>
                <a:latin typeface="Arial Black" panose="020B0A04020102020204" pitchFamily="34" charset="0"/>
              </a:rPr>
              <a:t>4.) </a:t>
            </a:r>
            <a:r>
              <a:rPr lang="en-IN" sz="2400" b="1" dirty="0">
                <a:solidFill>
                  <a:srgbClr val="FF0000"/>
                </a:solidFill>
              </a:rPr>
              <a:t>SOME NOT STATEMENT</a:t>
            </a:r>
          </a:p>
        </p:txBody>
      </p:sp>
      <p:sp>
        <p:nvSpPr>
          <p:cNvPr id="3" name="Rectangle 2"/>
          <p:cNvSpPr/>
          <p:nvPr/>
        </p:nvSpPr>
        <p:spPr>
          <a:xfrm>
            <a:off x="454376" y="1384195"/>
            <a:ext cx="11528358" cy="830997"/>
          </a:xfrm>
          <a:prstGeom prst="rect">
            <a:avLst/>
          </a:prstGeom>
        </p:spPr>
        <p:txBody>
          <a:bodyPr wrap="square">
            <a:spAutoFit/>
          </a:bodyPr>
          <a:lstStyle/>
          <a:p>
            <a:r>
              <a:rPr lang="en-IN" sz="2400" b="1" dirty="0">
                <a:latin typeface="+mj-lt"/>
                <a:cs typeface="Arial" panose="020B0604020202020204" pitchFamily="34" charset="0"/>
              </a:rPr>
              <a:t>All statement is written in the format “Some A are not B”, here A and B represent the subject and object of the statement.</a:t>
            </a:r>
            <a:endParaRPr lang="en-IN" sz="2400" dirty="0">
              <a:latin typeface="+mj-lt"/>
              <a:cs typeface="Arial" panose="020B0604020202020204" pitchFamily="34" charset="0"/>
            </a:endParaRPr>
          </a:p>
        </p:txBody>
      </p:sp>
      <p:pic>
        <p:nvPicPr>
          <p:cNvPr id="4" name="Picture 3" descr="C:\Users\neeraj\Desktop\Movement Some Not.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2894" y="2478443"/>
            <a:ext cx="5149247" cy="3349187"/>
          </a:xfrm>
          <a:prstGeom prst="rect">
            <a:avLst/>
          </a:prstGeom>
          <a:noFill/>
          <a:ln>
            <a:noFill/>
          </a:ln>
        </p:spPr>
      </p:pic>
    </p:spTree>
    <p:extLst>
      <p:ext uri="{BB962C8B-B14F-4D97-AF65-F5344CB8AC3E}">
        <p14:creationId xmlns:p14="http://schemas.microsoft.com/office/powerpoint/2010/main" val="3466129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0005" y="1154368"/>
            <a:ext cx="10962042" cy="5569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9088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743713"/>
            <a:ext cx="11733048" cy="5672854"/>
          </a:xfrm>
        </p:spPr>
        <p:txBody>
          <a:bodyPr>
            <a:normAutofit fontScale="92500" lnSpcReduction="2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200" b="1" dirty="0">
                <a:solidFill>
                  <a:srgbClr val="FF0000"/>
                </a:solidFill>
                <a:latin typeface="+mn-lt"/>
              </a:rPr>
              <a:t>Directions:</a:t>
            </a:r>
            <a:r>
              <a:rPr lang="en-US" sz="22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200" b="1" dirty="0">
                <a:latin typeface="+mj-lt"/>
              </a:rPr>
              <a:t>if only Conclusion I follows. 			                 (2) if only Conclusion II follows. </a:t>
            </a:r>
          </a:p>
          <a:p>
            <a:pPr marL="457200" indent="-457200">
              <a:buNone/>
            </a:pPr>
            <a:r>
              <a:rPr lang="en-US" sz="2200" b="1" dirty="0">
                <a:latin typeface="+mj-lt"/>
              </a:rPr>
              <a:t>(3) if either Conclusion I or II follows. 		                 (4) if neither Conclusion I nor II follows. </a:t>
            </a:r>
          </a:p>
          <a:p>
            <a:pPr marL="457200" indent="-457200">
              <a:buNone/>
            </a:pPr>
            <a:r>
              <a:rPr lang="en-US" sz="2200" b="1" dirty="0">
                <a:latin typeface="+mj-lt"/>
              </a:rPr>
              <a:t>(5) if both Conclusions I and II follow.</a:t>
            </a:r>
            <a:endParaRPr lang="en-US" sz="2200" b="1" dirty="0">
              <a:solidFill>
                <a:schemeClr val="tx1">
                  <a:lumMod val="95000"/>
                  <a:lumOff val="5000"/>
                </a:schemeClr>
              </a:solidFill>
              <a:latin typeface="+mj-lt"/>
            </a:endParaRPr>
          </a:p>
          <a:p>
            <a:pPr>
              <a:buNone/>
            </a:pPr>
            <a:endParaRPr lang="en-US" b="1" dirty="0">
              <a:latin typeface="+mj-lt"/>
            </a:endParaRPr>
          </a:p>
          <a:p>
            <a:pPr>
              <a:buNone/>
            </a:pPr>
            <a:r>
              <a:rPr lang="en-US" b="1" dirty="0">
                <a:solidFill>
                  <a:srgbClr val="FF0000"/>
                </a:solidFill>
                <a:latin typeface="+mn-lt"/>
              </a:rPr>
              <a:t>Q 1.</a:t>
            </a:r>
            <a:r>
              <a:rPr lang="en-US" b="1" dirty="0">
                <a:latin typeface="+mj-lt"/>
              </a:rPr>
              <a:t> </a:t>
            </a:r>
          </a:p>
          <a:p>
            <a:pPr>
              <a:buNone/>
            </a:pPr>
            <a:r>
              <a:rPr lang="en-US" b="1" dirty="0">
                <a:latin typeface="+mj-lt"/>
              </a:rPr>
              <a:t>Statements:        Some kites are threads. </a:t>
            </a:r>
          </a:p>
          <a:p>
            <a:pPr>
              <a:buNone/>
            </a:pPr>
            <a:r>
              <a:rPr lang="en-US" b="1" dirty="0">
                <a:latin typeface="+mj-lt"/>
              </a:rPr>
              <a:t>			No thread is needle. </a:t>
            </a:r>
          </a:p>
          <a:p>
            <a:pPr>
              <a:buNone/>
            </a:pPr>
            <a:r>
              <a:rPr lang="en-US" b="1" dirty="0">
                <a:latin typeface="+mj-lt"/>
              </a:rPr>
              <a:t>Conclusions:       I.  Some kites are needles. </a:t>
            </a:r>
          </a:p>
          <a:p>
            <a:pPr>
              <a:buNone/>
            </a:pPr>
            <a:r>
              <a:rPr lang="en-US" b="1" dirty="0">
                <a:latin typeface="+mj-lt"/>
              </a:rPr>
              <a:t>			II. No needle is thread. </a:t>
            </a:r>
          </a:p>
          <a:p>
            <a:pPr>
              <a:buNone/>
            </a:pPr>
            <a:r>
              <a:rPr lang="en-US" b="1" dirty="0">
                <a:latin typeface="+mj-lt"/>
              </a:rPr>
              <a:t> </a:t>
            </a:r>
            <a:r>
              <a:rPr lang="en-US" dirty="0">
                <a:latin typeface="+mj-lt"/>
              </a:rPr>
              <a:t> </a:t>
            </a:r>
            <a:endParaRPr lang="en-US" b="1" dirty="0">
              <a:latin typeface="+mj-lt"/>
            </a:endParaRPr>
          </a:p>
          <a:p>
            <a:pPr>
              <a:buNone/>
            </a:pPr>
            <a:r>
              <a:rPr lang="en-US" b="1"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3038EF3-2B3B-8E36-938D-B02004A8D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BBBF12-6E31-D71F-B57C-75F27F4F1D5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F2C1653-FB3C-49BD-2BE5-D83B0E5C05E3}"/>
              </a:ext>
            </a:extLst>
          </p:cNvPr>
          <p:cNvSpPr>
            <a:spLocks noGrp="1"/>
          </p:cNvSpPr>
          <p:nvPr>
            <p:ph idx="1"/>
          </p:nvPr>
        </p:nvSpPr>
        <p:spPr>
          <a:xfrm>
            <a:off x="204952" y="743713"/>
            <a:ext cx="11733048" cy="5672854"/>
          </a:xfrm>
        </p:spPr>
        <p:txBody>
          <a:bodyPr>
            <a:normAutofit fontScale="92500" lnSpcReduction="2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200" b="1" dirty="0">
                <a:solidFill>
                  <a:srgbClr val="FF0000"/>
                </a:solidFill>
                <a:latin typeface="+mn-lt"/>
              </a:rPr>
              <a:t>Directions:</a:t>
            </a:r>
            <a:r>
              <a:rPr lang="en-US" sz="22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200" b="1" dirty="0">
                <a:latin typeface="+mj-lt"/>
              </a:rPr>
              <a:t>if only Conclusion I follows. 			                 </a:t>
            </a:r>
            <a:r>
              <a:rPr lang="en-US" sz="2200" b="1" dirty="0">
                <a:solidFill>
                  <a:srgbClr val="FF0000"/>
                </a:solidFill>
                <a:latin typeface="+mj-lt"/>
              </a:rPr>
              <a:t>(2) if only Conclusion II follows. </a:t>
            </a:r>
          </a:p>
          <a:p>
            <a:pPr marL="457200" indent="-457200">
              <a:buNone/>
            </a:pPr>
            <a:r>
              <a:rPr lang="en-US" sz="2200" b="1" dirty="0">
                <a:latin typeface="+mj-lt"/>
              </a:rPr>
              <a:t>(3) if either Conclusion I or II follows. 		                 (4) if neither Conclusion I nor II follows. </a:t>
            </a:r>
          </a:p>
          <a:p>
            <a:pPr marL="457200" indent="-457200">
              <a:buNone/>
            </a:pPr>
            <a:r>
              <a:rPr lang="en-US" sz="2200" b="1" dirty="0">
                <a:latin typeface="+mj-lt"/>
              </a:rPr>
              <a:t>(5) if both Conclusions I and II follow.</a:t>
            </a:r>
            <a:endParaRPr lang="en-US" sz="2200" b="1" dirty="0">
              <a:solidFill>
                <a:schemeClr val="tx1">
                  <a:lumMod val="95000"/>
                  <a:lumOff val="5000"/>
                </a:schemeClr>
              </a:solidFill>
              <a:latin typeface="+mj-lt"/>
            </a:endParaRPr>
          </a:p>
          <a:p>
            <a:pPr>
              <a:buNone/>
            </a:pPr>
            <a:endParaRPr lang="en-US" b="1" dirty="0">
              <a:latin typeface="+mj-lt"/>
            </a:endParaRPr>
          </a:p>
          <a:p>
            <a:pPr>
              <a:buNone/>
            </a:pPr>
            <a:r>
              <a:rPr lang="en-US" b="1" dirty="0">
                <a:solidFill>
                  <a:srgbClr val="FF0000"/>
                </a:solidFill>
                <a:latin typeface="+mn-lt"/>
              </a:rPr>
              <a:t>Q 1.</a:t>
            </a:r>
            <a:r>
              <a:rPr lang="en-US" b="1" dirty="0">
                <a:latin typeface="+mj-lt"/>
              </a:rPr>
              <a:t> </a:t>
            </a:r>
          </a:p>
          <a:p>
            <a:pPr>
              <a:buNone/>
            </a:pPr>
            <a:r>
              <a:rPr lang="en-US" b="1" dirty="0">
                <a:latin typeface="+mj-lt"/>
              </a:rPr>
              <a:t>Statements:        Some kites are threads. </a:t>
            </a:r>
          </a:p>
          <a:p>
            <a:pPr>
              <a:buNone/>
            </a:pPr>
            <a:r>
              <a:rPr lang="en-US" b="1" dirty="0">
                <a:latin typeface="+mj-lt"/>
              </a:rPr>
              <a:t>			No thread is needle. </a:t>
            </a:r>
          </a:p>
          <a:p>
            <a:pPr>
              <a:buNone/>
            </a:pPr>
            <a:r>
              <a:rPr lang="en-US" b="1" dirty="0">
                <a:latin typeface="+mj-lt"/>
              </a:rPr>
              <a:t>Conclusions:       I.  Some kites are needles. </a:t>
            </a:r>
          </a:p>
          <a:p>
            <a:pPr>
              <a:buNone/>
            </a:pPr>
            <a:r>
              <a:rPr lang="en-US" b="1" dirty="0">
                <a:latin typeface="+mj-lt"/>
              </a:rPr>
              <a:t>			II. No needle is thread. </a:t>
            </a:r>
          </a:p>
          <a:p>
            <a:pPr>
              <a:buNone/>
            </a:pPr>
            <a:r>
              <a:rPr lang="en-US" b="1" dirty="0">
                <a:latin typeface="+mj-lt"/>
              </a:rPr>
              <a:t> </a:t>
            </a:r>
            <a:r>
              <a:rPr lang="en-US" dirty="0">
                <a:latin typeface="+mj-lt"/>
              </a:rPr>
              <a:t> </a:t>
            </a:r>
            <a:endParaRPr lang="en-US" b="1" dirty="0">
              <a:latin typeface="+mj-lt"/>
            </a:endParaRPr>
          </a:p>
          <a:p>
            <a:pPr>
              <a:buNone/>
            </a:pPr>
            <a:r>
              <a:rPr lang="en-US" b="1" dirty="0"/>
              <a:t> </a:t>
            </a:r>
          </a:p>
        </p:txBody>
      </p:sp>
    </p:spTree>
    <p:extLst>
      <p:ext uri="{BB962C8B-B14F-4D97-AF65-F5344CB8AC3E}">
        <p14:creationId xmlns:p14="http://schemas.microsoft.com/office/powerpoint/2010/main" val="799638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 </a:t>
            </a:r>
            <a:r>
              <a:rPr lang="en-US" sz="2000" b="1" dirty="0">
                <a:latin typeface="+mj-lt"/>
              </a:rPr>
              <a:t>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000" b="1" dirty="0">
                <a:latin typeface="+mj-lt"/>
              </a:rPr>
              <a:t>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2.</a:t>
            </a:r>
            <a:r>
              <a:rPr lang="en-US" b="1" dirty="0">
                <a:latin typeface="+mj-lt"/>
              </a:rPr>
              <a:t> Statements:  Some trucks are houses. </a:t>
            </a:r>
          </a:p>
          <a:p>
            <a:pPr>
              <a:buNone/>
            </a:pPr>
            <a:r>
              <a:rPr lang="en-US" b="1" dirty="0">
                <a:latin typeface="+mj-lt"/>
              </a:rPr>
              <a:t>			     Some houses are trains. </a:t>
            </a:r>
          </a:p>
          <a:p>
            <a:pPr>
              <a:buNone/>
            </a:pPr>
            <a:r>
              <a:rPr lang="en-US" b="1" dirty="0">
                <a:latin typeface="+mj-lt"/>
              </a:rPr>
              <a:t>Conclusions:         I. Some trains are trucks.</a:t>
            </a:r>
          </a:p>
          <a:p>
            <a:pPr>
              <a:buNone/>
            </a:pPr>
            <a:r>
              <a:rPr lang="en-US" b="1" dirty="0">
                <a:latin typeface="+mj-lt"/>
              </a:rPr>
              <a:t>			    II. No train is truck. </a:t>
            </a:r>
          </a:p>
          <a:p>
            <a:pPr>
              <a:buNone/>
            </a:pPr>
            <a:r>
              <a:rPr lang="en-US" b="1"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B5E68B1-1656-CA17-1E3C-9127E9A2D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E525E-B234-B008-F524-081FB3BE113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6A24DAEE-19C5-6F5F-7BB0-90003318713C}"/>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 </a:t>
            </a:r>
            <a:r>
              <a:rPr lang="en-US" sz="2000" b="1" dirty="0">
                <a:latin typeface="+mj-lt"/>
              </a:rPr>
              <a:t>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000" b="1" dirty="0">
                <a:latin typeface="+mj-lt"/>
              </a:rPr>
              <a:t>if only Conclusion I follows. 			(2) if only Conclusion II follows. </a:t>
            </a:r>
          </a:p>
          <a:p>
            <a:pPr marL="457200" indent="-457200">
              <a:buNone/>
            </a:pPr>
            <a:r>
              <a:rPr lang="en-US" sz="2000" b="1" dirty="0">
                <a:solidFill>
                  <a:srgbClr val="FF0000"/>
                </a:solidFill>
                <a:latin typeface="+mj-lt"/>
              </a:rPr>
              <a:t>(3) if either Conclusion I or II follows. </a:t>
            </a:r>
            <a:r>
              <a:rPr lang="en-US" sz="2000" b="1" dirty="0">
                <a:latin typeface="+mj-lt"/>
              </a:rPr>
              <a:t>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2.</a:t>
            </a:r>
            <a:r>
              <a:rPr lang="en-US" b="1" dirty="0">
                <a:latin typeface="+mj-lt"/>
              </a:rPr>
              <a:t> Statements:  Some trucks are houses. </a:t>
            </a:r>
          </a:p>
          <a:p>
            <a:pPr>
              <a:buNone/>
            </a:pPr>
            <a:r>
              <a:rPr lang="en-US" b="1" dirty="0">
                <a:latin typeface="+mj-lt"/>
              </a:rPr>
              <a:t>			     Some houses are trains. </a:t>
            </a:r>
          </a:p>
          <a:p>
            <a:pPr>
              <a:buNone/>
            </a:pPr>
            <a:r>
              <a:rPr lang="en-US" b="1" dirty="0">
                <a:latin typeface="+mj-lt"/>
              </a:rPr>
              <a:t>Conclusions:         I. Some trains are trucks.</a:t>
            </a:r>
          </a:p>
          <a:p>
            <a:pPr>
              <a:buNone/>
            </a:pPr>
            <a:r>
              <a:rPr lang="en-US" b="1" dirty="0">
                <a:latin typeface="+mj-lt"/>
              </a:rPr>
              <a:t>			    II. No train is truck. </a:t>
            </a:r>
          </a:p>
          <a:p>
            <a:pPr>
              <a:buNone/>
            </a:pPr>
            <a:r>
              <a:rPr lang="en-US" b="1" dirty="0"/>
              <a:t> </a:t>
            </a:r>
          </a:p>
        </p:txBody>
      </p:sp>
    </p:spTree>
    <p:extLst>
      <p:ext uri="{BB962C8B-B14F-4D97-AF65-F5344CB8AC3E}">
        <p14:creationId xmlns:p14="http://schemas.microsoft.com/office/powerpoint/2010/main" val="3141728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2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200" b="1" dirty="0">
                <a:solidFill>
                  <a:srgbClr val="FF0000"/>
                </a:solidFill>
                <a:latin typeface="+mn-lt"/>
              </a:rPr>
              <a:t>Directions:</a:t>
            </a:r>
            <a:r>
              <a:rPr lang="en-US" sz="2200" b="1" dirty="0"/>
              <a:t> </a:t>
            </a:r>
            <a:r>
              <a:rPr lang="en-US" sz="2200" b="1" dirty="0">
                <a:latin typeface="+mj-lt"/>
              </a:rPr>
              <a:t>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200" b="1" dirty="0">
                <a:latin typeface="+mj-lt"/>
              </a:rPr>
              <a:t>if only Conclusion I follows. 			(2) if only Conclusion II follows. </a:t>
            </a:r>
          </a:p>
          <a:p>
            <a:pPr marL="457200" indent="-457200">
              <a:buNone/>
            </a:pPr>
            <a:r>
              <a:rPr lang="en-US" sz="2200" b="1" dirty="0">
                <a:latin typeface="+mj-lt"/>
              </a:rPr>
              <a:t>(3) if either Conclusion I or II follows. 		(4) if neither Conclusion I nor II follows. </a:t>
            </a:r>
          </a:p>
          <a:p>
            <a:pPr marL="457200" indent="-457200">
              <a:buNone/>
            </a:pPr>
            <a:r>
              <a:rPr lang="en-US" sz="2200" b="1" dirty="0">
                <a:latin typeface="+mj-lt"/>
              </a:rPr>
              <a:t>(5) if both Conclusions I and II follow.</a:t>
            </a:r>
            <a:endParaRPr lang="en-US" sz="2200" b="1" dirty="0">
              <a:solidFill>
                <a:schemeClr val="tx1">
                  <a:lumMod val="95000"/>
                  <a:lumOff val="5000"/>
                </a:schemeClr>
              </a:solidFill>
              <a:latin typeface="+mj-lt"/>
            </a:endParaRPr>
          </a:p>
          <a:p>
            <a:pPr>
              <a:buNone/>
            </a:pPr>
            <a:endParaRPr lang="en-US" b="1" dirty="0">
              <a:solidFill>
                <a:srgbClr val="FF0000"/>
              </a:solidFill>
              <a:latin typeface="+mn-lt"/>
            </a:endParaRPr>
          </a:p>
          <a:p>
            <a:pPr>
              <a:buNone/>
            </a:pPr>
            <a:r>
              <a:rPr lang="en-US" b="1" dirty="0">
                <a:solidFill>
                  <a:srgbClr val="FF0000"/>
                </a:solidFill>
                <a:latin typeface="+mn-lt"/>
              </a:rPr>
              <a:t>Q 3.</a:t>
            </a:r>
            <a:r>
              <a:rPr lang="en-US" b="1" dirty="0">
                <a:latin typeface="+mj-lt"/>
              </a:rPr>
              <a:t> Statements:   All flowers are trees. </a:t>
            </a:r>
          </a:p>
          <a:p>
            <a:pPr>
              <a:buNone/>
            </a:pPr>
            <a:r>
              <a:rPr lang="en-US" b="1" dirty="0">
                <a:latin typeface="+mj-lt"/>
              </a:rPr>
              <a:t>			   All trees are fruits. </a:t>
            </a:r>
          </a:p>
          <a:p>
            <a:pPr>
              <a:buNone/>
            </a:pPr>
            <a:r>
              <a:rPr lang="en-US" b="1" dirty="0">
                <a:latin typeface="+mj-lt"/>
              </a:rPr>
              <a:t>Conclusions:         I. Some fruits are flowers. </a:t>
            </a:r>
          </a:p>
          <a:p>
            <a:pPr>
              <a:buNone/>
            </a:pPr>
            <a:r>
              <a:rPr lang="en-US" b="1" dirty="0">
                <a:latin typeface="+mj-lt"/>
              </a:rPr>
              <a:t>			 II. All flowers are fruits.</a:t>
            </a:r>
            <a:r>
              <a:rPr lang="en-US" dirty="0">
                <a:latin typeface="+mj-lt"/>
              </a:rPr>
              <a:t> </a:t>
            </a:r>
            <a:endParaRPr lang="en-US" b="1" dirty="0">
              <a:latin typeface="+mj-lt"/>
            </a:endParaRPr>
          </a:p>
          <a:p>
            <a:pPr>
              <a:buNone/>
            </a:pPr>
            <a:r>
              <a:rPr lang="en-US" b="1" dirty="0"/>
              <a:t> </a:t>
            </a:r>
          </a:p>
          <a:p>
            <a:pPr>
              <a:buNone/>
            </a:pPr>
            <a:r>
              <a:rPr lang="en-US" dirty="0"/>
              <a:t> </a:t>
            </a:r>
            <a:endParaRPr lang="en-US" b="1" dirty="0"/>
          </a:p>
          <a:p>
            <a:pPr>
              <a:buNone/>
            </a:pPr>
            <a:r>
              <a:rPr lang="en-US" b="1"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78AD6E-51A1-8BAE-3B9A-09538D28B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E9546-FA16-8488-A57F-6D92AE6F99B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1A363A1-F1AA-2A81-F2B4-8D88F0D9CCF1}"/>
              </a:ext>
            </a:extLst>
          </p:cNvPr>
          <p:cNvSpPr>
            <a:spLocks noGrp="1"/>
          </p:cNvSpPr>
          <p:nvPr>
            <p:ph idx="1"/>
          </p:nvPr>
        </p:nvSpPr>
        <p:spPr>
          <a:xfrm>
            <a:off x="204952" y="1072055"/>
            <a:ext cx="11733048" cy="5344511"/>
          </a:xfrm>
        </p:spPr>
        <p:txBody>
          <a:bodyPr>
            <a:normAutofit fontScale="92500" lnSpcReduction="2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200" b="1" dirty="0">
                <a:solidFill>
                  <a:srgbClr val="FF0000"/>
                </a:solidFill>
                <a:latin typeface="+mn-lt"/>
              </a:rPr>
              <a:t>Directions:</a:t>
            </a:r>
            <a:r>
              <a:rPr lang="en-US" sz="2200" b="1" dirty="0"/>
              <a:t> </a:t>
            </a:r>
            <a:r>
              <a:rPr lang="en-US" sz="2200" b="1" dirty="0">
                <a:latin typeface="+mj-lt"/>
              </a:rPr>
              <a:t>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200" b="1" dirty="0">
                <a:latin typeface="+mj-lt"/>
              </a:rPr>
              <a:t>if only Conclusion I follows. 			(2) if only Conclusion II follows. </a:t>
            </a:r>
          </a:p>
          <a:p>
            <a:pPr marL="457200" indent="-457200">
              <a:buNone/>
            </a:pPr>
            <a:r>
              <a:rPr lang="en-US" sz="2200" b="1" dirty="0">
                <a:latin typeface="+mj-lt"/>
              </a:rPr>
              <a:t>(3) if either Conclusion I or II follows. 		(4) if neither Conclusion I nor II follows. </a:t>
            </a:r>
          </a:p>
          <a:p>
            <a:pPr marL="457200" indent="-457200">
              <a:buNone/>
            </a:pPr>
            <a:r>
              <a:rPr lang="en-US" sz="2200" b="1" dirty="0">
                <a:solidFill>
                  <a:srgbClr val="FF0000"/>
                </a:solidFill>
                <a:latin typeface="+mj-lt"/>
              </a:rPr>
              <a:t>(5) if both Conclusions I and II follow.</a:t>
            </a:r>
          </a:p>
          <a:p>
            <a:pPr>
              <a:buNone/>
            </a:pPr>
            <a:endParaRPr lang="en-US" b="1" dirty="0">
              <a:solidFill>
                <a:srgbClr val="FF0000"/>
              </a:solidFill>
              <a:latin typeface="+mn-lt"/>
            </a:endParaRPr>
          </a:p>
          <a:p>
            <a:pPr>
              <a:buNone/>
            </a:pPr>
            <a:r>
              <a:rPr lang="en-US" b="1" dirty="0">
                <a:solidFill>
                  <a:srgbClr val="FF0000"/>
                </a:solidFill>
                <a:latin typeface="+mn-lt"/>
              </a:rPr>
              <a:t>Q 3.</a:t>
            </a:r>
            <a:r>
              <a:rPr lang="en-US" b="1" dirty="0">
                <a:latin typeface="+mj-lt"/>
              </a:rPr>
              <a:t> Statements:   All flowers are trees. </a:t>
            </a:r>
          </a:p>
          <a:p>
            <a:pPr>
              <a:buNone/>
            </a:pPr>
            <a:r>
              <a:rPr lang="en-US" b="1" dirty="0">
                <a:latin typeface="+mj-lt"/>
              </a:rPr>
              <a:t>			   All trees are fruits. </a:t>
            </a:r>
          </a:p>
          <a:p>
            <a:pPr>
              <a:buNone/>
            </a:pPr>
            <a:r>
              <a:rPr lang="en-US" b="1" dirty="0">
                <a:latin typeface="+mj-lt"/>
              </a:rPr>
              <a:t>Conclusions:         I. Some fruits are flowers. </a:t>
            </a:r>
          </a:p>
          <a:p>
            <a:pPr>
              <a:buNone/>
            </a:pPr>
            <a:r>
              <a:rPr lang="en-US" b="1" dirty="0">
                <a:latin typeface="+mj-lt"/>
              </a:rPr>
              <a:t>			 II. All flowers are fruits.</a:t>
            </a:r>
            <a:r>
              <a:rPr lang="en-US" dirty="0">
                <a:latin typeface="+mj-lt"/>
              </a:rPr>
              <a:t> </a:t>
            </a:r>
            <a:endParaRPr lang="en-US" b="1" dirty="0">
              <a:latin typeface="+mj-lt"/>
            </a:endParaRPr>
          </a:p>
          <a:p>
            <a:pPr>
              <a:buNone/>
            </a:pPr>
            <a:r>
              <a:rPr lang="en-US" b="1" dirty="0"/>
              <a:t> </a:t>
            </a:r>
          </a:p>
          <a:p>
            <a:pPr>
              <a:buNone/>
            </a:pPr>
            <a:r>
              <a:rPr lang="en-US" dirty="0"/>
              <a:t> </a:t>
            </a:r>
            <a:endParaRPr lang="en-US" b="1" dirty="0"/>
          </a:p>
          <a:p>
            <a:pPr>
              <a:buNone/>
            </a:pPr>
            <a:r>
              <a:rPr lang="en-US" b="1" dirty="0"/>
              <a:t> </a:t>
            </a:r>
          </a:p>
        </p:txBody>
      </p:sp>
    </p:spTree>
    <p:extLst>
      <p:ext uri="{BB962C8B-B14F-4D97-AF65-F5344CB8AC3E}">
        <p14:creationId xmlns:p14="http://schemas.microsoft.com/office/powerpoint/2010/main" val="2285535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t> </a:t>
            </a:r>
            <a:r>
              <a:rPr lang="en-US" sz="2000" b="1" dirty="0">
                <a:latin typeface="+mj-lt"/>
              </a:rPr>
              <a:t>In each of the questions below are given two statements followed by two conclusions numbered I and II. You have to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4.</a:t>
            </a:r>
            <a:r>
              <a:rPr lang="en-US" b="1" dirty="0">
                <a:latin typeface="+mj-lt"/>
              </a:rPr>
              <a:t> Statements:   Some books are bags. </a:t>
            </a:r>
          </a:p>
          <a:p>
            <a:pPr>
              <a:buNone/>
            </a:pPr>
            <a:r>
              <a:rPr lang="en-US" b="1" dirty="0">
                <a:latin typeface="+mj-lt"/>
              </a:rPr>
              <a:t>			      All bags are trees. </a:t>
            </a:r>
          </a:p>
          <a:p>
            <a:pPr>
              <a:buNone/>
            </a:pPr>
            <a:r>
              <a:rPr lang="en-US" b="1" dirty="0">
                <a:latin typeface="+mj-lt"/>
              </a:rPr>
              <a:t>Conclusions:          I. Some books are trees. </a:t>
            </a:r>
          </a:p>
          <a:p>
            <a:pPr>
              <a:buNone/>
            </a:pPr>
            <a:r>
              <a:rPr lang="en-US" b="1" dirty="0">
                <a:latin typeface="+mj-lt"/>
              </a:rPr>
              <a:t>			     II. Some trees are books.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B6CFBAD-C310-138C-D7DB-5854FD447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7B7FB-862E-8A58-510F-462EA7D2999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D55FF84-3305-0413-85B8-3DD5C3E4AC9B}"/>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t> </a:t>
            </a:r>
            <a:r>
              <a:rPr lang="en-US" sz="2000" b="1" dirty="0">
                <a:latin typeface="+mj-lt"/>
              </a:rPr>
              <a:t>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solidFill>
                  <a:srgbClr val="FF0000"/>
                </a:solidFill>
                <a:latin typeface="+mj-lt"/>
              </a:rPr>
              <a:t>(5) if both Conclusions I and II follow.</a:t>
            </a:r>
          </a:p>
          <a:p>
            <a:pPr>
              <a:buNone/>
            </a:pPr>
            <a:r>
              <a:rPr lang="en-US" b="1" dirty="0">
                <a:solidFill>
                  <a:srgbClr val="FF0000"/>
                </a:solidFill>
                <a:latin typeface="+mn-lt"/>
              </a:rPr>
              <a:t>Q 4.</a:t>
            </a:r>
            <a:r>
              <a:rPr lang="en-US" b="1" dirty="0">
                <a:latin typeface="+mj-lt"/>
              </a:rPr>
              <a:t> Statements:   Some books are bags. </a:t>
            </a:r>
          </a:p>
          <a:p>
            <a:pPr>
              <a:buNone/>
            </a:pPr>
            <a:r>
              <a:rPr lang="en-US" b="1" dirty="0">
                <a:latin typeface="+mj-lt"/>
              </a:rPr>
              <a:t>			      All bags are trees. </a:t>
            </a:r>
          </a:p>
          <a:p>
            <a:pPr>
              <a:buNone/>
            </a:pPr>
            <a:r>
              <a:rPr lang="en-US" b="1" dirty="0">
                <a:latin typeface="+mj-lt"/>
              </a:rPr>
              <a:t>Conclusions:          I. Some books are trees. </a:t>
            </a:r>
          </a:p>
          <a:p>
            <a:pPr>
              <a:buNone/>
            </a:pPr>
            <a:r>
              <a:rPr lang="en-US" b="1" dirty="0">
                <a:latin typeface="+mj-lt"/>
              </a:rPr>
              <a:t>			     II. Some trees are books. </a:t>
            </a:r>
          </a:p>
        </p:txBody>
      </p:sp>
    </p:spTree>
    <p:extLst>
      <p:ext uri="{BB962C8B-B14F-4D97-AF65-F5344CB8AC3E}">
        <p14:creationId xmlns:p14="http://schemas.microsoft.com/office/powerpoint/2010/main" val="4108415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t>: </a:t>
            </a:r>
            <a:r>
              <a:rPr lang="en-US" sz="2000" b="1" dirty="0">
                <a:latin typeface="+mj-lt"/>
              </a:rPr>
              <a:t>In each of the questions below are given two statements followed by two conclusions numbered I and II. You have to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5.</a:t>
            </a:r>
            <a:r>
              <a:rPr lang="en-US" b="1" dirty="0">
                <a:latin typeface="+mj-lt"/>
              </a:rPr>
              <a:t> Statements:    Some windows are doors. </a:t>
            </a:r>
          </a:p>
          <a:p>
            <a:pPr>
              <a:buNone/>
            </a:pPr>
            <a:r>
              <a:rPr lang="en-US" b="1" dirty="0">
                <a:latin typeface="+mj-lt"/>
              </a:rPr>
              <a:t>			      No door is chair. </a:t>
            </a:r>
          </a:p>
          <a:p>
            <a:pPr>
              <a:buNone/>
            </a:pPr>
            <a:r>
              <a:rPr lang="en-US" b="1" dirty="0">
                <a:latin typeface="+mj-lt"/>
              </a:rPr>
              <a:t>Conclusions:          I. Some windows are chairs. </a:t>
            </a:r>
          </a:p>
          <a:p>
            <a:pPr>
              <a:buNone/>
            </a:pPr>
            <a:r>
              <a:rPr lang="en-US" b="1" dirty="0">
                <a:latin typeface="+mj-lt"/>
              </a:rPr>
              <a:t>			     II. All doors are windows.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77C1BD9-447A-6136-FB47-F73DF6B87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ED5D3-225C-E0CA-B170-CB87F961BF9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96F2551-BD72-C25C-E2D6-365E60698A04}"/>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t>: </a:t>
            </a:r>
            <a:r>
              <a:rPr lang="en-US" sz="2000" b="1" dirty="0">
                <a:latin typeface="+mj-lt"/>
              </a:rPr>
              <a:t>In each of the questions below are given two statements followed by two conclusions numbered I and II. You have to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a:t>
            </a:r>
            <a:r>
              <a:rPr lang="en-US" sz="2000" b="1" dirty="0">
                <a:solidFill>
                  <a:srgbClr val="FF0000"/>
                </a:solidFill>
                <a:latin typeface="+mj-lt"/>
              </a:rPr>
              <a:t>(4)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5.</a:t>
            </a:r>
            <a:r>
              <a:rPr lang="en-US" b="1" dirty="0">
                <a:latin typeface="+mj-lt"/>
              </a:rPr>
              <a:t> Statements:    Some windows are doors. </a:t>
            </a:r>
          </a:p>
          <a:p>
            <a:pPr>
              <a:buNone/>
            </a:pPr>
            <a:r>
              <a:rPr lang="en-US" b="1" dirty="0">
                <a:latin typeface="+mj-lt"/>
              </a:rPr>
              <a:t>			      No door is chair. </a:t>
            </a:r>
          </a:p>
          <a:p>
            <a:pPr>
              <a:buNone/>
            </a:pPr>
            <a:r>
              <a:rPr lang="en-US" b="1" dirty="0">
                <a:latin typeface="+mj-lt"/>
              </a:rPr>
              <a:t>Conclusions:          I. Some windows are chairs. </a:t>
            </a:r>
          </a:p>
          <a:p>
            <a:pPr>
              <a:buNone/>
            </a:pPr>
            <a:r>
              <a:rPr lang="en-US" b="1" dirty="0">
                <a:latin typeface="+mj-lt"/>
              </a:rPr>
              <a:t>			     II. All doors are windows. </a:t>
            </a:r>
          </a:p>
        </p:txBody>
      </p:sp>
    </p:spTree>
    <p:extLst>
      <p:ext uri="{BB962C8B-B14F-4D97-AF65-F5344CB8AC3E}">
        <p14:creationId xmlns:p14="http://schemas.microsoft.com/office/powerpoint/2010/main" val="2827455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6.</a:t>
            </a:r>
            <a:r>
              <a:rPr lang="en-US" b="1" dirty="0">
                <a:latin typeface="+mj-lt"/>
              </a:rPr>
              <a:t> Statements:      All forests are figures. </a:t>
            </a:r>
          </a:p>
          <a:p>
            <a:pPr>
              <a:buNone/>
            </a:pPr>
            <a:r>
              <a:rPr lang="en-US" b="1" dirty="0">
                <a:latin typeface="+mj-lt"/>
              </a:rPr>
              <a:t>			         Some figures are houses. </a:t>
            </a:r>
          </a:p>
          <a:p>
            <a:pPr>
              <a:buNone/>
            </a:pPr>
            <a:r>
              <a:rPr lang="en-US" b="1" dirty="0">
                <a:latin typeface="+mj-lt"/>
              </a:rPr>
              <a:t>        Conclusions:      I. Some houses are forests. </a:t>
            </a:r>
          </a:p>
          <a:p>
            <a:pPr>
              <a:buNone/>
            </a:pPr>
            <a:r>
              <a:rPr lang="en-US" b="1" dirty="0">
                <a:latin typeface="+mj-lt"/>
              </a:rPr>
              <a:t>		    	         II. No house is forest.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266302-88DD-554E-8598-D81D5CAE3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33FE5-8FA8-CA3C-84DC-BB4D150F557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97AE1F9-B552-5029-7AA6-3A16879A8D12}"/>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solidFill>
                  <a:srgbClr val="FF0000"/>
                </a:solidFill>
                <a:latin typeface="+mj-lt"/>
              </a:rPr>
              <a:t>(3) if either Conclusion I or II follows. </a:t>
            </a:r>
            <a:r>
              <a:rPr lang="en-US" sz="2000" b="1" dirty="0">
                <a:latin typeface="+mj-lt"/>
              </a:rPr>
              <a:t>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6.</a:t>
            </a:r>
            <a:r>
              <a:rPr lang="en-US" b="1" dirty="0">
                <a:latin typeface="+mj-lt"/>
              </a:rPr>
              <a:t> Statements:      All forests are figures. </a:t>
            </a:r>
          </a:p>
          <a:p>
            <a:pPr>
              <a:buNone/>
            </a:pPr>
            <a:r>
              <a:rPr lang="en-US" b="1" dirty="0">
                <a:latin typeface="+mj-lt"/>
              </a:rPr>
              <a:t>			         Some figures are houses. </a:t>
            </a:r>
          </a:p>
          <a:p>
            <a:pPr>
              <a:buNone/>
            </a:pPr>
            <a:r>
              <a:rPr lang="en-US" b="1" dirty="0">
                <a:latin typeface="+mj-lt"/>
              </a:rPr>
              <a:t>        Conclusions:      I. Some houses are forests. </a:t>
            </a:r>
          </a:p>
          <a:p>
            <a:pPr>
              <a:buNone/>
            </a:pPr>
            <a:r>
              <a:rPr lang="en-US" b="1" dirty="0">
                <a:latin typeface="+mj-lt"/>
              </a:rPr>
              <a:t>		    	         II. No house is forest. </a:t>
            </a:r>
          </a:p>
        </p:txBody>
      </p:sp>
    </p:spTree>
    <p:extLst>
      <p:ext uri="{BB962C8B-B14F-4D97-AF65-F5344CB8AC3E}">
        <p14:creationId xmlns:p14="http://schemas.microsoft.com/office/powerpoint/2010/main" val="3448378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7.</a:t>
            </a:r>
            <a:r>
              <a:rPr lang="en-US" b="1" dirty="0">
                <a:latin typeface="+mj-lt"/>
              </a:rPr>
              <a:t> Statements: Some buses are trains. </a:t>
            </a:r>
          </a:p>
          <a:p>
            <a:pPr>
              <a:buNone/>
            </a:pPr>
            <a:r>
              <a:rPr lang="en-US" b="1" dirty="0">
                <a:latin typeface="+mj-lt"/>
              </a:rPr>
              <a:t>			    Some trains are boats. </a:t>
            </a:r>
          </a:p>
          <a:p>
            <a:pPr>
              <a:buNone/>
            </a:pPr>
            <a:r>
              <a:rPr lang="en-US" b="1" dirty="0">
                <a:latin typeface="+mj-lt"/>
              </a:rPr>
              <a:t>        Conclusions: I. Some trains are buses. </a:t>
            </a:r>
          </a:p>
          <a:p>
            <a:pPr>
              <a:buNone/>
            </a:pPr>
            <a:r>
              <a:rPr lang="en-US" b="1" dirty="0">
                <a:latin typeface="+mj-lt"/>
              </a:rPr>
              <a:t>			    II. Some boats are buses. </a:t>
            </a:r>
          </a:p>
          <a:p>
            <a:pPr>
              <a:buNone/>
            </a:pPr>
            <a:r>
              <a:rPr lang="en-US" b="1"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56515E9-7912-A275-C57F-D12A4F332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92ED1-D016-38B9-29D9-2942B48DE2F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6DF7221-5AAF-72FC-36F3-3F917ABD5EC8}"/>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solidFill>
                  <a:srgbClr val="FF0000"/>
                </a:solidFill>
                <a:latin typeface="+mj-lt"/>
              </a:rPr>
              <a:t>(1) if only Conclusion I follows. </a:t>
            </a:r>
            <a:r>
              <a:rPr lang="en-US" sz="2000" b="1" dirty="0">
                <a:latin typeface="+mj-lt"/>
              </a:rPr>
              <a:t>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7.</a:t>
            </a:r>
            <a:r>
              <a:rPr lang="en-US" b="1" dirty="0">
                <a:latin typeface="+mj-lt"/>
              </a:rPr>
              <a:t> Statements: Some buses are trains. </a:t>
            </a:r>
          </a:p>
          <a:p>
            <a:pPr>
              <a:buNone/>
            </a:pPr>
            <a:r>
              <a:rPr lang="en-US" b="1" dirty="0">
                <a:latin typeface="+mj-lt"/>
              </a:rPr>
              <a:t>			    Some trains are boats. </a:t>
            </a:r>
          </a:p>
          <a:p>
            <a:pPr>
              <a:buNone/>
            </a:pPr>
            <a:r>
              <a:rPr lang="en-US" b="1" dirty="0">
                <a:latin typeface="+mj-lt"/>
              </a:rPr>
              <a:t>        Conclusions: I. Some trains are buses. </a:t>
            </a:r>
          </a:p>
          <a:p>
            <a:pPr>
              <a:buNone/>
            </a:pPr>
            <a:r>
              <a:rPr lang="en-US" b="1" dirty="0">
                <a:latin typeface="+mj-lt"/>
              </a:rPr>
              <a:t>			    II. Some boats are buses. </a:t>
            </a:r>
          </a:p>
          <a:p>
            <a:pPr>
              <a:buNone/>
            </a:pPr>
            <a:r>
              <a:rPr lang="en-US" b="1" dirty="0"/>
              <a:t> </a:t>
            </a:r>
          </a:p>
        </p:txBody>
      </p:sp>
    </p:spTree>
    <p:extLst>
      <p:ext uri="{BB962C8B-B14F-4D97-AF65-F5344CB8AC3E}">
        <p14:creationId xmlns:p14="http://schemas.microsoft.com/office/powerpoint/2010/main" val="3749976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8.</a:t>
            </a:r>
            <a:r>
              <a:rPr lang="en-US" b="1" dirty="0">
                <a:latin typeface="+mj-lt"/>
              </a:rPr>
              <a:t> Statements:  Some books are tables. </a:t>
            </a:r>
          </a:p>
          <a:p>
            <a:pPr>
              <a:buNone/>
            </a:pPr>
            <a:r>
              <a:rPr lang="en-US" b="1" dirty="0">
                <a:latin typeface="+mj-lt"/>
              </a:rPr>
              <a:t>		                  Some tables are mirrors. </a:t>
            </a:r>
          </a:p>
          <a:p>
            <a:pPr>
              <a:buNone/>
            </a:pPr>
            <a:r>
              <a:rPr lang="en-US" b="1" dirty="0">
                <a:latin typeface="+mj-lt"/>
              </a:rPr>
              <a:t>        Conclusions: I. Some mirrors are books.</a:t>
            </a:r>
          </a:p>
          <a:p>
            <a:pPr>
              <a:buNone/>
            </a:pPr>
            <a:r>
              <a:rPr lang="en-US" b="1" dirty="0">
                <a:latin typeface="+mj-lt"/>
              </a:rPr>
              <a:t>			    II. No book is mirror.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E3B5E7-1B12-E344-2634-A6AD893AA8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872B1-49C8-2FF3-8BD3-366A1CD7CA2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06E35B2-6882-4D11-F939-2B6455482169}"/>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solidFill>
                  <a:srgbClr val="FF0000"/>
                </a:solidFill>
                <a:latin typeface="+mj-lt"/>
              </a:rPr>
              <a:t>(3) if either Conclusion I or II follows. </a:t>
            </a:r>
            <a:r>
              <a:rPr lang="en-US" sz="2000" b="1" dirty="0">
                <a:latin typeface="+mj-lt"/>
              </a:rPr>
              <a:t>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8.</a:t>
            </a:r>
            <a:r>
              <a:rPr lang="en-US" b="1" dirty="0">
                <a:latin typeface="+mj-lt"/>
              </a:rPr>
              <a:t> Statements:  Some books are tables. </a:t>
            </a:r>
          </a:p>
          <a:p>
            <a:pPr>
              <a:buNone/>
            </a:pPr>
            <a:r>
              <a:rPr lang="en-US" b="1" dirty="0">
                <a:latin typeface="+mj-lt"/>
              </a:rPr>
              <a:t>		                  Some tables are mirrors. </a:t>
            </a:r>
          </a:p>
          <a:p>
            <a:pPr>
              <a:buNone/>
            </a:pPr>
            <a:r>
              <a:rPr lang="en-US" b="1" dirty="0">
                <a:latin typeface="+mj-lt"/>
              </a:rPr>
              <a:t>        Conclusions: I. Some mirrors are books.</a:t>
            </a:r>
          </a:p>
          <a:p>
            <a:pPr>
              <a:buNone/>
            </a:pPr>
            <a:r>
              <a:rPr lang="en-US" b="1" dirty="0">
                <a:latin typeface="+mj-lt"/>
              </a:rPr>
              <a:t>			    II. No book is mirror. </a:t>
            </a:r>
          </a:p>
        </p:txBody>
      </p:sp>
    </p:spTree>
    <p:extLst>
      <p:ext uri="{BB962C8B-B14F-4D97-AF65-F5344CB8AC3E}">
        <p14:creationId xmlns:p14="http://schemas.microsoft.com/office/powerpoint/2010/main" val="3079020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p>
          <a:p>
            <a:pPr>
              <a:buNone/>
            </a:pPr>
            <a:r>
              <a:rPr lang="en-US" b="1" dirty="0">
                <a:solidFill>
                  <a:srgbClr val="FF0000"/>
                </a:solidFill>
                <a:latin typeface="+mn-lt"/>
              </a:rPr>
              <a:t>Q 9.</a:t>
            </a:r>
            <a:r>
              <a:rPr lang="en-US" b="1" dirty="0">
                <a:latin typeface="+mj-lt"/>
              </a:rPr>
              <a:t> Statements:   All pens are chalks. </a:t>
            </a:r>
          </a:p>
          <a:p>
            <a:pPr>
              <a:buNone/>
            </a:pPr>
            <a:r>
              <a:rPr lang="en-US" b="1" dirty="0">
                <a:latin typeface="+mj-lt"/>
              </a:rPr>
              <a:t>			      All chairs are chalks. </a:t>
            </a:r>
          </a:p>
          <a:p>
            <a:pPr>
              <a:buNone/>
            </a:pPr>
            <a:r>
              <a:rPr lang="en-US" b="1" dirty="0">
                <a:latin typeface="+mj-lt"/>
              </a:rPr>
              <a:t>        Conclusions:  I. Some pens are chairs. </a:t>
            </a:r>
          </a:p>
          <a:p>
            <a:pPr>
              <a:buNone/>
            </a:pPr>
            <a:r>
              <a:rPr lang="en-US" b="1" dirty="0">
                <a:latin typeface="+mj-lt"/>
              </a:rPr>
              <a:t>			     II. Some chalks are pens. </a:t>
            </a:r>
          </a:p>
          <a:p>
            <a:pPr>
              <a:buNone/>
            </a:pPr>
            <a:r>
              <a:rPr lang="en-US" b="1" dirty="0"/>
              <a:t> </a:t>
            </a:r>
            <a:r>
              <a:rPr lang="en-US" b="1" dirty="0">
                <a:latin typeface="Arial Black" pitchFamily="34" charset="0"/>
              </a:rPr>
              <a:t> </a:t>
            </a:r>
            <a:r>
              <a:rPr lang="en-US" dirty="0"/>
              <a:t> </a:t>
            </a:r>
            <a:endParaRPr 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F2212DD-6515-4B1A-4161-03FCBC351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41D6A-DDD8-EAD7-93B8-1E8C5AACA70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98AF428-315C-0F6D-1E8E-BC7EC129698E}"/>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a:t>
            </a:r>
            <a:r>
              <a:rPr lang="en-US" sz="2000" b="1" dirty="0">
                <a:solidFill>
                  <a:srgbClr val="FF0000"/>
                </a:solidFill>
                <a:latin typeface="+mj-lt"/>
              </a:rPr>
              <a:t>(2)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p>
          <a:p>
            <a:pPr>
              <a:buNone/>
            </a:pPr>
            <a:r>
              <a:rPr lang="en-US" b="1" dirty="0">
                <a:solidFill>
                  <a:srgbClr val="FF0000"/>
                </a:solidFill>
                <a:latin typeface="+mn-lt"/>
              </a:rPr>
              <a:t>Q 9.</a:t>
            </a:r>
            <a:r>
              <a:rPr lang="en-US" b="1" dirty="0">
                <a:latin typeface="+mj-lt"/>
              </a:rPr>
              <a:t> Statements:   All pens are chalks. </a:t>
            </a:r>
          </a:p>
          <a:p>
            <a:pPr>
              <a:buNone/>
            </a:pPr>
            <a:r>
              <a:rPr lang="en-US" b="1" dirty="0">
                <a:latin typeface="+mj-lt"/>
              </a:rPr>
              <a:t>			      All chairs are chalks. </a:t>
            </a:r>
          </a:p>
          <a:p>
            <a:pPr>
              <a:buNone/>
            </a:pPr>
            <a:r>
              <a:rPr lang="en-US" b="1" dirty="0">
                <a:latin typeface="+mj-lt"/>
              </a:rPr>
              <a:t>        Conclusions:  I. Some pens are chairs. </a:t>
            </a:r>
          </a:p>
          <a:p>
            <a:pPr>
              <a:buNone/>
            </a:pPr>
            <a:r>
              <a:rPr lang="en-US" b="1" dirty="0">
                <a:latin typeface="+mj-lt"/>
              </a:rPr>
              <a:t>			     II. Some chalks are pens. </a:t>
            </a:r>
          </a:p>
          <a:p>
            <a:pPr>
              <a:buNone/>
            </a:pPr>
            <a:r>
              <a:rPr lang="en-US" b="1" dirty="0"/>
              <a:t> </a:t>
            </a:r>
            <a:r>
              <a:rPr lang="en-US" b="1" dirty="0">
                <a:latin typeface="Arial Black" pitchFamily="34" charset="0"/>
              </a:rPr>
              <a:t> </a:t>
            </a:r>
            <a:r>
              <a:rPr lang="en-US" dirty="0"/>
              <a:t> </a:t>
            </a:r>
            <a:endParaRPr lang="en-US" b="1" dirty="0"/>
          </a:p>
        </p:txBody>
      </p:sp>
    </p:spTree>
    <p:extLst>
      <p:ext uri="{BB962C8B-B14F-4D97-AF65-F5344CB8AC3E}">
        <p14:creationId xmlns:p14="http://schemas.microsoft.com/office/powerpoint/2010/main" val="15893134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10. </a:t>
            </a:r>
            <a:r>
              <a:rPr lang="en-US" b="1" dirty="0">
                <a:latin typeface="+mj-lt"/>
              </a:rPr>
              <a:t>Statements: 	Some buses are bells. </a:t>
            </a:r>
          </a:p>
          <a:p>
            <a:pPr>
              <a:buNone/>
            </a:pPr>
            <a:r>
              <a:rPr lang="en-US" b="1" dirty="0">
                <a:latin typeface="+mj-lt"/>
              </a:rPr>
              <a:t>				Some bells are horses. </a:t>
            </a:r>
          </a:p>
          <a:p>
            <a:pPr>
              <a:buNone/>
            </a:pPr>
            <a:r>
              <a:rPr lang="en-US" b="1" dirty="0">
                <a:latin typeface="+mj-lt"/>
              </a:rPr>
              <a:t>				All trains are horses. </a:t>
            </a:r>
          </a:p>
          <a:p>
            <a:pPr>
              <a:buNone/>
            </a:pPr>
            <a:r>
              <a:rPr lang="en-US" b="1" dirty="0">
                <a:latin typeface="+mj-lt"/>
              </a:rPr>
              <a:t>          Conclusions:       I. Some buses are horses. </a:t>
            </a:r>
          </a:p>
          <a:p>
            <a:pPr>
              <a:buNone/>
            </a:pPr>
            <a:r>
              <a:rPr lang="en-US" b="1" dirty="0">
                <a:latin typeface="+mj-lt"/>
              </a:rPr>
              <a:t>			            II. Some trains are bells.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B4376A0-FD5B-2143-DFC1-F8DB21016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84B61-6AF4-D9B0-3DBC-2FCEF823A23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F898BE5-8C3A-17B3-B07C-11132C2B79A6}"/>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a:t>
            </a:r>
            <a:r>
              <a:rPr lang="en-US" sz="2000" b="1" dirty="0">
                <a:solidFill>
                  <a:srgbClr val="FF0000"/>
                </a:solidFill>
                <a:latin typeface="+mj-lt"/>
              </a:rPr>
              <a:t>(4)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10. </a:t>
            </a:r>
            <a:r>
              <a:rPr lang="en-US" b="1" dirty="0">
                <a:latin typeface="+mj-lt"/>
              </a:rPr>
              <a:t>Statements: 	Some buses are bells. </a:t>
            </a:r>
          </a:p>
          <a:p>
            <a:pPr>
              <a:buNone/>
            </a:pPr>
            <a:r>
              <a:rPr lang="en-US" b="1" dirty="0">
                <a:latin typeface="+mj-lt"/>
              </a:rPr>
              <a:t>				Some bells are horses. </a:t>
            </a:r>
          </a:p>
          <a:p>
            <a:pPr>
              <a:buNone/>
            </a:pPr>
            <a:r>
              <a:rPr lang="en-US" b="1" dirty="0">
                <a:latin typeface="+mj-lt"/>
              </a:rPr>
              <a:t>				All trains are horses. </a:t>
            </a:r>
          </a:p>
          <a:p>
            <a:pPr>
              <a:buNone/>
            </a:pPr>
            <a:r>
              <a:rPr lang="en-US" b="1" dirty="0">
                <a:latin typeface="+mj-lt"/>
              </a:rPr>
              <a:t>          Conclusions:       I. Some buses are horses. </a:t>
            </a:r>
          </a:p>
          <a:p>
            <a:pPr>
              <a:buNone/>
            </a:pPr>
            <a:r>
              <a:rPr lang="en-US" b="1" dirty="0">
                <a:latin typeface="+mj-lt"/>
              </a:rPr>
              <a:t>			            II. Some trains are bells. </a:t>
            </a:r>
          </a:p>
        </p:txBody>
      </p:sp>
    </p:spTree>
    <p:extLst>
      <p:ext uri="{BB962C8B-B14F-4D97-AF65-F5344CB8AC3E}">
        <p14:creationId xmlns:p14="http://schemas.microsoft.com/office/powerpoint/2010/main" val="23444822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j-lt"/>
              </a:rPr>
              <a:t>Q 11. </a:t>
            </a:r>
            <a:r>
              <a:rPr lang="en-US" b="1" dirty="0">
                <a:latin typeface="+mj-lt"/>
              </a:rPr>
              <a:t>Statements:         All petals are trees. </a:t>
            </a:r>
          </a:p>
          <a:p>
            <a:pPr>
              <a:buNone/>
            </a:pPr>
            <a:r>
              <a:rPr lang="en-US" b="1" dirty="0">
                <a:latin typeface="+mj-lt"/>
              </a:rPr>
              <a:t>				All trees are gardens. </a:t>
            </a:r>
          </a:p>
          <a:p>
            <a:pPr>
              <a:buNone/>
            </a:pPr>
            <a:r>
              <a:rPr lang="en-US" b="1" dirty="0">
                <a:latin typeface="+mj-lt"/>
              </a:rPr>
              <a:t>				All roads are gardens. </a:t>
            </a:r>
          </a:p>
          <a:p>
            <a:pPr>
              <a:buNone/>
            </a:pPr>
            <a:r>
              <a:rPr lang="en-US" b="1" dirty="0">
                <a:latin typeface="+mj-lt"/>
              </a:rPr>
              <a:t>          Conclusions:     I. Some roads are trees. </a:t>
            </a:r>
          </a:p>
          <a:p>
            <a:pPr>
              <a:buNone/>
            </a:pPr>
            <a:r>
              <a:rPr lang="en-US" b="1" dirty="0">
                <a:latin typeface="+mj-lt"/>
              </a:rPr>
              <a:t>			          II. Some gardens are trees. </a:t>
            </a:r>
          </a:p>
          <a:p>
            <a:pPr>
              <a:buNone/>
            </a:pPr>
            <a:r>
              <a:rPr lang="en-US" b="1" dirty="0">
                <a:latin typeface="+mj-lt"/>
              </a:rPr>
              <a:t>			          III. Some gardens are petals. </a:t>
            </a:r>
          </a:p>
          <a:p>
            <a:pPr marL="457200" indent="-457200">
              <a:buAutoNum type="arabicParenBoth"/>
            </a:pPr>
            <a:r>
              <a:rPr lang="en-US" b="1" dirty="0">
                <a:latin typeface="+mj-lt"/>
              </a:rPr>
              <a:t>Only I and II follow </a:t>
            </a:r>
          </a:p>
          <a:p>
            <a:pPr marL="457200" indent="-457200">
              <a:buNone/>
            </a:pPr>
            <a:r>
              <a:rPr lang="en-US" b="1" dirty="0">
                <a:latin typeface="+mj-lt"/>
              </a:rPr>
              <a:t>(2) Only II and III follow </a:t>
            </a:r>
          </a:p>
          <a:p>
            <a:pPr marL="457200" indent="-457200">
              <a:buNone/>
            </a:pPr>
            <a:r>
              <a:rPr lang="en-US" b="1" dirty="0">
                <a:latin typeface="+mj-lt"/>
              </a:rPr>
              <a:t>(3) Only 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DC7AF56-57DF-D08C-51DD-64E6DFF78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091A5-A1CF-91DD-BC9C-024B35C5B31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4DDFB48-1472-003E-4DC1-F530035A7E4A}"/>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j-lt"/>
              </a:rPr>
              <a:t>Q 11. </a:t>
            </a:r>
            <a:r>
              <a:rPr lang="en-US" b="1" dirty="0">
                <a:latin typeface="+mj-lt"/>
              </a:rPr>
              <a:t>Statements:         All petals are trees. </a:t>
            </a:r>
          </a:p>
          <a:p>
            <a:pPr>
              <a:buNone/>
            </a:pPr>
            <a:r>
              <a:rPr lang="en-US" b="1" dirty="0">
                <a:latin typeface="+mj-lt"/>
              </a:rPr>
              <a:t>				All trees are gardens. </a:t>
            </a:r>
          </a:p>
          <a:p>
            <a:pPr>
              <a:buNone/>
            </a:pPr>
            <a:r>
              <a:rPr lang="en-US" b="1" dirty="0">
                <a:latin typeface="+mj-lt"/>
              </a:rPr>
              <a:t>				All roads are gardens. </a:t>
            </a:r>
          </a:p>
          <a:p>
            <a:pPr>
              <a:buNone/>
            </a:pPr>
            <a:r>
              <a:rPr lang="en-US" b="1" dirty="0">
                <a:latin typeface="+mj-lt"/>
              </a:rPr>
              <a:t>          Conclusions:     I. Some roads are trees. </a:t>
            </a:r>
          </a:p>
          <a:p>
            <a:pPr>
              <a:buNone/>
            </a:pPr>
            <a:r>
              <a:rPr lang="en-US" b="1" dirty="0">
                <a:latin typeface="+mj-lt"/>
              </a:rPr>
              <a:t>			          II. Some gardens are trees. </a:t>
            </a:r>
          </a:p>
          <a:p>
            <a:pPr>
              <a:buNone/>
            </a:pPr>
            <a:r>
              <a:rPr lang="en-US" b="1" dirty="0">
                <a:latin typeface="+mj-lt"/>
              </a:rPr>
              <a:t>			          III. Some gardens are petals. </a:t>
            </a:r>
          </a:p>
          <a:p>
            <a:pPr marL="457200" indent="-457200">
              <a:buAutoNum type="arabicParenBoth"/>
            </a:pPr>
            <a:r>
              <a:rPr lang="en-US" b="1" dirty="0">
                <a:latin typeface="+mj-lt"/>
              </a:rPr>
              <a:t>Only I and II follow </a:t>
            </a:r>
          </a:p>
          <a:p>
            <a:pPr marL="457200" indent="-457200">
              <a:buNone/>
            </a:pPr>
            <a:r>
              <a:rPr lang="en-US" b="1" dirty="0">
                <a:solidFill>
                  <a:srgbClr val="FF0000"/>
                </a:solidFill>
                <a:latin typeface="+mj-lt"/>
              </a:rPr>
              <a:t>(2) Only II and III follow </a:t>
            </a:r>
          </a:p>
          <a:p>
            <a:pPr marL="457200" indent="-457200">
              <a:buNone/>
            </a:pPr>
            <a:r>
              <a:rPr lang="en-US" b="1" dirty="0">
                <a:latin typeface="+mj-lt"/>
              </a:rPr>
              <a:t>(3) Only 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1731710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                                               SYLLOGISM</a:t>
            </a:r>
            <a:endParaRPr lang="en-US" sz="1800" b="1" dirty="0">
              <a:solidFill>
                <a:srgbClr val="FF0000"/>
              </a:solidFill>
              <a:latin typeface="+mn-lt"/>
            </a:endParaRPr>
          </a:p>
          <a:p>
            <a:pPr>
              <a:buNone/>
            </a:pPr>
            <a:r>
              <a:rPr lang="en-US" b="1" dirty="0">
                <a:solidFill>
                  <a:srgbClr val="FF0000"/>
                </a:solidFill>
                <a:latin typeface="+mj-lt"/>
              </a:rPr>
              <a:t>Q 12. </a:t>
            </a:r>
            <a:r>
              <a:rPr lang="en-US" b="1" dirty="0">
                <a:latin typeface="+mj-lt"/>
              </a:rPr>
              <a:t>Statements:         Some days are nights. </a:t>
            </a:r>
          </a:p>
          <a:p>
            <a:pPr>
              <a:buNone/>
            </a:pPr>
            <a:r>
              <a:rPr lang="en-US" b="1" dirty="0">
                <a:latin typeface="+mj-lt"/>
              </a:rPr>
              <a:t>				Some nights are months. </a:t>
            </a:r>
          </a:p>
          <a:p>
            <a:pPr>
              <a:buNone/>
            </a:pPr>
            <a:r>
              <a:rPr lang="en-US" b="1" dirty="0">
                <a:latin typeface="+mj-lt"/>
              </a:rPr>
              <a:t>				Some months are years. </a:t>
            </a:r>
          </a:p>
          <a:p>
            <a:pPr>
              <a:buNone/>
            </a:pPr>
            <a:r>
              <a:rPr lang="en-US" b="1" dirty="0">
                <a:latin typeface="+mj-lt"/>
              </a:rPr>
              <a:t>           Conclusions:       I. Some years are nights. </a:t>
            </a:r>
          </a:p>
          <a:p>
            <a:pPr>
              <a:buNone/>
            </a:pPr>
            <a:r>
              <a:rPr lang="en-US" b="1" dirty="0">
                <a:latin typeface="+mj-lt"/>
              </a:rPr>
              <a:t>			             II. Some months are days. </a:t>
            </a:r>
          </a:p>
          <a:p>
            <a:pPr>
              <a:buNone/>
            </a:pPr>
            <a:r>
              <a:rPr lang="en-US" b="1" dirty="0">
                <a:latin typeface="+mj-lt"/>
              </a:rPr>
              <a:t>			             III. No year is night. </a:t>
            </a:r>
          </a:p>
          <a:p>
            <a:pPr marL="457200" indent="-457200">
              <a:buAutoNum type="arabicParenBoth"/>
            </a:pPr>
            <a:r>
              <a:rPr lang="en-US" b="1" dirty="0">
                <a:latin typeface="+mj-lt"/>
              </a:rPr>
              <a:t>Only I follows </a:t>
            </a:r>
          </a:p>
          <a:p>
            <a:pPr marL="457200" indent="-457200">
              <a:buNone/>
            </a:pPr>
            <a:r>
              <a:rPr lang="en-US" b="1" dirty="0">
                <a:latin typeface="+mj-lt"/>
              </a:rPr>
              <a:t>(2) Only II follows </a:t>
            </a:r>
          </a:p>
          <a:p>
            <a:pPr marL="457200" indent="-457200">
              <a:buNone/>
            </a:pPr>
            <a:r>
              <a:rPr lang="en-US" b="1" dirty="0">
                <a:latin typeface="+mj-lt"/>
              </a:rPr>
              <a:t>(3) Only III follows </a:t>
            </a:r>
          </a:p>
          <a:p>
            <a:pPr marL="457200" indent="-457200">
              <a:buNone/>
            </a:pPr>
            <a:r>
              <a:rPr lang="en-US" b="1" dirty="0">
                <a:latin typeface="+mj-lt"/>
              </a:rPr>
              <a:t>(4) Only either I or III follows </a:t>
            </a:r>
          </a:p>
          <a:p>
            <a:pPr marL="457200" indent="-457200">
              <a:buNone/>
            </a:pPr>
            <a:r>
              <a:rPr lang="en-US" b="1" dirty="0">
                <a:latin typeface="+mj-lt"/>
              </a:rPr>
              <a:t>(5) None of these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344D359-6C63-9926-0251-6715A0970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B86B4-C065-9475-7FE8-3D4E1AF8A2E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21CB0ED-430A-EE71-1433-2008C99BE226}"/>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                                               SYLLOGISM</a:t>
            </a:r>
            <a:endParaRPr lang="en-US" sz="1800" b="1" dirty="0">
              <a:solidFill>
                <a:srgbClr val="FF0000"/>
              </a:solidFill>
              <a:latin typeface="+mn-lt"/>
            </a:endParaRPr>
          </a:p>
          <a:p>
            <a:pPr>
              <a:buNone/>
            </a:pPr>
            <a:r>
              <a:rPr lang="en-US" b="1" dirty="0">
                <a:solidFill>
                  <a:srgbClr val="FF0000"/>
                </a:solidFill>
                <a:latin typeface="+mj-lt"/>
              </a:rPr>
              <a:t>Q 12. </a:t>
            </a:r>
            <a:r>
              <a:rPr lang="en-US" b="1" dirty="0">
                <a:latin typeface="+mj-lt"/>
              </a:rPr>
              <a:t>Statements:         Some days are nights. </a:t>
            </a:r>
          </a:p>
          <a:p>
            <a:pPr>
              <a:buNone/>
            </a:pPr>
            <a:r>
              <a:rPr lang="en-US" b="1" dirty="0">
                <a:latin typeface="+mj-lt"/>
              </a:rPr>
              <a:t>				Some nights are months. </a:t>
            </a:r>
          </a:p>
          <a:p>
            <a:pPr>
              <a:buNone/>
            </a:pPr>
            <a:r>
              <a:rPr lang="en-US" b="1" dirty="0">
                <a:latin typeface="+mj-lt"/>
              </a:rPr>
              <a:t>				Some months are years. </a:t>
            </a:r>
          </a:p>
          <a:p>
            <a:pPr>
              <a:buNone/>
            </a:pPr>
            <a:r>
              <a:rPr lang="en-US" b="1" dirty="0">
                <a:latin typeface="+mj-lt"/>
              </a:rPr>
              <a:t>           Conclusions:       I. Some years are nights. </a:t>
            </a:r>
          </a:p>
          <a:p>
            <a:pPr>
              <a:buNone/>
            </a:pPr>
            <a:r>
              <a:rPr lang="en-US" b="1" dirty="0">
                <a:latin typeface="+mj-lt"/>
              </a:rPr>
              <a:t>			             II. Some months are days. </a:t>
            </a:r>
          </a:p>
          <a:p>
            <a:pPr>
              <a:buNone/>
            </a:pPr>
            <a:r>
              <a:rPr lang="en-US" b="1" dirty="0">
                <a:latin typeface="+mj-lt"/>
              </a:rPr>
              <a:t>			             III. No year is night. </a:t>
            </a:r>
          </a:p>
          <a:p>
            <a:pPr marL="457200" indent="-457200">
              <a:buAutoNum type="arabicParenBoth"/>
            </a:pPr>
            <a:r>
              <a:rPr lang="en-US" b="1" dirty="0">
                <a:latin typeface="+mj-lt"/>
              </a:rPr>
              <a:t>Only I follows </a:t>
            </a:r>
          </a:p>
          <a:p>
            <a:pPr marL="457200" indent="-457200">
              <a:buNone/>
            </a:pPr>
            <a:r>
              <a:rPr lang="en-US" b="1" dirty="0">
                <a:latin typeface="+mj-lt"/>
              </a:rPr>
              <a:t>(2) Only II follows </a:t>
            </a:r>
          </a:p>
          <a:p>
            <a:pPr marL="457200" indent="-457200">
              <a:buNone/>
            </a:pPr>
            <a:r>
              <a:rPr lang="en-US" b="1" dirty="0">
                <a:latin typeface="+mj-lt"/>
              </a:rPr>
              <a:t>(3) Only III follows </a:t>
            </a:r>
          </a:p>
          <a:p>
            <a:pPr marL="457200" indent="-457200">
              <a:buNone/>
            </a:pPr>
            <a:r>
              <a:rPr lang="en-US" b="1" dirty="0">
                <a:solidFill>
                  <a:srgbClr val="FF0000"/>
                </a:solidFill>
                <a:latin typeface="+mj-lt"/>
              </a:rPr>
              <a:t>(4) Only either I or III follows </a:t>
            </a:r>
          </a:p>
          <a:p>
            <a:pPr marL="457200" indent="-457200">
              <a:buNone/>
            </a:pPr>
            <a:r>
              <a:rPr lang="en-US" b="1" dirty="0">
                <a:latin typeface="+mj-lt"/>
              </a:rPr>
              <a:t>(5) None of these</a:t>
            </a:r>
          </a:p>
        </p:txBody>
      </p:sp>
    </p:spTree>
    <p:extLst>
      <p:ext uri="{BB962C8B-B14F-4D97-AF65-F5344CB8AC3E}">
        <p14:creationId xmlns:p14="http://schemas.microsoft.com/office/powerpoint/2010/main" val="5187452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13.        </a:t>
            </a:r>
            <a:r>
              <a:rPr lang="en-US" b="1" dirty="0">
                <a:latin typeface="+mj-lt"/>
              </a:rPr>
              <a:t>Statements: All cycles are </a:t>
            </a:r>
            <a:r>
              <a:rPr lang="en-US" b="1" dirty="0" err="1">
                <a:latin typeface="+mj-lt"/>
              </a:rPr>
              <a:t>tyres</a:t>
            </a:r>
            <a:r>
              <a:rPr lang="en-US" b="1" dirty="0">
                <a:latin typeface="+mj-lt"/>
              </a:rPr>
              <a:t>. </a:t>
            </a:r>
          </a:p>
          <a:p>
            <a:pPr>
              <a:buNone/>
            </a:pPr>
            <a:r>
              <a:rPr lang="en-US" b="1" dirty="0">
                <a:latin typeface="+mj-lt"/>
              </a:rPr>
              <a:t>				Some </a:t>
            </a:r>
            <a:r>
              <a:rPr lang="en-US" b="1" dirty="0" err="1">
                <a:latin typeface="+mj-lt"/>
              </a:rPr>
              <a:t>tyres</a:t>
            </a:r>
            <a:r>
              <a:rPr lang="en-US" b="1" dirty="0">
                <a:latin typeface="+mj-lt"/>
              </a:rPr>
              <a:t> are wheels. </a:t>
            </a:r>
          </a:p>
          <a:p>
            <a:pPr>
              <a:buNone/>
            </a:pPr>
            <a:r>
              <a:rPr lang="en-US" b="1" dirty="0">
                <a:latin typeface="+mj-lt"/>
              </a:rPr>
              <a:t>				All wheels are buses. </a:t>
            </a:r>
          </a:p>
          <a:p>
            <a:pPr>
              <a:buNone/>
            </a:pPr>
            <a:r>
              <a:rPr lang="en-US" b="1" dirty="0">
                <a:latin typeface="+mj-lt"/>
              </a:rPr>
              <a:t>                 Conclusions: I. Some buses are </a:t>
            </a:r>
            <a:r>
              <a:rPr lang="en-US" b="1" dirty="0" err="1">
                <a:latin typeface="+mj-lt"/>
              </a:rPr>
              <a:t>tyres</a:t>
            </a:r>
            <a:r>
              <a:rPr lang="en-US" b="1" dirty="0">
                <a:latin typeface="+mj-lt"/>
              </a:rPr>
              <a:t>. 	</a:t>
            </a:r>
          </a:p>
          <a:p>
            <a:pPr>
              <a:buNone/>
            </a:pPr>
            <a:r>
              <a:rPr lang="en-US" b="1" dirty="0">
                <a:latin typeface="+mj-lt"/>
              </a:rPr>
              <a:t>			             II. Some wheels are </a:t>
            </a:r>
            <a:r>
              <a:rPr lang="en-US" b="1" dirty="0" err="1">
                <a:latin typeface="+mj-lt"/>
              </a:rPr>
              <a:t>tyres</a:t>
            </a:r>
            <a:r>
              <a:rPr lang="en-US" b="1" dirty="0">
                <a:latin typeface="+mj-lt"/>
              </a:rPr>
              <a:t>. </a:t>
            </a:r>
          </a:p>
          <a:p>
            <a:pPr>
              <a:buNone/>
            </a:pPr>
            <a:r>
              <a:rPr lang="en-US" b="1" dirty="0">
                <a:latin typeface="+mj-lt"/>
              </a:rPr>
              <a:t>			             III. Some buses are cycles.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539533E-18BF-65E4-BE79-44469D584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74D97-E0EA-C1C9-8AEF-03606F22666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242D7B4-D5A4-BFF7-331E-E68752355531}"/>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13.        </a:t>
            </a:r>
            <a:r>
              <a:rPr lang="en-US" b="1" dirty="0">
                <a:latin typeface="+mj-lt"/>
              </a:rPr>
              <a:t>Statements: All cycles are </a:t>
            </a:r>
            <a:r>
              <a:rPr lang="en-US" b="1" dirty="0" err="1">
                <a:latin typeface="+mj-lt"/>
              </a:rPr>
              <a:t>tyres</a:t>
            </a:r>
            <a:r>
              <a:rPr lang="en-US" b="1" dirty="0">
                <a:latin typeface="+mj-lt"/>
              </a:rPr>
              <a:t>. </a:t>
            </a:r>
          </a:p>
          <a:p>
            <a:pPr>
              <a:buNone/>
            </a:pPr>
            <a:r>
              <a:rPr lang="en-US" b="1" dirty="0">
                <a:latin typeface="+mj-lt"/>
              </a:rPr>
              <a:t>				Some </a:t>
            </a:r>
            <a:r>
              <a:rPr lang="en-US" b="1" dirty="0" err="1">
                <a:latin typeface="+mj-lt"/>
              </a:rPr>
              <a:t>tyres</a:t>
            </a:r>
            <a:r>
              <a:rPr lang="en-US" b="1" dirty="0">
                <a:latin typeface="+mj-lt"/>
              </a:rPr>
              <a:t> are wheels. </a:t>
            </a:r>
          </a:p>
          <a:p>
            <a:pPr>
              <a:buNone/>
            </a:pPr>
            <a:r>
              <a:rPr lang="en-US" b="1" dirty="0">
                <a:latin typeface="+mj-lt"/>
              </a:rPr>
              <a:t>				All wheels are buses. </a:t>
            </a:r>
          </a:p>
          <a:p>
            <a:pPr>
              <a:buNone/>
            </a:pPr>
            <a:r>
              <a:rPr lang="en-US" b="1" dirty="0">
                <a:latin typeface="+mj-lt"/>
              </a:rPr>
              <a:t>                 Conclusions: I. Some buses are </a:t>
            </a:r>
            <a:r>
              <a:rPr lang="en-US" b="1" dirty="0" err="1">
                <a:latin typeface="+mj-lt"/>
              </a:rPr>
              <a:t>tyres</a:t>
            </a:r>
            <a:r>
              <a:rPr lang="en-US" b="1" dirty="0">
                <a:latin typeface="+mj-lt"/>
              </a:rPr>
              <a:t>. 	</a:t>
            </a:r>
          </a:p>
          <a:p>
            <a:pPr>
              <a:buNone/>
            </a:pPr>
            <a:r>
              <a:rPr lang="en-US" b="1" dirty="0">
                <a:latin typeface="+mj-lt"/>
              </a:rPr>
              <a:t>			             II. Some wheels are </a:t>
            </a:r>
            <a:r>
              <a:rPr lang="en-US" b="1" dirty="0" err="1">
                <a:latin typeface="+mj-lt"/>
              </a:rPr>
              <a:t>tyres</a:t>
            </a:r>
            <a:r>
              <a:rPr lang="en-US" b="1" dirty="0">
                <a:latin typeface="+mj-lt"/>
              </a:rPr>
              <a:t>. </a:t>
            </a:r>
          </a:p>
          <a:p>
            <a:pPr>
              <a:buNone/>
            </a:pPr>
            <a:r>
              <a:rPr lang="en-US" b="1" dirty="0">
                <a:latin typeface="+mj-lt"/>
              </a:rPr>
              <a:t>			             III. Some buses are cycles. </a:t>
            </a:r>
          </a:p>
          <a:p>
            <a:pPr marL="457200" indent="-457200">
              <a:buAutoNum type="arabicParenBoth"/>
            </a:pPr>
            <a:r>
              <a:rPr lang="en-US" b="1" dirty="0">
                <a:solidFill>
                  <a:srgbClr val="FF0000"/>
                </a:solidFill>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4234918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chemeClr val="tx1">
                    <a:lumMod val="95000"/>
                    <a:lumOff val="5000"/>
                  </a:schemeClr>
                </a:solidFill>
                <a:latin typeface="+mn-lt"/>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14.         </a:t>
            </a:r>
            <a:r>
              <a:rPr lang="en-US" b="1" dirty="0">
                <a:latin typeface="+mj-lt"/>
              </a:rPr>
              <a:t>Statements: Some dogs are cats. </a:t>
            </a:r>
          </a:p>
          <a:p>
            <a:pPr>
              <a:buNone/>
            </a:pPr>
            <a:r>
              <a:rPr lang="en-US" b="1" dirty="0">
                <a:latin typeface="+mj-lt"/>
              </a:rPr>
              <a:t>				Some cats are horses. </a:t>
            </a:r>
          </a:p>
          <a:p>
            <a:pPr>
              <a:buNone/>
            </a:pPr>
            <a:r>
              <a:rPr lang="en-US" b="1" dirty="0">
                <a:latin typeface="+mj-lt"/>
              </a:rPr>
              <a:t>				All horses are tigers. </a:t>
            </a:r>
          </a:p>
          <a:p>
            <a:pPr>
              <a:buNone/>
            </a:pPr>
            <a:r>
              <a:rPr lang="en-US" b="1" dirty="0">
                <a:latin typeface="+mj-lt"/>
              </a:rPr>
              <a:t>                Conclusions : I. Some tigers are cats. </a:t>
            </a:r>
          </a:p>
          <a:p>
            <a:pPr>
              <a:buNone/>
            </a:pPr>
            <a:r>
              <a:rPr lang="en-US" b="1" dirty="0">
                <a:latin typeface="+mj-lt"/>
              </a:rPr>
              <a:t>			            II. Some horses are dogs. </a:t>
            </a:r>
          </a:p>
          <a:p>
            <a:pPr>
              <a:buNone/>
            </a:pPr>
            <a:r>
              <a:rPr lang="en-US" b="1" dirty="0">
                <a:latin typeface="+mj-lt"/>
              </a:rPr>
              <a:t>			            III. Some tigers are dogs. </a:t>
            </a:r>
          </a:p>
          <a:p>
            <a:pPr marL="457200" indent="-457200">
              <a:buAutoNum type="arabicParenBoth"/>
            </a:pPr>
            <a:r>
              <a:rPr lang="en-US" b="1" dirty="0">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III follows </a:t>
            </a:r>
          </a:p>
          <a:p>
            <a:pPr marL="457200" indent="-457200">
              <a:buNone/>
            </a:pPr>
            <a:r>
              <a:rPr lang="en-US" b="1" dirty="0">
                <a:latin typeface="+mj-lt"/>
              </a:rPr>
              <a:t>(5) Only II and III follow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972398-54FE-7D9B-EE64-5494E225A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CF9A1-404C-2E56-33BA-292CF1E6636C}"/>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ADF3906-5C41-A400-57FE-6041D64138DE}"/>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chemeClr val="tx1">
                    <a:lumMod val="95000"/>
                    <a:lumOff val="5000"/>
                  </a:schemeClr>
                </a:solidFill>
                <a:latin typeface="+mn-lt"/>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14.         </a:t>
            </a:r>
            <a:r>
              <a:rPr lang="en-US" b="1" dirty="0">
                <a:latin typeface="+mj-lt"/>
              </a:rPr>
              <a:t>Statements: Some dogs are cats. </a:t>
            </a:r>
          </a:p>
          <a:p>
            <a:pPr>
              <a:buNone/>
            </a:pPr>
            <a:r>
              <a:rPr lang="en-US" b="1" dirty="0">
                <a:latin typeface="+mj-lt"/>
              </a:rPr>
              <a:t>				Some cats are horses. </a:t>
            </a:r>
          </a:p>
          <a:p>
            <a:pPr>
              <a:buNone/>
            </a:pPr>
            <a:r>
              <a:rPr lang="en-US" b="1" dirty="0">
                <a:latin typeface="+mj-lt"/>
              </a:rPr>
              <a:t>				All horses are tigers. </a:t>
            </a:r>
          </a:p>
          <a:p>
            <a:pPr>
              <a:buNone/>
            </a:pPr>
            <a:r>
              <a:rPr lang="en-US" b="1" dirty="0">
                <a:latin typeface="+mj-lt"/>
              </a:rPr>
              <a:t>                Conclusions : I. Some tigers are cats. </a:t>
            </a:r>
          </a:p>
          <a:p>
            <a:pPr>
              <a:buNone/>
            </a:pPr>
            <a:r>
              <a:rPr lang="en-US" b="1" dirty="0">
                <a:latin typeface="+mj-lt"/>
              </a:rPr>
              <a:t>			            II. Some horses are dogs. </a:t>
            </a:r>
          </a:p>
          <a:p>
            <a:pPr>
              <a:buNone/>
            </a:pPr>
            <a:r>
              <a:rPr lang="en-US" b="1" dirty="0">
                <a:latin typeface="+mj-lt"/>
              </a:rPr>
              <a:t>			            III. Some tigers are dogs. </a:t>
            </a:r>
          </a:p>
          <a:p>
            <a:pPr marL="457200" indent="-457200">
              <a:buAutoNum type="arabicParenBoth"/>
            </a:pPr>
            <a:r>
              <a:rPr lang="en-US" b="1" dirty="0">
                <a:latin typeface="+mj-lt"/>
              </a:rPr>
              <a:t>None follows </a:t>
            </a:r>
          </a:p>
          <a:p>
            <a:pPr marL="457200" indent="-457200">
              <a:buNone/>
            </a:pPr>
            <a:r>
              <a:rPr lang="en-US" b="1" dirty="0">
                <a:solidFill>
                  <a:srgbClr val="FF0000"/>
                </a:solidFill>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III follows </a:t>
            </a:r>
          </a:p>
          <a:p>
            <a:pPr marL="457200" indent="-457200">
              <a:buNone/>
            </a:pPr>
            <a:r>
              <a:rPr lang="en-US" b="1" dirty="0">
                <a:latin typeface="+mj-lt"/>
              </a:rPr>
              <a:t>(5) Only II and III follow  </a:t>
            </a:r>
          </a:p>
        </p:txBody>
      </p:sp>
    </p:spTree>
    <p:extLst>
      <p:ext uri="{BB962C8B-B14F-4D97-AF65-F5344CB8AC3E}">
        <p14:creationId xmlns:p14="http://schemas.microsoft.com/office/powerpoint/2010/main" val="25898433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15. </a:t>
            </a:r>
            <a:r>
              <a:rPr lang="en-US" b="1" dirty="0">
                <a:latin typeface="+mj-lt"/>
              </a:rPr>
              <a:t>Statements:        All pictures are bands. </a:t>
            </a:r>
          </a:p>
          <a:p>
            <a:pPr>
              <a:buNone/>
            </a:pPr>
            <a:r>
              <a:rPr lang="en-US" b="1" dirty="0">
                <a:latin typeface="+mj-lt"/>
              </a:rPr>
              <a:t>				Some bands are chairs. </a:t>
            </a:r>
          </a:p>
          <a:p>
            <a:pPr>
              <a:buNone/>
            </a:pPr>
            <a:r>
              <a:rPr lang="en-US" b="1" dirty="0">
                <a:latin typeface="+mj-lt"/>
              </a:rPr>
              <a:t>				Some chairs are tables. </a:t>
            </a:r>
          </a:p>
          <a:p>
            <a:pPr>
              <a:buNone/>
            </a:pPr>
            <a:r>
              <a:rPr lang="en-US" b="1" dirty="0">
                <a:latin typeface="+mj-lt"/>
              </a:rPr>
              <a:t>         Conclusions: I. Some tables are bands. </a:t>
            </a:r>
          </a:p>
          <a:p>
            <a:pPr>
              <a:buNone/>
            </a:pPr>
            <a:r>
              <a:rPr lang="en-US" b="1" dirty="0">
                <a:latin typeface="+mj-lt"/>
              </a:rPr>
              <a:t>			    II. Some chairs are pictures. </a:t>
            </a:r>
          </a:p>
          <a:p>
            <a:pPr>
              <a:buNone/>
            </a:pPr>
            <a:r>
              <a:rPr lang="en-US" b="1" dirty="0">
                <a:latin typeface="+mj-lt"/>
              </a:rPr>
              <a:t>			    III. Some tables are pictures. </a:t>
            </a:r>
          </a:p>
          <a:p>
            <a:pPr marL="457200" indent="-457200">
              <a:buAutoNum type="arabicParenBoth"/>
            </a:pPr>
            <a:r>
              <a:rPr lang="en-US" b="1" dirty="0">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 and II follow </a:t>
            </a:r>
          </a:p>
          <a:p>
            <a:pPr marL="457200" indent="-457200">
              <a:buNone/>
            </a:pPr>
            <a:r>
              <a:rPr lang="en-US" b="1" dirty="0">
                <a:latin typeface="+mj-lt"/>
              </a:rPr>
              <a:t>(5) Only III follows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0FC0753-7913-67A9-28E9-45E3A90A5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0B853-0565-2B80-693C-7E2D134EFFD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9EDD1C8-7F21-1022-818A-DEBD5FEFD52E}"/>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15. </a:t>
            </a:r>
            <a:r>
              <a:rPr lang="en-US" b="1" dirty="0">
                <a:latin typeface="+mj-lt"/>
              </a:rPr>
              <a:t>Statements:        All pictures are bands. </a:t>
            </a:r>
          </a:p>
          <a:p>
            <a:pPr>
              <a:buNone/>
            </a:pPr>
            <a:r>
              <a:rPr lang="en-US" b="1" dirty="0">
                <a:latin typeface="+mj-lt"/>
              </a:rPr>
              <a:t>				Some bands are chairs. </a:t>
            </a:r>
          </a:p>
          <a:p>
            <a:pPr>
              <a:buNone/>
            </a:pPr>
            <a:r>
              <a:rPr lang="en-US" b="1" dirty="0">
                <a:latin typeface="+mj-lt"/>
              </a:rPr>
              <a:t>				Some chairs are tables. </a:t>
            </a:r>
          </a:p>
          <a:p>
            <a:pPr>
              <a:buNone/>
            </a:pPr>
            <a:r>
              <a:rPr lang="en-US" b="1" dirty="0">
                <a:latin typeface="+mj-lt"/>
              </a:rPr>
              <a:t>         Conclusions: I. Some tables are bands. </a:t>
            </a:r>
          </a:p>
          <a:p>
            <a:pPr>
              <a:buNone/>
            </a:pPr>
            <a:r>
              <a:rPr lang="en-US" b="1" dirty="0">
                <a:latin typeface="+mj-lt"/>
              </a:rPr>
              <a:t>			    II. Some chairs are pictures. </a:t>
            </a:r>
          </a:p>
          <a:p>
            <a:pPr>
              <a:buNone/>
            </a:pPr>
            <a:r>
              <a:rPr lang="en-US" b="1" dirty="0">
                <a:latin typeface="+mj-lt"/>
              </a:rPr>
              <a:t>			    III. Some tables are pictures. </a:t>
            </a:r>
          </a:p>
          <a:p>
            <a:pPr marL="457200" indent="-457200">
              <a:buAutoNum type="arabicParenBoth"/>
            </a:pPr>
            <a:r>
              <a:rPr lang="en-US" b="1" dirty="0">
                <a:solidFill>
                  <a:srgbClr val="FF0000"/>
                </a:solidFill>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 and II follow </a:t>
            </a:r>
          </a:p>
          <a:p>
            <a:pPr marL="457200" indent="-457200">
              <a:buNone/>
            </a:pPr>
            <a:r>
              <a:rPr lang="en-US" b="1" dirty="0">
                <a:latin typeface="+mj-lt"/>
              </a:rPr>
              <a:t>(5) Only III follows</a:t>
            </a:r>
          </a:p>
        </p:txBody>
      </p:sp>
    </p:spTree>
    <p:extLst>
      <p:ext uri="{BB962C8B-B14F-4D97-AF65-F5344CB8AC3E}">
        <p14:creationId xmlns:p14="http://schemas.microsoft.com/office/powerpoint/2010/main" val="33096082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16. </a:t>
            </a:r>
            <a:r>
              <a:rPr lang="en-US" b="1" dirty="0">
                <a:latin typeface="+mj-lt"/>
              </a:rPr>
              <a:t>Statements :       Some bikes are cars. </a:t>
            </a:r>
          </a:p>
          <a:p>
            <a:pPr>
              <a:buNone/>
            </a:pPr>
            <a:r>
              <a:rPr lang="en-US" b="1" dirty="0">
                <a:latin typeface="+mj-lt"/>
              </a:rPr>
              <a:t>				Some cars are trains. </a:t>
            </a:r>
          </a:p>
          <a:p>
            <a:pPr>
              <a:buNone/>
            </a:pPr>
            <a:r>
              <a:rPr lang="en-US" b="1" dirty="0">
                <a:latin typeface="+mj-lt"/>
              </a:rPr>
              <a:t>				Some trains are buses. </a:t>
            </a:r>
          </a:p>
          <a:p>
            <a:pPr>
              <a:buNone/>
            </a:pPr>
            <a:r>
              <a:rPr lang="en-US" b="1" dirty="0">
                <a:latin typeface="+mj-lt"/>
              </a:rPr>
              <a:t>         Conclusions :       I. Some buses are cars. </a:t>
            </a:r>
          </a:p>
          <a:p>
            <a:pPr>
              <a:buNone/>
            </a:pPr>
            <a:r>
              <a:rPr lang="en-US" b="1" dirty="0">
                <a:latin typeface="+mj-lt"/>
              </a:rPr>
              <a:t>			            II. Some trains are bikes. </a:t>
            </a:r>
          </a:p>
          <a:p>
            <a:pPr>
              <a:buNone/>
            </a:pPr>
            <a:r>
              <a:rPr lang="en-US" b="1" dirty="0">
                <a:latin typeface="+mj-lt"/>
              </a:rPr>
              <a:t>			            III. Some buses are bikes. </a:t>
            </a:r>
          </a:p>
          <a:p>
            <a:pPr marL="457200" indent="-457200">
              <a:buAutoNum type="arabicParenBoth"/>
            </a:pPr>
            <a:r>
              <a:rPr lang="en-US" b="1" dirty="0">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III follows </a:t>
            </a:r>
          </a:p>
          <a:p>
            <a:pPr marL="457200" indent="-457200">
              <a:buNone/>
            </a:pPr>
            <a:r>
              <a:rPr lang="en-US" b="1" dirty="0">
                <a:latin typeface="+mj-lt"/>
              </a:rPr>
              <a:t>(5) Only I and II follow</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9013455-4485-C3D1-C918-F3E839BFE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6E33F-02D4-ACE8-F908-9320A0387750}"/>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4DDDFB0-571B-90A8-D43E-D11D8D2D0C62}"/>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16. </a:t>
            </a:r>
            <a:r>
              <a:rPr lang="en-US" b="1" dirty="0">
                <a:latin typeface="+mj-lt"/>
              </a:rPr>
              <a:t>Statements :       Some bikes are cars. </a:t>
            </a:r>
          </a:p>
          <a:p>
            <a:pPr>
              <a:buNone/>
            </a:pPr>
            <a:r>
              <a:rPr lang="en-US" b="1" dirty="0">
                <a:latin typeface="+mj-lt"/>
              </a:rPr>
              <a:t>				Some cars are trains. </a:t>
            </a:r>
          </a:p>
          <a:p>
            <a:pPr>
              <a:buNone/>
            </a:pPr>
            <a:r>
              <a:rPr lang="en-US" b="1" dirty="0">
                <a:latin typeface="+mj-lt"/>
              </a:rPr>
              <a:t>				Some trains are buses. </a:t>
            </a:r>
          </a:p>
          <a:p>
            <a:pPr>
              <a:buNone/>
            </a:pPr>
            <a:r>
              <a:rPr lang="en-US" b="1" dirty="0">
                <a:latin typeface="+mj-lt"/>
              </a:rPr>
              <a:t>         Conclusions :       I. Some buses are cars. </a:t>
            </a:r>
          </a:p>
          <a:p>
            <a:pPr>
              <a:buNone/>
            </a:pPr>
            <a:r>
              <a:rPr lang="en-US" b="1" dirty="0">
                <a:latin typeface="+mj-lt"/>
              </a:rPr>
              <a:t>			            II. Some trains are bikes. </a:t>
            </a:r>
          </a:p>
          <a:p>
            <a:pPr>
              <a:buNone/>
            </a:pPr>
            <a:r>
              <a:rPr lang="en-US" b="1" dirty="0">
                <a:latin typeface="+mj-lt"/>
              </a:rPr>
              <a:t>			            III. Some buses are bikes. </a:t>
            </a:r>
          </a:p>
          <a:p>
            <a:pPr marL="457200" indent="-457200">
              <a:buAutoNum type="arabicParenBoth"/>
            </a:pPr>
            <a:r>
              <a:rPr lang="en-US" b="1" dirty="0">
                <a:solidFill>
                  <a:srgbClr val="FF0000"/>
                </a:solidFill>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III follows </a:t>
            </a:r>
          </a:p>
          <a:p>
            <a:pPr marL="457200" indent="-457200">
              <a:buNone/>
            </a:pPr>
            <a:r>
              <a:rPr lang="en-US" b="1" dirty="0">
                <a:latin typeface="+mj-lt"/>
              </a:rPr>
              <a:t>(5) Only I and II follow</a:t>
            </a:r>
          </a:p>
        </p:txBody>
      </p:sp>
    </p:spTree>
    <p:extLst>
      <p:ext uri="{BB962C8B-B14F-4D97-AF65-F5344CB8AC3E}">
        <p14:creationId xmlns:p14="http://schemas.microsoft.com/office/powerpoint/2010/main" val="6015339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17.         </a:t>
            </a:r>
            <a:r>
              <a:rPr lang="en-US" b="1" dirty="0">
                <a:latin typeface="+mj-lt"/>
              </a:rPr>
              <a:t>Statements: Some boxes are walls. </a:t>
            </a:r>
          </a:p>
          <a:p>
            <a:pPr>
              <a:buNone/>
            </a:pPr>
            <a:r>
              <a:rPr lang="en-US" b="1" dirty="0">
                <a:latin typeface="+mj-lt"/>
              </a:rPr>
              <a:t>				No wall is road. </a:t>
            </a:r>
          </a:p>
          <a:p>
            <a:pPr>
              <a:buNone/>
            </a:pPr>
            <a:r>
              <a:rPr lang="en-US" b="1" dirty="0">
                <a:latin typeface="+mj-lt"/>
              </a:rPr>
              <a:t>				All roads are rivers. </a:t>
            </a:r>
          </a:p>
          <a:p>
            <a:pPr>
              <a:buNone/>
            </a:pPr>
            <a:r>
              <a:rPr lang="en-US" b="1" dirty="0">
                <a:latin typeface="+mj-lt"/>
              </a:rPr>
              <a:t>                 Conclusions: I. Some rivers are walls </a:t>
            </a:r>
          </a:p>
          <a:p>
            <a:pPr>
              <a:buNone/>
            </a:pPr>
            <a:r>
              <a:rPr lang="en-US" b="1" dirty="0">
                <a:latin typeface="+mj-lt"/>
              </a:rPr>
              <a:t>			             II. Some roads are boxes </a:t>
            </a:r>
          </a:p>
          <a:p>
            <a:pPr>
              <a:buNone/>
            </a:pPr>
            <a:r>
              <a:rPr lang="en-US" b="1" dirty="0">
                <a:latin typeface="+mj-lt"/>
              </a:rPr>
              <a:t>			            III. No wall is river </a:t>
            </a:r>
          </a:p>
          <a:p>
            <a:pPr marL="457200" indent="-457200">
              <a:buAutoNum type="arabicParenBoth"/>
            </a:pPr>
            <a:r>
              <a:rPr lang="en-US" b="1" dirty="0">
                <a:latin typeface="+mj-lt"/>
              </a:rPr>
              <a:t>Only I follows </a:t>
            </a:r>
          </a:p>
          <a:p>
            <a:pPr marL="457200" indent="-457200">
              <a:buNone/>
            </a:pPr>
            <a:r>
              <a:rPr lang="en-US" b="1" dirty="0">
                <a:latin typeface="+mj-lt"/>
              </a:rPr>
              <a:t>(2) Only either I or III follows </a:t>
            </a:r>
          </a:p>
          <a:p>
            <a:pPr marL="457200" indent="-457200">
              <a:buNone/>
            </a:pPr>
            <a:r>
              <a:rPr lang="en-US" b="1" dirty="0">
                <a:latin typeface="+mj-lt"/>
              </a:rPr>
              <a:t>(3) Only III follows </a:t>
            </a:r>
          </a:p>
          <a:p>
            <a:pPr marL="457200" indent="-457200">
              <a:buNone/>
            </a:pPr>
            <a:r>
              <a:rPr lang="en-US" b="1" dirty="0">
                <a:latin typeface="+mj-lt"/>
              </a:rPr>
              <a:t>(4) Only II follows </a:t>
            </a:r>
          </a:p>
          <a:p>
            <a:pPr marL="457200" indent="-457200">
              <a:buNone/>
            </a:pPr>
            <a:r>
              <a:rPr lang="en-US" b="1" dirty="0">
                <a:latin typeface="+mj-lt"/>
              </a:rPr>
              <a:t>(5) Only II and III follow</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90EEFD-93AF-51AA-7303-0481DDAC6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C9646-7BE4-0A64-F677-5C5D06A04F9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89FF9E4-C6A0-1F7F-B011-B17A61C59D04}"/>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17.         </a:t>
            </a:r>
            <a:r>
              <a:rPr lang="en-US" b="1" dirty="0">
                <a:latin typeface="+mj-lt"/>
              </a:rPr>
              <a:t>Statements: Some boxes are walls. </a:t>
            </a:r>
          </a:p>
          <a:p>
            <a:pPr>
              <a:buNone/>
            </a:pPr>
            <a:r>
              <a:rPr lang="en-US" b="1" dirty="0">
                <a:latin typeface="+mj-lt"/>
              </a:rPr>
              <a:t>				No wall is road. </a:t>
            </a:r>
          </a:p>
          <a:p>
            <a:pPr>
              <a:buNone/>
            </a:pPr>
            <a:r>
              <a:rPr lang="en-US" b="1" dirty="0">
                <a:latin typeface="+mj-lt"/>
              </a:rPr>
              <a:t>				All roads are rivers. </a:t>
            </a:r>
          </a:p>
          <a:p>
            <a:pPr>
              <a:buNone/>
            </a:pPr>
            <a:r>
              <a:rPr lang="en-US" b="1" dirty="0">
                <a:latin typeface="+mj-lt"/>
              </a:rPr>
              <a:t>                 Conclusions: I. Some rivers are walls </a:t>
            </a:r>
          </a:p>
          <a:p>
            <a:pPr>
              <a:buNone/>
            </a:pPr>
            <a:r>
              <a:rPr lang="en-US" b="1" dirty="0">
                <a:latin typeface="+mj-lt"/>
              </a:rPr>
              <a:t>			             II. Some roads are boxes </a:t>
            </a:r>
          </a:p>
          <a:p>
            <a:pPr>
              <a:buNone/>
            </a:pPr>
            <a:r>
              <a:rPr lang="en-US" b="1" dirty="0">
                <a:latin typeface="+mj-lt"/>
              </a:rPr>
              <a:t>			            III. No wall is river </a:t>
            </a:r>
          </a:p>
          <a:p>
            <a:pPr marL="457200" indent="-457200">
              <a:buAutoNum type="arabicParenBoth"/>
            </a:pPr>
            <a:r>
              <a:rPr lang="en-US" b="1" dirty="0">
                <a:latin typeface="+mj-lt"/>
              </a:rPr>
              <a:t>Only I follows </a:t>
            </a:r>
          </a:p>
          <a:p>
            <a:pPr marL="457200" indent="-457200">
              <a:buNone/>
            </a:pPr>
            <a:r>
              <a:rPr lang="en-US" b="1" dirty="0">
                <a:solidFill>
                  <a:srgbClr val="FF0000"/>
                </a:solidFill>
                <a:latin typeface="+mj-lt"/>
              </a:rPr>
              <a:t>(2) Only either I or III follows </a:t>
            </a:r>
          </a:p>
          <a:p>
            <a:pPr marL="457200" indent="-457200">
              <a:buNone/>
            </a:pPr>
            <a:r>
              <a:rPr lang="en-US" b="1" dirty="0">
                <a:latin typeface="+mj-lt"/>
              </a:rPr>
              <a:t>(3) Only III follows </a:t>
            </a:r>
          </a:p>
          <a:p>
            <a:pPr marL="457200" indent="-457200">
              <a:buNone/>
            </a:pPr>
            <a:r>
              <a:rPr lang="en-US" b="1" dirty="0">
                <a:latin typeface="+mj-lt"/>
              </a:rPr>
              <a:t>(4) Only II follows </a:t>
            </a:r>
          </a:p>
          <a:p>
            <a:pPr marL="457200" indent="-457200">
              <a:buNone/>
            </a:pPr>
            <a:r>
              <a:rPr lang="en-US" b="1" dirty="0">
                <a:latin typeface="+mj-lt"/>
              </a:rPr>
              <a:t>(5) Only II and III follow</a:t>
            </a:r>
          </a:p>
        </p:txBody>
      </p:sp>
    </p:spTree>
    <p:extLst>
      <p:ext uri="{BB962C8B-B14F-4D97-AF65-F5344CB8AC3E}">
        <p14:creationId xmlns:p14="http://schemas.microsoft.com/office/powerpoint/2010/main" val="24180994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18.        </a:t>
            </a:r>
            <a:r>
              <a:rPr lang="en-US" b="1" dirty="0">
                <a:latin typeface="+mj-lt"/>
              </a:rPr>
              <a:t>Statements : Some tables are chairs. </a:t>
            </a:r>
          </a:p>
          <a:p>
            <a:pPr>
              <a:buNone/>
            </a:pPr>
            <a:r>
              <a:rPr lang="en-US" b="1" dirty="0">
                <a:latin typeface="+mj-lt"/>
              </a:rPr>
              <a:t>				All chairs are houses. </a:t>
            </a:r>
          </a:p>
          <a:p>
            <a:pPr>
              <a:buNone/>
            </a:pPr>
            <a:r>
              <a:rPr lang="en-US" b="1" dirty="0">
                <a:latin typeface="+mj-lt"/>
              </a:rPr>
              <a:t>				All houses are tents. </a:t>
            </a:r>
          </a:p>
          <a:p>
            <a:pPr>
              <a:buNone/>
            </a:pPr>
            <a:r>
              <a:rPr lang="en-US" b="1" dirty="0">
                <a:latin typeface="+mj-lt"/>
              </a:rPr>
              <a:t>                 Conclusions: I. All houses are chairs. </a:t>
            </a:r>
          </a:p>
          <a:p>
            <a:pPr>
              <a:buNone/>
            </a:pPr>
            <a:r>
              <a:rPr lang="en-US" b="1" dirty="0">
                <a:latin typeface="+mj-lt"/>
              </a:rPr>
              <a:t>			             II. Some tents are chairs. </a:t>
            </a:r>
          </a:p>
          <a:p>
            <a:pPr>
              <a:buNone/>
            </a:pPr>
            <a:r>
              <a:rPr lang="en-US" b="1" dirty="0">
                <a:latin typeface="+mj-lt"/>
              </a:rPr>
              <a:t>			             III. Some houses are tables.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2A4948A-8FA6-45A2-11FF-83378DBCB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3FA00-813B-6566-8099-816502AFB98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CE20301-C928-C9F4-9E7B-E99F0C6D1D66}"/>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18.        </a:t>
            </a:r>
            <a:r>
              <a:rPr lang="en-US" b="1" dirty="0">
                <a:latin typeface="+mj-lt"/>
              </a:rPr>
              <a:t>Statements : Some tables are chairs. </a:t>
            </a:r>
          </a:p>
          <a:p>
            <a:pPr>
              <a:buNone/>
            </a:pPr>
            <a:r>
              <a:rPr lang="en-US" b="1" dirty="0">
                <a:latin typeface="+mj-lt"/>
              </a:rPr>
              <a:t>				All chairs are houses. </a:t>
            </a:r>
          </a:p>
          <a:p>
            <a:pPr>
              <a:buNone/>
            </a:pPr>
            <a:r>
              <a:rPr lang="en-US" b="1" dirty="0">
                <a:latin typeface="+mj-lt"/>
              </a:rPr>
              <a:t>				All houses are tents. </a:t>
            </a:r>
          </a:p>
          <a:p>
            <a:pPr>
              <a:buNone/>
            </a:pPr>
            <a:r>
              <a:rPr lang="en-US" b="1" dirty="0">
                <a:latin typeface="+mj-lt"/>
              </a:rPr>
              <a:t>                 Conclusions: I. All houses are chairs. </a:t>
            </a:r>
          </a:p>
          <a:p>
            <a:pPr>
              <a:buNone/>
            </a:pPr>
            <a:r>
              <a:rPr lang="en-US" b="1" dirty="0">
                <a:latin typeface="+mj-lt"/>
              </a:rPr>
              <a:t>			             II. Some tents are chairs. </a:t>
            </a:r>
          </a:p>
          <a:p>
            <a:pPr>
              <a:buNone/>
            </a:pPr>
            <a:r>
              <a:rPr lang="en-US" b="1" dirty="0">
                <a:latin typeface="+mj-lt"/>
              </a:rPr>
              <a:t>			             III. Some houses are tables.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solidFill>
                  <a:srgbClr val="FF0000"/>
                </a:solidFill>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12239898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19</a:t>
            </a:r>
            <a:r>
              <a:rPr lang="en-US" b="1" dirty="0">
                <a:latin typeface="+mj-lt"/>
              </a:rPr>
              <a:t>. Statements :       All pens are sticks. </a:t>
            </a:r>
          </a:p>
          <a:p>
            <a:pPr>
              <a:buNone/>
            </a:pPr>
            <a:r>
              <a:rPr lang="en-US" b="1" dirty="0">
                <a:latin typeface="+mj-lt"/>
              </a:rPr>
              <a:t>				All sticks are rings. </a:t>
            </a:r>
          </a:p>
          <a:p>
            <a:pPr>
              <a:buNone/>
            </a:pPr>
            <a:r>
              <a:rPr lang="en-US" b="1" dirty="0">
                <a:latin typeface="+mj-lt"/>
              </a:rPr>
              <a:t>				All rings are rods. </a:t>
            </a:r>
          </a:p>
          <a:p>
            <a:pPr>
              <a:buNone/>
            </a:pPr>
            <a:r>
              <a:rPr lang="en-US" b="1" dirty="0">
                <a:latin typeface="+mj-lt"/>
              </a:rPr>
              <a:t>           Conclusions : I. Some rings are pens. </a:t>
            </a:r>
          </a:p>
          <a:p>
            <a:pPr>
              <a:buNone/>
            </a:pPr>
            <a:r>
              <a:rPr lang="en-US" b="1" dirty="0">
                <a:latin typeface="+mj-lt"/>
              </a:rPr>
              <a:t>			        II. Some rods are sticks.  </a:t>
            </a:r>
          </a:p>
          <a:p>
            <a:pPr>
              <a:buNone/>
            </a:pPr>
            <a:r>
              <a:rPr lang="en-US" b="1" dirty="0">
                <a:latin typeface="+mj-lt"/>
              </a:rPr>
              <a:t>			        III. Some rods are pens.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A1417C3-865F-5B7D-7B64-9E4420DF7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CC34A-4FB4-60B6-DA01-3646161087A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B6B8DD0-9CA6-8D46-C511-EDE3F968575F}"/>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19</a:t>
            </a:r>
            <a:r>
              <a:rPr lang="en-US" b="1" dirty="0">
                <a:latin typeface="+mj-lt"/>
              </a:rPr>
              <a:t>. Statements :       All pens are sticks. </a:t>
            </a:r>
          </a:p>
          <a:p>
            <a:pPr>
              <a:buNone/>
            </a:pPr>
            <a:r>
              <a:rPr lang="en-US" b="1" dirty="0">
                <a:latin typeface="+mj-lt"/>
              </a:rPr>
              <a:t>				All sticks are rings. </a:t>
            </a:r>
          </a:p>
          <a:p>
            <a:pPr>
              <a:buNone/>
            </a:pPr>
            <a:r>
              <a:rPr lang="en-US" b="1" dirty="0">
                <a:latin typeface="+mj-lt"/>
              </a:rPr>
              <a:t>				All rings are rods. </a:t>
            </a:r>
          </a:p>
          <a:p>
            <a:pPr>
              <a:buNone/>
            </a:pPr>
            <a:r>
              <a:rPr lang="en-US" b="1" dirty="0">
                <a:latin typeface="+mj-lt"/>
              </a:rPr>
              <a:t>           Conclusions : I. Some rings are pens. </a:t>
            </a:r>
          </a:p>
          <a:p>
            <a:pPr>
              <a:buNone/>
            </a:pPr>
            <a:r>
              <a:rPr lang="en-US" b="1" dirty="0">
                <a:latin typeface="+mj-lt"/>
              </a:rPr>
              <a:t>			        II. Some rods are sticks.  </a:t>
            </a:r>
          </a:p>
          <a:p>
            <a:pPr>
              <a:buNone/>
            </a:pPr>
            <a:r>
              <a:rPr lang="en-US" b="1" dirty="0">
                <a:latin typeface="+mj-lt"/>
              </a:rPr>
              <a:t>			        III. Some rods are pens.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solidFill>
                  <a:srgbClr val="FF0000"/>
                </a:solidFill>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25671804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20. </a:t>
            </a:r>
            <a:r>
              <a:rPr lang="en-US" b="1" dirty="0">
                <a:latin typeface="+mj-lt"/>
              </a:rPr>
              <a:t>Statements: 	Some nails are plates. </a:t>
            </a:r>
          </a:p>
          <a:p>
            <a:pPr>
              <a:buNone/>
            </a:pPr>
            <a:r>
              <a:rPr lang="en-US" b="1" dirty="0">
                <a:latin typeface="+mj-lt"/>
              </a:rPr>
              <a:t>				Some plates are disks. </a:t>
            </a:r>
          </a:p>
          <a:p>
            <a:pPr>
              <a:buNone/>
            </a:pPr>
            <a:r>
              <a:rPr lang="en-US" b="1" dirty="0">
                <a:latin typeface="+mj-lt"/>
              </a:rPr>
              <a:t>				All disks are mirrors. </a:t>
            </a:r>
          </a:p>
          <a:p>
            <a:pPr>
              <a:buNone/>
            </a:pPr>
            <a:r>
              <a:rPr lang="en-US" b="1" dirty="0">
                <a:latin typeface="+mj-lt"/>
              </a:rPr>
              <a:t>				All mirrors are </a:t>
            </a:r>
            <a:r>
              <a:rPr lang="en-US" b="1" dirty="0" err="1">
                <a:latin typeface="+mj-lt"/>
              </a:rPr>
              <a:t>tyres</a:t>
            </a:r>
            <a:r>
              <a:rPr lang="en-US" b="1" dirty="0">
                <a:latin typeface="+mj-lt"/>
              </a:rPr>
              <a:t>. </a:t>
            </a:r>
          </a:p>
          <a:p>
            <a:pPr>
              <a:buNone/>
            </a:pPr>
            <a:r>
              <a:rPr lang="en-US" b="1" dirty="0">
                <a:latin typeface="+mj-lt"/>
              </a:rPr>
              <a:t>          Conclusions:            I. Some </a:t>
            </a:r>
            <a:r>
              <a:rPr lang="en-US" b="1" dirty="0" err="1">
                <a:latin typeface="+mj-lt"/>
              </a:rPr>
              <a:t>tyres</a:t>
            </a:r>
            <a:r>
              <a:rPr lang="en-US" b="1" dirty="0">
                <a:latin typeface="+mj-lt"/>
              </a:rPr>
              <a:t> are plates. </a:t>
            </a:r>
          </a:p>
          <a:p>
            <a:pPr>
              <a:buNone/>
            </a:pPr>
            <a:r>
              <a:rPr lang="en-US" b="1" dirty="0">
                <a:latin typeface="+mj-lt"/>
              </a:rPr>
              <a:t>			              II. Some </a:t>
            </a:r>
            <a:r>
              <a:rPr lang="en-US" b="1" dirty="0" err="1">
                <a:latin typeface="+mj-lt"/>
              </a:rPr>
              <a:t>tyres</a:t>
            </a:r>
            <a:r>
              <a:rPr lang="en-US" b="1" dirty="0">
                <a:latin typeface="+mj-lt"/>
              </a:rPr>
              <a:t> are nails. </a:t>
            </a:r>
          </a:p>
          <a:p>
            <a:pPr>
              <a:buNone/>
            </a:pPr>
            <a:r>
              <a:rPr lang="en-US" b="1" dirty="0">
                <a:latin typeface="+mj-lt"/>
              </a:rPr>
              <a:t>			              III. Some mirrors are plates.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AA75F39-BE6A-9B95-F6BA-4A5D9B403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09C8C-0184-2639-E295-439C0DC87F5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500E23B-D786-5841-20BF-8D7F6B027E65}"/>
              </a:ext>
            </a:extLst>
          </p:cNvPr>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20. </a:t>
            </a:r>
            <a:r>
              <a:rPr lang="en-US" b="1" dirty="0">
                <a:latin typeface="+mj-lt"/>
              </a:rPr>
              <a:t>Statements: 	Some nails are plates. </a:t>
            </a:r>
          </a:p>
          <a:p>
            <a:pPr>
              <a:buNone/>
            </a:pPr>
            <a:r>
              <a:rPr lang="en-US" b="1" dirty="0">
                <a:latin typeface="+mj-lt"/>
              </a:rPr>
              <a:t>				Some plates are disks. </a:t>
            </a:r>
          </a:p>
          <a:p>
            <a:pPr>
              <a:buNone/>
            </a:pPr>
            <a:r>
              <a:rPr lang="en-US" b="1" dirty="0">
                <a:latin typeface="+mj-lt"/>
              </a:rPr>
              <a:t>				All disks are mirrors. </a:t>
            </a:r>
          </a:p>
          <a:p>
            <a:pPr>
              <a:buNone/>
            </a:pPr>
            <a:r>
              <a:rPr lang="en-US" b="1" dirty="0">
                <a:latin typeface="+mj-lt"/>
              </a:rPr>
              <a:t>				All mirrors are </a:t>
            </a:r>
            <a:r>
              <a:rPr lang="en-US" b="1" dirty="0" err="1">
                <a:latin typeface="+mj-lt"/>
              </a:rPr>
              <a:t>tyres</a:t>
            </a:r>
            <a:r>
              <a:rPr lang="en-US" b="1" dirty="0">
                <a:latin typeface="+mj-lt"/>
              </a:rPr>
              <a:t>. </a:t>
            </a:r>
          </a:p>
          <a:p>
            <a:pPr>
              <a:buNone/>
            </a:pPr>
            <a:r>
              <a:rPr lang="en-US" b="1" dirty="0">
                <a:latin typeface="+mj-lt"/>
              </a:rPr>
              <a:t>          Conclusions:            I. Some </a:t>
            </a:r>
            <a:r>
              <a:rPr lang="en-US" b="1" dirty="0" err="1">
                <a:latin typeface="+mj-lt"/>
              </a:rPr>
              <a:t>tyres</a:t>
            </a:r>
            <a:r>
              <a:rPr lang="en-US" b="1" dirty="0">
                <a:latin typeface="+mj-lt"/>
              </a:rPr>
              <a:t> are plates. </a:t>
            </a:r>
          </a:p>
          <a:p>
            <a:pPr>
              <a:buNone/>
            </a:pPr>
            <a:r>
              <a:rPr lang="en-US" b="1" dirty="0">
                <a:latin typeface="+mj-lt"/>
              </a:rPr>
              <a:t>			              II. Some </a:t>
            </a:r>
            <a:r>
              <a:rPr lang="en-US" b="1" dirty="0" err="1">
                <a:latin typeface="+mj-lt"/>
              </a:rPr>
              <a:t>tyres</a:t>
            </a:r>
            <a:r>
              <a:rPr lang="en-US" b="1" dirty="0">
                <a:latin typeface="+mj-lt"/>
              </a:rPr>
              <a:t> are nails. </a:t>
            </a:r>
          </a:p>
          <a:p>
            <a:pPr>
              <a:buNone/>
            </a:pPr>
            <a:r>
              <a:rPr lang="en-US" b="1" dirty="0">
                <a:latin typeface="+mj-lt"/>
              </a:rPr>
              <a:t>			              III. Some mirrors are plates. </a:t>
            </a:r>
          </a:p>
          <a:p>
            <a:pPr marL="457200" indent="-457200">
              <a:buAutoNum type="arabicParenBoth"/>
            </a:pPr>
            <a:r>
              <a:rPr lang="en-US" b="1" dirty="0">
                <a:latin typeface="+mj-lt"/>
              </a:rPr>
              <a:t>Only I and II follow </a:t>
            </a:r>
          </a:p>
          <a:p>
            <a:pPr marL="457200" indent="-457200">
              <a:buNone/>
            </a:pPr>
            <a:r>
              <a:rPr lang="en-US" b="1" dirty="0">
                <a:solidFill>
                  <a:srgbClr val="FF0000"/>
                </a:solidFill>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31564239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chemeClr val="tx1">
                    <a:lumMod val="95000"/>
                    <a:lumOff val="5000"/>
                  </a:schemeClr>
                </a:solidFill>
                <a:latin typeface="+mn-lt"/>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21. </a:t>
            </a:r>
            <a:r>
              <a:rPr lang="en-US" b="1" dirty="0">
                <a:latin typeface="+mj-lt"/>
              </a:rPr>
              <a:t>Statements:         All shirts are hats. </a:t>
            </a:r>
          </a:p>
          <a:p>
            <a:pPr>
              <a:buNone/>
            </a:pPr>
            <a:r>
              <a:rPr lang="en-US" b="1" dirty="0">
                <a:latin typeface="+mj-lt"/>
              </a:rPr>
              <a:t>				No hat is suit. Some rings are suits. </a:t>
            </a:r>
          </a:p>
          <a:p>
            <a:pPr>
              <a:buNone/>
            </a:pPr>
            <a:r>
              <a:rPr lang="en-US" b="1" dirty="0">
                <a:latin typeface="+mj-lt"/>
              </a:rPr>
              <a:t>				All rings are bangles. </a:t>
            </a:r>
          </a:p>
          <a:p>
            <a:pPr>
              <a:buNone/>
            </a:pPr>
            <a:r>
              <a:rPr lang="en-US" b="1" dirty="0">
                <a:latin typeface="+mj-lt"/>
              </a:rPr>
              <a:t>          Conclusions:       I. Some rings are hats. </a:t>
            </a:r>
          </a:p>
          <a:p>
            <a:pPr>
              <a:buNone/>
            </a:pPr>
            <a:r>
              <a:rPr lang="en-US" b="1" dirty="0">
                <a:latin typeface="+mj-lt"/>
              </a:rPr>
              <a:t>			            II. Some bangles are suits. </a:t>
            </a:r>
          </a:p>
          <a:p>
            <a:pPr>
              <a:buNone/>
            </a:pPr>
            <a:r>
              <a:rPr lang="en-US" b="1" dirty="0">
                <a:latin typeface="+mj-lt"/>
              </a:rPr>
              <a:t>			            III. No ring is hat. </a:t>
            </a:r>
          </a:p>
          <a:p>
            <a:pPr marL="457200" indent="-457200">
              <a:buAutoNum type="arabicParenBoth"/>
            </a:pPr>
            <a:r>
              <a:rPr lang="en-US" b="1" dirty="0">
                <a:latin typeface="+mj-lt"/>
              </a:rPr>
              <a:t>Only I follows </a:t>
            </a:r>
          </a:p>
          <a:p>
            <a:pPr marL="457200" indent="-457200">
              <a:buNone/>
            </a:pPr>
            <a:r>
              <a:rPr lang="en-US" b="1" dirty="0">
                <a:latin typeface="+mj-lt"/>
              </a:rPr>
              <a:t>(2) Only II follows </a:t>
            </a:r>
          </a:p>
          <a:p>
            <a:pPr marL="457200" indent="-457200">
              <a:buNone/>
            </a:pPr>
            <a:r>
              <a:rPr lang="en-US" b="1" dirty="0">
                <a:latin typeface="+mj-lt"/>
              </a:rPr>
              <a:t>(3) Only III follows </a:t>
            </a:r>
          </a:p>
          <a:p>
            <a:pPr marL="457200" indent="-457200">
              <a:buNone/>
            </a:pPr>
            <a:r>
              <a:rPr lang="en-US" b="1" dirty="0">
                <a:latin typeface="+mj-lt"/>
              </a:rPr>
              <a:t>(4) Only either I or III follows </a:t>
            </a:r>
          </a:p>
          <a:p>
            <a:pPr marL="457200" indent="-457200">
              <a:buNone/>
            </a:pPr>
            <a:r>
              <a:rPr lang="en-US" b="1" dirty="0">
                <a:latin typeface="+mj-lt"/>
              </a:rPr>
              <a:t>(5) Only either I or III and II follow</a:t>
            </a:r>
          </a:p>
          <a:p>
            <a:pPr>
              <a:buNone/>
            </a:pPr>
            <a:endParaRPr lang="en-US" b="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429EB95-A856-B3EE-82BC-06116C7B3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D9C8D-B6D3-105E-EF4E-FE55A615150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545AD69-A937-A8D0-1B10-51E6C25E68C1}"/>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chemeClr val="tx1">
                    <a:lumMod val="95000"/>
                    <a:lumOff val="5000"/>
                  </a:schemeClr>
                </a:solidFill>
                <a:latin typeface="+mn-lt"/>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21. </a:t>
            </a:r>
            <a:r>
              <a:rPr lang="en-US" b="1" dirty="0">
                <a:latin typeface="+mj-lt"/>
              </a:rPr>
              <a:t>Statements:         All shirts are hats. </a:t>
            </a:r>
          </a:p>
          <a:p>
            <a:pPr>
              <a:buNone/>
            </a:pPr>
            <a:r>
              <a:rPr lang="en-US" b="1" dirty="0">
                <a:latin typeface="+mj-lt"/>
              </a:rPr>
              <a:t>				No hat is suit. Some rings are suits. </a:t>
            </a:r>
          </a:p>
          <a:p>
            <a:pPr>
              <a:buNone/>
            </a:pPr>
            <a:r>
              <a:rPr lang="en-US" b="1" dirty="0">
                <a:latin typeface="+mj-lt"/>
              </a:rPr>
              <a:t>				All rings are bangles. </a:t>
            </a:r>
          </a:p>
          <a:p>
            <a:pPr>
              <a:buNone/>
            </a:pPr>
            <a:r>
              <a:rPr lang="en-US" b="1" dirty="0">
                <a:latin typeface="+mj-lt"/>
              </a:rPr>
              <a:t>          Conclusions:       I. Some rings are hats. </a:t>
            </a:r>
          </a:p>
          <a:p>
            <a:pPr>
              <a:buNone/>
            </a:pPr>
            <a:r>
              <a:rPr lang="en-US" b="1" dirty="0">
                <a:latin typeface="+mj-lt"/>
              </a:rPr>
              <a:t>			            II. Some bangles are suits. </a:t>
            </a:r>
          </a:p>
          <a:p>
            <a:pPr>
              <a:buNone/>
            </a:pPr>
            <a:r>
              <a:rPr lang="en-US" b="1" dirty="0">
                <a:latin typeface="+mj-lt"/>
              </a:rPr>
              <a:t>			            III. No ring is hat. </a:t>
            </a:r>
          </a:p>
          <a:p>
            <a:pPr marL="457200" indent="-457200">
              <a:buAutoNum type="arabicParenBoth"/>
            </a:pPr>
            <a:r>
              <a:rPr lang="en-US" b="1" dirty="0">
                <a:latin typeface="+mj-lt"/>
              </a:rPr>
              <a:t>Only I follows </a:t>
            </a:r>
          </a:p>
          <a:p>
            <a:pPr marL="457200" indent="-457200">
              <a:buNone/>
            </a:pPr>
            <a:r>
              <a:rPr lang="en-US" b="1" dirty="0">
                <a:latin typeface="+mj-lt"/>
              </a:rPr>
              <a:t>(2) Only II follows </a:t>
            </a:r>
          </a:p>
          <a:p>
            <a:pPr marL="457200" indent="-457200">
              <a:buNone/>
            </a:pPr>
            <a:r>
              <a:rPr lang="en-US" b="1" dirty="0">
                <a:latin typeface="+mj-lt"/>
              </a:rPr>
              <a:t>(3) Only III follows </a:t>
            </a:r>
          </a:p>
          <a:p>
            <a:pPr marL="457200" indent="-457200">
              <a:buNone/>
            </a:pPr>
            <a:r>
              <a:rPr lang="en-US" b="1" dirty="0">
                <a:latin typeface="+mj-lt"/>
              </a:rPr>
              <a:t>(4) Only either I or III follows </a:t>
            </a:r>
          </a:p>
          <a:p>
            <a:pPr marL="457200" indent="-457200">
              <a:buNone/>
            </a:pPr>
            <a:r>
              <a:rPr lang="en-US" b="1" dirty="0">
                <a:solidFill>
                  <a:srgbClr val="FF0000"/>
                </a:solidFill>
                <a:latin typeface="+mj-lt"/>
              </a:rPr>
              <a:t>(5) Only either I or III and II follow</a:t>
            </a:r>
          </a:p>
          <a:p>
            <a:pPr>
              <a:buNone/>
            </a:pPr>
            <a:endParaRPr lang="en-US" b="1" dirty="0"/>
          </a:p>
        </p:txBody>
      </p:sp>
    </p:spTree>
    <p:extLst>
      <p:ext uri="{BB962C8B-B14F-4D97-AF65-F5344CB8AC3E}">
        <p14:creationId xmlns:p14="http://schemas.microsoft.com/office/powerpoint/2010/main" val="9073490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j-lt"/>
              </a:rPr>
              <a:t>Q 22. </a:t>
            </a:r>
            <a:r>
              <a:rPr lang="en-US" b="1" dirty="0">
                <a:latin typeface="+mj-lt"/>
              </a:rPr>
              <a:t>Statements: 	Some skies are rains. </a:t>
            </a:r>
          </a:p>
          <a:p>
            <a:pPr>
              <a:buNone/>
            </a:pPr>
            <a:r>
              <a:rPr lang="en-US" b="1" dirty="0">
                <a:latin typeface="+mj-lt"/>
              </a:rPr>
              <a:t>				Some rains are stars. </a:t>
            </a:r>
          </a:p>
          <a:p>
            <a:pPr>
              <a:buNone/>
            </a:pPr>
            <a:r>
              <a:rPr lang="en-US" b="1" dirty="0">
                <a:latin typeface="+mj-lt"/>
              </a:rPr>
              <a:t>				All stars are planets. </a:t>
            </a:r>
          </a:p>
          <a:p>
            <a:pPr>
              <a:buNone/>
            </a:pPr>
            <a:r>
              <a:rPr lang="en-US" b="1" dirty="0">
                <a:latin typeface="+mj-lt"/>
              </a:rPr>
              <a:t>				All planets are clouds. </a:t>
            </a:r>
          </a:p>
          <a:p>
            <a:pPr>
              <a:buNone/>
            </a:pPr>
            <a:r>
              <a:rPr lang="en-US" b="1" dirty="0">
                <a:latin typeface="+mj-lt"/>
              </a:rPr>
              <a:t>          Conclusions:           I. Some clouds are rains. </a:t>
            </a:r>
          </a:p>
          <a:p>
            <a:pPr>
              <a:buNone/>
            </a:pPr>
            <a:r>
              <a:rPr lang="en-US" b="1" dirty="0">
                <a:latin typeface="+mj-lt"/>
              </a:rPr>
              <a:t>			             II. Some planets are skies. </a:t>
            </a:r>
          </a:p>
          <a:p>
            <a:pPr>
              <a:buNone/>
            </a:pPr>
            <a:r>
              <a:rPr lang="en-US" b="1" dirty="0">
                <a:latin typeface="+mj-lt"/>
              </a:rPr>
              <a:t>			            III. Some planets are rains.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236DCA5-823D-20E7-24E5-D7C27580A8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19787-C5D0-CE79-52F0-0AB5DFD831C9}"/>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5BE3D61-348C-22B8-2BB8-33A1A90DF5E5}"/>
              </a:ext>
            </a:extLst>
          </p:cNvPr>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j-lt"/>
              </a:rPr>
              <a:t>Q 22. </a:t>
            </a:r>
            <a:r>
              <a:rPr lang="en-US" b="1" dirty="0">
                <a:latin typeface="+mj-lt"/>
              </a:rPr>
              <a:t>Statements: 	Some skies are rains. </a:t>
            </a:r>
          </a:p>
          <a:p>
            <a:pPr>
              <a:buNone/>
            </a:pPr>
            <a:r>
              <a:rPr lang="en-US" b="1" dirty="0">
                <a:latin typeface="+mj-lt"/>
              </a:rPr>
              <a:t>				Some rains are stars. </a:t>
            </a:r>
          </a:p>
          <a:p>
            <a:pPr>
              <a:buNone/>
            </a:pPr>
            <a:r>
              <a:rPr lang="en-US" b="1" dirty="0">
                <a:latin typeface="+mj-lt"/>
              </a:rPr>
              <a:t>				All stars are planets. </a:t>
            </a:r>
          </a:p>
          <a:p>
            <a:pPr>
              <a:buNone/>
            </a:pPr>
            <a:r>
              <a:rPr lang="en-US" b="1" dirty="0">
                <a:latin typeface="+mj-lt"/>
              </a:rPr>
              <a:t>				All planets are clouds. </a:t>
            </a:r>
          </a:p>
          <a:p>
            <a:pPr>
              <a:buNone/>
            </a:pPr>
            <a:r>
              <a:rPr lang="en-US" b="1" dirty="0">
                <a:latin typeface="+mj-lt"/>
              </a:rPr>
              <a:t>          Conclusions:           I. Some clouds are rains. </a:t>
            </a:r>
          </a:p>
          <a:p>
            <a:pPr>
              <a:buNone/>
            </a:pPr>
            <a:r>
              <a:rPr lang="en-US" b="1" dirty="0">
                <a:latin typeface="+mj-lt"/>
              </a:rPr>
              <a:t>			             II. Some planets are skies. </a:t>
            </a:r>
          </a:p>
          <a:p>
            <a:pPr>
              <a:buNone/>
            </a:pPr>
            <a:r>
              <a:rPr lang="en-US" b="1" dirty="0">
                <a:latin typeface="+mj-lt"/>
              </a:rPr>
              <a:t>			            III. Some planets are rains. </a:t>
            </a:r>
          </a:p>
          <a:p>
            <a:pPr marL="457200" indent="-457200">
              <a:buAutoNum type="arabicParenBoth"/>
            </a:pPr>
            <a:r>
              <a:rPr lang="en-US" b="1" dirty="0">
                <a:latin typeface="+mj-lt"/>
              </a:rPr>
              <a:t>Only I and II follow </a:t>
            </a:r>
          </a:p>
          <a:p>
            <a:pPr marL="457200" indent="-457200">
              <a:buNone/>
            </a:pPr>
            <a:r>
              <a:rPr lang="en-US" b="1" dirty="0">
                <a:solidFill>
                  <a:srgbClr val="FF0000"/>
                </a:solidFill>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35742655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23.</a:t>
            </a:r>
            <a:r>
              <a:rPr lang="en-US" b="1" dirty="0">
                <a:latin typeface="+mj-lt"/>
              </a:rPr>
              <a:t> Statements: 	All birds are goats. </a:t>
            </a:r>
          </a:p>
          <a:p>
            <a:pPr>
              <a:buNone/>
            </a:pPr>
            <a:r>
              <a:rPr lang="en-US" b="1" dirty="0">
                <a:latin typeface="+mj-lt"/>
              </a:rPr>
              <a:t>				No goat is flower. </a:t>
            </a:r>
          </a:p>
          <a:p>
            <a:pPr>
              <a:buNone/>
            </a:pPr>
            <a:r>
              <a:rPr lang="en-US" b="1" dirty="0">
                <a:latin typeface="+mj-lt"/>
              </a:rPr>
              <a:t>				Some flowers are mountains. </a:t>
            </a:r>
          </a:p>
          <a:p>
            <a:pPr>
              <a:buNone/>
            </a:pPr>
            <a:r>
              <a:rPr lang="en-US" b="1" dirty="0">
                <a:latin typeface="+mj-lt"/>
              </a:rPr>
              <a:t>				Some mountains are nets. </a:t>
            </a:r>
          </a:p>
          <a:p>
            <a:pPr>
              <a:buNone/>
            </a:pPr>
            <a:r>
              <a:rPr lang="en-US" b="1" dirty="0">
                <a:latin typeface="+mj-lt"/>
              </a:rPr>
              <a:t>          Conclusions:            I. Some nets are goats. 	</a:t>
            </a:r>
          </a:p>
          <a:p>
            <a:pPr>
              <a:buNone/>
            </a:pPr>
            <a:r>
              <a:rPr lang="en-US" b="1" dirty="0">
                <a:latin typeface="+mj-lt"/>
              </a:rPr>
              <a:t>			               II. No net is goat. </a:t>
            </a:r>
          </a:p>
          <a:p>
            <a:pPr>
              <a:buNone/>
            </a:pPr>
            <a:r>
              <a:rPr lang="en-US" b="1" dirty="0">
                <a:latin typeface="+mj-lt"/>
              </a:rPr>
              <a:t>			               III. Some mountains are birds. </a:t>
            </a:r>
          </a:p>
          <a:p>
            <a:pPr marL="457200" indent="-457200">
              <a:buAutoNum type="arabicParenBoth"/>
            </a:pPr>
            <a:r>
              <a:rPr lang="en-US" b="1" dirty="0">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either I or II follows </a:t>
            </a:r>
          </a:p>
          <a:p>
            <a:pPr marL="457200" indent="-457200">
              <a:buNone/>
            </a:pPr>
            <a:r>
              <a:rPr lang="en-US" b="1" dirty="0">
                <a:latin typeface="+mj-lt"/>
              </a:rPr>
              <a:t>(4) Only II follows </a:t>
            </a:r>
          </a:p>
          <a:p>
            <a:pPr marL="457200" indent="-457200">
              <a:buNone/>
            </a:pPr>
            <a:r>
              <a:rPr lang="en-US" b="1" dirty="0">
                <a:latin typeface="+mj-lt"/>
              </a:rPr>
              <a:t>(5) Only III follows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A1DAA1-71B0-A319-7E19-60F6FBBFA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3719B-CDEF-D124-12AE-DB10180C9ED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D5C92FA-80ED-F826-8D20-4B86B3769869}"/>
              </a:ext>
            </a:extLst>
          </p:cNvPr>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23.</a:t>
            </a:r>
            <a:r>
              <a:rPr lang="en-US" b="1" dirty="0">
                <a:latin typeface="+mj-lt"/>
              </a:rPr>
              <a:t> Statements: 	All birds are goats. </a:t>
            </a:r>
          </a:p>
          <a:p>
            <a:pPr>
              <a:buNone/>
            </a:pPr>
            <a:r>
              <a:rPr lang="en-US" b="1" dirty="0">
                <a:latin typeface="+mj-lt"/>
              </a:rPr>
              <a:t>				No goat is flower. </a:t>
            </a:r>
          </a:p>
          <a:p>
            <a:pPr>
              <a:buNone/>
            </a:pPr>
            <a:r>
              <a:rPr lang="en-US" b="1" dirty="0">
                <a:latin typeface="+mj-lt"/>
              </a:rPr>
              <a:t>				Some flowers are mountains. </a:t>
            </a:r>
          </a:p>
          <a:p>
            <a:pPr>
              <a:buNone/>
            </a:pPr>
            <a:r>
              <a:rPr lang="en-US" b="1" dirty="0">
                <a:latin typeface="+mj-lt"/>
              </a:rPr>
              <a:t>				Some mountains are nets. </a:t>
            </a:r>
          </a:p>
          <a:p>
            <a:pPr>
              <a:buNone/>
            </a:pPr>
            <a:r>
              <a:rPr lang="en-US" b="1" dirty="0">
                <a:latin typeface="+mj-lt"/>
              </a:rPr>
              <a:t>          Conclusions:            I. Some nets are goats. 	</a:t>
            </a:r>
          </a:p>
          <a:p>
            <a:pPr>
              <a:buNone/>
            </a:pPr>
            <a:r>
              <a:rPr lang="en-US" b="1" dirty="0">
                <a:latin typeface="+mj-lt"/>
              </a:rPr>
              <a:t>			               II. No net is goat. </a:t>
            </a:r>
          </a:p>
          <a:p>
            <a:pPr>
              <a:buNone/>
            </a:pPr>
            <a:r>
              <a:rPr lang="en-US" b="1" dirty="0">
                <a:latin typeface="+mj-lt"/>
              </a:rPr>
              <a:t>			               III. Some mountains are birds. </a:t>
            </a:r>
          </a:p>
          <a:p>
            <a:pPr marL="457200" indent="-457200">
              <a:buAutoNum type="arabicParenBoth"/>
            </a:pPr>
            <a:r>
              <a:rPr lang="en-US" b="1" dirty="0">
                <a:latin typeface="+mj-lt"/>
              </a:rPr>
              <a:t>None follows </a:t>
            </a:r>
          </a:p>
          <a:p>
            <a:pPr marL="457200" indent="-457200">
              <a:buNone/>
            </a:pPr>
            <a:r>
              <a:rPr lang="en-US" b="1" dirty="0">
                <a:latin typeface="+mj-lt"/>
              </a:rPr>
              <a:t>(2) Only I follows </a:t>
            </a:r>
          </a:p>
          <a:p>
            <a:pPr marL="457200" indent="-457200">
              <a:buNone/>
            </a:pPr>
            <a:r>
              <a:rPr lang="en-US" b="1" dirty="0">
                <a:solidFill>
                  <a:srgbClr val="FF0000"/>
                </a:solidFill>
                <a:latin typeface="+mj-lt"/>
              </a:rPr>
              <a:t>(3) Only either I or II follows </a:t>
            </a:r>
          </a:p>
          <a:p>
            <a:pPr marL="457200" indent="-457200">
              <a:buNone/>
            </a:pPr>
            <a:r>
              <a:rPr lang="en-US" b="1" dirty="0">
                <a:latin typeface="+mj-lt"/>
              </a:rPr>
              <a:t>(4) Only II follows </a:t>
            </a:r>
          </a:p>
          <a:p>
            <a:pPr marL="457200" indent="-457200">
              <a:buNone/>
            </a:pPr>
            <a:r>
              <a:rPr lang="en-US" b="1" dirty="0">
                <a:latin typeface="+mj-lt"/>
              </a:rPr>
              <a:t>(5) Only III follows</a:t>
            </a:r>
          </a:p>
        </p:txBody>
      </p:sp>
    </p:spTree>
    <p:extLst>
      <p:ext uri="{BB962C8B-B14F-4D97-AF65-F5344CB8AC3E}">
        <p14:creationId xmlns:p14="http://schemas.microsoft.com/office/powerpoint/2010/main" val="21112457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24. </a:t>
            </a:r>
            <a:r>
              <a:rPr lang="en-US" b="1" dirty="0">
                <a:latin typeface="+mj-lt"/>
              </a:rPr>
              <a:t>Statements:            Some leaves are skies. </a:t>
            </a:r>
          </a:p>
          <a:p>
            <a:pPr>
              <a:buNone/>
            </a:pPr>
            <a:r>
              <a:rPr lang="en-US" b="1" dirty="0">
                <a:latin typeface="+mj-lt"/>
              </a:rPr>
              <a:t>				All skies are clouds. </a:t>
            </a:r>
          </a:p>
          <a:p>
            <a:pPr>
              <a:buNone/>
            </a:pPr>
            <a:r>
              <a:rPr lang="en-US" b="1" dirty="0">
                <a:latin typeface="+mj-lt"/>
              </a:rPr>
              <a:t>				No cloud is a boat. </a:t>
            </a:r>
          </a:p>
          <a:p>
            <a:pPr>
              <a:buNone/>
            </a:pPr>
            <a:r>
              <a:rPr lang="en-US" b="1" dirty="0">
                <a:latin typeface="+mj-lt"/>
              </a:rPr>
              <a:t>         Conclusions:             I. Some boats are leaves. </a:t>
            </a:r>
          </a:p>
          <a:p>
            <a:pPr>
              <a:buNone/>
            </a:pPr>
            <a:r>
              <a:rPr lang="en-US" b="1" dirty="0">
                <a:latin typeface="+mj-lt"/>
              </a:rPr>
              <a:t>			              II. Some clouds are leaves. </a:t>
            </a:r>
          </a:p>
          <a:p>
            <a:pPr>
              <a:buNone/>
            </a:pPr>
            <a:r>
              <a:rPr lang="en-US" b="1" dirty="0">
                <a:latin typeface="+mj-lt"/>
              </a:rPr>
              <a:t>			              III. All skies are leaves. </a:t>
            </a:r>
          </a:p>
          <a:p>
            <a:pPr>
              <a:buNone/>
            </a:pPr>
            <a:r>
              <a:rPr lang="en-US" b="1" dirty="0">
                <a:latin typeface="+mj-lt"/>
              </a:rPr>
              <a:t>			              IV. No leaves is a boat. </a:t>
            </a:r>
          </a:p>
          <a:p>
            <a:pPr marL="457200" indent="-457200">
              <a:buAutoNum type="arabicParenBoth"/>
            </a:pPr>
            <a:r>
              <a:rPr lang="en-US" b="1" dirty="0">
                <a:latin typeface="+mj-lt"/>
              </a:rPr>
              <a:t>Only I, II and IV follow </a:t>
            </a:r>
          </a:p>
          <a:p>
            <a:pPr marL="457200" indent="-457200">
              <a:buNone/>
            </a:pPr>
            <a:r>
              <a:rPr lang="en-US" b="1" dirty="0">
                <a:latin typeface="+mj-lt"/>
              </a:rPr>
              <a:t>(2) Only II, III and IV follow </a:t>
            </a:r>
          </a:p>
          <a:p>
            <a:pPr marL="457200" indent="-457200">
              <a:buNone/>
            </a:pPr>
            <a:r>
              <a:rPr lang="en-US" b="1" dirty="0">
                <a:latin typeface="+mj-lt"/>
              </a:rPr>
              <a:t>(3) Either I or IV and II follow </a:t>
            </a:r>
          </a:p>
          <a:p>
            <a:pPr marL="457200" indent="-457200">
              <a:buNone/>
            </a:pPr>
            <a:r>
              <a:rPr lang="en-US" b="1" dirty="0">
                <a:latin typeface="+mj-lt"/>
              </a:rPr>
              <a:t>(4) Either I or IV and III follow </a:t>
            </a:r>
          </a:p>
          <a:p>
            <a:pPr marL="457200" indent="-457200">
              <a:buNone/>
            </a:pPr>
            <a:r>
              <a:rPr lang="en-US" b="1" dirty="0">
                <a:latin typeface="+mj-lt"/>
              </a:rPr>
              <a:t>(5) None of these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914B789-4E5A-FB33-A108-3F4A37D4D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29B0C-F998-6D33-C425-0F140273AEC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5A3F2D9-6372-6FBE-1C35-94E26810473D}"/>
              </a:ext>
            </a:extLst>
          </p:cNvPr>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24. </a:t>
            </a:r>
            <a:r>
              <a:rPr lang="en-US" b="1" dirty="0">
                <a:latin typeface="+mj-lt"/>
              </a:rPr>
              <a:t>Statements:            Some leaves are skies. </a:t>
            </a:r>
          </a:p>
          <a:p>
            <a:pPr>
              <a:buNone/>
            </a:pPr>
            <a:r>
              <a:rPr lang="en-US" b="1" dirty="0">
                <a:latin typeface="+mj-lt"/>
              </a:rPr>
              <a:t>				All skies are clouds. </a:t>
            </a:r>
          </a:p>
          <a:p>
            <a:pPr>
              <a:buNone/>
            </a:pPr>
            <a:r>
              <a:rPr lang="en-US" b="1" dirty="0">
                <a:latin typeface="+mj-lt"/>
              </a:rPr>
              <a:t>				No cloud is a boat. </a:t>
            </a:r>
          </a:p>
          <a:p>
            <a:pPr>
              <a:buNone/>
            </a:pPr>
            <a:r>
              <a:rPr lang="en-US" b="1" dirty="0">
                <a:latin typeface="+mj-lt"/>
              </a:rPr>
              <a:t>         Conclusions:             I. Some boats are leaves. </a:t>
            </a:r>
          </a:p>
          <a:p>
            <a:pPr>
              <a:buNone/>
            </a:pPr>
            <a:r>
              <a:rPr lang="en-US" b="1" dirty="0">
                <a:latin typeface="+mj-lt"/>
              </a:rPr>
              <a:t>			              II. Some clouds are leaves. </a:t>
            </a:r>
          </a:p>
          <a:p>
            <a:pPr>
              <a:buNone/>
            </a:pPr>
            <a:r>
              <a:rPr lang="en-US" b="1" dirty="0">
                <a:latin typeface="+mj-lt"/>
              </a:rPr>
              <a:t>			              III. All skies are leaves. </a:t>
            </a:r>
          </a:p>
          <a:p>
            <a:pPr>
              <a:buNone/>
            </a:pPr>
            <a:r>
              <a:rPr lang="en-US" b="1" dirty="0">
                <a:latin typeface="+mj-lt"/>
              </a:rPr>
              <a:t>			              IV. No leaves is a boat. </a:t>
            </a:r>
          </a:p>
          <a:p>
            <a:pPr marL="457200" indent="-457200">
              <a:buAutoNum type="arabicParenBoth"/>
            </a:pPr>
            <a:r>
              <a:rPr lang="en-US" b="1" dirty="0">
                <a:latin typeface="+mj-lt"/>
              </a:rPr>
              <a:t>Only I, II and IV follow </a:t>
            </a:r>
          </a:p>
          <a:p>
            <a:pPr marL="457200" indent="-457200">
              <a:buNone/>
            </a:pPr>
            <a:r>
              <a:rPr lang="en-US" b="1" dirty="0">
                <a:latin typeface="+mj-lt"/>
              </a:rPr>
              <a:t>(2) Only II, III and IV follow </a:t>
            </a:r>
          </a:p>
          <a:p>
            <a:pPr marL="457200" indent="-457200">
              <a:buNone/>
            </a:pPr>
            <a:r>
              <a:rPr lang="en-US" b="1" dirty="0">
                <a:solidFill>
                  <a:srgbClr val="FF0000"/>
                </a:solidFill>
                <a:latin typeface="+mj-lt"/>
              </a:rPr>
              <a:t>(3) Either I or IV and II follow </a:t>
            </a:r>
          </a:p>
          <a:p>
            <a:pPr marL="457200" indent="-457200">
              <a:buNone/>
            </a:pPr>
            <a:r>
              <a:rPr lang="en-US" b="1" dirty="0">
                <a:latin typeface="+mj-lt"/>
              </a:rPr>
              <a:t>(4) Either I or IV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18496472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                                                     SYLLOGISM</a:t>
            </a:r>
            <a:endParaRPr lang="en-US" sz="1800" b="1" dirty="0">
              <a:solidFill>
                <a:srgbClr val="FF0000"/>
              </a:solidFill>
              <a:latin typeface="+mn-lt"/>
            </a:endParaRPr>
          </a:p>
          <a:p>
            <a:pPr>
              <a:buNone/>
            </a:pPr>
            <a:r>
              <a:rPr lang="en-US" b="1" dirty="0">
                <a:solidFill>
                  <a:srgbClr val="FF0000"/>
                </a:solidFill>
                <a:latin typeface="+mj-lt"/>
              </a:rPr>
              <a:t>Q 25. </a:t>
            </a:r>
            <a:r>
              <a:rPr lang="en-US" b="1" dirty="0">
                <a:latin typeface="+mj-lt"/>
              </a:rPr>
              <a:t>Statements: 	No building is white. </a:t>
            </a:r>
          </a:p>
          <a:p>
            <a:pPr>
              <a:buNone/>
            </a:pPr>
            <a:r>
              <a:rPr lang="en-US" b="1" dirty="0">
                <a:latin typeface="+mj-lt"/>
              </a:rPr>
              <a:t>				All whites are oranges. </a:t>
            </a:r>
          </a:p>
          <a:p>
            <a:pPr>
              <a:buNone/>
            </a:pPr>
            <a:r>
              <a:rPr lang="en-US" b="1" dirty="0">
                <a:latin typeface="+mj-lt"/>
              </a:rPr>
              <a:t>				Some oranges are waters. </a:t>
            </a:r>
          </a:p>
          <a:p>
            <a:pPr>
              <a:buNone/>
            </a:pPr>
            <a:r>
              <a:rPr lang="en-US" b="1" dirty="0">
                <a:latin typeface="+mj-lt"/>
              </a:rPr>
              <a:t>         Conclusions:            I. No building is water. </a:t>
            </a:r>
          </a:p>
          <a:p>
            <a:pPr>
              <a:buNone/>
            </a:pPr>
            <a:r>
              <a:rPr lang="en-US" b="1" dirty="0">
                <a:latin typeface="+mj-lt"/>
              </a:rPr>
              <a:t>			             II. No orange is a building. </a:t>
            </a:r>
          </a:p>
          <a:p>
            <a:pPr>
              <a:buNone/>
            </a:pPr>
            <a:r>
              <a:rPr lang="en-US" b="1" dirty="0">
                <a:latin typeface="+mj-lt"/>
              </a:rPr>
              <a:t>			             III. Some oranges are whites. </a:t>
            </a:r>
          </a:p>
          <a:p>
            <a:pPr>
              <a:buNone/>
            </a:pPr>
            <a:r>
              <a:rPr lang="en-US" b="1" dirty="0">
                <a:latin typeface="+mj-lt"/>
              </a:rPr>
              <a:t>			             IV. Some waters are building. </a:t>
            </a:r>
          </a:p>
          <a:p>
            <a:pPr marL="457200" indent="-457200">
              <a:buAutoNum type="arabicParenBoth"/>
            </a:pPr>
            <a:r>
              <a:rPr lang="en-US" b="1" dirty="0">
                <a:latin typeface="+mj-lt"/>
              </a:rPr>
              <a:t>Either I or IV and II follow </a:t>
            </a:r>
          </a:p>
          <a:p>
            <a:pPr marL="457200" indent="-457200">
              <a:buNone/>
            </a:pPr>
            <a:r>
              <a:rPr lang="en-US" b="1" dirty="0">
                <a:latin typeface="+mj-lt"/>
              </a:rPr>
              <a:t>(2) Either I or IV and III follow </a:t>
            </a:r>
          </a:p>
          <a:p>
            <a:pPr marL="457200" indent="-457200">
              <a:buNone/>
            </a:pPr>
            <a:r>
              <a:rPr lang="en-US" b="1" dirty="0">
                <a:latin typeface="+mj-lt"/>
              </a:rPr>
              <a:t>(3) Either I or IV follows </a:t>
            </a:r>
          </a:p>
          <a:p>
            <a:pPr marL="457200" indent="-457200">
              <a:buNone/>
            </a:pPr>
            <a:r>
              <a:rPr lang="en-US" b="1" dirty="0">
                <a:latin typeface="+mj-lt"/>
              </a:rPr>
              <a:t>(4) None follows </a:t>
            </a:r>
          </a:p>
          <a:p>
            <a:pPr marL="457200" indent="-457200">
              <a:buNone/>
            </a:pPr>
            <a:r>
              <a:rPr lang="en-US" b="1" dirty="0">
                <a:latin typeface="+mj-lt"/>
              </a:rPr>
              <a:t>(5) Either I or IV and II and III follow</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3DEB39-2829-6B9E-47AA-82EF2CD25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60DB57-AD40-189D-ACC8-1AEA283DB43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2EAE191-2D0F-70B5-B29E-F9AB907430CF}"/>
              </a:ext>
            </a:extLst>
          </p:cNvPr>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                                                     SYLLOGISM</a:t>
            </a:r>
            <a:endParaRPr lang="en-US" sz="1800" b="1" dirty="0">
              <a:solidFill>
                <a:srgbClr val="FF0000"/>
              </a:solidFill>
              <a:latin typeface="+mn-lt"/>
            </a:endParaRPr>
          </a:p>
          <a:p>
            <a:pPr>
              <a:buNone/>
            </a:pPr>
            <a:r>
              <a:rPr lang="en-US" b="1" dirty="0">
                <a:solidFill>
                  <a:srgbClr val="FF0000"/>
                </a:solidFill>
                <a:latin typeface="+mj-lt"/>
              </a:rPr>
              <a:t>Q 25. </a:t>
            </a:r>
            <a:r>
              <a:rPr lang="en-US" b="1" dirty="0">
                <a:latin typeface="+mj-lt"/>
              </a:rPr>
              <a:t>Statements: 	No building is white. </a:t>
            </a:r>
          </a:p>
          <a:p>
            <a:pPr>
              <a:buNone/>
            </a:pPr>
            <a:r>
              <a:rPr lang="en-US" b="1" dirty="0">
                <a:latin typeface="+mj-lt"/>
              </a:rPr>
              <a:t>				All whites are oranges. </a:t>
            </a:r>
          </a:p>
          <a:p>
            <a:pPr>
              <a:buNone/>
            </a:pPr>
            <a:r>
              <a:rPr lang="en-US" b="1" dirty="0">
                <a:latin typeface="+mj-lt"/>
              </a:rPr>
              <a:t>				Some oranges are waters. </a:t>
            </a:r>
          </a:p>
          <a:p>
            <a:pPr>
              <a:buNone/>
            </a:pPr>
            <a:r>
              <a:rPr lang="en-US" b="1" dirty="0">
                <a:latin typeface="+mj-lt"/>
              </a:rPr>
              <a:t>         Conclusions:            I. No building is water. </a:t>
            </a:r>
          </a:p>
          <a:p>
            <a:pPr>
              <a:buNone/>
            </a:pPr>
            <a:r>
              <a:rPr lang="en-US" b="1" dirty="0">
                <a:latin typeface="+mj-lt"/>
              </a:rPr>
              <a:t>			             II. No orange is a building. </a:t>
            </a:r>
          </a:p>
          <a:p>
            <a:pPr>
              <a:buNone/>
            </a:pPr>
            <a:r>
              <a:rPr lang="en-US" b="1" dirty="0">
                <a:latin typeface="+mj-lt"/>
              </a:rPr>
              <a:t>			             III. Some oranges are whites. </a:t>
            </a:r>
          </a:p>
          <a:p>
            <a:pPr>
              <a:buNone/>
            </a:pPr>
            <a:r>
              <a:rPr lang="en-US" b="1" dirty="0">
                <a:latin typeface="+mj-lt"/>
              </a:rPr>
              <a:t>			             IV. Some waters are building. </a:t>
            </a:r>
          </a:p>
          <a:p>
            <a:pPr marL="457200" indent="-457200">
              <a:buAutoNum type="arabicParenBoth"/>
            </a:pPr>
            <a:r>
              <a:rPr lang="en-US" b="1" dirty="0">
                <a:latin typeface="+mj-lt"/>
              </a:rPr>
              <a:t>Either I or IV and II follow </a:t>
            </a:r>
          </a:p>
          <a:p>
            <a:pPr marL="457200" indent="-457200">
              <a:buNone/>
            </a:pPr>
            <a:r>
              <a:rPr lang="en-US" b="1" dirty="0">
                <a:solidFill>
                  <a:srgbClr val="FF0000"/>
                </a:solidFill>
                <a:latin typeface="+mj-lt"/>
              </a:rPr>
              <a:t>(2) Either I or IV and III follow </a:t>
            </a:r>
          </a:p>
          <a:p>
            <a:pPr marL="457200" indent="-457200">
              <a:buNone/>
            </a:pPr>
            <a:r>
              <a:rPr lang="en-US" b="1" dirty="0">
                <a:latin typeface="+mj-lt"/>
              </a:rPr>
              <a:t>(3) Either I or IV follows </a:t>
            </a:r>
          </a:p>
          <a:p>
            <a:pPr marL="457200" indent="-457200">
              <a:buNone/>
            </a:pPr>
            <a:r>
              <a:rPr lang="en-US" b="1" dirty="0">
                <a:latin typeface="+mj-lt"/>
              </a:rPr>
              <a:t>(4) None follows </a:t>
            </a:r>
          </a:p>
          <a:p>
            <a:pPr marL="457200" indent="-457200">
              <a:buNone/>
            </a:pPr>
            <a:r>
              <a:rPr lang="en-US" b="1" dirty="0">
                <a:latin typeface="+mj-lt"/>
              </a:rPr>
              <a:t>(5) Either I or IV and II and III follow</a:t>
            </a:r>
          </a:p>
        </p:txBody>
      </p:sp>
    </p:spTree>
    <p:extLst>
      <p:ext uri="{BB962C8B-B14F-4D97-AF65-F5344CB8AC3E}">
        <p14:creationId xmlns:p14="http://schemas.microsoft.com/office/powerpoint/2010/main" val="32419574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sz="6600" b="1" dirty="0">
                <a:solidFill>
                  <a:schemeClr val="tx1">
                    <a:lumMod val="95000"/>
                    <a:lumOff val="5000"/>
                  </a:schemeClr>
                </a:solidFill>
                <a:latin typeface="Arial Black" pitchFamily="34" charset="0"/>
              </a:rPr>
              <a:t>   </a:t>
            </a:r>
            <a:r>
              <a:rPr lang="en-US" sz="6600" b="1" dirty="0">
                <a:solidFill>
                  <a:srgbClr val="FF0000"/>
                </a:solidFill>
                <a:latin typeface="Arial Black" pitchFamily="34" charset="0"/>
              </a:rPr>
              <a:t>THANK YOU</a:t>
            </a:r>
          </a:p>
          <a:p>
            <a:pPr>
              <a:buNone/>
            </a:pPr>
            <a:r>
              <a:rPr lang="en-US" b="1" dirty="0">
                <a:latin typeface="Arial Black" pitchFamily="34" charset="0"/>
              </a:rPr>
              <a:t> </a:t>
            </a:r>
            <a:endParaRPr lang="en-US" b="1" dirty="0"/>
          </a:p>
        </p:txBody>
      </p:sp>
    </p:spTree>
    <p:extLst>
      <p:ext uri="{BB962C8B-B14F-4D97-AF65-F5344CB8AC3E}">
        <p14:creationId xmlns:p14="http://schemas.microsoft.com/office/powerpoint/2010/main" val="1126285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1668</TotalTime>
  <Words>7051</Words>
  <Application>Microsoft Office PowerPoint</Application>
  <PresentationFormat>Widescreen</PresentationFormat>
  <Paragraphs>698</Paragraphs>
  <Slides>63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Arial Black</vt:lpstr>
      <vt:lpstr>Calibri</vt:lpstr>
      <vt:lpstr>Calibri Light</vt:lpstr>
      <vt:lpstr>Wingdings</vt:lpstr>
      <vt:lpstr>Office Theme</vt:lpstr>
      <vt:lpstr>PowerPoint Presentation</vt:lpstr>
      <vt:lpstr>PowerPoint Presentation</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Parveen  Kumar</cp:lastModifiedBy>
  <cp:revision>291</cp:revision>
  <dcterms:created xsi:type="dcterms:W3CDTF">2020-02-23T06:37:57Z</dcterms:created>
  <dcterms:modified xsi:type="dcterms:W3CDTF">2025-06-05T05:31:37Z</dcterms:modified>
</cp:coreProperties>
</file>