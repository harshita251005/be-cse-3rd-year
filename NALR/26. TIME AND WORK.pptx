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0"/>
  </p:notesMasterIdLst>
  <p:sldIdLst>
    <p:sldId id="256" r:id="rId2"/>
    <p:sldId id="333" r:id="rId3"/>
    <p:sldId id="296" r:id="rId4"/>
    <p:sldId id="257" r:id="rId5"/>
    <p:sldId id="298" r:id="rId6"/>
    <p:sldId id="258" r:id="rId7"/>
    <p:sldId id="299" r:id="rId8"/>
    <p:sldId id="259" r:id="rId9"/>
    <p:sldId id="300" r:id="rId10"/>
    <p:sldId id="260" r:id="rId11"/>
    <p:sldId id="334" r:id="rId12"/>
    <p:sldId id="261" r:id="rId13"/>
    <p:sldId id="302" r:id="rId14"/>
    <p:sldId id="262" r:id="rId15"/>
    <p:sldId id="303" r:id="rId16"/>
    <p:sldId id="263" r:id="rId17"/>
    <p:sldId id="304" r:id="rId18"/>
    <p:sldId id="295" r:id="rId19"/>
    <p:sldId id="297" r:id="rId20"/>
    <p:sldId id="264" r:id="rId21"/>
    <p:sldId id="305" r:id="rId22"/>
    <p:sldId id="266" r:id="rId23"/>
    <p:sldId id="307" r:id="rId24"/>
    <p:sldId id="267" r:id="rId25"/>
    <p:sldId id="335" r:id="rId26"/>
    <p:sldId id="268" r:id="rId27"/>
    <p:sldId id="332" r:id="rId28"/>
    <p:sldId id="269" r:id="rId29"/>
    <p:sldId id="309" r:id="rId30"/>
    <p:sldId id="271" r:id="rId31"/>
    <p:sldId id="311" r:id="rId32"/>
    <p:sldId id="272" r:id="rId33"/>
    <p:sldId id="312" r:id="rId34"/>
    <p:sldId id="273" r:id="rId35"/>
    <p:sldId id="313" r:id="rId36"/>
    <p:sldId id="274" r:id="rId37"/>
    <p:sldId id="336" r:id="rId38"/>
    <p:sldId id="275" r:id="rId39"/>
    <p:sldId id="337" r:id="rId40"/>
    <p:sldId id="276" r:id="rId41"/>
    <p:sldId id="314" r:id="rId42"/>
    <p:sldId id="277" r:id="rId43"/>
    <p:sldId id="315" r:id="rId44"/>
    <p:sldId id="279" r:id="rId45"/>
    <p:sldId id="317" r:id="rId46"/>
    <p:sldId id="280" r:id="rId47"/>
    <p:sldId id="318" r:id="rId48"/>
    <p:sldId id="282" r:id="rId49"/>
    <p:sldId id="320" r:id="rId50"/>
    <p:sldId id="284" r:id="rId51"/>
    <p:sldId id="322" r:id="rId52"/>
    <p:sldId id="286" r:id="rId53"/>
    <p:sldId id="324" r:id="rId54"/>
    <p:sldId id="287" r:id="rId55"/>
    <p:sldId id="325" r:id="rId56"/>
    <p:sldId id="288" r:id="rId57"/>
    <p:sldId id="326" r:id="rId58"/>
    <p:sldId id="289" r:id="rId59"/>
    <p:sldId id="327" r:id="rId60"/>
    <p:sldId id="290" r:id="rId61"/>
    <p:sldId id="328" r:id="rId62"/>
    <p:sldId id="291" r:id="rId63"/>
    <p:sldId id="329" r:id="rId64"/>
    <p:sldId id="292" r:id="rId65"/>
    <p:sldId id="330" r:id="rId66"/>
    <p:sldId id="293" r:id="rId67"/>
    <p:sldId id="331" r:id="rId68"/>
    <p:sldId id="294" r:id="rId69"/>
  </p:sldIdLst>
  <p:sldSz cx="12192000" cy="6858000"/>
  <p:notesSz cx="6858000" cy="9144000"/>
  <p:embeddedFontLst>
    <p:embeddedFont>
      <p:font typeface="Arial Black" panose="020B0A04020102020204" pitchFamily="34" charset="0"/>
      <p:regular r:id="rId71"/>
      <p:bold r:id="rId72"/>
      <p: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gXZq4RN2D0Tes5u+V9ukz3vCDf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5" autoAdjust="0"/>
    <p:restoredTop sz="95033" autoAdjust="0"/>
  </p:normalViewPr>
  <p:slideViewPr>
    <p:cSldViewPr snapToGrid="0">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87"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1388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6290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9444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0702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564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2907C2F-A799-565B-5E9C-26299698277A}"/>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7518847A-26C4-97B7-DAF5-E762DB4389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C8390979-E5C6-B071-60E1-828D143BB3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035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5498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3664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779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7290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6211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2607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1695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4B18ADDA-485E-20B4-C179-E9F422ECACA3}"/>
            </a:ext>
          </a:extLst>
        </p:cNvPr>
        <p:cNvGrpSpPr/>
        <p:nvPr/>
      </p:nvGrpSpPr>
      <p:grpSpPr>
        <a:xfrm>
          <a:off x="0" y="0"/>
          <a:ext cx="0" cy="0"/>
          <a:chOff x="0" y="0"/>
          <a:chExt cx="0" cy="0"/>
        </a:xfrm>
      </p:grpSpPr>
      <p:sp>
        <p:nvSpPr>
          <p:cNvPr id="160" name="Google Shape;160;p12:notes">
            <a:extLst>
              <a:ext uri="{FF2B5EF4-FFF2-40B4-BE49-F238E27FC236}">
                <a16:creationId xmlns:a16="http://schemas.microsoft.com/office/drawing/2014/main" id="{E13D9694-6A93-8769-9001-D0FDCB8D93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a:extLst>
              <a:ext uri="{FF2B5EF4-FFF2-40B4-BE49-F238E27FC236}">
                <a16:creationId xmlns:a16="http://schemas.microsoft.com/office/drawing/2014/main" id="{8225557C-6C1D-C8F7-19F4-94FF77D9CC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6157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7418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49348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0330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405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97737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354A8929-B69C-8394-9004-C24253D2CC84}"/>
            </a:ext>
          </a:extLst>
        </p:cNvPr>
        <p:cNvGrpSpPr/>
        <p:nvPr/>
      </p:nvGrpSpPr>
      <p:grpSpPr>
        <a:xfrm>
          <a:off x="0" y="0"/>
          <a:ext cx="0" cy="0"/>
          <a:chOff x="0" y="0"/>
          <a:chExt cx="0" cy="0"/>
        </a:xfrm>
      </p:grpSpPr>
      <p:sp>
        <p:nvSpPr>
          <p:cNvPr id="202" name="Google Shape;202;p19:notes">
            <a:extLst>
              <a:ext uri="{FF2B5EF4-FFF2-40B4-BE49-F238E27FC236}">
                <a16:creationId xmlns:a16="http://schemas.microsoft.com/office/drawing/2014/main" id="{3695C2B4-6482-8E24-FB67-319D5034A9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9:notes">
            <a:extLst>
              <a:ext uri="{FF2B5EF4-FFF2-40B4-BE49-F238E27FC236}">
                <a16:creationId xmlns:a16="http://schemas.microsoft.com/office/drawing/2014/main" id="{06179C36-A1C6-B818-FC6D-DC03F95B8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5717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1DF80639-DA7B-5418-21A8-CA3CF3A6C874}"/>
            </a:ext>
          </a:extLst>
        </p:cNvPr>
        <p:cNvGrpSpPr/>
        <p:nvPr/>
      </p:nvGrpSpPr>
      <p:grpSpPr>
        <a:xfrm>
          <a:off x="0" y="0"/>
          <a:ext cx="0" cy="0"/>
          <a:chOff x="0" y="0"/>
          <a:chExt cx="0" cy="0"/>
        </a:xfrm>
      </p:grpSpPr>
      <p:sp>
        <p:nvSpPr>
          <p:cNvPr id="208" name="Google Shape;208;p20:notes">
            <a:extLst>
              <a:ext uri="{FF2B5EF4-FFF2-40B4-BE49-F238E27FC236}">
                <a16:creationId xmlns:a16="http://schemas.microsoft.com/office/drawing/2014/main" id="{B2611A91-672D-C9AA-E672-B9B10030D7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0:notes">
            <a:extLst>
              <a:ext uri="{FF2B5EF4-FFF2-40B4-BE49-F238E27FC236}">
                <a16:creationId xmlns:a16="http://schemas.microsoft.com/office/drawing/2014/main" id="{BE94FFDA-5798-F636-851E-3750164F67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76113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2887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53563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5004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1751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45687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6421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3458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65203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61224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76121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13850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0769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7083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6080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1"/>
        <p:cNvGrpSpPr/>
        <p:nvPr/>
      </p:nvGrpSpPr>
      <p:grpSpPr>
        <a:xfrm>
          <a:off x="0" y="0"/>
          <a:ext cx="0" cy="0"/>
          <a:chOff x="0" y="0"/>
          <a:chExt cx="0" cy="0"/>
        </a:xfrm>
      </p:grpSpPr>
      <p:sp>
        <p:nvSpPr>
          <p:cNvPr id="12" name="Google Shape;12;p41"/>
          <p:cNvSpPr/>
          <p:nvPr/>
        </p:nvSpPr>
        <p:spPr>
          <a:xfrm>
            <a:off x="4005792" y="1338792"/>
            <a:ext cx="4180416" cy="4180416"/>
          </a:xfrm>
          <a:prstGeom prst="rect">
            <a:avLst/>
          </a:prstGeom>
          <a:blipFill rotWithShape="1">
            <a:blip r:embed="rId2">
              <a:alphaModFix amt="1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41"/>
          <p:cNvSpPr/>
          <p:nvPr/>
        </p:nvSpPr>
        <p:spPr>
          <a:xfrm rot="10800000" flipH="1">
            <a:off x="5191124" y="6439955"/>
            <a:ext cx="6997050" cy="420957"/>
          </a:xfrm>
          <a:custGeom>
            <a:avLst/>
            <a:gdLst/>
            <a:ahLst/>
            <a:cxnLst/>
            <a:rect l="l" t="t" r="r" b="b"/>
            <a:pathLst>
              <a:path w="6997050" h="474402" extrusionOk="0">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41"/>
          <p:cNvSpPr/>
          <p:nvPr/>
        </p:nvSpPr>
        <p:spPr>
          <a:xfrm>
            <a:off x="1" y="6439956"/>
            <a:ext cx="5490211" cy="418044"/>
          </a:xfrm>
          <a:custGeom>
            <a:avLst/>
            <a:gdLst/>
            <a:ahLst/>
            <a:cxnLst/>
            <a:rect l="l" t="t" r="r" b="b"/>
            <a:pathLst>
              <a:path w="5490211" h="473605" extrusionOk="0">
                <a:moveTo>
                  <a:pt x="0" y="0"/>
                </a:moveTo>
                <a:lnTo>
                  <a:pt x="5490211" y="0"/>
                </a:lnTo>
                <a:lnTo>
                  <a:pt x="5215520" y="473605"/>
                </a:lnTo>
                <a:lnTo>
                  <a:pt x="0" y="473605"/>
                </a:lnTo>
                <a:close/>
              </a:path>
            </a:pathLst>
          </a:custGeom>
          <a:solidFill>
            <a:srgbClr val="FE64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41"/>
          <p:cNvSpPr/>
          <p:nvPr/>
        </p:nvSpPr>
        <p:spPr>
          <a:xfrm>
            <a:off x="0" y="0"/>
            <a:ext cx="12192000" cy="1016000"/>
          </a:xfrm>
          <a:prstGeom prst="rect">
            <a:avLst/>
          </a:prstGeom>
          <a:gradFill>
            <a:gsLst>
              <a:gs pos="0">
                <a:srgbClr val="FE6400"/>
              </a:gs>
              <a:gs pos="100000">
                <a:srgbClr val="108EF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4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1"/>
          <p:cNvSpPr txBox="1"/>
          <p:nvPr/>
        </p:nvSpPr>
        <p:spPr>
          <a:xfrm>
            <a:off x="355600" y="5683515"/>
            <a:ext cx="115824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8" name="Google Shape;18;p41"/>
          <p:cNvSpPr txBox="1"/>
          <p:nvPr/>
        </p:nvSpPr>
        <p:spPr>
          <a:xfrm>
            <a:off x="1118954" y="6464312"/>
            <a:ext cx="33949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Arial"/>
                <a:ea typeface="Arial"/>
                <a:cs typeface="Arial"/>
                <a:sym typeface="Arial"/>
              </a:rPr>
              <a:t>  Classes by Anuj Sir </a:t>
            </a:r>
            <a:endParaRPr dirty="0"/>
          </a:p>
        </p:txBody>
      </p:sp>
      <p:sp>
        <p:nvSpPr>
          <p:cNvPr id="19" name="Google Shape;19;p41"/>
          <p:cNvSpPr txBox="1"/>
          <p:nvPr/>
        </p:nvSpPr>
        <p:spPr>
          <a:xfrm>
            <a:off x="6252259" y="6464312"/>
            <a:ext cx="5634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For more tutorials Visit now www.testurprep.com</a:t>
            </a:r>
            <a:endParaRPr/>
          </a:p>
        </p:txBody>
      </p:sp>
      <p:sp>
        <p:nvSpPr>
          <p:cNvPr id="20" name="Google Shape;20;p41"/>
          <p:cNvSpPr/>
          <p:nvPr/>
        </p:nvSpPr>
        <p:spPr>
          <a:xfrm>
            <a:off x="158099"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41"/>
          <p:cNvSpPr/>
          <p:nvPr/>
        </p:nvSpPr>
        <p:spPr>
          <a:xfrm>
            <a:off x="11311874"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22;p41"/>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29"/>
        <p:cNvGrpSpPr/>
        <p:nvPr/>
      </p:nvGrpSpPr>
      <p:grpSpPr>
        <a:xfrm>
          <a:off x="0" y="0"/>
          <a:ext cx="0" cy="0"/>
          <a:chOff x="0" y="0"/>
          <a:chExt cx="0" cy="0"/>
        </a:xfrm>
      </p:grpSpPr>
      <p:sp>
        <p:nvSpPr>
          <p:cNvPr id="30" name="Google Shape;30;p43"/>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3"/>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3"/>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3"/>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3"/>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43"/>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6"/>
        <p:cNvGrpSpPr/>
        <p:nvPr/>
      </p:nvGrpSpPr>
      <p:grpSpPr>
        <a:xfrm>
          <a:off x="0" y="0"/>
          <a:ext cx="0" cy="0"/>
          <a:chOff x="0" y="0"/>
          <a:chExt cx="0" cy="0"/>
        </a:xfrm>
      </p:grpSpPr>
      <p:sp>
        <p:nvSpPr>
          <p:cNvPr id="37" name="Google Shape;37;p4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2"/>
        <p:cNvGrpSpPr/>
        <p:nvPr/>
      </p:nvGrpSpPr>
      <p:grpSpPr>
        <a:xfrm>
          <a:off x="0" y="0"/>
          <a:ext cx="0" cy="0"/>
          <a:chOff x="0" y="0"/>
          <a:chExt cx="0" cy="0"/>
        </a:xfrm>
      </p:grpSpPr>
      <p:sp>
        <p:nvSpPr>
          <p:cNvPr id="43" name="Google Shape;4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4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9"/>
        <p:cNvGrpSpPr/>
        <p:nvPr/>
      </p:nvGrpSpPr>
      <p:grpSpPr>
        <a:xfrm>
          <a:off x="0" y="0"/>
          <a:ext cx="0" cy="0"/>
          <a:chOff x="0" y="0"/>
          <a:chExt cx="0" cy="0"/>
        </a:xfrm>
      </p:grpSpPr>
      <p:sp>
        <p:nvSpPr>
          <p:cNvPr id="50" name="Google Shape;50;p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4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4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4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8"/>
        <p:cNvGrpSpPr/>
        <p:nvPr/>
      </p:nvGrpSpPr>
      <p:grpSpPr>
        <a:xfrm>
          <a:off x="0" y="0"/>
          <a:ext cx="0" cy="0"/>
          <a:chOff x="0" y="0"/>
          <a:chExt cx="0" cy="0"/>
        </a:xfrm>
      </p:grpSpPr>
      <p:sp>
        <p:nvSpPr>
          <p:cNvPr id="59" name="Google Shape;59;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0"/>
          <p:cNvSpPr>
            <a:spLocks noGrp="1"/>
          </p:cNvSpPr>
          <p:nvPr>
            <p:ph type="pic" idx="2"/>
          </p:nvPr>
        </p:nvSpPr>
        <p:spPr>
          <a:xfrm>
            <a:off x="5183188" y="987425"/>
            <a:ext cx="6172200" cy="4873625"/>
          </a:xfrm>
          <a:prstGeom prst="rect">
            <a:avLst/>
          </a:prstGeom>
          <a:noFill/>
          <a:ln>
            <a:noFill/>
          </a:ln>
        </p:spPr>
      </p:sp>
      <p:sp>
        <p:nvSpPr>
          <p:cNvPr id="77" name="Google Shape;77;p5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1"/>
        <p:cNvGrpSpPr/>
        <p:nvPr/>
      </p:nvGrpSpPr>
      <p:grpSpPr>
        <a:xfrm>
          <a:off x="0" y="0"/>
          <a:ext cx="0" cy="0"/>
          <a:chOff x="0" y="0"/>
          <a:chExt cx="0" cy="0"/>
        </a:xfrm>
      </p:grpSpPr>
      <p:sp>
        <p:nvSpPr>
          <p:cNvPr id="82" name="Google Shape;82;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5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5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5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Google Shape;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3" name="Rectangle 2"/>
          <p:cNvSpPr/>
          <p:nvPr/>
        </p:nvSpPr>
        <p:spPr>
          <a:xfrm>
            <a:off x="1335314" y="595144"/>
            <a:ext cx="9521372" cy="1815882"/>
          </a:xfrm>
          <a:prstGeom prst="rect">
            <a:avLst/>
          </a:prstGeom>
        </p:spPr>
        <p:txBody>
          <a:bodyPr wrap="square">
            <a:spAutoFit/>
          </a:bodyPr>
          <a:lstStyle/>
          <a:p>
            <a:pPr algn="ctr"/>
            <a:r>
              <a:rPr lang="en-US" sz="8000" b="1" dirty="0">
                <a:solidFill>
                  <a:srgbClr val="FF0000"/>
                </a:solidFill>
              </a:rPr>
              <a:t>TIME AND WORK</a:t>
            </a:r>
          </a:p>
          <a:p>
            <a:pPr algn="ctr"/>
            <a:endParaRPr lang="en-US" sz="32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Rectangle 2"/>
          <p:cNvSpPr/>
          <p:nvPr/>
        </p:nvSpPr>
        <p:spPr>
          <a:xfrm>
            <a:off x="254000" y="711878"/>
            <a:ext cx="9521372" cy="4832092"/>
          </a:xfrm>
          <a:prstGeom prst="rect">
            <a:avLst/>
          </a:prstGeom>
        </p:spPr>
        <p:txBody>
          <a:bodyPr wrap="square">
            <a:spAutoFit/>
          </a:bodyPr>
          <a:lstStyle/>
          <a:p>
            <a:pPr marL="342900" indent="-342900">
              <a:buFont typeface="Wingdings" panose="05000000000000000000" pitchFamily="2" charset="2"/>
              <a:buChar char="Ø"/>
            </a:pPr>
            <a:r>
              <a:rPr lang="en-US" sz="2200" b="1" dirty="0">
                <a:solidFill>
                  <a:srgbClr val="FF0000"/>
                </a:solidFill>
              </a:rPr>
              <a:t>Time and Work Relationships to Remember</a:t>
            </a:r>
          </a:p>
          <a:p>
            <a:r>
              <a:rPr lang="en-US" sz="2200" dirty="0"/>
              <a:t>Mentioned below are some important relationships related to time and work tricks that aspirants or students must know while preparing for any competitive exams. These relationships are indeed shortcuts that will help you to solve time and work questions faster and with ease.   </a:t>
            </a:r>
          </a:p>
          <a:p>
            <a:pPr marL="342900" indent="-342900">
              <a:buFont typeface="Wingdings" panose="05000000000000000000" pitchFamily="2" charset="2"/>
              <a:buChar char="Ø"/>
            </a:pPr>
            <a:r>
              <a:rPr lang="en-US" sz="2200" b="1" dirty="0"/>
              <a:t>Relationship between Men and Work.</a:t>
            </a:r>
            <a:endParaRPr lang="en-US" sz="2200" dirty="0"/>
          </a:p>
          <a:p>
            <a:r>
              <a:rPr lang="en-US" sz="2200" dirty="0"/>
              <a:t>More men  ⇒ can do  ⇒  More work</a:t>
            </a:r>
          </a:p>
          <a:p>
            <a:r>
              <a:rPr lang="en-US" sz="2200" dirty="0"/>
              <a:t>Less men  ⇒  can do  ⇒  Less work</a:t>
            </a:r>
          </a:p>
          <a:p>
            <a:pPr marL="342900" indent="-342900">
              <a:buFont typeface="Wingdings" panose="05000000000000000000" pitchFamily="2" charset="2"/>
              <a:buChar char="Ø"/>
            </a:pPr>
            <a:r>
              <a:rPr lang="en-US" sz="2200" b="1" dirty="0"/>
              <a:t>Relationship between Work and Time</a:t>
            </a:r>
            <a:endParaRPr lang="en-US" sz="2200" dirty="0"/>
          </a:p>
          <a:p>
            <a:r>
              <a:rPr lang="en-US" sz="2200" dirty="0"/>
              <a:t>More work  ⇒  takes  ⇒  More Time</a:t>
            </a:r>
          </a:p>
          <a:p>
            <a:r>
              <a:rPr lang="en-US" sz="2200" dirty="0"/>
              <a:t>Less work  ⇒  takes  ⇒  Less Time</a:t>
            </a:r>
          </a:p>
          <a:p>
            <a:pPr marL="342900" indent="-342900">
              <a:buFont typeface="Wingdings" panose="05000000000000000000" pitchFamily="2" charset="2"/>
              <a:buChar char="Ø"/>
            </a:pPr>
            <a:r>
              <a:rPr lang="en-US" sz="2200" b="1" dirty="0"/>
              <a:t>Relationship between Men and Time</a:t>
            </a:r>
            <a:endParaRPr lang="en-US" sz="2200" dirty="0"/>
          </a:p>
          <a:p>
            <a:r>
              <a:rPr lang="en-US" sz="2200" dirty="0"/>
              <a:t>More men  ⇒  can do in  ⇒  Less Time</a:t>
            </a:r>
          </a:p>
          <a:p>
            <a:r>
              <a:rPr lang="en-US" sz="2200" dirty="0"/>
              <a:t>Less men  ⇒  can do in  ⇒  More Time</a:t>
            </a:r>
          </a:p>
        </p:txBody>
      </p:sp>
    </p:spTree>
    <p:extLst>
      <p:ext uri="{BB962C8B-B14F-4D97-AF65-F5344CB8AC3E}">
        <p14:creationId xmlns:p14="http://schemas.microsoft.com/office/powerpoint/2010/main" val="3741449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 name="Rectangle 1"/>
          <p:cNvSpPr/>
          <p:nvPr/>
        </p:nvSpPr>
        <p:spPr>
          <a:xfrm>
            <a:off x="420913" y="861750"/>
            <a:ext cx="11640457" cy="4524315"/>
          </a:xfrm>
          <a:prstGeom prst="rect">
            <a:avLst/>
          </a:prstGeom>
        </p:spPr>
        <p:txBody>
          <a:bodyPr wrap="square">
            <a:spAutoFit/>
          </a:bodyPr>
          <a:lstStyle/>
          <a:p>
            <a:r>
              <a:rPr lang="en-US" sz="2400" b="1" u="sng" dirty="0">
                <a:solidFill>
                  <a:srgbClr val="FF0000"/>
                </a:solidFill>
              </a:rPr>
              <a:t>CHAIN RULE</a:t>
            </a:r>
            <a:r>
              <a:rPr lang="en-US" sz="2400" b="1" dirty="0">
                <a:solidFill>
                  <a:srgbClr val="FF0000"/>
                </a:solidFill>
              </a:rPr>
              <a:t>:-</a:t>
            </a:r>
          </a:p>
          <a:p>
            <a:r>
              <a:rPr lang="en-US" sz="2400" dirty="0"/>
              <a:t>Work Done = Time Taken × Rate of Work</a:t>
            </a:r>
          </a:p>
          <a:p>
            <a:r>
              <a:rPr lang="en-US" sz="2400" dirty="0"/>
              <a:t>Rate of Work = 1 / Time Taken</a:t>
            </a:r>
          </a:p>
          <a:p>
            <a:r>
              <a:rPr lang="en-US" sz="2400" dirty="0"/>
              <a:t>Time Taken = 1 / Rate of Work</a:t>
            </a:r>
          </a:p>
          <a:p>
            <a:r>
              <a:rPr lang="en-US" sz="2400" dirty="0"/>
              <a:t>If a piece of work is done in x number of days, then the work done in one day = 1/x</a:t>
            </a:r>
          </a:p>
          <a:p>
            <a:r>
              <a:rPr lang="en-US" sz="2400" dirty="0"/>
              <a:t>Total Wok Done = Number of Days × Efficiency</a:t>
            </a:r>
          </a:p>
          <a:p>
            <a:r>
              <a:rPr lang="en-US" sz="2400" dirty="0"/>
              <a:t>Efficiency and Time are inversely proportional to each other</a:t>
            </a:r>
          </a:p>
          <a:p>
            <a:endParaRPr lang="en-US" sz="2400" dirty="0"/>
          </a:p>
          <a:p>
            <a:r>
              <a:rPr lang="en-US" sz="2400" dirty="0">
                <a:solidFill>
                  <a:srgbClr val="FF0000"/>
                </a:solidFill>
              </a:rPr>
              <a:t>M1xD1xH1xE1   = W1</a:t>
            </a:r>
          </a:p>
          <a:p>
            <a:r>
              <a:rPr lang="en-US" sz="2400" dirty="0">
                <a:solidFill>
                  <a:srgbClr val="FF0000"/>
                </a:solidFill>
              </a:rPr>
              <a:t>M1xD1xH1xE1      W2</a:t>
            </a:r>
          </a:p>
          <a:p>
            <a:endParaRPr lang="en-US" sz="2400" dirty="0"/>
          </a:p>
          <a:p>
            <a:endParaRPr lang="en-US" sz="2400" dirty="0"/>
          </a:p>
        </p:txBody>
      </p:sp>
      <p:cxnSp>
        <p:nvCxnSpPr>
          <p:cNvPr id="5" name="Straight Connector 4"/>
          <p:cNvCxnSpPr/>
          <p:nvPr/>
        </p:nvCxnSpPr>
        <p:spPr>
          <a:xfrm flipH="1" flipV="1">
            <a:off x="539247" y="4163210"/>
            <a:ext cx="2000921" cy="21516"/>
          </a:xfrm>
          <a:prstGeom prst="line">
            <a:avLst/>
          </a:prstGeom>
          <a:ln>
            <a:solidFill>
              <a:schemeClr val="tx1"/>
            </a:solidFill>
          </a:ln>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2947596" y="4184726"/>
            <a:ext cx="570155" cy="0"/>
          </a:xfrm>
          <a:prstGeom prst="line">
            <a:avLst/>
          </a:prstGeom>
          <a:ln>
            <a:solidFill>
              <a:schemeClr val="tx1"/>
            </a:solidFill>
          </a:ln>
          <a:effectLst>
            <a:outerShdw blurRad="50800" dist="38100" algn="l"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53073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a:t>
            </a:r>
            <a:r>
              <a:rPr lang="en-US" b="1" dirty="0"/>
              <a:t>. A can do a piece of work in 5 days, B in 4 days and A, B and C together in 2 days. In what time would C do it alone? </a:t>
            </a:r>
            <a:endParaRPr dirty="0"/>
          </a:p>
          <a:p>
            <a:pPr marL="228600" lvl="0" indent="-228600" algn="l" rtl="0">
              <a:lnSpc>
                <a:spcPct val="90000"/>
              </a:lnSpc>
              <a:spcBef>
                <a:spcPts val="1000"/>
              </a:spcBef>
              <a:spcAft>
                <a:spcPts val="0"/>
              </a:spcAft>
              <a:buClr>
                <a:schemeClr val="dk1"/>
              </a:buClr>
              <a:buSzPts val="2400"/>
              <a:buNone/>
            </a:pPr>
            <a:r>
              <a:rPr lang="en-US" b="1" dirty="0"/>
              <a:t>(1) 25 days 	(2) 12 days 	(3) 15 days 	(4) 20 days 	(5)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a:t>
            </a:r>
            <a:r>
              <a:rPr lang="en-US" b="1" dirty="0"/>
              <a:t>. A can do a piece of work in 5 days, B in 4 days and A, B and C together in 2 days. In what time would C do it alone? </a:t>
            </a:r>
            <a:endParaRPr dirty="0"/>
          </a:p>
          <a:p>
            <a:pPr marL="228600" lvl="0" indent="-228600" algn="l" rtl="0">
              <a:lnSpc>
                <a:spcPct val="90000"/>
              </a:lnSpc>
              <a:spcBef>
                <a:spcPts val="1000"/>
              </a:spcBef>
              <a:spcAft>
                <a:spcPts val="0"/>
              </a:spcAft>
              <a:buClr>
                <a:schemeClr val="dk1"/>
              </a:buClr>
              <a:buSzPts val="2400"/>
              <a:buNone/>
            </a:pPr>
            <a:r>
              <a:rPr lang="en-US" b="1" dirty="0"/>
              <a:t>(1) 25 days 	(2) 12 days 	(3) 15 days 	</a:t>
            </a:r>
            <a:r>
              <a:rPr lang="en-US" b="1" dirty="0">
                <a:solidFill>
                  <a:srgbClr val="FF0000"/>
                </a:solidFill>
              </a:rPr>
              <a:t>(4) 20 days </a:t>
            </a:r>
            <a:r>
              <a:rPr lang="en-US" b="1" dirty="0"/>
              <a:t>	(5)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170315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0" name="Google Shape;110;p3"/>
          <p:cNvSpPr txBox="1">
            <a:spLocks noGrp="1"/>
          </p:cNvSpPr>
          <p:nvPr>
            <p:ph type="body" idx="1"/>
          </p:nvPr>
        </p:nvSpPr>
        <p:spPr>
          <a:xfrm>
            <a:off x="204951" y="1072055"/>
            <a:ext cx="12186745"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A and B finish a job in 12 days while A, B and C can finish it in 8 days. C alone will finish the job in : </a:t>
            </a:r>
            <a:endParaRPr dirty="0"/>
          </a:p>
          <a:p>
            <a:pPr marL="228600" lvl="0" indent="-228600" algn="l" rtl="0">
              <a:lnSpc>
                <a:spcPct val="90000"/>
              </a:lnSpc>
              <a:spcBef>
                <a:spcPts val="1000"/>
              </a:spcBef>
              <a:spcAft>
                <a:spcPts val="0"/>
              </a:spcAft>
              <a:buClr>
                <a:schemeClr val="dk1"/>
              </a:buClr>
              <a:buSzPts val="2400"/>
              <a:buNone/>
            </a:pPr>
            <a:r>
              <a:rPr lang="en-US" b="1" dirty="0"/>
              <a:t>(1) 20 days 	(2) 14 days 	(3) 24 days 	(4) 16 days 	(5) None of these</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0" name="Google Shape;110;p3"/>
          <p:cNvSpPr txBox="1">
            <a:spLocks noGrp="1"/>
          </p:cNvSpPr>
          <p:nvPr>
            <p:ph type="body" idx="1"/>
          </p:nvPr>
        </p:nvSpPr>
        <p:spPr>
          <a:xfrm>
            <a:off x="204951" y="1072055"/>
            <a:ext cx="12186745"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A and B finish a job in 12 days while A, B and C can finish it in 8 days. C alone will finish the job in : </a:t>
            </a:r>
            <a:endParaRPr dirty="0"/>
          </a:p>
          <a:p>
            <a:pPr marL="228600" lvl="0" indent="-228600" algn="l" rtl="0">
              <a:lnSpc>
                <a:spcPct val="90000"/>
              </a:lnSpc>
              <a:spcBef>
                <a:spcPts val="1000"/>
              </a:spcBef>
              <a:spcAft>
                <a:spcPts val="0"/>
              </a:spcAft>
              <a:buClr>
                <a:schemeClr val="dk1"/>
              </a:buClr>
              <a:buSzPts val="2400"/>
              <a:buNone/>
            </a:pPr>
            <a:r>
              <a:rPr lang="en-US" b="1" dirty="0"/>
              <a:t>(1) 20 days 	(2) 14 days 	</a:t>
            </a:r>
            <a:r>
              <a:rPr lang="en-US" b="1" dirty="0">
                <a:solidFill>
                  <a:srgbClr val="FF0000"/>
                </a:solidFill>
              </a:rPr>
              <a:t>(3) 24 days </a:t>
            </a:r>
            <a:r>
              <a:rPr lang="en-US" b="1" dirty="0"/>
              <a:t>	(4) 16 days 	(5) None of these</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3723775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6" name="Google Shape;116;p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A can do a piece of work in 50 days and B in 40 days. They work together for 10 days and then A leaves B to finish the work alone. How long will B take to finish it? </a:t>
            </a:r>
            <a:endParaRPr dirty="0"/>
          </a:p>
          <a:p>
            <a:pPr marL="0" lvl="0" indent="0" algn="l" rtl="0">
              <a:lnSpc>
                <a:spcPct val="90000"/>
              </a:lnSpc>
              <a:spcBef>
                <a:spcPts val="1000"/>
              </a:spcBef>
              <a:spcAft>
                <a:spcPts val="0"/>
              </a:spcAft>
              <a:buClr>
                <a:schemeClr val="dk1"/>
              </a:buClr>
              <a:buSzPts val="2400"/>
              <a:buNone/>
            </a:pPr>
            <a:r>
              <a:rPr lang="en-US" b="1" dirty="0"/>
              <a:t>(1) 11 days (2) 18 days (3) 22 days (4) 26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6" name="Google Shape;116;p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A can do a piece of work in 50 days and B in 40 days. They work together for 10 days and then A leaves B to finish the work alone. How long will B take to finish it? </a:t>
            </a:r>
            <a:endParaRPr dirty="0"/>
          </a:p>
          <a:p>
            <a:pPr marL="0" lvl="0" indent="0" algn="l" rtl="0">
              <a:lnSpc>
                <a:spcPct val="90000"/>
              </a:lnSpc>
              <a:spcBef>
                <a:spcPts val="1000"/>
              </a:spcBef>
              <a:spcAft>
                <a:spcPts val="0"/>
              </a:spcAft>
              <a:buClr>
                <a:schemeClr val="dk1"/>
              </a:buClr>
              <a:buSzPts val="2400"/>
              <a:buNone/>
            </a:pPr>
            <a:r>
              <a:rPr lang="en-US" b="1" dirty="0"/>
              <a:t>(1) 11 days (2) 18 days </a:t>
            </a:r>
            <a:r>
              <a:rPr lang="en-US" b="1" dirty="0">
                <a:solidFill>
                  <a:srgbClr val="FF0000"/>
                </a:solidFill>
              </a:rPr>
              <a:t>(3) 22 days </a:t>
            </a:r>
            <a:r>
              <a:rPr lang="en-US" b="1" dirty="0"/>
              <a:t>(4) 26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33873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2" name="Google Shape;122;p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A can complete a work in 24 days and B can do the same work in 18 days. </a:t>
            </a:r>
            <a:r>
              <a:rPr lang="en-IN" b="1" dirty="0"/>
              <a:t>They work together, but after working for 4 days, A leaves the work</a:t>
            </a:r>
            <a:r>
              <a:rPr lang="en-US" b="1" dirty="0"/>
              <a:t>, find in how many days B will do the remaining work? </a:t>
            </a:r>
            <a:endParaRPr b="1" dirty="0"/>
          </a:p>
          <a:p>
            <a:pPr marL="228600" lvl="0" indent="-228600" algn="l" rtl="0">
              <a:lnSpc>
                <a:spcPct val="90000"/>
              </a:lnSpc>
              <a:spcBef>
                <a:spcPts val="1000"/>
              </a:spcBef>
              <a:spcAft>
                <a:spcPts val="0"/>
              </a:spcAft>
              <a:buClr>
                <a:schemeClr val="dk1"/>
              </a:buClr>
              <a:buSzPts val="2400"/>
              <a:buNone/>
            </a:pPr>
            <a:r>
              <a:rPr lang="en-US" b="1" dirty="0"/>
              <a:t>(1) 10 days 	(2) 12 days 	(3) 15 days 	(4) 16 days 	(5)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20">
          <a:extLst>
            <a:ext uri="{FF2B5EF4-FFF2-40B4-BE49-F238E27FC236}">
              <a16:creationId xmlns:a16="http://schemas.microsoft.com/office/drawing/2014/main" id="{D41D51E1-CA23-318D-C564-078230A907FB}"/>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404BBEC4-A6E2-BECA-4F58-7DD8B252D5F6}"/>
              </a:ext>
            </a:extLst>
          </p:cNvPr>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2" name="Google Shape;122;p5">
            <a:extLst>
              <a:ext uri="{FF2B5EF4-FFF2-40B4-BE49-F238E27FC236}">
                <a16:creationId xmlns:a16="http://schemas.microsoft.com/office/drawing/2014/main" id="{4A7229E4-DDA4-1A77-49FC-B055D383E3A6}"/>
              </a:ext>
            </a:extLst>
          </p:cNvPr>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A can complete a work in 24 days and B can do the same work in 18 days. </a:t>
            </a:r>
            <a:r>
              <a:rPr lang="en-IN" b="1" dirty="0"/>
              <a:t>They work together, but after working for 4 days, A leaves the work</a:t>
            </a:r>
            <a:r>
              <a:rPr lang="en-US" b="1" dirty="0"/>
              <a:t>, find in how many days B will do the remaining work? </a:t>
            </a:r>
            <a:endParaRPr b="1" dirty="0"/>
          </a:p>
          <a:p>
            <a:pPr marL="228600" lvl="0" indent="-228600" algn="l" rtl="0">
              <a:lnSpc>
                <a:spcPct val="90000"/>
              </a:lnSpc>
              <a:spcBef>
                <a:spcPts val="1000"/>
              </a:spcBef>
              <a:spcAft>
                <a:spcPts val="0"/>
              </a:spcAft>
              <a:buClr>
                <a:schemeClr val="dk1"/>
              </a:buClr>
              <a:buSzPts val="2400"/>
              <a:buNone/>
            </a:pPr>
            <a:r>
              <a:rPr lang="en-US" b="1" dirty="0"/>
              <a:t>(1) 10 days 	(2) 12 days 	(3) 15 days 	(4) 16 days 	</a:t>
            </a:r>
            <a:r>
              <a:rPr lang="en-US" b="1" dirty="0">
                <a:solidFill>
                  <a:srgbClr val="FF0000"/>
                </a:solidFill>
              </a:rPr>
              <a:t>(5) None of these</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45189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A and B can do a piece of work in 20 days and 30 days. Both start the work together for some time, but B leaves the job 5 days before the work is completed. Find the time in which work is finished. </a:t>
            </a:r>
            <a:endParaRPr dirty="0"/>
          </a:p>
          <a:p>
            <a:pPr marL="0" lvl="0" indent="0" algn="l" rtl="0">
              <a:lnSpc>
                <a:spcPct val="90000"/>
              </a:lnSpc>
              <a:spcBef>
                <a:spcPts val="1000"/>
              </a:spcBef>
              <a:spcAft>
                <a:spcPts val="0"/>
              </a:spcAft>
              <a:buClr>
                <a:schemeClr val="dk1"/>
              </a:buClr>
              <a:buSzPts val="2400"/>
              <a:buNone/>
            </a:pPr>
            <a:r>
              <a:rPr lang="en-US" b="1" dirty="0"/>
              <a:t>(1) 7 days (2) 12 days (3) 14 days (4) 16 days (5) None of these</a:t>
            </a: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A and B can do a piece of work in 20 days and 30 days. Both start the work together for some time, but B leaves the job 5 days before the work is completed. Find the time in which work is finished. </a:t>
            </a:r>
            <a:endParaRPr dirty="0"/>
          </a:p>
          <a:p>
            <a:pPr marL="0" lvl="0" indent="0" algn="l" rtl="0">
              <a:lnSpc>
                <a:spcPct val="90000"/>
              </a:lnSpc>
              <a:spcBef>
                <a:spcPts val="1000"/>
              </a:spcBef>
              <a:spcAft>
                <a:spcPts val="0"/>
              </a:spcAft>
              <a:buClr>
                <a:schemeClr val="dk1"/>
              </a:buClr>
              <a:buSzPts val="2400"/>
              <a:buNone/>
            </a:pPr>
            <a:r>
              <a:rPr lang="en-US" b="1" dirty="0"/>
              <a:t>(1) 7 days (2) 12 days </a:t>
            </a:r>
            <a:r>
              <a:rPr lang="en-US" b="1" dirty="0">
                <a:solidFill>
                  <a:srgbClr val="FF0000"/>
                </a:solidFill>
              </a:rPr>
              <a:t>(3) 14 days</a:t>
            </a:r>
            <a:r>
              <a:rPr lang="en-US" b="1" dirty="0"/>
              <a:t> (4) 16 days (5) None of these</a:t>
            </a: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2771408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A, B and C together can finish a piece of work in 12 days, A and C together work twice as much as B, A and B together work thrice as much as C. In what time (in days) could each do it separately?</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28(4/5), 42, 48 		(2) 28(4/5), 36, 48	 	(3) 28,36(4/5), 48  </a:t>
            </a:r>
            <a:endParaRPr dirty="0"/>
          </a:p>
          <a:p>
            <a:pPr marL="457200" lvl="0" indent="-457200" algn="l" rtl="0">
              <a:lnSpc>
                <a:spcPct val="90000"/>
              </a:lnSpc>
              <a:spcBef>
                <a:spcPts val="1000"/>
              </a:spcBef>
              <a:spcAft>
                <a:spcPts val="0"/>
              </a:spcAft>
              <a:buClr>
                <a:schemeClr val="dk1"/>
              </a:buClr>
              <a:buSzPts val="2400"/>
              <a:buNone/>
            </a:pPr>
            <a:r>
              <a:rPr lang="en-US" b="1" dirty="0"/>
              <a:t>(4) 28, 36, 48 		(5) None of these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A, B and C together can finish a piece of work in 12 days, A and C together work twice as much as B, A and B together work thrice as much as C. In what time (in days) could each do it separately?</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28(4/5), 42, 48 		</a:t>
            </a:r>
            <a:r>
              <a:rPr lang="en-US" b="1" dirty="0">
                <a:solidFill>
                  <a:srgbClr val="FF0000"/>
                </a:solidFill>
              </a:rPr>
              <a:t>(2) 28(4/5), 36, 48</a:t>
            </a:r>
            <a:r>
              <a:rPr lang="en-US" b="1" dirty="0"/>
              <a:t>	 	(3) 28,36(4/5), 48  </a:t>
            </a:r>
            <a:endParaRPr dirty="0"/>
          </a:p>
          <a:p>
            <a:pPr marL="457200" lvl="0" indent="-457200" algn="l" rtl="0">
              <a:lnSpc>
                <a:spcPct val="90000"/>
              </a:lnSpc>
              <a:spcBef>
                <a:spcPts val="1000"/>
              </a:spcBef>
              <a:spcAft>
                <a:spcPts val="0"/>
              </a:spcAft>
              <a:buClr>
                <a:schemeClr val="dk1"/>
              </a:buClr>
              <a:buSzPts val="2400"/>
              <a:buNone/>
            </a:pPr>
            <a:r>
              <a:rPr lang="en-US" b="1" dirty="0"/>
              <a:t>(4) 28, 36, 48 		(5) None of these</a:t>
            </a:r>
            <a:endParaRPr dirty="0"/>
          </a:p>
        </p:txBody>
      </p:sp>
    </p:spTree>
    <p:extLst>
      <p:ext uri="{BB962C8B-B14F-4D97-AF65-F5344CB8AC3E}">
        <p14:creationId xmlns:p14="http://schemas.microsoft.com/office/powerpoint/2010/main" val="1932364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A is twice as fast as B, and is therefore able to finish a work in 30 days less than B. Find the time in which they can do it working together. </a:t>
            </a:r>
            <a:endParaRPr dirty="0"/>
          </a:p>
          <a:p>
            <a:pPr marL="0" lvl="0" indent="0" algn="l" rtl="0">
              <a:lnSpc>
                <a:spcPct val="90000"/>
              </a:lnSpc>
              <a:spcBef>
                <a:spcPts val="1000"/>
              </a:spcBef>
              <a:spcAft>
                <a:spcPts val="0"/>
              </a:spcAft>
              <a:buClr>
                <a:schemeClr val="dk1"/>
              </a:buClr>
              <a:buSzPts val="2400"/>
              <a:buNone/>
            </a:pPr>
            <a:r>
              <a:rPr lang="en-US" b="1" dirty="0"/>
              <a:t>(1) 18 days (2) 20 days (3) 24 days (4) 22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A is twice as fast as B, and is therefore able to finish a work in 30 days less than B. Find the time in which they can do it working together. </a:t>
            </a:r>
            <a:endParaRPr dirty="0"/>
          </a:p>
          <a:p>
            <a:pPr marL="0" lvl="0" indent="0" algn="l" rtl="0">
              <a:lnSpc>
                <a:spcPct val="90000"/>
              </a:lnSpc>
              <a:spcBef>
                <a:spcPts val="1000"/>
              </a:spcBef>
              <a:spcAft>
                <a:spcPts val="0"/>
              </a:spcAft>
              <a:buClr>
                <a:schemeClr val="dk1"/>
              </a:buClr>
              <a:buSzPts val="2400"/>
              <a:buNone/>
            </a:pPr>
            <a:r>
              <a:rPr lang="en-US" b="1" dirty="0"/>
              <a:t>(1) 18 days </a:t>
            </a:r>
            <a:r>
              <a:rPr lang="en-US" b="1" dirty="0">
                <a:solidFill>
                  <a:srgbClr val="FF0000"/>
                </a:solidFill>
              </a:rPr>
              <a:t>(2) 20 days </a:t>
            </a:r>
            <a:r>
              <a:rPr lang="en-US" b="1" dirty="0"/>
              <a:t>(3) 24 days (4) 22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3536941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A and B can finish a piece of work in 30 days, B and C in 40 days while C and A in 60 days. How long will they take to finish it together? </a:t>
            </a:r>
            <a:endParaRPr dirty="0"/>
          </a:p>
          <a:p>
            <a:pPr marL="228600" lvl="0" indent="-228600" algn="l" rtl="0">
              <a:lnSpc>
                <a:spcPct val="90000"/>
              </a:lnSpc>
              <a:spcBef>
                <a:spcPts val="1000"/>
              </a:spcBef>
              <a:spcAft>
                <a:spcPts val="0"/>
              </a:spcAft>
              <a:buClr>
                <a:schemeClr val="dk1"/>
              </a:buClr>
              <a:buSzPts val="2400"/>
              <a:buNone/>
            </a:pPr>
            <a:r>
              <a:rPr lang="en-US" b="1" dirty="0"/>
              <a:t>(1) 26(2/3) days 	(2) 16(2/3) days 	(3) 25 days 	(4) 24 days 	(5)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2842018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A and B can finish a piece of work in 30 days, B and C in 40 days while C and A in 60 days. How long will they take to finish it together?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26(2/3) days </a:t>
            </a:r>
            <a:r>
              <a:rPr lang="en-US" b="1" dirty="0"/>
              <a:t>	(2) 16(2/3) days 	(3) 25 days 	(4) 24 days 	(5)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958314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6" name="Google Shape;146;p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TIME AND WORK</a:t>
            </a:r>
            <a:endParaRPr/>
          </a:p>
          <a:p>
            <a:pPr marL="0" lvl="0" indent="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9. A can do a work in 20 days. B takes 5 days to complete it. C takes as long as A and B would take working together. How long will it take A, B and C to complete the work together? </a:t>
            </a:r>
            <a:endParaRPr/>
          </a:p>
          <a:p>
            <a:pPr marL="0" lvl="0" indent="0" algn="l" rtl="0">
              <a:lnSpc>
                <a:spcPct val="90000"/>
              </a:lnSpc>
              <a:spcBef>
                <a:spcPts val="1000"/>
              </a:spcBef>
              <a:spcAft>
                <a:spcPts val="0"/>
              </a:spcAft>
              <a:buClr>
                <a:schemeClr val="dk1"/>
              </a:buClr>
              <a:buSzPts val="2400"/>
              <a:buNone/>
            </a:pPr>
            <a:r>
              <a:rPr lang="en-US" b="1"/>
              <a:t>(1) 2 days (2) 4 days (3) 3 days (4) 6 days (5) None of these</a:t>
            </a:r>
            <a:endParaRPr/>
          </a:p>
          <a:p>
            <a:pPr marL="0" lvl="0" indent="0" algn="l" rtl="0">
              <a:lnSpc>
                <a:spcPct val="90000"/>
              </a:lnSpc>
              <a:spcBef>
                <a:spcPts val="1000"/>
              </a:spcBef>
              <a:spcAft>
                <a:spcPts val="0"/>
              </a:spcAft>
              <a:buClr>
                <a:schemeClr val="dk1"/>
              </a:buClr>
              <a:buSzPts val="2400"/>
              <a:buNone/>
            </a:pPr>
            <a:br>
              <a:rPr lang="en-US"/>
            </a:br>
            <a:endParaRPr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6" name="Google Shape;146;p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9. A can do a work in 20 days. B takes 5 days to complete it. C takes as long as A and B would take working together. How long will it take A, B and C to complete the work together?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2 days </a:t>
            </a:r>
            <a:r>
              <a:rPr lang="en-US" b="1" dirty="0"/>
              <a:t>(2) 4 days (3) 3 days (4) 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53928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A and B can together finish a work in 30 days. They worked for it for 20 days and then B left. The remaining work was done by A alone in 30 days. A alone can finish the work in : </a:t>
            </a:r>
            <a:endParaRPr dirty="0"/>
          </a:p>
          <a:p>
            <a:pPr marL="0" lvl="0" indent="0" algn="l" rtl="0">
              <a:lnSpc>
                <a:spcPct val="90000"/>
              </a:lnSpc>
              <a:spcBef>
                <a:spcPts val="1000"/>
              </a:spcBef>
              <a:spcAft>
                <a:spcPts val="0"/>
              </a:spcAft>
              <a:buClr>
                <a:schemeClr val="dk1"/>
              </a:buClr>
              <a:buSzPts val="2400"/>
              <a:buNone/>
            </a:pPr>
            <a:r>
              <a:rPr lang="en-US" b="1" dirty="0"/>
              <a:t>(1) 54 days (2) 60 days (3) 48 days (4) 50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A and B can together finish a work in 30 days. They worked for it for 20 days and then B left. The remaining work was done by A alone in 30 days. A alone can finish the work in : </a:t>
            </a:r>
            <a:endParaRPr dirty="0"/>
          </a:p>
          <a:p>
            <a:pPr marL="0" lvl="0" indent="0" algn="l" rtl="0">
              <a:lnSpc>
                <a:spcPct val="90000"/>
              </a:lnSpc>
              <a:spcBef>
                <a:spcPts val="1000"/>
              </a:spcBef>
              <a:spcAft>
                <a:spcPts val="0"/>
              </a:spcAft>
              <a:buClr>
                <a:schemeClr val="dk1"/>
              </a:buClr>
              <a:buSzPts val="2400"/>
              <a:buNone/>
            </a:pPr>
            <a:r>
              <a:rPr lang="en-US" b="1" dirty="0"/>
              <a:t>(1) 54 days (2) 60 days (3) 48 days (4) 50 days </a:t>
            </a:r>
            <a:r>
              <a:rPr lang="en-US" b="1" dirty="0">
                <a:solidFill>
                  <a:srgbClr val="FF0000"/>
                </a:solidFill>
              </a:rPr>
              <a:t>(5) None of these</a:t>
            </a:r>
            <a:endParaRPr dirty="0">
              <a:solidFill>
                <a:srgbClr val="FF0000"/>
              </a:solidFill>
            </a:endParaRPr>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51611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4" name="Google Shape;164;p1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A, B and C can do a piece of work in 10, 12 and 15 days respectively, they start working together but C leaves after working 3 days </a:t>
            </a:r>
            <a:r>
              <a:rPr lang="en-IN" b="1" dirty="0"/>
              <a:t>and B leaves 4 days before the work is completed</a:t>
            </a:r>
            <a:r>
              <a:rPr lang="en-US" b="1" dirty="0"/>
              <a:t>. In how many days the work was finished? </a:t>
            </a:r>
            <a:endParaRPr dirty="0"/>
          </a:p>
          <a:p>
            <a:pPr marL="0" lvl="0" indent="0" algn="l" rtl="0">
              <a:lnSpc>
                <a:spcPct val="90000"/>
              </a:lnSpc>
              <a:spcBef>
                <a:spcPts val="1000"/>
              </a:spcBef>
              <a:spcAft>
                <a:spcPts val="0"/>
              </a:spcAft>
              <a:buClr>
                <a:schemeClr val="dk1"/>
              </a:buClr>
              <a:buSzPts val="2400"/>
              <a:buNone/>
            </a:pPr>
            <a:r>
              <a:rPr lang="en-US" b="1" dirty="0"/>
              <a:t>(1) 6(2/11) days (2) 7 days (3) 7(2/15) days (4) 6(2/5)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62">
          <a:extLst>
            <a:ext uri="{FF2B5EF4-FFF2-40B4-BE49-F238E27FC236}">
              <a16:creationId xmlns:a16="http://schemas.microsoft.com/office/drawing/2014/main" id="{62EBA7EE-5C0D-7DAD-BFA9-9DB46D253C0C}"/>
            </a:ext>
          </a:extLst>
        </p:cNvPr>
        <p:cNvGrpSpPr/>
        <p:nvPr/>
      </p:nvGrpSpPr>
      <p:grpSpPr>
        <a:xfrm>
          <a:off x="0" y="0"/>
          <a:ext cx="0" cy="0"/>
          <a:chOff x="0" y="0"/>
          <a:chExt cx="0" cy="0"/>
        </a:xfrm>
      </p:grpSpPr>
      <p:sp>
        <p:nvSpPr>
          <p:cNvPr id="163" name="Google Shape;163;p12">
            <a:extLst>
              <a:ext uri="{FF2B5EF4-FFF2-40B4-BE49-F238E27FC236}">
                <a16:creationId xmlns:a16="http://schemas.microsoft.com/office/drawing/2014/main" id="{BDD24E22-9C05-BF87-E367-43B704259574}"/>
              </a:ext>
            </a:extLst>
          </p:cNvPr>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4" name="Google Shape;164;p12">
            <a:extLst>
              <a:ext uri="{FF2B5EF4-FFF2-40B4-BE49-F238E27FC236}">
                <a16:creationId xmlns:a16="http://schemas.microsoft.com/office/drawing/2014/main" id="{81DFF5AD-9442-82EA-A182-DC810051BCA5}"/>
              </a:ext>
            </a:extLst>
          </p:cNvPr>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A, B and C can do a piece of work in 10, 12 and 15 days respectively, they start working together but C leaves after working 3 days </a:t>
            </a:r>
            <a:r>
              <a:rPr lang="en-IN" b="1" dirty="0"/>
              <a:t>and B leaves 4 days before the work is completed</a:t>
            </a:r>
            <a:r>
              <a:rPr lang="en-US" b="1" dirty="0"/>
              <a:t>. In how many days the work was finished?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6(2/11) days </a:t>
            </a:r>
            <a:r>
              <a:rPr lang="en-US" b="1" dirty="0"/>
              <a:t>(2) 7 days (3) 7(2/15) days (4) 6(2/5)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6651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0" name="Google Shape;170;p1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A, B and C can do a piece of work in 5, 8 and 10 days respectively, they start working together but C leaves after working 2 days and B, 1 days before the completion of work. In how many days the work was finished? </a:t>
            </a:r>
            <a:endParaRPr dirty="0"/>
          </a:p>
          <a:p>
            <a:pPr marL="0" lvl="0" indent="0" algn="l" rtl="0">
              <a:lnSpc>
                <a:spcPct val="90000"/>
              </a:lnSpc>
              <a:spcBef>
                <a:spcPts val="1000"/>
              </a:spcBef>
              <a:spcAft>
                <a:spcPts val="0"/>
              </a:spcAft>
              <a:buClr>
                <a:schemeClr val="dk1"/>
              </a:buClr>
              <a:buSzPts val="2400"/>
              <a:buNone/>
            </a:pPr>
            <a:r>
              <a:rPr lang="en-US" b="1" dirty="0"/>
              <a:t>(1) 3 days (2) 6(1/17) days (3) 3(2/7) days </a:t>
            </a:r>
            <a:r>
              <a:rPr lang="en-US" b="1" dirty="0">
                <a:solidFill>
                  <a:schemeClr val="tx1"/>
                </a:solidFill>
              </a:rPr>
              <a:t>(4) 2(11/13) days </a:t>
            </a:r>
            <a:r>
              <a:rPr lang="en-US" b="1" dirty="0"/>
              <a:t>(5) None of these</a:t>
            </a:r>
            <a:endParaRPr dirty="0"/>
          </a:p>
          <a:p>
            <a:pPr marL="0" lvl="0" indent="0" algn="l" rtl="0">
              <a:lnSpc>
                <a:spcPct val="90000"/>
              </a:lnSpc>
              <a:spcBef>
                <a:spcPts val="1000"/>
              </a:spcBef>
              <a:spcAft>
                <a:spcPts val="0"/>
              </a:spcAft>
              <a:buClr>
                <a:schemeClr val="dk1"/>
              </a:buClr>
              <a:buSzPts val="2400"/>
              <a:buNone/>
            </a:pPr>
            <a:br>
              <a:rPr lang="en-US" dirty="0"/>
            </a:b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0" name="Google Shape;170;p1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A, B and C can do a piece of work in 5, 8 and 10 days respectively, they start working together but C leaves after working 2 days and B, 1 days before the completion of work. In how many days the work was finished? </a:t>
            </a:r>
            <a:endParaRPr dirty="0"/>
          </a:p>
          <a:p>
            <a:pPr marL="0" lvl="0" indent="0" algn="l" rtl="0">
              <a:lnSpc>
                <a:spcPct val="90000"/>
              </a:lnSpc>
              <a:spcBef>
                <a:spcPts val="1000"/>
              </a:spcBef>
              <a:spcAft>
                <a:spcPts val="0"/>
              </a:spcAft>
              <a:buClr>
                <a:schemeClr val="dk1"/>
              </a:buClr>
              <a:buSzPts val="2400"/>
              <a:buNone/>
            </a:pPr>
            <a:r>
              <a:rPr lang="en-US" b="1" dirty="0"/>
              <a:t>(1) 3 days (2) 6(1/17) days (3) 3(2/7) days </a:t>
            </a:r>
            <a:r>
              <a:rPr lang="en-US" b="1" dirty="0">
                <a:solidFill>
                  <a:srgbClr val="FF0000"/>
                </a:solidFill>
              </a:rPr>
              <a:t>(4) 2(11/13) days </a:t>
            </a:r>
            <a:r>
              <a:rPr lang="en-US" b="1" dirty="0"/>
              <a:t>(5) None of these</a:t>
            </a:r>
            <a:endParaRPr dirty="0"/>
          </a:p>
          <a:p>
            <a:pPr marL="0" lvl="0" indent="0" algn="l" rtl="0">
              <a:lnSpc>
                <a:spcPct val="90000"/>
              </a:lnSpc>
              <a:spcBef>
                <a:spcPts val="1000"/>
              </a:spcBef>
              <a:spcAft>
                <a:spcPts val="0"/>
              </a:spcAft>
              <a:buClr>
                <a:schemeClr val="dk1"/>
              </a:buClr>
              <a:buSzPts val="2400"/>
              <a:buNone/>
            </a:pPr>
            <a:br>
              <a:rPr lang="en-US" dirty="0"/>
            </a:b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2825111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6" name="Google Shape;176;p1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A can do a certain work in the same time in which B and C together can do it. If A and B together could do it in 10 days and C alone in 50 days, in what time could B alone do it? </a:t>
            </a:r>
            <a:endParaRPr dirty="0"/>
          </a:p>
          <a:p>
            <a:pPr marL="0" lvl="0" indent="0" algn="l" rtl="0">
              <a:lnSpc>
                <a:spcPct val="90000"/>
              </a:lnSpc>
              <a:spcBef>
                <a:spcPts val="1000"/>
              </a:spcBef>
              <a:spcAft>
                <a:spcPts val="0"/>
              </a:spcAft>
              <a:buClr>
                <a:schemeClr val="dk1"/>
              </a:buClr>
              <a:buSzPts val="2400"/>
              <a:buNone/>
            </a:pPr>
            <a:r>
              <a:rPr lang="en-US" b="1" dirty="0"/>
              <a:t>(1) 25 days (2) 30 days (3) 24 days (4) 20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6" name="Google Shape;176;p1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A can do a certain work in the same time in which B and C together can do it. If A and B together could do it in 10 days and C alone in 50 days, in what time could B alone do it?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25 days </a:t>
            </a:r>
            <a:r>
              <a:rPr lang="en-US" b="1" dirty="0"/>
              <a:t>(2) 30 days (3) 24 days (4) 20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78377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7" name="Google Shape;187;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8" name="Google Shape;188;p1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14. A started a work and left after working for 4 days. Then B was called and he finished the work in 18 days. Had A left the work after working for 6 days, B would have finished the remaining work in 12 days. In how many days can each of them, working alone, finish the whole work?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5 days, 20 days (2) 10 days, 30 days (3) 15 days, 30 days (4) 5 days, 30 days</a:t>
            </a:r>
            <a:endParaRPr dirty="0"/>
          </a:p>
          <a:p>
            <a:pPr marL="457200" lvl="0" indent="-457200" algn="l" rtl="0">
              <a:lnSpc>
                <a:spcPct val="90000"/>
              </a:lnSpc>
              <a:spcBef>
                <a:spcPts val="1000"/>
              </a:spcBef>
              <a:spcAft>
                <a:spcPts val="0"/>
              </a:spcAft>
              <a:buClr>
                <a:schemeClr val="dk1"/>
              </a:buClr>
              <a:buSzPts val="2400"/>
              <a:buNone/>
            </a:pPr>
            <a:r>
              <a:rPr lang="en-US" b="1" dirty="0"/>
              <a:t> (5) None of these</a:t>
            </a: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7" name="Google Shape;187;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8" name="Google Shape;188;p1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228600" lvl="0" indent="-228600" algn="l" rtl="0">
              <a:lnSpc>
                <a:spcPct val="90000"/>
              </a:lnSpc>
              <a:spcBef>
                <a:spcPts val="1000"/>
              </a:spcBef>
              <a:spcAft>
                <a:spcPts val="0"/>
              </a:spcAft>
              <a:buClr>
                <a:schemeClr val="dk1"/>
              </a:buClr>
              <a:buSzPts val="2400"/>
              <a:buNone/>
            </a:pPr>
            <a:r>
              <a:rPr lang="en-US" b="1" dirty="0">
                <a:solidFill>
                  <a:schemeClr val="bg2">
                    <a:lumMod val="50000"/>
                  </a:schemeClr>
                </a:solidFill>
                <a:latin typeface="Arial Black"/>
                <a:ea typeface="Arial Black"/>
                <a:cs typeface="Arial Black"/>
                <a:sym typeface="Arial Black"/>
              </a:rPr>
              <a:t>Q </a:t>
            </a:r>
            <a:r>
              <a:rPr lang="en-US" b="1" dirty="0">
                <a:solidFill>
                  <a:schemeClr val="bg2">
                    <a:lumMod val="50000"/>
                  </a:schemeClr>
                </a:solidFill>
              </a:rPr>
              <a:t>14. A started a work and left after working for 4 days. Then B was called and he finished the work in 18 days. Had A left the work after working for 6 days, B would have finished the remaining work in 12 days. In how many days can each of them, working alone, finish the whole work? </a:t>
            </a:r>
            <a:endParaRPr dirty="0">
              <a:solidFill>
                <a:schemeClr val="bg2">
                  <a:lumMod val="50000"/>
                </a:schemeClr>
              </a:solidFill>
            </a:endParaRPr>
          </a:p>
          <a:p>
            <a:pPr marL="457200" lvl="0" indent="-457200" algn="l" rtl="0">
              <a:lnSpc>
                <a:spcPct val="90000"/>
              </a:lnSpc>
              <a:spcBef>
                <a:spcPts val="1000"/>
              </a:spcBef>
              <a:spcAft>
                <a:spcPts val="0"/>
              </a:spcAft>
              <a:buClr>
                <a:schemeClr val="dk1"/>
              </a:buClr>
              <a:buSzPts val="2400"/>
              <a:buAutoNum type="arabicParenBoth"/>
            </a:pPr>
            <a:r>
              <a:rPr lang="en-US" b="1" dirty="0">
                <a:solidFill>
                  <a:schemeClr val="bg2">
                    <a:lumMod val="50000"/>
                  </a:schemeClr>
                </a:solidFill>
              </a:rPr>
              <a:t>5 days, 20 days </a:t>
            </a:r>
            <a:r>
              <a:rPr lang="en-US" b="1" dirty="0">
                <a:solidFill>
                  <a:srgbClr val="FF0000"/>
                </a:solidFill>
              </a:rPr>
              <a:t>(2) 10 days, 30 days </a:t>
            </a:r>
            <a:r>
              <a:rPr lang="en-US" b="1" dirty="0">
                <a:solidFill>
                  <a:schemeClr val="bg2">
                    <a:lumMod val="50000"/>
                  </a:schemeClr>
                </a:solidFill>
              </a:rPr>
              <a:t>(3) 15 days, 30 days (4) 5 days, 30 days</a:t>
            </a:r>
            <a:endParaRPr dirty="0">
              <a:solidFill>
                <a:schemeClr val="bg2">
                  <a:lumMod val="50000"/>
                </a:schemeClr>
              </a:solidFill>
            </a:endParaRPr>
          </a:p>
          <a:p>
            <a:pPr marL="457200" lvl="0" indent="-457200" algn="l" rtl="0">
              <a:lnSpc>
                <a:spcPct val="90000"/>
              </a:lnSpc>
              <a:spcBef>
                <a:spcPts val="1000"/>
              </a:spcBef>
              <a:spcAft>
                <a:spcPts val="0"/>
              </a:spcAft>
              <a:buClr>
                <a:schemeClr val="dk1"/>
              </a:buClr>
              <a:buSzPts val="2400"/>
              <a:buNone/>
            </a:pPr>
            <a:r>
              <a:rPr lang="en-US" b="1" dirty="0">
                <a:solidFill>
                  <a:schemeClr val="bg2">
                    <a:lumMod val="50000"/>
                  </a:schemeClr>
                </a:solidFill>
              </a:rPr>
              <a:t> (5) None of these</a:t>
            </a:r>
            <a:endParaRPr dirty="0">
              <a:solidFill>
                <a:schemeClr val="bg2">
                  <a:lumMod val="50000"/>
                </a:schemeClr>
              </a:solidFill>
            </a:endParaRPr>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1344273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4" name="Google Shape;194;p1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15.  A alone would take 27 hours more to complete the job than if both A and B would together. If B worked alone, he took 3 hours more to complete the job than A and B worked together. What time, would they take if both A and B worked together? </a:t>
            </a:r>
            <a:endParaRPr dirty="0"/>
          </a:p>
          <a:p>
            <a:pPr marL="0" lvl="0" indent="0" algn="l" rtl="0">
              <a:lnSpc>
                <a:spcPct val="90000"/>
              </a:lnSpc>
              <a:spcBef>
                <a:spcPts val="1000"/>
              </a:spcBef>
              <a:spcAft>
                <a:spcPts val="0"/>
              </a:spcAft>
              <a:buClr>
                <a:schemeClr val="dk1"/>
              </a:buClr>
              <a:buSzPts val="2400"/>
              <a:buNone/>
            </a:pPr>
            <a:r>
              <a:rPr lang="en-US" b="1" dirty="0"/>
              <a:t>(1) 8 hours (2) 10 hours (3) 9 hours (4) 6 hours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4" name="Google Shape;194;p1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solidFill>
                  <a:schemeClr val="tx1">
                    <a:lumMod val="95000"/>
                    <a:lumOff val="5000"/>
                  </a:schemeClr>
                </a:solidFill>
                <a:latin typeface="Arial Black"/>
                <a:ea typeface="Arial Black"/>
                <a:cs typeface="Arial Black"/>
                <a:sym typeface="Arial Black"/>
              </a:rPr>
              <a:t>Q </a:t>
            </a:r>
            <a:r>
              <a:rPr lang="en-US" b="1" dirty="0">
                <a:solidFill>
                  <a:schemeClr val="tx1">
                    <a:lumMod val="95000"/>
                    <a:lumOff val="5000"/>
                  </a:schemeClr>
                </a:solidFill>
              </a:rPr>
              <a:t>15.  A alone would take 27 hours more to complete the job than if both A and B would together. If B worked alone, he took 3 hours more to complete the job than A and B worked together. What time, would they take if both A and B worked together? </a:t>
            </a:r>
            <a:endParaRPr dirty="0">
              <a:solidFill>
                <a:schemeClr val="tx1">
                  <a:lumMod val="95000"/>
                  <a:lumOff val="5000"/>
                </a:schemeClr>
              </a:solidFill>
            </a:endParaRPr>
          </a:p>
          <a:p>
            <a:pPr marL="0" lvl="0" indent="0" algn="l" rtl="0">
              <a:lnSpc>
                <a:spcPct val="90000"/>
              </a:lnSpc>
              <a:spcBef>
                <a:spcPts val="1000"/>
              </a:spcBef>
              <a:spcAft>
                <a:spcPts val="0"/>
              </a:spcAft>
              <a:buClr>
                <a:schemeClr val="dk1"/>
              </a:buClr>
              <a:buSzPts val="2400"/>
              <a:buNone/>
            </a:pPr>
            <a:r>
              <a:rPr lang="en-US" b="1" dirty="0">
                <a:solidFill>
                  <a:schemeClr val="tx1">
                    <a:lumMod val="95000"/>
                    <a:lumOff val="5000"/>
                  </a:schemeClr>
                </a:solidFill>
              </a:rPr>
              <a:t>(1) 8 hours (2) 10 hours </a:t>
            </a:r>
            <a:r>
              <a:rPr lang="en-US" b="1" dirty="0">
                <a:solidFill>
                  <a:srgbClr val="FF0000"/>
                </a:solidFill>
              </a:rPr>
              <a:t>(3) 9 hours </a:t>
            </a:r>
            <a:r>
              <a:rPr lang="en-US" b="1" dirty="0">
                <a:solidFill>
                  <a:schemeClr val="tx1">
                    <a:lumMod val="95000"/>
                    <a:lumOff val="5000"/>
                  </a:schemeClr>
                </a:solidFill>
              </a:rPr>
              <a:t>(4) 6 hours (5) None of these</a:t>
            </a:r>
            <a:endParaRPr dirty="0">
              <a:solidFill>
                <a:schemeClr val="tx1">
                  <a:lumMod val="95000"/>
                  <a:lumOff val="5000"/>
                </a:schemeClr>
              </a:solidFill>
            </a:endParaRPr>
          </a:p>
          <a:p>
            <a:pPr marL="0" lvl="0" indent="0" algn="l" rtl="0">
              <a:lnSpc>
                <a:spcPct val="90000"/>
              </a:lnSpc>
              <a:spcBef>
                <a:spcPts val="1000"/>
              </a:spcBef>
              <a:spcAft>
                <a:spcPts val="0"/>
              </a:spcAft>
              <a:buClr>
                <a:schemeClr val="dk1"/>
              </a:buClr>
              <a:buSzPts val="2400"/>
              <a:buNone/>
            </a:pP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3438103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0" name="Google Shape;200;p1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16.  A and B together can do a piece of work in 12 days which B and C together can do in 16 days. After A has been working at it for 5 days, and B for 7 days. C finishes it in 13 days. In how many days could each do the work by himself? </a:t>
            </a:r>
            <a:endParaRPr dirty="0"/>
          </a:p>
          <a:p>
            <a:pPr marL="0" lvl="0" indent="0" algn="l" rtl="0">
              <a:lnSpc>
                <a:spcPct val="90000"/>
              </a:lnSpc>
              <a:spcBef>
                <a:spcPts val="1000"/>
              </a:spcBef>
              <a:spcAft>
                <a:spcPts val="0"/>
              </a:spcAft>
              <a:buClr>
                <a:schemeClr val="dk1"/>
              </a:buClr>
              <a:buSzPts val="2400"/>
              <a:buNone/>
            </a:pPr>
            <a:r>
              <a:rPr lang="en-US" b="1" dirty="0"/>
              <a:t>(1) 16, 48 and 26 days respectively </a:t>
            </a:r>
            <a:endParaRPr dirty="0"/>
          </a:p>
          <a:p>
            <a:pPr marL="0" lvl="0" indent="0" algn="l" rtl="0">
              <a:lnSpc>
                <a:spcPct val="90000"/>
              </a:lnSpc>
              <a:spcBef>
                <a:spcPts val="1000"/>
              </a:spcBef>
              <a:spcAft>
                <a:spcPts val="0"/>
              </a:spcAft>
              <a:buClr>
                <a:schemeClr val="dk1"/>
              </a:buClr>
              <a:buSzPts val="2400"/>
              <a:buNone/>
            </a:pPr>
            <a:r>
              <a:rPr lang="en-US" b="1" dirty="0"/>
              <a:t>(2) 16, 48 and 24 days respectively </a:t>
            </a:r>
            <a:endParaRPr dirty="0"/>
          </a:p>
          <a:p>
            <a:pPr marL="0" lvl="0" indent="0" algn="l" rtl="0">
              <a:lnSpc>
                <a:spcPct val="90000"/>
              </a:lnSpc>
              <a:spcBef>
                <a:spcPts val="1000"/>
              </a:spcBef>
              <a:spcAft>
                <a:spcPts val="0"/>
              </a:spcAft>
              <a:buClr>
                <a:schemeClr val="dk1"/>
              </a:buClr>
              <a:buSzPts val="2400"/>
              <a:buNone/>
            </a:pPr>
            <a:r>
              <a:rPr lang="en-US" b="1" dirty="0"/>
              <a:t>(3) 26, 48 and 24 days respectively </a:t>
            </a:r>
            <a:endParaRPr dirty="0"/>
          </a:p>
          <a:p>
            <a:pPr marL="0" lvl="0" indent="0" algn="l" rtl="0">
              <a:lnSpc>
                <a:spcPct val="90000"/>
              </a:lnSpc>
              <a:spcBef>
                <a:spcPts val="1000"/>
              </a:spcBef>
              <a:spcAft>
                <a:spcPts val="0"/>
              </a:spcAft>
              <a:buClr>
                <a:schemeClr val="dk1"/>
              </a:buClr>
              <a:buSzPts val="2400"/>
              <a:buNone/>
            </a:pPr>
            <a:r>
              <a:rPr lang="en-US" b="1" dirty="0"/>
              <a:t>(4) 16, 46 and 24 days respectively </a:t>
            </a:r>
            <a:endParaRPr dirty="0"/>
          </a:p>
          <a:p>
            <a:pPr marL="0" lvl="0" indent="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0" name="Google Shape;200;p1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16.  A and B together can do a piece of work in 12 days which B and C together can do in 16 days. After A has been working at it for 5 days, and B for 7 days. C finishes it in 13 days. In how many days could each do the work by himself? </a:t>
            </a:r>
            <a:endParaRPr dirty="0"/>
          </a:p>
          <a:p>
            <a:pPr marL="0" lvl="0" indent="0" algn="l" rtl="0">
              <a:lnSpc>
                <a:spcPct val="90000"/>
              </a:lnSpc>
              <a:spcBef>
                <a:spcPts val="1000"/>
              </a:spcBef>
              <a:spcAft>
                <a:spcPts val="0"/>
              </a:spcAft>
              <a:buClr>
                <a:schemeClr val="dk1"/>
              </a:buClr>
              <a:buSzPts val="2400"/>
              <a:buNone/>
            </a:pPr>
            <a:r>
              <a:rPr lang="en-US" b="1" dirty="0"/>
              <a:t>(1) 16, 48 and 26 days respectively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(2) 16, 48 and 24 days respectively </a:t>
            </a:r>
            <a:endParaRPr dirty="0">
              <a:solidFill>
                <a:srgbClr val="FF0000"/>
              </a:solidFill>
            </a:endParaRPr>
          </a:p>
          <a:p>
            <a:pPr marL="0" lvl="0" indent="0" algn="l" rtl="0">
              <a:lnSpc>
                <a:spcPct val="90000"/>
              </a:lnSpc>
              <a:spcBef>
                <a:spcPts val="1000"/>
              </a:spcBef>
              <a:spcAft>
                <a:spcPts val="0"/>
              </a:spcAft>
              <a:buClr>
                <a:schemeClr val="dk1"/>
              </a:buClr>
              <a:buSzPts val="2400"/>
              <a:buNone/>
            </a:pPr>
            <a:r>
              <a:rPr lang="en-US" b="1" dirty="0"/>
              <a:t>(3) 26, 48 and 24 days respectively </a:t>
            </a:r>
            <a:endParaRPr dirty="0"/>
          </a:p>
          <a:p>
            <a:pPr marL="0" lvl="0" indent="0" algn="l" rtl="0">
              <a:lnSpc>
                <a:spcPct val="90000"/>
              </a:lnSpc>
              <a:spcBef>
                <a:spcPts val="1000"/>
              </a:spcBef>
              <a:spcAft>
                <a:spcPts val="0"/>
              </a:spcAft>
              <a:buClr>
                <a:schemeClr val="dk1"/>
              </a:buClr>
              <a:buSzPts val="2400"/>
              <a:buNone/>
            </a:pPr>
            <a:r>
              <a:rPr lang="en-US" b="1" dirty="0"/>
              <a:t>(4) 16, 46 and 24 days respectively </a:t>
            </a:r>
            <a:endParaRPr dirty="0"/>
          </a:p>
          <a:p>
            <a:pPr marL="0" lvl="0" indent="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3523927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1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6" name="Google Shape;206;p1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17.  Two women, Ganga and </a:t>
            </a:r>
            <a:r>
              <a:rPr lang="en-US" b="1" dirty="0" err="1"/>
              <a:t>Jamuna</a:t>
            </a:r>
            <a:r>
              <a:rPr lang="en-US" b="1" dirty="0"/>
              <a:t>, working separately can mow a field in 8 and 12 hours respectively. If they work for an hour alternately, Ganga beginning at 9 am, when will the mowing be finished? </a:t>
            </a:r>
            <a:endParaRPr dirty="0"/>
          </a:p>
          <a:p>
            <a:pPr marL="0" lvl="0" indent="0" algn="l" rtl="0">
              <a:lnSpc>
                <a:spcPct val="90000"/>
              </a:lnSpc>
              <a:spcBef>
                <a:spcPts val="1000"/>
              </a:spcBef>
              <a:spcAft>
                <a:spcPts val="0"/>
              </a:spcAft>
              <a:buClr>
                <a:schemeClr val="dk1"/>
              </a:buClr>
              <a:buSzPts val="2400"/>
              <a:buNone/>
            </a:pPr>
            <a:r>
              <a:rPr lang="en-US" b="1" dirty="0">
                <a:solidFill>
                  <a:schemeClr val="tx1"/>
                </a:solidFill>
              </a:rPr>
              <a:t>(1) 6 : 30 pm </a:t>
            </a:r>
            <a:r>
              <a:rPr lang="en-US" b="1" dirty="0"/>
              <a:t>(2) 8 : 30 pm (3) 6 : 30 am (4) 7 : 30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04">
          <a:extLst>
            <a:ext uri="{FF2B5EF4-FFF2-40B4-BE49-F238E27FC236}">
              <a16:creationId xmlns:a16="http://schemas.microsoft.com/office/drawing/2014/main" id="{0FA002E1-DDF7-9BCC-043A-6225B4587BFC}"/>
            </a:ext>
          </a:extLst>
        </p:cNvPr>
        <p:cNvGrpSpPr/>
        <p:nvPr/>
      </p:nvGrpSpPr>
      <p:grpSpPr>
        <a:xfrm>
          <a:off x="0" y="0"/>
          <a:ext cx="0" cy="0"/>
          <a:chOff x="0" y="0"/>
          <a:chExt cx="0" cy="0"/>
        </a:xfrm>
      </p:grpSpPr>
      <p:sp>
        <p:nvSpPr>
          <p:cNvPr id="205" name="Google Shape;205;p19">
            <a:extLst>
              <a:ext uri="{FF2B5EF4-FFF2-40B4-BE49-F238E27FC236}">
                <a16:creationId xmlns:a16="http://schemas.microsoft.com/office/drawing/2014/main" id="{BCF47634-E1FC-4191-5E02-AF2C6D1E4F6B}"/>
              </a:ext>
            </a:extLst>
          </p:cNvPr>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6" name="Google Shape;206;p19">
            <a:extLst>
              <a:ext uri="{FF2B5EF4-FFF2-40B4-BE49-F238E27FC236}">
                <a16:creationId xmlns:a16="http://schemas.microsoft.com/office/drawing/2014/main" id="{DE9D24C2-B606-FAA6-FF2B-F0F36C32B633}"/>
              </a:ext>
            </a:extLst>
          </p:cNvPr>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17.  Two women, Ganga and </a:t>
            </a:r>
            <a:r>
              <a:rPr lang="en-US" b="1" dirty="0" err="1"/>
              <a:t>Jamuna</a:t>
            </a:r>
            <a:r>
              <a:rPr lang="en-US" b="1" dirty="0"/>
              <a:t>, working separately can mow a field in 8 and 12 hours respectively. If they work for an hour alternately, Ganga beginning at 9 am, when will the mowing be finished?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6 : 30 pm </a:t>
            </a:r>
            <a:r>
              <a:rPr lang="en-US" b="1" dirty="0"/>
              <a:t>(2) 8 : 30 pm (3) 6 : 30 am (4) 7 : 30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0685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2" name="Google Shape;212;p2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8 men can do a piece of work in 5 days. How many men are needed to complete the work in 10 days? </a:t>
            </a:r>
            <a:endParaRPr dirty="0"/>
          </a:p>
          <a:p>
            <a:pPr marL="0" lvl="0" indent="0" algn="l" rtl="0">
              <a:lnSpc>
                <a:spcPct val="90000"/>
              </a:lnSpc>
              <a:spcBef>
                <a:spcPts val="1000"/>
              </a:spcBef>
              <a:spcAft>
                <a:spcPts val="0"/>
              </a:spcAft>
              <a:buClr>
                <a:schemeClr val="dk1"/>
              </a:buClr>
              <a:buSzPts val="2400"/>
              <a:buNone/>
            </a:pPr>
            <a:r>
              <a:rPr lang="en-US" b="1" dirty="0"/>
              <a:t>(1) 8 men </a:t>
            </a:r>
            <a:r>
              <a:rPr lang="en-US" b="1" dirty="0">
                <a:solidFill>
                  <a:schemeClr val="tx1"/>
                </a:solidFill>
              </a:rPr>
              <a:t>(2) 4 men </a:t>
            </a:r>
            <a:r>
              <a:rPr lang="en-US" b="1" dirty="0"/>
              <a:t>(3) 2 men (4) 3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10">
          <a:extLst>
            <a:ext uri="{FF2B5EF4-FFF2-40B4-BE49-F238E27FC236}">
              <a16:creationId xmlns:a16="http://schemas.microsoft.com/office/drawing/2014/main" id="{37DC7435-F6A8-7D7A-6554-57E3426BCB10}"/>
            </a:ext>
          </a:extLst>
        </p:cNvPr>
        <p:cNvGrpSpPr/>
        <p:nvPr/>
      </p:nvGrpSpPr>
      <p:grpSpPr>
        <a:xfrm>
          <a:off x="0" y="0"/>
          <a:ext cx="0" cy="0"/>
          <a:chOff x="0" y="0"/>
          <a:chExt cx="0" cy="0"/>
        </a:xfrm>
      </p:grpSpPr>
      <p:sp>
        <p:nvSpPr>
          <p:cNvPr id="211" name="Google Shape;211;p20">
            <a:extLst>
              <a:ext uri="{FF2B5EF4-FFF2-40B4-BE49-F238E27FC236}">
                <a16:creationId xmlns:a16="http://schemas.microsoft.com/office/drawing/2014/main" id="{EEA591E4-456F-14B4-58DB-FE1AF723E3E4}"/>
              </a:ext>
            </a:extLst>
          </p:cNvPr>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2" name="Google Shape;212;p20">
            <a:extLst>
              <a:ext uri="{FF2B5EF4-FFF2-40B4-BE49-F238E27FC236}">
                <a16:creationId xmlns:a16="http://schemas.microsoft.com/office/drawing/2014/main" id="{6E2F1E76-5743-5169-4847-B47BE8949562}"/>
              </a:ext>
            </a:extLst>
          </p:cNvPr>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8 men can do a piece of work in 5 days. How many men are needed to complete the work in 10 days? </a:t>
            </a:r>
            <a:endParaRPr dirty="0"/>
          </a:p>
          <a:p>
            <a:pPr marL="0" lvl="0" indent="0" algn="l" rtl="0">
              <a:lnSpc>
                <a:spcPct val="90000"/>
              </a:lnSpc>
              <a:spcBef>
                <a:spcPts val="1000"/>
              </a:spcBef>
              <a:spcAft>
                <a:spcPts val="0"/>
              </a:spcAft>
              <a:buClr>
                <a:schemeClr val="dk1"/>
              </a:buClr>
              <a:buSzPts val="2400"/>
              <a:buNone/>
            </a:pPr>
            <a:r>
              <a:rPr lang="en-US" b="1" dirty="0"/>
              <a:t>(1) 8 men </a:t>
            </a:r>
            <a:r>
              <a:rPr lang="en-US" b="1" dirty="0">
                <a:solidFill>
                  <a:srgbClr val="FF0000"/>
                </a:solidFill>
              </a:rPr>
              <a:t>(2) 4 men </a:t>
            </a:r>
            <a:r>
              <a:rPr lang="en-US" b="1" dirty="0"/>
              <a:t>(3) 2 men (4) 3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846906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8" name="Google Shape;218;p21"/>
          <p:cNvSpPr txBox="1">
            <a:spLocks noGrp="1"/>
          </p:cNvSpPr>
          <p:nvPr>
            <p:ph type="body" idx="1"/>
          </p:nvPr>
        </p:nvSpPr>
        <p:spPr>
          <a:xfrm>
            <a:off x="254000" y="1072055"/>
            <a:ext cx="11684000"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20 men can prepare 40 toys in 24 days working 18 hours a day. Then in how many days can 6 men prepare 48 toys working 16 hrs. a day? </a:t>
            </a:r>
            <a:endParaRPr dirty="0"/>
          </a:p>
          <a:p>
            <a:pPr marL="0" lvl="0" indent="0" algn="l" rtl="0">
              <a:lnSpc>
                <a:spcPct val="90000"/>
              </a:lnSpc>
              <a:spcBef>
                <a:spcPts val="1000"/>
              </a:spcBef>
              <a:spcAft>
                <a:spcPts val="0"/>
              </a:spcAft>
              <a:buClr>
                <a:schemeClr val="dk1"/>
              </a:buClr>
              <a:buSzPts val="2400"/>
              <a:buNone/>
            </a:pPr>
            <a:r>
              <a:rPr lang="en-US" b="1" dirty="0"/>
              <a:t>(1) 16 days (2) 12 days (3) 21 days (4) 18 days </a:t>
            </a:r>
            <a:r>
              <a:rPr lang="en-US" b="1" dirty="0">
                <a:solidFill>
                  <a:schemeClr val="tx1">
                    <a:lumMod val="95000"/>
                    <a:lumOff val="5000"/>
                  </a:schemeClr>
                </a:solidFill>
              </a:rPr>
              <a:t>(5) None of these</a:t>
            </a:r>
            <a:endParaRPr dirty="0">
              <a:solidFill>
                <a:schemeClr val="tx1">
                  <a:lumMod val="95000"/>
                  <a:lumOff val="5000"/>
                </a:schemeClr>
              </a:solidFill>
            </a:endParaRPr>
          </a:p>
          <a:p>
            <a:pPr marL="0" lvl="0" indent="0" algn="l" rtl="0">
              <a:lnSpc>
                <a:spcPct val="90000"/>
              </a:lnSpc>
              <a:spcBef>
                <a:spcPts val="1000"/>
              </a:spcBef>
              <a:spcAft>
                <a:spcPts val="0"/>
              </a:spcAft>
              <a:buClr>
                <a:schemeClr val="dk1"/>
              </a:buClr>
              <a:buSzPts val="2400"/>
              <a:buNone/>
            </a:pPr>
            <a:br>
              <a:rPr lang="en-US" dirty="0"/>
            </a:br>
            <a:endParaRPr dirty="0"/>
          </a:p>
          <a:p>
            <a:pPr marL="0" lvl="0" indent="0" algn="l" rtl="0">
              <a:lnSpc>
                <a:spcPct val="90000"/>
              </a:lnSpc>
              <a:spcBef>
                <a:spcPts val="1000"/>
              </a:spcBef>
              <a:spcAft>
                <a:spcPts val="0"/>
              </a:spcAft>
              <a:buClr>
                <a:schemeClr val="dk1"/>
              </a:buClr>
              <a:buSzPts val="2400"/>
              <a:buNone/>
            </a:pPr>
            <a:br>
              <a:rPr lang="en-US" dirty="0"/>
            </a:b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8" name="Google Shape;218;p2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20 men can prepare 40 toys in 24 days working 18 hours a day. Then in how many days can 6 men prepare 48 toys working 16 hrs. a day? </a:t>
            </a:r>
            <a:endParaRPr dirty="0"/>
          </a:p>
          <a:p>
            <a:pPr marL="0" lvl="0" indent="0" algn="l" rtl="0">
              <a:lnSpc>
                <a:spcPct val="90000"/>
              </a:lnSpc>
              <a:spcBef>
                <a:spcPts val="1000"/>
              </a:spcBef>
              <a:spcAft>
                <a:spcPts val="0"/>
              </a:spcAft>
              <a:buClr>
                <a:schemeClr val="dk1"/>
              </a:buClr>
              <a:buSzPts val="2400"/>
              <a:buNone/>
            </a:pPr>
            <a:r>
              <a:rPr lang="en-US" b="1" dirty="0"/>
              <a:t>(1) 16 days (2) 12 days (3) 21 days (4) 18 days </a:t>
            </a:r>
            <a:r>
              <a:rPr lang="en-US" b="1" dirty="0">
                <a:solidFill>
                  <a:srgbClr val="FF0000"/>
                </a:solidFill>
              </a:rPr>
              <a:t>(5) None of these</a:t>
            </a:r>
            <a:endParaRPr dirty="0">
              <a:solidFill>
                <a:srgbClr val="FF0000"/>
              </a:solidFill>
            </a:endParaRPr>
          </a:p>
          <a:p>
            <a:pPr marL="0" lvl="0" indent="0" algn="l" rtl="0">
              <a:lnSpc>
                <a:spcPct val="90000"/>
              </a:lnSpc>
              <a:spcBef>
                <a:spcPts val="1000"/>
              </a:spcBef>
              <a:spcAft>
                <a:spcPts val="0"/>
              </a:spcAft>
              <a:buClr>
                <a:schemeClr val="dk1"/>
              </a:buClr>
              <a:buSzPts val="2400"/>
              <a:buNone/>
            </a:pPr>
            <a:br>
              <a:rPr lang="en-US" dirty="0"/>
            </a:br>
            <a:endParaRPr dirty="0"/>
          </a:p>
          <a:p>
            <a:pPr marL="0" lvl="0" indent="0" algn="l" rtl="0">
              <a:lnSpc>
                <a:spcPct val="90000"/>
              </a:lnSpc>
              <a:spcBef>
                <a:spcPts val="1000"/>
              </a:spcBef>
              <a:spcAft>
                <a:spcPts val="0"/>
              </a:spcAft>
              <a:buClr>
                <a:schemeClr val="dk1"/>
              </a:buClr>
              <a:buSzPts val="2400"/>
              <a:buNone/>
            </a:pPr>
            <a:br>
              <a:rPr lang="en-US" dirty="0"/>
            </a:br>
            <a:endParaRPr dirty="0"/>
          </a:p>
        </p:txBody>
      </p:sp>
    </p:spTree>
    <p:extLst>
      <p:ext uri="{BB962C8B-B14F-4D97-AF65-F5344CB8AC3E}">
        <p14:creationId xmlns:p14="http://schemas.microsoft.com/office/powerpoint/2010/main" val="3800844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4" name="Google Shape;224;p2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10 men can complete a piece of work in 15 days and 15 women and complete the same work in 12 days. If all the 10 men and 15 women work together, in how many days will the work get completed?</a:t>
            </a:r>
            <a:endParaRPr dirty="0"/>
          </a:p>
          <a:p>
            <a:pPr marL="0" lvl="0" indent="0" algn="l" rtl="0">
              <a:lnSpc>
                <a:spcPct val="90000"/>
              </a:lnSpc>
              <a:spcBef>
                <a:spcPts val="1000"/>
              </a:spcBef>
              <a:spcAft>
                <a:spcPts val="0"/>
              </a:spcAft>
              <a:buClr>
                <a:schemeClr val="dk1"/>
              </a:buClr>
              <a:buSzPts val="2400"/>
              <a:buNone/>
            </a:pPr>
            <a:r>
              <a:rPr lang="en-US" b="1" dirty="0"/>
              <a:t> (1) 6     (2)  7(2/3)     (3) 6(2/3)      (4) 6(1/3)      (5) None of these</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4" name="Google Shape;224;p2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10 men can complete a piece of work in 15 days and 15 women and complete the same work in 12 days. If all the 10 men and 15 women work together, in how many days will the work get completed?</a:t>
            </a:r>
            <a:endParaRPr dirty="0"/>
          </a:p>
          <a:p>
            <a:pPr marL="0" lvl="0" indent="0" algn="l" rtl="0">
              <a:lnSpc>
                <a:spcPct val="90000"/>
              </a:lnSpc>
              <a:spcBef>
                <a:spcPts val="1000"/>
              </a:spcBef>
              <a:spcAft>
                <a:spcPts val="0"/>
              </a:spcAft>
              <a:buClr>
                <a:schemeClr val="dk1"/>
              </a:buClr>
              <a:buSzPts val="2400"/>
              <a:buNone/>
            </a:pPr>
            <a:r>
              <a:rPr lang="en-US" b="1" dirty="0"/>
              <a:t> (1) 6     (2)  7(2/3)     </a:t>
            </a:r>
            <a:r>
              <a:rPr lang="en-US" b="1" dirty="0">
                <a:solidFill>
                  <a:srgbClr val="FF0000"/>
                </a:solidFill>
              </a:rPr>
              <a:t>(3) 6(2/3)</a:t>
            </a:r>
            <a:r>
              <a:rPr lang="en-US" b="1" dirty="0"/>
              <a:t>      (4) 6(1/3)      (5) None of these</a:t>
            </a:r>
            <a:endParaRPr dirty="0"/>
          </a:p>
        </p:txBody>
      </p:sp>
    </p:spTree>
    <p:extLst>
      <p:ext uri="{BB962C8B-B14F-4D97-AF65-F5344CB8AC3E}">
        <p14:creationId xmlns:p14="http://schemas.microsoft.com/office/powerpoint/2010/main" val="26097174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6" name="Google Shape;236;p2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20. 8 men and 4 boys working together can do 6 times as much work per hour as a man and a boy together. Compare the work of a man with that of a boy.</a:t>
            </a:r>
          </a:p>
          <a:p>
            <a:pPr marL="0" lvl="0" indent="0" algn="l" rtl="0">
              <a:lnSpc>
                <a:spcPct val="90000"/>
              </a:lnSpc>
              <a:spcBef>
                <a:spcPts val="1000"/>
              </a:spcBef>
              <a:spcAft>
                <a:spcPts val="0"/>
              </a:spcAft>
              <a:buClr>
                <a:schemeClr val="dk1"/>
              </a:buClr>
              <a:buSzPts val="2400"/>
              <a:buNone/>
            </a:pPr>
            <a:r>
              <a:rPr lang="en-US" b="1" dirty="0"/>
              <a:t> (1) 2 : 1     (2) 3 : 1       (3) 1 : 1       (4) 1 : 2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6" name="Google Shape;236;p2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20. 8 men and 4 boys working together can do 6 times as much work per hour as a man and a boy together. Compare the work of a man with that of a boy. </a:t>
            </a:r>
          </a:p>
          <a:p>
            <a:pPr marL="0" lvl="0" indent="0" algn="l" rtl="0">
              <a:lnSpc>
                <a:spcPct val="90000"/>
              </a:lnSpc>
              <a:spcBef>
                <a:spcPts val="1000"/>
              </a:spcBef>
              <a:spcAft>
                <a:spcPts val="0"/>
              </a:spcAft>
              <a:buClr>
                <a:schemeClr val="dk1"/>
              </a:buClr>
              <a:buSzPts val="2400"/>
              <a:buNone/>
            </a:pPr>
            <a:r>
              <a:rPr lang="en-US" b="1" dirty="0"/>
              <a:t>(1) 2 : 1 	(2) 3 : 1 	</a:t>
            </a:r>
            <a:r>
              <a:rPr lang="en-US" b="1" dirty="0">
                <a:solidFill>
                  <a:srgbClr val="FF0000"/>
                </a:solidFill>
              </a:rPr>
              <a:t>(3) 1 : 1 </a:t>
            </a:r>
            <a:r>
              <a:rPr lang="en-US" b="1" dirty="0"/>
              <a:t>	(4) 1 : 2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946017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40"/>
        <p:cNvGrpSpPr/>
        <p:nvPr/>
      </p:nvGrpSpPr>
      <p:grpSpPr>
        <a:xfrm>
          <a:off x="0" y="0"/>
          <a:ext cx="0" cy="0"/>
          <a:chOff x="0" y="0"/>
          <a:chExt cx="0" cy="0"/>
        </a:xfrm>
      </p:grpSpPr>
      <p:sp>
        <p:nvSpPr>
          <p:cNvPr id="241" name="Google Shape;241;p2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2" name="Google Shape;242;p2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21. If 3 men or 5 women can reap a field in 43 days, how long will 5 men and 6 women take to reap it? </a:t>
            </a:r>
            <a:endParaRPr dirty="0"/>
          </a:p>
          <a:p>
            <a:pPr marL="0" lvl="0" indent="0" algn="l" rtl="0">
              <a:lnSpc>
                <a:spcPct val="90000"/>
              </a:lnSpc>
              <a:spcBef>
                <a:spcPts val="1000"/>
              </a:spcBef>
              <a:spcAft>
                <a:spcPts val="0"/>
              </a:spcAft>
              <a:buClr>
                <a:schemeClr val="dk1"/>
              </a:buClr>
              <a:buSzPts val="2400"/>
              <a:buNone/>
            </a:pPr>
            <a:r>
              <a:rPr lang="en-US" b="1" dirty="0"/>
              <a:t>(1) 15 days (2) 25 days (3) 18 days (4) 12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40"/>
        <p:cNvGrpSpPr/>
        <p:nvPr/>
      </p:nvGrpSpPr>
      <p:grpSpPr>
        <a:xfrm>
          <a:off x="0" y="0"/>
          <a:ext cx="0" cy="0"/>
          <a:chOff x="0" y="0"/>
          <a:chExt cx="0" cy="0"/>
        </a:xfrm>
      </p:grpSpPr>
      <p:sp>
        <p:nvSpPr>
          <p:cNvPr id="241" name="Google Shape;241;p2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2" name="Google Shape;242;p2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21. If 3 men or 5 women can reap a field in 43 days, how long will 5 men and 6 women take to reap it?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15 days </a:t>
            </a:r>
            <a:r>
              <a:rPr lang="en-US" b="1" dirty="0"/>
              <a:t>(2) 25 days (3) 18 days (4) 12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3998149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4" name="Google Shape;254;p2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22. 2 men or 3 women or 4 boys can do a work in 52 days. Then in how many days will 1 man, 1 woman and 1 boy do the work? </a:t>
            </a:r>
            <a:endParaRPr dirty="0"/>
          </a:p>
          <a:p>
            <a:pPr marL="0" lvl="0" indent="0" algn="l" rtl="0">
              <a:lnSpc>
                <a:spcPct val="90000"/>
              </a:lnSpc>
              <a:spcBef>
                <a:spcPts val="1000"/>
              </a:spcBef>
              <a:spcAft>
                <a:spcPts val="0"/>
              </a:spcAft>
              <a:buClr>
                <a:schemeClr val="dk1"/>
              </a:buClr>
              <a:buSzPts val="2400"/>
              <a:buNone/>
            </a:pPr>
            <a:r>
              <a:rPr lang="en-US" b="1" dirty="0"/>
              <a:t>(1) 24 days (2) 42 days (3) 36 days (4) 48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4" name="Google Shape;254;p2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22. 2 men or 3 women or 4 boys can do a work in 52 days. Then in how many days will 1 man, 1 woman and 1 boy do the work? </a:t>
            </a:r>
            <a:endParaRPr dirty="0"/>
          </a:p>
          <a:p>
            <a:pPr marL="0" lvl="0" indent="0" algn="l" rtl="0">
              <a:lnSpc>
                <a:spcPct val="90000"/>
              </a:lnSpc>
              <a:spcBef>
                <a:spcPts val="1000"/>
              </a:spcBef>
              <a:spcAft>
                <a:spcPts val="0"/>
              </a:spcAft>
              <a:buClr>
                <a:schemeClr val="dk1"/>
              </a:buClr>
              <a:buSzPts val="2400"/>
              <a:buNone/>
            </a:pPr>
            <a:r>
              <a:rPr lang="en-US" b="1" dirty="0"/>
              <a:t>(1) 24 days </a:t>
            </a:r>
            <a:r>
              <a:rPr lang="en-US" b="1" dirty="0">
                <a:solidFill>
                  <a:schemeClr val="tx1"/>
                </a:solidFill>
              </a:rPr>
              <a:t>(2) 42 days </a:t>
            </a:r>
            <a:r>
              <a:rPr lang="en-US" b="1" dirty="0"/>
              <a:t>(3) 36 days </a:t>
            </a:r>
            <a:r>
              <a:rPr lang="en-US" b="1" dirty="0">
                <a:solidFill>
                  <a:srgbClr val="FF0000"/>
                </a:solidFill>
              </a:rPr>
              <a:t>(4) 48 days </a:t>
            </a:r>
            <a:r>
              <a:rPr lang="en-US" b="1" dirty="0"/>
              <a:t>(5)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42920801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6" name="Google Shape;266;p2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23. 1 man or 3 women or 4 boys can do a work in 38 days. Then in how many days will 1 man, 1 woman and 1 boy do the work? </a:t>
            </a:r>
            <a:endParaRPr dirty="0"/>
          </a:p>
          <a:p>
            <a:pPr marL="0" lvl="0" indent="0" algn="l" rtl="0">
              <a:lnSpc>
                <a:spcPct val="90000"/>
              </a:lnSpc>
              <a:spcBef>
                <a:spcPts val="1000"/>
              </a:spcBef>
              <a:spcAft>
                <a:spcPts val="0"/>
              </a:spcAft>
              <a:buClr>
                <a:schemeClr val="dk1"/>
              </a:buClr>
              <a:buSzPts val="2400"/>
              <a:buNone/>
            </a:pPr>
            <a:r>
              <a:rPr lang="en-US" b="1" dirty="0"/>
              <a:t>(1) 24 days (2) 12 days (3) 18 days (4) 36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6" name="Google Shape;266;p2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23. 1 man or 3 women or 4 boys can do a work in 38 days. Then in how many days will 1 man, 1 woman and 1 boy do the work?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24 days </a:t>
            </a:r>
            <a:r>
              <a:rPr lang="en-US" b="1" dirty="0"/>
              <a:t>(2) 12 days (3) 18 days (4) 36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459633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7" name="Google Shape;277;p3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8" name="Google Shape;278;p31"/>
          <p:cNvSpPr txBox="1">
            <a:spLocks noGrp="1"/>
          </p:cNvSpPr>
          <p:nvPr>
            <p:ph type="body" idx="1"/>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A certain number of men can do a work in 45 days. If there were 4 men less it could be finished in 15 days more. How many men are there? </a:t>
            </a:r>
            <a:endParaRPr dirty="0"/>
          </a:p>
          <a:p>
            <a:pPr marL="0" lvl="0" indent="0" algn="l" rtl="0">
              <a:lnSpc>
                <a:spcPct val="90000"/>
              </a:lnSpc>
              <a:spcBef>
                <a:spcPts val="1000"/>
              </a:spcBef>
              <a:spcAft>
                <a:spcPts val="0"/>
              </a:spcAft>
              <a:buClr>
                <a:schemeClr val="dk1"/>
              </a:buClr>
              <a:buSzPts val="2400"/>
              <a:buNone/>
            </a:pPr>
            <a:r>
              <a:rPr lang="en-US" b="1" dirty="0"/>
              <a:t>(1) 28 men (2) 16 men (3) 24 men (4) 20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7" name="Google Shape;277;p3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8" name="Google Shape;278;p31"/>
          <p:cNvSpPr txBox="1">
            <a:spLocks noGrp="1"/>
          </p:cNvSpPr>
          <p:nvPr>
            <p:ph type="body" idx="1"/>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A certain number of men can do a work in 45 days. If there were 4 men less it could be finished in 15 days more. How many men are there? </a:t>
            </a:r>
            <a:endParaRPr dirty="0"/>
          </a:p>
          <a:p>
            <a:pPr marL="0" lvl="0" indent="0" algn="l" rtl="0">
              <a:lnSpc>
                <a:spcPct val="90000"/>
              </a:lnSpc>
              <a:spcBef>
                <a:spcPts val="1000"/>
              </a:spcBef>
              <a:spcAft>
                <a:spcPts val="0"/>
              </a:spcAft>
              <a:buClr>
                <a:schemeClr val="dk1"/>
              </a:buClr>
              <a:buSzPts val="2400"/>
              <a:buNone/>
            </a:pPr>
            <a:r>
              <a:rPr lang="en-US" b="1" dirty="0"/>
              <a:t>(1) 28 men </a:t>
            </a:r>
            <a:r>
              <a:rPr lang="en-US" b="1" dirty="0">
                <a:solidFill>
                  <a:srgbClr val="FF0000"/>
                </a:solidFill>
              </a:rPr>
              <a:t>(2) 16 men </a:t>
            </a:r>
            <a:r>
              <a:rPr lang="en-US" b="1" dirty="0"/>
              <a:t>(3) 24 men (4) 20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27987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4" name="Google Shape;284;p3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25</a:t>
            </a:r>
            <a:r>
              <a:rPr lang="en-US" b="1" dirty="0"/>
              <a:t>. A group of men can do a work in 15 days, but 2 of them became absent. If the rest of the group did the work in 25 days, find the original number of men. (1) 5 men    (2) 4 men    (3) 7 men    (4) 6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4" name="Google Shape;284;p3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25</a:t>
            </a:r>
            <a:r>
              <a:rPr lang="en-US" b="1" dirty="0"/>
              <a:t>. A group of men can do a work in 15 days, but 2 of them became absent. If the rest of the group did the work in 25 days, find the original number of men. </a:t>
            </a:r>
            <a:r>
              <a:rPr lang="en-US" b="1" dirty="0">
                <a:solidFill>
                  <a:srgbClr val="FF0000"/>
                </a:solidFill>
              </a:rPr>
              <a:t>(1) 5 men    </a:t>
            </a:r>
            <a:r>
              <a:rPr lang="en-US" b="1" dirty="0"/>
              <a:t>(2) 4 men    (3) 7 men    (4) 6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3729271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288"/>
        <p:cNvGrpSpPr/>
        <p:nvPr/>
      </p:nvGrpSpPr>
      <p:grpSpPr>
        <a:xfrm>
          <a:off x="0" y="0"/>
          <a:ext cx="0" cy="0"/>
          <a:chOff x="0" y="0"/>
          <a:chExt cx="0" cy="0"/>
        </a:xfrm>
      </p:grpSpPr>
      <p:sp>
        <p:nvSpPr>
          <p:cNvPr id="289" name="Google Shape;289;p3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0" name="Google Shape;290;p3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26</a:t>
            </a:r>
            <a:r>
              <a:rPr lang="en-US" b="1" dirty="0"/>
              <a:t>. A certain number of men can do a work in 50 days. If there were 3 men more it could be finished in 5 days less. How many men are there? </a:t>
            </a:r>
            <a:endParaRPr dirty="0"/>
          </a:p>
          <a:p>
            <a:pPr marL="0" lvl="0" indent="0" algn="l" rtl="0">
              <a:lnSpc>
                <a:spcPct val="90000"/>
              </a:lnSpc>
              <a:spcBef>
                <a:spcPts val="1000"/>
              </a:spcBef>
              <a:spcAft>
                <a:spcPts val="0"/>
              </a:spcAft>
              <a:buClr>
                <a:schemeClr val="dk1"/>
              </a:buClr>
              <a:buSzPts val="2400"/>
              <a:buNone/>
            </a:pPr>
            <a:r>
              <a:rPr lang="en-US" b="1" dirty="0"/>
              <a:t>(1) 36 men (2) 18 men (3) 27 men (4) 30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288"/>
        <p:cNvGrpSpPr/>
        <p:nvPr/>
      </p:nvGrpSpPr>
      <p:grpSpPr>
        <a:xfrm>
          <a:off x="0" y="0"/>
          <a:ext cx="0" cy="0"/>
          <a:chOff x="0" y="0"/>
          <a:chExt cx="0" cy="0"/>
        </a:xfrm>
      </p:grpSpPr>
      <p:sp>
        <p:nvSpPr>
          <p:cNvPr id="289" name="Google Shape;289;p3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0" name="Google Shape;290;p3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26</a:t>
            </a:r>
            <a:r>
              <a:rPr lang="en-US" b="1" dirty="0"/>
              <a:t>. A certain number of men can do a work in 50 days. If there were 3 men more it could be finished in 5 days less. How many men are there? </a:t>
            </a:r>
            <a:endParaRPr dirty="0"/>
          </a:p>
          <a:p>
            <a:pPr marL="0" lvl="0" indent="0" algn="l" rtl="0">
              <a:lnSpc>
                <a:spcPct val="90000"/>
              </a:lnSpc>
              <a:spcBef>
                <a:spcPts val="1000"/>
              </a:spcBef>
              <a:spcAft>
                <a:spcPts val="0"/>
              </a:spcAft>
              <a:buClr>
                <a:schemeClr val="dk1"/>
              </a:buClr>
              <a:buSzPts val="2400"/>
              <a:buNone/>
            </a:pPr>
            <a:r>
              <a:rPr lang="en-US" b="1" dirty="0"/>
              <a:t>(1) 36 men (2) 18 men </a:t>
            </a:r>
            <a:r>
              <a:rPr lang="en-US" b="1" dirty="0">
                <a:solidFill>
                  <a:srgbClr val="FF0000"/>
                </a:solidFill>
              </a:rPr>
              <a:t>(3) 27 men </a:t>
            </a:r>
            <a:r>
              <a:rPr lang="en-US" b="1" dirty="0"/>
              <a:t>(4) 30 men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42467373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6" name="Google Shape;296;p3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27</a:t>
            </a:r>
            <a:r>
              <a:rPr lang="en-US" b="1" dirty="0"/>
              <a:t>. A builder decided to build a farmhouse in 45 days. He employed 150 men in the beginning and 120 more after 30 days and completed the construction in stipulated time. If he had not employed the additional men, how many days behind schedule would it have been finished? </a:t>
            </a:r>
            <a:endParaRPr dirty="0"/>
          </a:p>
          <a:p>
            <a:pPr marL="0" lvl="0" indent="0" algn="l" rtl="0">
              <a:lnSpc>
                <a:spcPct val="90000"/>
              </a:lnSpc>
              <a:spcBef>
                <a:spcPts val="1000"/>
              </a:spcBef>
              <a:spcAft>
                <a:spcPts val="0"/>
              </a:spcAft>
              <a:buClr>
                <a:schemeClr val="dk1"/>
              </a:buClr>
              <a:buSzPts val="2400"/>
              <a:buNone/>
            </a:pPr>
            <a:r>
              <a:rPr lang="en-US" b="1" dirty="0"/>
              <a:t>(1) 12 days (2) 10 days (3) 15 days (4) 8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6" name="Google Shape;296;p3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27</a:t>
            </a:r>
            <a:r>
              <a:rPr lang="en-US" b="1" dirty="0"/>
              <a:t>. A builder decided to build a farmhouse in 45 days. He employed 150 men in the beginning and 120 more after 30 days and completed the construction in stipulated time. If he had not employed the additional men, how many days behind schedule would it have been finished? </a:t>
            </a:r>
            <a:endParaRPr dirty="0"/>
          </a:p>
          <a:p>
            <a:pPr marL="0" lvl="0" indent="0" algn="l" rtl="0">
              <a:lnSpc>
                <a:spcPct val="90000"/>
              </a:lnSpc>
              <a:spcBef>
                <a:spcPts val="1000"/>
              </a:spcBef>
              <a:spcAft>
                <a:spcPts val="0"/>
              </a:spcAft>
              <a:buClr>
                <a:schemeClr val="dk1"/>
              </a:buClr>
              <a:buSzPts val="2400"/>
              <a:buNone/>
            </a:pPr>
            <a:r>
              <a:rPr lang="en-US" b="1" dirty="0">
                <a:solidFill>
                  <a:srgbClr val="FF0000"/>
                </a:solidFill>
              </a:rPr>
              <a:t>(1) 12 days </a:t>
            </a:r>
            <a:r>
              <a:rPr lang="en-US" b="1" dirty="0"/>
              <a:t>(2) 10 days (3) 15 days (4) 8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39461565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300"/>
        <p:cNvGrpSpPr/>
        <p:nvPr/>
      </p:nvGrpSpPr>
      <p:grpSpPr>
        <a:xfrm>
          <a:off x="0" y="0"/>
          <a:ext cx="0" cy="0"/>
          <a:chOff x="0" y="0"/>
          <a:chExt cx="0" cy="0"/>
        </a:xfrm>
      </p:grpSpPr>
      <p:sp>
        <p:nvSpPr>
          <p:cNvPr id="301" name="Google Shape;301;p3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2" name="Google Shape;302;p3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28</a:t>
            </a:r>
            <a:r>
              <a:rPr lang="en-US" b="1" dirty="0"/>
              <a:t>. There is a sufficient food for 300 men for 32 days. After 29 days, 210 men leave the place. For how many days will the rest of the food last for the rest of the men? </a:t>
            </a:r>
            <a:endParaRPr dirty="0"/>
          </a:p>
          <a:p>
            <a:pPr marL="0" lvl="0" indent="0" algn="l" rtl="0">
              <a:lnSpc>
                <a:spcPct val="90000"/>
              </a:lnSpc>
              <a:spcBef>
                <a:spcPts val="1000"/>
              </a:spcBef>
              <a:spcAft>
                <a:spcPts val="0"/>
              </a:spcAft>
              <a:buClr>
                <a:schemeClr val="dk1"/>
              </a:buClr>
              <a:buSzPts val="2400"/>
              <a:buNone/>
            </a:pPr>
            <a:r>
              <a:rPr lang="en-US" b="1" dirty="0"/>
              <a:t>(1) 12 days (2) 14 days (3) 15 days (4) 10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300"/>
        <p:cNvGrpSpPr/>
        <p:nvPr/>
      </p:nvGrpSpPr>
      <p:grpSpPr>
        <a:xfrm>
          <a:off x="0" y="0"/>
          <a:ext cx="0" cy="0"/>
          <a:chOff x="0" y="0"/>
          <a:chExt cx="0" cy="0"/>
        </a:xfrm>
      </p:grpSpPr>
      <p:sp>
        <p:nvSpPr>
          <p:cNvPr id="301" name="Google Shape;301;p3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2" name="Google Shape;302;p3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28</a:t>
            </a:r>
            <a:r>
              <a:rPr lang="en-US" b="1" dirty="0"/>
              <a:t>. There is a sufficient food for 300 men for 32 days. After 29 days, 210 men leave the place. For how many days will the rest of the food last for the rest of the men? </a:t>
            </a:r>
            <a:endParaRPr dirty="0"/>
          </a:p>
          <a:p>
            <a:pPr marL="0" lvl="0" indent="0" algn="l" rtl="0">
              <a:lnSpc>
                <a:spcPct val="90000"/>
              </a:lnSpc>
              <a:spcBef>
                <a:spcPts val="1000"/>
              </a:spcBef>
              <a:spcAft>
                <a:spcPts val="0"/>
              </a:spcAft>
              <a:buClr>
                <a:schemeClr val="dk1"/>
              </a:buClr>
              <a:buSzPts val="2400"/>
              <a:buNone/>
            </a:pPr>
            <a:r>
              <a:rPr lang="en-US" b="1" dirty="0"/>
              <a:t>(1) 12 days (2) 14 days (3) 15 days </a:t>
            </a:r>
            <a:r>
              <a:rPr lang="en-US" b="1" dirty="0">
                <a:solidFill>
                  <a:srgbClr val="FF0000"/>
                </a:solidFill>
              </a:rPr>
              <a:t>(4) 10 days </a:t>
            </a:r>
            <a:r>
              <a:rPr lang="en-US" b="1" dirty="0"/>
              <a:t>(5)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2629981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306"/>
        <p:cNvGrpSpPr/>
        <p:nvPr/>
      </p:nvGrpSpPr>
      <p:grpSpPr>
        <a:xfrm>
          <a:off x="0" y="0"/>
          <a:ext cx="0" cy="0"/>
          <a:chOff x="0" y="0"/>
          <a:chExt cx="0" cy="0"/>
        </a:xfrm>
      </p:grpSpPr>
      <p:sp>
        <p:nvSpPr>
          <p:cNvPr id="307" name="Google Shape;307;p3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8" name="Google Shape;308;p3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29</a:t>
            </a:r>
            <a:r>
              <a:rPr lang="en-US" b="1" dirty="0"/>
              <a:t>. There is a sufficient food for 150 men for 15 days. After 10 days, 75 men leave the place. For how many days will the rest of the food last for the rest of the men? </a:t>
            </a:r>
            <a:endParaRPr dirty="0"/>
          </a:p>
          <a:p>
            <a:pPr marL="0" lvl="0" indent="0" algn="l" rtl="0">
              <a:lnSpc>
                <a:spcPct val="90000"/>
              </a:lnSpc>
              <a:spcBef>
                <a:spcPts val="1000"/>
              </a:spcBef>
              <a:spcAft>
                <a:spcPts val="0"/>
              </a:spcAft>
              <a:buClr>
                <a:schemeClr val="dk1"/>
              </a:buClr>
              <a:buSzPts val="2400"/>
              <a:buNone/>
            </a:pPr>
            <a:r>
              <a:rPr lang="en-US" b="1" dirty="0"/>
              <a:t>(1) 10 days (2) 8 days (3) 5 days (4) 15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a:p>
            <a:pPr marL="0" lvl="0" indent="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306"/>
        <p:cNvGrpSpPr/>
        <p:nvPr/>
      </p:nvGrpSpPr>
      <p:grpSpPr>
        <a:xfrm>
          <a:off x="0" y="0"/>
          <a:ext cx="0" cy="0"/>
          <a:chOff x="0" y="0"/>
          <a:chExt cx="0" cy="0"/>
        </a:xfrm>
      </p:grpSpPr>
      <p:sp>
        <p:nvSpPr>
          <p:cNvPr id="307" name="Google Shape;307;p3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8" name="Google Shape;308;p3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29</a:t>
            </a:r>
            <a:r>
              <a:rPr lang="en-US" b="1" dirty="0"/>
              <a:t>. There is a sufficient food for 150 men for 15 days. After 10 days, 75 men leave the place. For how many days will the rest of the food last for the rest of the men? </a:t>
            </a:r>
            <a:endParaRPr dirty="0"/>
          </a:p>
          <a:p>
            <a:pPr marL="0" lvl="0" indent="0" algn="l" rtl="0">
              <a:lnSpc>
                <a:spcPct val="90000"/>
              </a:lnSpc>
              <a:spcBef>
                <a:spcPts val="1000"/>
              </a:spcBef>
              <a:spcAft>
                <a:spcPts val="0"/>
              </a:spcAft>
              <a:buClr>
                <a:schemeClr val="dk1"/>
              </a:buClr>
              <a:buSzPts val="2400"/>
              <a:buNone/>
            </a:pPr>
            <a:r>
              <a:rPr lang="en-US" b="1" dirty="0"/>
              <a:t>(</a:t>
            </a:r>
            <a:r>
              <a:rPr lang="en-US" b="1" dirty="0">
                <a:solidFill>
                  <a:srgbClr val="FF0000"/>
                </a:solidFill>
              </a:rPr>
              <a:t>1) 10 days </a:t>
            </a:r>
            <a:r>
              <a:rPr lang="en-US" b="1" dirty="0"/>
              <a:t>(2) 8 days (3) 5 days (4) 15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a:p>
            <a:pPr marL="0" lvl="0" indent="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3437016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3" name="Google Shape;313;p3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4" name="Google Shape;314;p3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30</a:t>
            </a:r>
            <a:r>
              <a:rPr lang="en-US" b="1" dirty="0"/>
              <a:t>. A team of 20 men is supposed to do a work in 30 days. After 12 days, 5 more men were employed and the work finished 2 days earlier. In how many days would it have been finished if 5 more men were not employed? </a:t>
            </a:r>
            <a:endParaRPr dirty="0"/>
          </a:p>
          <a:p>
            <a:pPr marL="0" lvl="0" indent="0" algn="l" rtl="0">
              <a:lnSpc>
                <a:spcPct val="90000"/>
              </a:lnSpc>
              <a:spcBef>
                <a:spcPts val="1000"/>
              </a:spcBef>
              <a:spcAft>
                <a:spcPts val="0"/>
              </a:spcAft>
              <a:buClr>
                <a:schemeClr val="dk1"/>
              </a:buClr>
              <a:buSzPts val="2400"/>
              <a:buNone/>
            </a:pPr>
            <a:r>
              <a:rPr lang="en-US" b="1" dirty="0"/>
              <a:t>(1) 30 days (2) 28 days (3) 32 days (4) 34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3" name="Google Shape;313;p3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4" name="Google Shape;314;p3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30</a:t>
            </a:r>
            <a:r>
              <a:rPr lang="en-US" b="1" dirty="0"/>
              <a:t>. A team of 20 men is supposed to do a work in 30 days. After 12 days, 5 more men were employed and the work finished 2 days earlier. In how many days would it have been finished if 5 more men were not employed? </a:t>
            </a:r>
            <a:endParaRPr dirty="0"/>
          </a:p>
          <a:p>
            <a:pPr marL="0" lvl="0" indent="0" algn="l" rtl="0">
              <a:lnSpc>
                <a:spcPct val="90000"/>
              </a:lnSpc>
              <a:spcBef>
                <a:spcPts val="1000"/>
              </a:spcBef>
              <a:spcAft>
                <a:spcPts val="0"/>
              </a:spcAft>
              <a:buClr>
                <a:schemeClr val="dk1"/>
              </a:buClr>
              <a:buSzPts val="2400"/>
              <a:buNone/>
            </a:pPr>
            <a:r>
              <a:rPr lang="en-US" b="1" dirty="0"/>
              <a:t>(1) 30 days (2) 28 days </a:t>
            </a:r>
            <a:r>
              <a:rPr lang="en-US" b="1" dirty="0">
                <a:solidFill>
                  <a:srgbClr val="FF0000"/>
                </a:solidFill>
              </a:rPr>
              <a:t>(3) 32 days </a:t>
            </a:r>
            <a:r>
              <a:rPr lang="en-US" b="1" dirty="0"/>
              <a:t>(4) 34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b="1" dirty="0"/>
          </a:p>
        </p:txBody>
      </p:sp>
    </p:spTree>
    <p:extLst>
      <p:ext uri="{BB962C8B-B14F-4D97-AF65-F5344CB8AC3E}">
        <p14:creationId xmlns:p14="http://schemas.microsoft.com/office/powerpoint/2010/main" val="16301954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p3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20" name="Google Shape;320;p3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31</a:t>
            </a:r>
            <a:r>
              <a:rPr lang="en-US" b="1" dirty="0"/>
              <a:t>. 30 men, working 4 hours a day can do a piece of work in 10 days. Find the number of days in which 45 men working 8 hrs. a day can do twice the work. Assume that 2 men of the first group do as much work in 2 hour as 4 men of the second group do in 1 hr. </a:t>
            </a:r>
            <a:endParaRPr dirty="0"/>
          </a:p>
          <a:p>
            <a:pPr marL="0" lvl="0" indent="0" algn="l" rtl="0">
              <a:lnSpc>
                <a:spcPct val="90000"/>
              </a:lnSpc>
              <a:spcBef>
                <a:spcPts val="1000"/>
              </a:spcBef>
              <a:spcAft>
                <a:spcPts val="0"/>
              </a:spcAft>
              <a:buClr>
                <a:schemeClr val="dk1"/>
              </a:buClr>
              <a:buSzPts val="2400"/>
              <a:buNone/>
            </a:pPr>
            <a:r>
              <a:rPr lang="en-US" b="1" dirty="0"/>
              <a:t>(1) 6(1/3) days (2) 6(2/3) days (3) 5(3/6) days (4) 3(1/6)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p3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20" name="Google Shape;320;p3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TIME AND WORK</a:t>
            </a:r>
            <a:endParaRPr dirty="0"/>
          </a:p>
          <a:p>
            <a:pPr marL="0" lvl="0" indent="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31</a:t>
            </a:r>
            <a:r>
              <a:rPr lang="en-US" b="1" dirty="0"/>
              <a:t>. 30 men, working 4 hours a day can do a piece of work in 10 days. Find the number of days in which 45 men working 8 hrs. a day can do twice the work. Assume that 2 men of the first group do as much work in 2 hour as 4 men of the second group do in 1 hr. </a:t>
            </a:r>
            <a:endParaRPr dirty="0"/>
          </a:p>
          <a:p>
            <a:pPr marL="0" lvl="0" indent="0" algn="l" rtl="0">
              <a:lnSpc>
                <a:spcPct val="90000"/>
              </a:lnSpc>
              <a:spcBef>
                <a:spcPts val="1000"/>
              </a:spcBef>
              <a:spcAft>
                <a:spcPts val="0"/>
              </a:spcAft>
              <a:buClr>
                <a:schemeClr val="dk1"/>
              </a:buClr>
              <a:buSzPts val="2400"/>
              <a:buNone/>
            </a:pPr>
            <a:r>
              <a:rPr lang="en-US" b="1" dirty="0"/>
              <a:t>(1) 6(1/3) days </a:t>
            </a:r>
            <a:r>
              <a:rPr lang="en-US" b="1" dirty="0">
                <a:solidFill>
                  <a:srgbClr val="FF0000"/>
                </a:solidFill>
              </a:rPr>
              <a:t>(2) 6(2/3) days </a:t>
            </a:r>
            <a:r>
              <a:rPr lang="en-US" b="1" dirty="0"/>
              <a:t>(3) 5(3/6) days (4) 3(1/6) days (5) None of these</a:t>
            </a:r>
            <a:endParaRPr dirty="0"/>
          </a:p>
          <a:p>
            <a:pPr marL="0" lvl="0" indent="0" algn="l" rtl="0">
              <a:lnSpc>
                <a:spcPct val="90000"/>
              </a:lnSpc>
              <a:spcBef>
                <a:spcPts val="1000"/>
              </a:spcBef>
              <a:spcAft>
                <a:spcPts val="0"/>
              </a:spcAft>
              <a:buClr>
                <a:schemeClr val="dk1"/>
              </a:buClr>
              <a:buSzPts val="2400"/>
              <a:buNone/>
            </a:pPr>
            <a:br>
              <a:rPr lang="en-US" dirty="0"/>
            </a:br>
            <a:endParaRPr dirty="0"/>
          </a:p>
          <a:p>
            <a:pPr marL="228600" lvl="0" indent="-228600" algn="l" rtl="0">
              <a:lnSpc>
                <a:spcPct val="90000"/>
              </a:lnSpc>
              <a:spcBef>
                <a:spcPts val="10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400"/>
              <a:buNone/>
            </a:pPr>
            <a:endParaRPr dirty="0"/>
          </a:p>
        </p:txBody>
      </p:sp>
    </p:spTree>
    <p:extLst>
      <p:ext uri="{BB962C8B-B14F-4D97-AF65-F5344CB8AC3E}">
        <p14:creationId xmlns:p14="http://schemas.microsoft.com/office/powerpoint/2010/main" val="29082854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324"/>
        <p:cNvGrpSpPr/>
        <p:nvPr/>
      </p:nvGrpSpPr>
      <p:grpSpPr>
        <a:xfrm>
          <a:off x="0" y="0"/>
          <a:ext cx="0" cy="0"/>
          <a:chOff x="0" y="0"/>
          <a:chExt cx="0" cy="0"/>
        </a:xfrm>
      </p:grpSpPr>
      <p:sp>
        <p:nvSpPr>
          <p:cNvPr id="325" name="Google Shape;325;p3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326" name="Google Shape;326;p39"/>
          <p:cNvSpPr txBox="1">
            <a:spLocks noGrp="1"/>
          </p:cNvSpPr>
          <p:nvPr>
            <p:ph type="body" idx="1"/>
          </p:nvPr>
        </p:nvSpPr>
        <p:spPr>
          <a:xfrm>
            <a:off x="304800" y="1185333"/>
            <a:ext cx="115824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b="1" dirty="0">
              <a:latin typeface="Arial Black"/>
              <a:ea typeface="Arial Black"/>
              <a:cs typeface="Arial Black"/>
              <a:sym typeface="Arial Black"/>
            </a:endParaRPr>
          </a:p>
          <a:p>
            <a:pPr marL="0" lvl="0" indent="0" algn="ctr" rtl="0">
              <a:lnSpc>
                <a:spcPct val="90000"/>
              </a:lnSpc>
              <a:spcBef>
                <a:spcPts val="1000"/>
              </a:spcBef>
              <a:spcAft>
                <a:spcPts val="0"/>
              </a:spcAft>
              <a:buClr>
                <a:schemeClr val="dk1"/>
              </a:buClr>
              <a:buSzPts val="6600"/>
              <a:buNone/>
            </a:pPr>
            <a:endParaRPr sz="6600" b="1" dirty="0">
              <a:latin typeface="Arial Black"/>
              <a:ea typeface="Arial Black"/>
              <a:cs typeface="Arial Black"/>
              <a:sym typeface="Arial Black"/>
            </a:endParaRPr>
          </a:p>
          <a:p>
            <a:pPr marL="0" lvl="0" indent="0" algn="ctr" rtl="0">
              <a:lnSpc>
                <a:spcPct val="90000"/>
              </a:lnSpc>
              <a:spcBef>
                <a:spcPts val="1000"/>
              </a:spcBef>
              <a:spcAft>
                <a:spcPts val="0"/>
              </a:spcAft>
              <a:buClr>
                <a:schemeClr val="dk1"/>
              </a:buClr>
              <a:buSzPts val="6600"/>
              <a:buNone/>
            </a:pPr>
            <a:r>
              <a:rPr lang="en-US" sz="6600" b="1" dirty="0">
                <a:solidFill>
                  <a:srgbClr val="FF0000"/>
                </a:solidFill>
                <a:latin typeface="Arial Black"/>
                <a:ea typeface="Arial Black"/>
                <a:cs typeface="Arial Black"/>
                <a:sym typeface="Arial Black"/>
              </a:rPr>
              <a:t>THANK YOU </a:t>
            </a:r>
            <a:endParaRPr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TotalTime>
  <Words>5397</Words>
  <Application>Microsoft Office PowerPoint</Application>
  <PresentationFormat>Widescreen</PresentationFormat>
  <Paragraphs>348</Paragraphs>
  <Slides>68</Slides>
  <Notes>68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Wingdings</vt:lpstr>
      <vt:lpstr>Arial</vt:lpstr>
      <vt:lpstr>Arial Black</vt:lpstr>
      <vt:lpstr>Calibri</vt:lpstr>
      <vt:lpstr>Office Theme</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raj singh</cp:lastModifiedBy>
  <cp:revision>21</cp:revision>
  <dcterms:created xsi:type="dcterms:W3CDTF">2020-02-23T06:37:57Z</dcterms:created>
  <dcterms:modified xsi:type="dcterms:W3CDTF">2025-06-03T07:47:29Z</dcterms:modified>
</cp:coreProperties>
</file>