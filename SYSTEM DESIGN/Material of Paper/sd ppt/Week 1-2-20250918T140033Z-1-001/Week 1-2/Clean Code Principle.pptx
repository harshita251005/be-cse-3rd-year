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iK4+lpovMHMEAUJpSUuUtiI20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C2CBAF-4B38-46D7-BF18-18909698B54F}">
  <a:tblStyle styleId="{95C2CBAF-4B38-46D7-BF18-18909698B54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9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9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9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9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8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8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8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8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50138" y="6477399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247574" y="2518121"/>
            <a:ext cx="112933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Design Characteristics: Clean Code Principles, CI/CD Pipelines</a:t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407569" y="4943289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663488" y="4420438"/>
            <a:ext cx="353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Design(SD)(22CS024)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119419" y="398593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Principles</a:t>
            </a:r>
            <a:b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61702" y="1404627"/>
            <a:ext cx="12292149" cy="542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is more than just correct code — it's readable, maintainable, and elegant.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Prioritizes clarity so that others (and your future self) can understand it easily.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Avoids unnecessary complexity; focuses on doing one thing well.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consistent formatting, meaningful naming, and modular design.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is structured to accommodate changes with minimal risk.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Aligns with industry conventions like SOLID principles, DRY, and KISS.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for teams to work on, debug, and extend collaboratively.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Well-written code often reduces the need for excessive comments.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a developer’s discipline, thought process, and respect for the next coder.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274131" y="1483273"/>
            <a:ext cx="13782100" cy="4821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Maintainability: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is inherently easier to maintain and update, reducing the time and resources needed for future modifications.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Readability: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is easy for new developers to understand and contribute to a project without a steep learning curve.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Efficiency: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Well-organized codebases are less prone to bugs and issues, facilitating a smoother development process and quicker troubleshooting.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Collaboration: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principles encourage practices that make collaborative work more seamless, allowing teams to work more effectively together.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319490" y="347159"/>
            <a:ext cx="716497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Clean Code Important?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287384" y="0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Principles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499654" y="1286933"/>
            <a:ext cx="12550139" cy="60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Meaningful Names: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descriptive, specific names for variables, functions, and classes that clearly convey their purpose.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It Simple, Stupid (KISS):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unnecessary complexity. Aim for simplicity in your solutions.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Repeat Yourself (DRY):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duplication in your codebase to ensure that every piece of knowledge has a single, unambiguous representation.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Responsibility Principle (SRP):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module, class, or function should have one reason to change, encapsulating a single responsibility.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Readability Over Cleverness: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should be straightforward and easy to read rather than overly clever or complex.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247014" y="449322"/>
            <a:ext cx="7166472" cy="442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Write Clean Code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413218" y="1332620"/>
            <a:ext cx="13503926" cy="422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clean code is an iterative process that involves constant refinement and adherence to best practices. Following points must be kept in mind: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 Regularly: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and refine your code to improve its structure and readability.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 Style Guidelines: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Adhere to your language’s style guidelines and conventions for formatting and structuring your code.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Reviews: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Participate in code reviews to receive feedback and learn from others’ approaches to problem-solving.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222070" y="13063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Code Best Practices</a:t>
            </a:r>
            <a:b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450197" y="1424799"/>
            <a:ext cx="12325120" cy="4821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further embed clean code principles in development process, consider these best practices: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Unit Tests: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your code is testable and covered by unit tests to maintain functionality and prevent regressions.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Thoughtfully: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clean code should be self-explanatory, judicious use of comments can clarify complex logic or decisions.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Version Control Wisely: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 version control systems to manage changes and collaborate more effectively with others.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681104" y="1448388"/>
            <a:ext cx="12734449" cy="4221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the cleanliness of your code is a continuous journey. Here are some tips to guide you along the way: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Small: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improving one aspect of your code at a time.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from the Masters: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code from experienced developers and open-source projects to see clean code principles.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Practice, Practice, Practice: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any skill, writing clean code gets easier with practice. Challenge yourself with new problems and projects.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173083" y="192515"/>
            <a:ext cx="9258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Tips to Write Cleaner Code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216911" y="281541"/>
            <a:ext cx="82739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CI/CD Pipeline</a:t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365760" y="1181766"/>
            <a:ext cx="13327687" cy="542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CI/CD is a DevOps strategy that automates software development and deployment.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and automates every stage—from coding to testing to deployment.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Integration (CI)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Developers frequently merge code into a shared repository.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tests run on each change to ensure quality and detect issues early.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Delivery (CD)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Automates application release processes.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software can be deployed to production at any time with minimal manual intervention.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Teams work on a single codebase with automated pipelines for consistency.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n overview of a CI/CD pipeline."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987216"/>
            <a:ext cx="13284926" cy="7439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/>
          <p:nvPr/>
        </p:nvSpPr>
        <p:spPr>
          <a:xfrm>
            <a:off x="282226" y="216227"/>
            <a:ext cx="82739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CI/CD Pipeline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119419" y="124661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/>
            </a:b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Continuous Integration</a:t>
            </a:r>
            <a:br>
              <a:rPr b="1" lang="en-US"/>
            </a:br>
            <a:endParaRPr/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313509" y="1581002"/>
            <a:ext cx="13300336" cy="3970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 automates the build and testing process whenever developers commit code to version control.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Repository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All developers merge changes—big or small—into a central branch regularly (main/trunk).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Pipeline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Triggered with every commit.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the latest code, runs tests, and validates integrity.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158519" y="51995"/>
            <a:ext cx="716497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Continuous Integration</a:t>
            </a:r>
            <a:endParaRPr/>
          </a:p>
        </p:txBody>
      </p:sp>
      <p:sp>
        <p:nvSpPr>
          <p:cNvPr id="130" name="Google Shape;130;p11"/>
          <p:cNvSpPr txBox="1"/>
          <p:nvPr/>
        </p:nvSpPr>
        <p:spPr>
          <a:xfrm>
            <a:off x="643344" y="1315776"/>
            <a:ext cx="12291231" cy="6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1D16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 and Easier Code Changes: ‍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every code change being pushed to version control immediately, the CI/CD pipeline has to deal with smaller code changes and integrations at a time.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Debugging</a:t>
            </a:r>
            <a:b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‍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CI-based pipeline facilitates fault isolation AKA the practice of formulating systems in which errors lead to limited negative consequences. 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Product Releases</a:t>
            </a:r>
            <a:b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CI-powered pipeline is a continuously moving system in which failures are detected and debugged faster. 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Lighter Backlog</a:t>
            </a:r>
            <a:b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explained above, CI enables quicker bug identification and debugging, all within the early testing stages of code changes and integration. 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Transparency and Accountability</a:t>
            </a:r>
            <a:b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‍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code commits lead to immediate and frequent feedback from the automated system as well as the team. </a:t>
            </a:r>
            <a:endParaRPr b="0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0" y="329437"/>
            <a:ext cx="933835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Deployment 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300445" y="958047"/>
            <a:ext cx="13550504" cy="6971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Deployment is the next step after Continuous Delivery—automatically releases code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production.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Automated Release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manual approvals needed.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is deployed directly once it passes all pipeline checks.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Test-Driven Automation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depends on a series of pre-defined, automated tests.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only stable, tested code reaches production.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Human Intervention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delays from manual gatekeeping.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release speed and reliability.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421277" y="381689"/>
            <a:ext cx="716497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Continuous Deployment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653142" y="1502053"/>
            <a:ext cx="8913017" cy="4821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delivery of new features and fixes.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time-to-market.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and repeatable deployments.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user feedback from live environments.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Fit For: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Teams with mature testing practices.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 requiring frequent updates or continuous innovation.</a:t>
            </a:r>
            <a:endParaRPr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0" name="Google Shape;150;p14"/>
          <p:cNvGraphicFramePr/>
          <p:nvPr/>
        </p:nvGraphicFramePr>
        <p:xfrm>
          <a:off x="872718" y="15735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{95C2CBAF-4B38-46D7-BF18-18909698B54F}</a:tableStyleId>
              </a:tblPr>
              <a:tblGrid>
                <a:gridCol w="4067725"/>
                <a:gridCol w="4067725"/>
                <a:gridCol w="4067725"/>
              </a:tblGrid>
              <a:tr h="44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Aspect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Continuous Delivery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Continuous Deployment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Automation Level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is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built, tested, and made ready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production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is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automatically released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production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Approval Required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approval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(by Dev, PM, or Team Lead) is required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manual approval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needed; fully automated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Deployment Trigger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Release is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manually triggered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after validation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Deployment is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triggered automatically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post-validation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Suitable when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and oversight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are priorities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Suitable when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 and rapid feedback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are essential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Tooling &amp; Maturity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automation and checks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mature CI/CD pipeline with robust testing and rollback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Management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Easier to manage risks via staged rollouts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strong </a:t>
                      </a: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rollback &amp; monitoring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strategies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4"/>
          <p:cNvSpPr txBox="1"/>
          <p:nvPr/>
        </p:nvSpPr>
        <p:spPr>
          <a:xfrm>
            <a:off x="251459" y="321964"/>
            <a:ext cx="85137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Delivery vs Continuous Deployment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509452" y="1717410"/>
            <a:ext cx="8964313" cy="4221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Commit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Developer pushes code to the repository.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Code is compiled and packaged automatically.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Merged into shared branch, resolving conflicts.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Automated Testing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Unit, integration, and UI tests run.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Deployment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Code is deployed to staging or production.</a:t>
            </a:r>
            <a:endParaRPr/>
          </a:p>
          <a:p>
            <a:pPr indent="-1651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Monitoring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Performance and errors are continuously tracked.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264522" y="329438"/>
            <a:ext cx="716497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Flow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369026" y="420877"/>
            <a:ext cx="716497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CI/CD Tools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525781" y="1462163"/>
            <a:ext cx="11126288" cy="377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D16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Management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Ansible, Puppet, Chef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D16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Management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GitHub, GitLab, BitBucket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D16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Jenkins, Bamboo, TeamCity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D16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Selenium, JUnit, SonarQube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1D16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 Argo, Spinnaker, Octopus Deploy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153297" y="3253820"/>
            <a:ext cx="37686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