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377" r:id="rId2"/>
    <p:sldId id="324" r:id="rId3"/>
    <p:sldId id="348" r:id="rId4"/>
    <p:sldId id="347" r:id="rId5"/>
    <p:sldId id="349" r:id="rId6"/>
    <p:sldId id="339" r:id="rId7"/>
    <p:sldId id="350" r:id="rId8"/>
    <p:sldId id="311" r:id="rId9"/>
    <p:sldId id="351" r:id="rId10"/>
    <p:sldId id="312" r:id="rId11"/>
    <p:sldId id="352" r:id="rId12"/>
    <p:sldId id="319" r:id="rId13"/>
    <p:sldId id="353" r:id="rId14"/>
    <p:sldId id="310" r:id="rId15"/>
    <p:sldId id="354" r:id="rId16"/>
    <p:sldId id="314" r:id="rId17"/>
    <p:sldId id="356" r:id="rId18"/>
    <p:sldId id="315" r:id="rId19"/>
    <p:sldId id="357" r:id="rId20"/>
    <p:sldId id="316" r:id="rId21"/>
    <p:sldId id="358" r:id="rId22"/>
    <p:sldId id="325" r:id="rId23"/>
    <p:sldId id="360" r:id="rId24"/>
    <p:sldId id="320" r:id="rId25"/>
    <p:sldId id="361" r:id="rId26"/>
    <p:sldId id="321" r:id="rId27"/>
    <p:sldId id="362" r:id="rId28"/>
    <p:sldId id="322" r:id="rId29"/>
    <p:sldId id="363" r:id="rId30"/>
    <p:sldId id="327" r:id="rId31"/>
    <p:sldId id="365" r:id="rId32"/>
    <p:sldId id="337" r:id="rId33"/>
    <p:sldId id="366" r:id="rId34"/>
    <p:sldId id="328" r:id="rId35"/>
    <p:sldId id="367" r:id="rId36"/>
    <p:sldId id="329" r:id="rId37"/>
    <p:sldId id="369" r:id="rId38"/>
    <p:sldId id="332" r:id="rId39"/>
    <p:sldId id="371" r:id="rId40"/>
    <p:sldId id="336" r:id="rId41"/>
    <p:sldId id="372" r:id="rId42"/>
    <p:sldId id="346" r:id="rId43"/>
    <p:sldId id="373" r:id="rId44"/>
    <p:sldId id="342" r:id="rId45"/>
    <p:sldId id="374" r:id="rId46"/>
    <p:sldId id="343" r:id="rId47"/>
    <p:sldId id="379" r:id="rId48"/>
    <p:sldId id="344" r:id="rId49"/>
    <p:sldId id="375" r:id="rId50"/>
    <p:sldId id="341" r:id="rId51"/>
    <p:sldId id="376" r:id="rId52"/>
    <p:sldId id="378"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8EFC"/>
    <a:srgbClr val="FE6400"/>
    <a:srgbClr val="B0D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24" autoAdjust="0"/>
  </p:normalViewPr>
  <p:slideViewPr>
    <p:cSldViewPr snapToGrid="0">
      <p:cViewPr varScale="1">
        <p:scale>
          <a:sx n="79" d="100"/>
          <a:sy n="79" d="100"/>
        </p:scale>
        <p:origin x="420"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01EA01-0F0C-4DE8-B813-35A3FC47D733}" type="datetimeFigureOut">
              <a:rPr lang="en-US" smtClean="0"/>
              <a:pPr/>
              <a:t>6/5/2025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E163DC-F9C0-4AEA-8660-BBA8B6963153}"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5570C-91D9-4947-A6D9-7FF06034DC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BA57714-93CD-4F1F-87AD-8D5BD536B3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2B1CF67-9FF0-4DFC-BE0D-8D3336673D29}"/>
              </a:ext>
            </a:extLst>
          </p:cNvPr>
          <p:cNvSpPr>
            <a:spLocks noGrp="1"/>
          </p:cNvSpPr>
          <p:nvPr>
            <p:ph type="dt" sz="half" idx="10"/>
          </p:nvPr>
        </p:nvSpPr>
        <p:spPr/>
        <p:txBody>
          <a:bodyPr/>
          <a:lstStyle/>
          <a:p>
            <a:fld id="{E6F7824F-FEE6-4FA6-87FA-56806D70CA3A}" type="datetimeFigureOut">
              <a:rPr lang="en-IN" smtClean="0"/>
              <a:pPr/>
              <a:t>05-06-2025</a:t>
            </a:fld>
            <a:endParaRPr lang="en-IN" dirty="0"/>
          </a:p>
        </p:txBody>
      </p:sp>
      <p:sp>
        <p:nvSpPr>
          <p:cNvPr id="5" name="Footer Placeholder 4">
            <a:extLst>
              <a:ext uri="{FF2B5EF4-FFF2-40B4-BE49-F238E27FC236}">
                <a16:creationId xmlns:a16="http://schemas.microsoft.com/office/drawing/2014/main" id="{CC1B7A56-F93E-4F84-81A6-4D75C4E9C8F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DC9BA34-E053-4950-ADF6-7B39A137036D}"/>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2611819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18DE1E3-0244-4492-89B0-E666F4294E48}"/>
              </a:ext>
            </a:extLst>
          </p:cNvPr>
          <p:cNvSpPr/>
          <p:nvPr userDrawn="1"/>
        </p:nvSpPr>
        <p:spPr>
          <a:xfrm>
            <a:off x="4005792" y="1338792"/>
            <a:ext cx="4180416" cy="4180416"/>
          </a:xfrm>
          <a:prstGeom prst="rect">
            <a:avLst/>
          </a:pr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5" name="Freeform: Shape 24">
            <a:extLst>
              <a:ext uri="{FF2B5EF4-FFF2-40B4-BE49-F238E27FC236}">
                <a16:creationId xmlns:a16="http://schemas.microsoft.com/office/drawing/2014/main" id="{6FCA5F5E-D9F5-4744-B543-9AF39C52DBE3}"/>
              </a:ext>
            </a:extLst>
          </p:cNvPr>
          <p:cNvSpPr/>
          <p:nvPr userDrawn="1"/>
        </p:nvSpPr>
        <p:spPr>
          <a:xfrm rot="10800000" flipH="1">
            <a:off x="5191124" y="6439955"/>
            <a:ext cx="6997050" cy="420957"/>
          </a:xfrm>
          <a:custGeom>
            <a:avLst/>
            <a:gdLst>
              <a:gd name="connsiteX0" fmla="*/ 274746 w 6997050"/>
              <a:gd name="connsiteY0" fmla="*/ 474402 h 474402"/>
              <a:gd name="connsiteX1" fmla="*/ 5454000 w 6997050"/>
              <a:gd name="connsiteY1" fmla="*/ 474402 h 474402"/>
              <a:gd name="connsiteX2" fmla="*/ 5454000 w 6997050"/>
              <a:gd name="connsiteY2" fmla="*/ 473606 h 474402"/>
              <a:gd name="connsiteX3" fmla="*/ 6997050 w 6997050"/>
              <a:gd name="connsiteY3" fmla="*/ 473606 h 474402"/>
              <a:gd name="connsiteX4" fmla="*/ 6997050 w 6997050"/>
              <a:gd name="connsiteY4" fmla="*/ 0 h 474402"/>
              <a:gd name="connsiteX5" fmla="*/ 5454000 w 6997050"/>
              <a:gd name="connsiteY5" fmla="*/ 0 h 474402"/>
              <a:gd name="connsiteX6" fmla="*/ 5454000 w 6997050"/>
              <a:gd name="connsiteY6" fmla="*/ 797 h 474402"/>
              <a:gd name="connsiteX7" fmla="*/ 0 w 6997050"/>
              <a:gd name="connsiteY7" fmla="*/ 797 h 474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97050" h="474402">
                <a:moveTo>
                  <a:pt x="274746" y="474402"/>
                </a:moveTo>
                <a:lnTo>
                  <a:pt x="5454000" y="474402"/>
                </a:lnTo>
                <a:lnTo>
                  <a:pt x="5454000" y="473606"/>
                </a:lnTo>
                <a:lnTo>
                  <a:pt x="6997050" y="473606"/>
                </a:lnTo>
                <a:lnTo>
                  <a:pt x="6997050" y="0"/>
                </a:lnTo>
                <a:lnTo>
                  <a:pt x="5454000" y="0"/>
                </a:lnTo>
                <a:lnTo>
                  <a:pt x="5454000" y="797"/>
                </a:lnTo>
                <a:lnTo>
                  <a:pt x="0" y="797"/>
                </a:lnTo>
                <a:close/>
              </a:path>
            </a:pathLst>
          </a:custGeom>
          <a:solidFill>
            <a:srgbClr val="108E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Freeform: Shape 21">
            <a:extLst>
              <a:ext uri="{FF2B5EF4-FFF2-40B4-BE49-F238E27FC236}">
                <a16:creationId xmlns:a16="http://schemas.microsoft.com/office/drawing/2014/main" id="{B9CDCC60-433C-4D80-B046-60440ADA613D}"/>
              </a:ext>
            </a:extLst>
          </p:cNvPr>
          <p:cNvSpPr/>
          <p:nvPr userDrawn="1"/>
        </p:nvSpPr>
        <p:spPr>
          <a:xfrm>
            <a:off x="1" y="6439956"/>
            <a:ext cx="5490211" cy="418044"/>
          </a:xfrm>
          <a:custGeom>
            <a:avLst/>
            <a:gdLst>
              <a:gd name="connsiteX0" fmla="*/ 0 w 5490211"/>
              <a:gd name="connsiteY0" fmla="*/ 0 h 473605"/>
              <a:gd name="connsiteX1" fmla="*/ 5490211 w 5490211"/>
              <a:gd name="connsiteY1" fmla="*/ 0 h 473605"/>
              <a:gd name="connsiteX2" fmla="*/ 5215520 w 5490211"/>
              <a:gd name="connsiteY2" fmla="*/ 473605 h 473605"/>
              <a:gd name="connsiteX3" fmla="*/ 0 w 5490211"/>
              <a:gd name="connsiteY3" fmla="*/ 473605 h 473605"/>
            </a:gdLst>
            <a:ahLst/>
            <a:cxnLst>
              <a:cxn ang="0">
                <a:pos x="connsiteX0" y="connsiteY0"/>
              </a:cxn>
              <a:cxn ang="0">
                <a:pos x="connsiteX1" y="connsiteY1"/>
              </a:cxn>
              <a:cxn ang="0">
                <a:pos x="connsiteX2" y="connsiteY2"/>
              </a:cxn>
              <a:cxn ang="0">
                <a:pos x="connsiteX3" y="connsiteY3"/>
              </a:cxn>
            </a:cxnLst>
            <a:rect l="l" t="t" r="r" b="b"/>
            <a:pathLst>
              <a:path w="5490211" h="473605">
                <a:moveTo>
                  <a:pt x="0" y="0"/>
                </a:moveTo>
                <a:lnTo>
                  <a:pt x="5490211" y="0"/>
                </a:lnTo>
                <a:lnTo>
                  <a:pt x="5215520" y="473605"/>
                </a:lnTo>
                <a:lnTo>
                  <a:pt x="0" y="473605"/>
                </a:lnTo>
                <a:close/>
              </a:path>
            </a:pathLst>
          </a:custGeom>
          <a:solidFill>
            <a:srgbClr val="FE6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Rectangle 11">
            <a:extLst>
              <a:ext uri="{FF2B5EF4-FFF2-40B4-BE49-F238E27FC236}">
                <a16:creationId xmlns:a16="http://schemas.microsoft.com/office/drawing/2014/main" id="{CCEF4669-2972-4A62-937C-8770006AA351}"/>
              </a:ext>
            </a:extLst>
          </p:cNvPr>
          <p:cNvSpPr/>
          <p:nvPr userDrawn="1"/>
        </p:nvSpPr>
        <p:spPr>
          <a:xfrm>
            <a:off x="0" y="0"/>
            <a:ext cx="12192000" cy="1016000"/>
          </a:xfrm>
          <a:prstGeom prst="rect">
            <a:avLst/>
          </a:prstGeom>
          <a:gradFill flip="none" rotWithShape="1">
            <a:gsLst>
              <a:gs pos="0">
                <a:srgbClr val="FE6400"/>
              </a:gs>
              <a:gs pos="100000">
                <a:srgbClr val="108EF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D581EE3A-6F8B-4D77-A85B-BD09A8D9DDE3}"/>
              </a:ext>
            </a:extLst>
          </p:cNvPr>
          <p:cNvSpPr>
            <a:spLocks noGrp="1"/>
          </p:cNvSpPr>
          <p:nvPr>
            <p:ph type="title"/>
          </p:nvPr>
        </p:nvSpPr>
        <p:spPr>
          <a:xfrm>
            <a:off x="254000" y="190500"/>
            <a:ext cx="11684000" cy="671250"/>
          </a:xfrm>
        </p:spPr>
        <p:txBody>
          <a:bodyPr>
            <a:normAutofit/>
          </a:bodyPr>
          <a:lstStyle>
            <a:lvl1pPr algn="ctr">
              <a:tabLst>
                <a:tab pos="1790700" algn="l"/>
              </a:tabLst>
              <a:defRPr sz="3600" b="1">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14" name="Footer Placeholder 4">
            <a:extLst>
              <a:ext uri="{FF2B5EF4-FFF2-40B4-BE49-F238E27FC236}">
                <a16:creationId xmlns:a16="http://schemas.microsoft.com/office/drawing/2014/main" id="{EF38C1C8-344A-4ACE-B6A4-2BA3E602ECB5}"/>
              </a:ext>
            </a:extLst>
          </p:cNvPr>
          <p:cNvSpPr txBox="1">
            <a:spLocks/>
          </p:cNvSpPr>
          <p:nvPr userDrawn="1"/>
        </p:nvSpPr>
        <p:spPr>
          <a:xfrm>
            <a:off x="355600" y="5683515"/>
            <a:ext cx="115824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p>
        </p:txBody>
      </p:sp>
      <p:sp>
        <p:nvSpPr>
          <p:cNvPr id="27" name="TextBox 26">
            <a:extLst>
              <a:ext uri="{FF2B5EF4-FFF2-40B4-BE49-F238E27FC236}">
                <a16:creationId xmlns:a16="http://schemas.microsoft.com/office/drawing/2014/main" id="{EFF9B3D1-7DD8-405D-A925-20FEB2EA51F2}"/>
              </a:ext>
            </a:extLst>
          </p:cNvPr>
          <p:cNvSpPr txBox="1"/>
          <p:nvPr userDrawn="1"/>
        </p:nvSpPr>
        <p:spPr>
          <a:xfrm>
            <a:off x="1118954" y="6464312"/>
            <a:ext cx="2522870" cy="369332"/>
          </a:xfrm>
          <a:prstGeom prst="rect">
            <a:avLst/>
          </a:prstGeom>
          <a:noFill/>
        </p:spPr>
        <p:txBody>
          <a:bodyPr wrap="none" rtlCol="0">
            <a:spAutoFit/>
          </a:bodyPr>
          <a:lstStyle/>
          <a:p>
            <a:r>
              <a:rPr lang="en-IN" b="1" dirty="0">
                <a:latin typeface="Arial" panose="020B0604020202020204" pitchFamily="34" charset="0"/>
                <a:cs typeface="Arial" panose="020B0604020202020204" pitchFamily="34" charset="0"/>
              </a:rPr>
              <a:t>  Classes by Anuj Sir </a:t>
            </a:r>
          </a:p>
        </p:txBody>
      </p:sp>
      <p:sp>
        <p:nvSpPr>
          <p:cNvPr id="28" name="TextBox 27">
            <a:extLst>
              <a:ext uri="{FF2B5EF4-FFF2-40B4-BE49-F238E27FC236}">
                <a16:creationId xmlns:a16="http://schemas.microsoft.com/office/drawing/2014/main" id="{C26DA40F-1448-4E04-A4CC-A0C240DC53FB}"/>
              </a:ext>
            </a:extLst>
          </p:cNvPr>
          <p:cNvSpPr txBox="1"/>
          <p:nvPr userDrawn="1"/>
        </p:nvSpPr>
        <p:spPr>
          <a:xfrm>
            <a:off x="6252259" y="6464312"/>
            <a:ext cx="5634941" cy="369332"/>
          </a:xfrm>
          <a:prstGeom prst="rect">
            <a:avLst/>
          </a:prstGeom>
          <a:noFill/>
        </p:spPr>
        <p:txBody>
          <a:bodyPr wrap="none" rtlCol="0">
            <a:spAutoFit/>
          </a:bodyPr>
          <a:lstStyle/>
          <a:p>
            <a:r>
              <a:rPr lang="en-IN" b="1" dirty="0">
                <a:latin typeface="Arial" panose="020B0604020202020204" pitchFamily="34" charset="0"/>
                <a:cs typeface="Arial" panose="020B0604020202020204" pitchFamily="34" charset="0"/>
              </a:rPr>
              <a:t>For more tutorials Visit now www.testurprep.com</a:t>
            </a:r>
          </a:p>
        </p:txBody>
      </p:sp>
      <p:sp>
        <p:nvSpPr>
          <p:cNvPr id="33" name="Oval 32">
            <a:extLst>
              <a:ext uri="{FF2B5EF4-FFF2-40B4-BE49-F238E27FC236}">
                <a16:creationId xmlns:a16="http://schemas.microsoft.com/office/drawing/2014/main" id="{AC4A5B36-9C81-4DC5-AB3E-D53D3DF8AA5F}"/>
              </a:ext>
            </a:extLst>
          </p:cNvPr>
          <p:cNvSpPr/>
          <p:nvPr userDrawn="1"/>
        </p:nvSpPr>
        <p:spPr>
          <a:xfrm>
            <a:off x="158099" y="144860"/>
            <a:ext cx="727726" cy="727726"/>
          </a:xfrm>
          <a:prstGeom prst="ellipse">
            <a:avLst/>
          </a:prstGeom>
          <a:blipFill dpi="0" rotWithShape="1">
            <a:blip r:embed="rId3"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4" name="Oval 33">
            <a:extLst>
              <a:ext uri="{FF2B5EF4-FFF2-40B4-BE49-F238E27FC236}">
                <a16:creationId xmlns:a16="http://schemas.microsoft.com/office/drawing/2014/main" id="{D126FFB0-7B36-4783-8239-761E300FA624}"/>
              </a:ext>
            </a:extLst>
          </p:cNvPr>
          <p:cNvSpPr/>
          <p:nvPr userDrawn="1"/>
        </p:nvSpPr>
        <p:spPr>
          <a:xfrm>
            <a:off x="11311874" y="144860"/>
            <a:ext cx="727726" cy="727726"/>
          </a:xfrm>
          <a:prstGeom prst="ellipse">
            <a:avLst/>
          </a:prstGeom>
          <a:blipFill dpi="0" rotWithShape="1">
            <a:blip r:embed="rId3"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Content Placeholder 2">
            <a:extLst>
              <a:ext uri="{FF2B5EF4-FFF2-40B4-BE49-F238E27FC236}">
                <a16:creationId xmlns:a16="http://schemas.microsoft.com/office/drawing/2014/main" id="{7DEEBD83-A703-4B6E-91EB-72896443C528}"/>
              </a:ext>
            </a:extLst>
          </p:cNvPr>
          <p:cNvSpPr>
            <a:spLocks noGrp="1"/>
          </p:cNvSpPr>
          <p:nvPr>
            <p:ph idx="1"/>
          </p:nvPr>
        </p:nvSpPr>
        <p:spPr>
          <a:xfrm>
            <a:off x="254000" y="1199620"/>
            <a:ext cx="11684000" cy="4991630"/>
          </a:xfrm>
        </p:spPr>
        <p:txBody>
          <a:bodyPr>
            <a:normAutofit/>
          </a:bodyPr>
          <a:lstStyle>
            <a:lvl1pPr>
              <a:defRPr lang="en-IN" sz="2400" dirty="0">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p>
        </p:txBody>
      </p:sp>
    </p:spTree>
    <p:extLst>
      <p:ext uri="{BB962C8B-B14F-4D97-AF65-F5344CB8AC3E}">
        <p14:creationId xmlns:p14="http://schemas.microsoft.com/office/powerpoint/2010/main" val="1601213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1EE3A-6F8B-4D77-A85B-BD09A8D9DDE3}"/>
              </a:ext>
            </a:extLst>
          </p:cNvPr>
          <p:cNvSpPr>
            <a:spLocks noGrp="1"/>
          </p:cNvSpPr>
          <p:nvPr>
            <p:ph type="title"/>
          </p:nvPr>
        </p:nvSpPr>
        <p:spPr>
          <a:xfrm>
            <a:off x="304800" y="270933"/>
            <a:ext cx="11582400" cy="745067"/>
          </a:xfrm>
        </p:spPr>
        <p:txBody>
          <a:bodyPr>
            <a:normAutofit/>
          </a:bodyPr>
          <a:lstStyle>
            <a:lvl1pPr algn="ctr">
              <a:defRPr sz="3600" b="1">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3" name="Content Placeholder 2">
            <a:extLst>
              <a:ext uri="{FF2B5EF4-FFF2-40B4-BE49-F238E27FC236}">
                <a16:creationId xmlns:a16="http://schemas.microsoft.com/office/drawing/2014/main" id="{7DEEBD83-A703-4B6E-91EB-72896443C528}"/>
              </a:ext>
            </a:extLst>
          </p:cNvPr>
          <p:cNvSpPr>
            <a:spLocks noGrp="1"/>
          </p:cNvSpPr>
          <p:nvPr>
            <p:ph idx="1"/>
          </p:nvPr>
        </p:nvSpPr>
        <p:spPr>
          <a:xfrm>
            <a:off x="304800" y="1185333"/>
            <a:ext cx="11582400" cy="4991630"/>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 name="Date Placeholder 3">
            <a:extLst>
              <a:ext uri="{FF2B5EF4-FFF2-40B4-BE49-F238E27FC236}">
                <a16:creationId xmlns:a16="http://schemas.microsoft.com/office/drawing/2014/main" id="{7F82684C-423C-4765-A4B6-5C4E8DC754FB}"/>
              </a:ext>
            </a:extLst>
          </p:cNvPr>
          <p:cNvSpPr>
            <a:spLocks noGrp="1"/>
          </p:cNvSpPr>
          <p:nvPr>
            <p:ph type="dt" sz="half" idx="10"/>
          </p:nvPr>
        </p:nvSpPr>
        <p:spPr>
          <a:xfrm>
            <a:off x="304800" y="6380692"/>
            <a:ext cx="3276600" cy="365125"/>
          </a:xfrm>
        </p:spPr>
        <p:txBody>
          <a:bodyPr/>
          <a:lstStyle/>
          <a:p>
            <a:fld id="{E6F7824F-FEE6-4FA6-87FA-56806D70CA3A}" type="datetimeFigureOut">
              <a:rPr lang="en-IN" smtClean="0"/>
              <a:pPr/>
              <a:t>05-06-2025</a:t>
            </a:fld>
            <a:endParaRPr lang="en-IN" dirty="0"/>
          </a:p>
        </p:txBody>
      </p:sp>
      <p:sp>
        <p:nvSpPr>
          <p:cNvPr id="5" name="Footer Placeholder 4">
            <a:extLst>
              <a:ext uri="{FF2B5EF4-FFF2-40B4-BE49-F238E27FC236}">
                <a16:creationId xmlns:a16="http://schemas.microsoft.com/office/drawing/2014/main" id="{C02794CF-57E8-4BE6-9B7F-7F59CE9F7302}"/>
              </a:ext>
            </a:extLst>
          </p:cNvPr>
          <p:cNvSpPr>
            <a:spLocks noGrp="1"/>
          </p:cNvSpPr>
          <p:nvPr>
            <p:ph type="ftr" sz="quarter" idx="11"/>
          </p:nvPr>
        </p:nvSpPr>
        <p:spPr>
          <a:xfrm>
            <a:off x="4038600" y="6380691"/>
            <a:ext cx="4114800" cy="365125"/>
          </a:xfrm>
        </p:spPr>
        <p:txBody>
          <a:bodyPr/>
          <a:lstStyle/>
          <a:p>
            <a:endParaRPr lang="en-IN" dirty="0"/>
          </a:p>
        </p:txBody>
      </p:sp>
      <p:sp>
        <p:nvSpPr>
          <p:cNvPr id="6" name="Slide Number Placeholder 5">
            <a:extLst>
              <a:ext uri="{FF2B5EF4-FFF2-40B4-BE49-F238E27FC236}">
                <a16:creationId xmlns:a16="http://schemas.microsoft.com/office/drawing/2014/main" id="{3A8311BD-0829-4E1F-8609-52006F00A5F6}"/>
              </a:ext>
            </a:extLst>
          </p:cNvPr>
          <p:cNvSpPr>
            <a:spLocks noGrp="1"/>
          </p:cNvSpPr>
          <p:nvPr>
            <p:ph type="sldNum" sz="quarter" idx="12"/>
          </p:nvPr>
        </p:nvSpPr>
        <p:spPr>
          <a:xfrm>
            <a:off x="8610599" y="6356350"/>
            <a:ext cx="3276599" cy="365125"/>
          </a:xfrm>
        </p:spPr>
        <p:txBody>
          <a:bodyPr/>
          <a:lstStyle/>
          <a:p>
            <a:fld id="{4113C1E7-9431-4A64-94FC-1D172EC0AB5A}" type="slidenum">
              <a:rPr lang="en-IN" smtClean="0"/>
              <a:pPr/>
              <a:t>‹#›</a:t>
            </a:fld>
            <a:endParaRPr lang="en-IN" dirty="0"/>
          </a:p>
        </p:txBody>
      </p:sp>
      <p:sp>
        <p:nvSpPr>
          <p:cNvPr id="11" name="Rectangle 10">
            <a:extLst>
              <a:ext uri="{FF2B5EF4-FFF2-40B4-BE49-F238E27FC236}">
                <a16:creationId xmlns:a16="http://schemas.microsoft.com/office/drawing/2014/main" id="{918DE1E3-0244-4492-89B0-E666F4294E48}"/>
              </a:ext>
            </a:extLst>
          </p:cNvPr>
          <p:cNvSpPr/>
          <p:nvPr userDrawn="1"/>
        </p:nvSpPr>
        <p:spPr>
          <a:xfrm>
            <a:off x="3706812" y="981604"/>
            <a:ext cx="4879976" cy="4879976"/>
          </a:xfrm>
          <a:prstGeom prst="rect">
            <a:avLst/>
          </a:prstGeom>
          <a:blipFill dpi="0" rotWithShape="1">
            <a:blip r:embed="rId2">
              <a:alphaModFix amt="32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1747071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DAC04-157F-4E75-A1D1-608BB6A458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8EEF63E-A7CD-4490-94C6-AEB7AAD1B0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09BACE1-7062-406F-BF0A-2C8447CFAE78}"/>
              </a:ext>
            </a:extLst>
          </p:cNvPr>
          <p:cNvSpPr>
            <a:spLocks noGrp="1"/>
          </p:cNvSpPr>
          <p:nvPr>
            <p:ph type="dt" sz="half" idx="10"/>
          </p:nvPr>
        </p:nvSpPr>
        <p:spPr/>
        <p:txBody>
          <a:bodyPr/>
          <a:lstStyle/>
          <a:p>
            <a:fld id="{E6F7824F-FEE6-4FA6-87FA-56806D70CA3A}" type="datetimeFigureOut">
              <a:rPr lang="en-IN" smtClean="0"/>
              <a:pPr/>
              <a:t>05-06-2025</a:t>
            </a:fld>
            <a:endParaRPr lang="en-IN" dirty="0"/>
          </a:p>
        </p:txBody>
      </p:sp>
      <p:sp>
        <p:nvSpPr>
          <p:cNvPr id="5" name="Footer Placeholder 4">
            <a:extLst>
              <a:ext uri="{FF2B5EF4-FFF2-40B4-BE49-F238E27FC236}">
                <a16:creationId xmlns:a16="http://schemas.microsoft.com/office/drawing/2014/main" id="{6632EBEB-1EEC-4E59-8235-46F33B9CEE21}"/>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C16F9D22-36EF-42CE-B503-C1BF182ECDEA}"/>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1564226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B2340-6366-4615-8DFE-2032C089BB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CE8ADD-6026-4405-9B1A-DC1A4E8E9C2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76CB263-B7A6-4EE6-AD11-928CE3CCDA4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2281AA1-B6F3-49F8-9075-131D0D8F3C6A}"/>
              </a:ext>
            </a:extLst>
          </p:cNvPr>
          <p:cNvSpPr>
            <a:spLocks noGrp="1"/>
          </p:cNvSpPr>
          <p:nvPr>
            <p:ph type="dt" sz="half" idx="10"/>
          </p:nvPr>
        </p:nvSpPr>
        <p:spPr/>
        <p:txBody>
          <a:bodyPr/>
          <a:lstStyle/>
          <a:p>
            <a:fld id="{E6F7824F-FEE6-4FA6-87FA-56806D70CA3A}" type="datetimeFigureOut">
              <a:rPr lang="en-IN" smtClean="0"/>
              <a:pPr/>
              <a:t>05-06-2025</a:t>
            </a:fld>
            <a:endParaRPr lang="en-IN" dirty="0"/>
          </a:p>
        </p:txBody>
      </p:sp>
      <p:sp>
        <p:nvSpPr>
          <p:cNvPr id="6" name="Footer Placeholder 5">
            <a:extLst>
              <a:ext uri="{FF2B5EF4-FFF2-40B4-BE49-F238E27FC236}">
                <a16:creationId xmlns:a16="http://schemas.microsoft.com/office/drawing/2014/main" id="{7DEF3FA6-1E5C-47CD-B247-F51576103187}"/>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43BB52BF-3F99-4B16-A3D9-0678B7555DDE}"/>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1438369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2DB32-2174-4376-9076-2632E8F8EEE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9C407C-1D12-4D0A-A030-524BE0968A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A71F0A9-77EE-4263-A67C-C16BE1477C8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3871FB3-AC11-4741-B1C4-DE03A7E6AD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0ECBBDE-9050-4133-9844-54AB486662E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415ABDF-CF3A-439F-B397-95AC73FB9257}"/>
              </a:ext>
            </a:extLst>
          </p:cNvPr>
          <p:cNvSpPr>
            <a:spLocks noGrp="1"/>
          </p:cNvSpPr>
          <p:nvPr>
            <p:ph type="dt" sz="half" idx="10"/>
          </p:nvPr>
        </p:nvSpPr>
        <p:spPr/>
        <p:txBody>
          <a:bodyPr/>
          <a:lstStyle/>
          <a:p>
            <a:fld id="{E6F7824F-FEE6-4FA6-87FA-56806D70CA3A}" type="datetimeFigureOut">
              <a:rPr lang="en-IN" smtClean="0"/>
              <a:pPr/>
              <a:t>05-06-2025</a:t>
            </a:fld>
            <a:endParaRPr lang="en-IN" dirty="0"/>
          </a:p>
        </p:txBody>
      </p:sp>
      <p:sp>
        <p:nvSpPr>
          <p:cNvPr id="8" name="Footer Placeholder 7">
            <a:extLst>
              <a:ext uri="{FF2B5EF4-FFF2-40B4-BE49-F238E27FC236}">
                <a16:creationId xmlns:a16="http://schemas.microsoft.com/office/drawing/2014/main" id="{35DB57C0-0EC2-4978-AEAD-7284450CDF74}"/>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7FE9A207-153C-4FB7-89E6-D60D56800EA9}"/>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1984099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369E1-C2D7-469B-B685-5760A0E1E6C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8407BAE-D44B-45AB-A0B4-DD09062FCEBE}"/>
              </a:ext>
            </a:extLst>
          </p:cNvPr>
          <p:cNvSpPr>
            <a:spLocks noGrp="1"/>
          </p:cNvSpPr>
          <p:nvPr>
            <p:ph type="dt" sz="half" idx="10"/>
          </p:nvPr>
        </p:nvSpPr>
        <p:spPr/>
        <p:txBody>
          <a:bodyPr/>
          <a:lstStyle/>
          <a:p>
            <a:fld id="{E6F7824F-FEE6-4FA6-87FA-56806D70CA3A}" type="datetimeFigureOut">
              <a:rPr lang="en-IN" smtClean="0"/>
              <a:pPr/>
              <a:t>05-06-2025</a:t>
            </a:fld>
            <a:endParaRPr lang="en-IN" dirty="0"/>
          </a:p>
        </p:txBody>
      </p:sp>
      <p:sp>
        <p:nvSpPr>
          <p:cNvPr id="4" name="Footer Placeholder 3">
            <a:extLst>
              <a:ext uri="{FF2B5EF4-FFF2-40B4-BE49-F238E27FC236}">
                <a16:creationId xmlns:a16="http://schemas.microsoft.com/office/drawing/2014/main" id="{577F0041-930D-486E-B87C-35013F3E0273}"/>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220610B2-BC3A-443A-B9FB-C8EA2F3584FA}"/>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3193018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5BEFB7-3B9C-4B2B-95B4-92DD054CBC2A}"/>
              </a:ext>
            </a:extLst>
          </p:cNvPr>
          <p:cNvSpPr>
            <a:spLocks noGrp="1"/>
          </p:cNvSpPr>
          <p:nvPr>
            <p:ph type="dt" sz="half" idx="10"/>
          </p:nvPr>
        </p:nvSpPr>
        <p:spPr/>
        <p:txBody>
          <a:bodyPr/>
          <a:lstStyle/>
          <a:p>
            <a:fld id="{E6F7824F-FEE6-4FA6-87FA-56806D70CA3A}" type="datetimeFigureOut">
              <a:rPr lang="en-IN" smtClean="0"/>
              <a:pPr/>
              <a:t>05-06-2025</a:t>
            </a:fld>
            <a:endParaRPr lang="en-IN" dirty="0"/>
          </a:p>
        </p:txBody>
      </p:sp>
      <p:sp>
        <p:nvSpPr>
          <p:cNvPr id="3" name="Footer Placeholder 2">
            <a:extLst>
              <a:ext uri="{FF2B5EF4-FFF2-40B4-BE49-F238E27FC236}">
                <a16:creationId xmlns:a16="http://schemas.microsoft.com/office/drawing/2014/main" id="{8BAF9ABC-339A-4386-8967-389520926EF0}"/>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6B75CBE5-69F1-4976-9D60-7F316C1EDB17}"/>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1022674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AF17B-D2C9-40B9-8753-8BDCF691A5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C607120-E547-4935-95D5-4A8C8B2676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07049DD-1391-4431-A734-4A3EEF73AF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CDA9439-D32A-4CA5-A1FB-743F92303F16}"/>
              </a:ext>
            </a:extLst>
          </p:cNvPr>
          <p:cNvSpPr>
            <a:spLocks noGrp="1"/>
          </p:cNvSpPr>
          <p:nvPr>
            <p:ph type="dt" sz="half" idx="10"/>
          </p:nvPr>
        </p:nvSpPr>
        <p:spPr/>
        <p:txBody>
          <a:bodyPr/>
          <a:lstStyle/>
          <a:p>
            <a:fld id="{E6F7824F-FEE6-4FA6-87FA-56806D70CA3A}" type="datetimeFigureOut">
              <a:rPr lang="en-IN" smtClean="0"/>
              <a:pPr/>
              <a:t>05-06-2025</a:t>
            </a:fld>
            <a:endParaRPr lang="en-IN" dirty="0"/>
          </a:p>
        </p:txBody>
      </p:sp>
      <p:sp>
        <p:nvSpPr>
          <p:cNvPr id="6" name="Footer Placeholder 5">
            <a:extLst>
              <a:ext uri="{FF2B5EF4-FFF2-40B4-BE49-F238E27FC236}">
                <a16:creationId xmlns:a16="http://schemas.microsoft.com/office/drawing/2014/main" id="{81F7D6D9-F57C-438C-8949-80113A39B8C8}"/>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6B3E0FAB-A3DF-4A5C-B3B2-F612BBFE3539}"/>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1414593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695D0-D535-4848-A630-2D68608133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DDB14DE-3C99-46E6-9D3B-253632069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lang="en-IN" dirty="0"/>
          </a:p>
        </p:txBody>
      </p:sp>
      <p:sp>
        <p:nvSpPr>
          <p:cNvPr id="4" name="Text Placeholder 3">
            <a:extLst>
              <a:ext uri="{FF2B5EF4-FFF2-40B4-BE49-F238E27FC236}">
                <a16:creationId xmlns:a16="http://schemas.microsoft.com/office/drawing/2014/main" id="{213A90A1-9292-4924-8F81-7ED09C9232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510C8E3-27F1-4EDF-9DCD-8F49CDA6B2FC}"/>
              </a:ext>
            </a:extLst>
          </p:cNvPr>
          <p:cNvSpPr>
            <a:spLocks noGrp="1"/>
          </p:cNvSpPr>
          <p:nvPr>
            <p:ph type="dt" sz="half" idx="10"/>
          </p:nvPr>
        </p:nvSpPr>
        <p:spPr/>
        <p:txBody>
          <a:bodyPr/>
          <a:lstStyle/>
          <a:p>
            <a:fld id="{E6F7824F-FEE6-4FA6-87FA-56806D70CA3A}" type="datetimeFigureOut">
              <a:rPr lang="en-IN" smtClean="0"/>
              <a:pPr/>
              <a:t>05-06-2025</a:t>
            </a:fld>
            <a:endParaRPr lang="en-IN" dirty="0"/>
          </a:p>
        </p:txBody>
      </p:sp>
      <p:sp>
        <p:nvSpPr>
          <p:cNvPr id="6" name="Footer Placeholder 5">
            <a:extLst>
              <a:ext uri="{FF2B5EF4-FFF2-40B4-BE49-F238E27FC236}">
                <a16:creationId xmlns:a16="http://schemas.microsoft.com/office/drawing/2014/main" id="{768BB2F1-10A7-4167-841D-D77F9C8E5B5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B214DC5D-E540-47BE-BB01-FF0B11DD6461}"/>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2548769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47CE4-4879-4194-ACD4-2DFD05CEEE2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9DE788-C14D-4BFA-A909-E56F7B950E8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F1FB5C-888C-4B41-A7ED-BBAD2959954E}"/>
              </a:ext>
            </a:extLst>
          </p:cNvPr>
          <p:cNvSpPr>
            <a:spLocks noGrp="1"/>
          </p:cNvSpPr>
          <p:nvPr>
            <p:ph type="dt" sz="half" idx="10"/>
          </p:nvPr>
        </p:nvSpPr>
        <p:spPr/>
        <p:txBody>
          <a:bodyPr/>
          <a:lstStyle/>
          <a:p>
            <a:fld id="{E6F7824F-FEE6-4FA6-87FA-56806D70CA3A}" type="datetimeFigureOut">
              <a:rPr lang="en-IN" smtClean="0"/>
              <a:pPr/>
              <a:t>05-06-2025</a:t>
            </a:fld>
            <a:endParaRPr lang="en-IN" dirty="0"/>
          </a:p>
        </p:txBody>
      </p:sp>
      <p:sp>
        <p:nvSpPr>
          <p:cNvPr id="5" name="Footer Placeholder 4">
            <a:extLst>
              <a:ext uri="{FF2B5EF4-FFF2-40B4-BE49-F238E27FC236}">
                <a16:creationId xmlns:a16="http://schemas.microsoft.com/office/drawing/2014/main" id="{D3B5CDCF-5C71-4C4C-98F9-79760A9BE809}"/>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D9B6551-B2C3-4B96-9C9D-F996D5F0751B}"/>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4213392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379290-6C46-497B-AB1E-8A27B8100A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74811A-877C-4411-B988-CA338C63CD7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2A6BC7-DD99-4593-AB1F-3E58214B2995}"/>
              </a:ext>
            </a:extLst>
          </p:cNvPr>
          <p:cNvSpPr>
            <a:spLocks noGrp="1"/>
          </p:cNvSpPr>
          <p:nvPr>
            <p:ph type="dt" sz="half" idx="10"/>
          </p:nvPr>
        </p:nvSpPr>
        <p:spPr/>
        <p:txBody>
          <a:bodyPr/>
          <a:lstStyle/>
          <a:p>
            <a:fld id="{E6F7824F-FEE6-4FA6-87FA-56806D70CA3A}" type="datetimeFigureOut">
              <a:rPr lang="en-IN" smtClean="0"/>
              <a:pPr/>
              <a:t>05-06-2025</a:t>
            </a:fld>
            <a:endParaRPr lang="en-IN" dirty="0"/>
          </a:p>
        </p:txBody>
      </p:sp>
      <p:sp>
        <p:nvSpPr>
          <p:cNvPr id="5" name="Footer Placeholder 4">
            <a:extLst>
              <a:ext uri="{FF2B5EF4-FFF2-40B4-BE49-F238E27FC236}">
                <a16:creationId xmlns:a16="http://schemas.microsoft.com/office/drawing/2014/main" id="{FF49487C-19BB-435C-9BEC-F0A10E78A3CD}"/>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66C9521-C4F0-40F8-8192-C7A8261FE47D}"/>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3432318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35F695-DEC3-4A3B-BC13-7CC4F5D1DB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C168CC-6B45-4123-88A6-EF2DF64057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D7EFBD-4160-41DF-A314-BD6A64AB49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F7824F-FEE6-4FA6-87FA-56806D70CA3A}" type="datetimeFigureOut">
              <a:rPr lang="en-IN" smtClean="0"/>
              <a:pPr/>
              <a:t>05-06-2025</a:t>
            </a:fld>
            <a:endParaRPr lang="en-IN" dirty="0"/>
          </a:p>
        </p:txBody>
      </p:sp>
      <p:sp>
        <p:nvSpPr>
          <p:cNvPr id="5" name="Footer Placeholder 4">
            <a:extLst>
              <a:ext uri="{FF2B5EF4-FFF2-40B4-BE49-F238E27FC236}">
                <a16:creationId xmlns:a16="http://schemas.microsoft.com/office/drawing/2014/main" id="{518098CC-0E82-4F6E-B3C7-BBF562C23B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72E83DAE-AED6-4530-8BC5-C76C7338EB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17625071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75A04-E6A1-07E1-FC28-41B82B619282}"/>
              </a:ext>
            </a:extLst>
          </p:cNvPr>
          <p:cNvSpPr>
            <a:spLocks noGrp="1"/>
          </p:cNvSpPr>
          <p:nvPr>
            <p:ph type="ctrTitle"/>
          </p:nvPr>
        </p:nvSpPr>
        <p:spPr>
          <a:xfrm>
            <a:off x="1438275" y="2846388"/>
            <a:ext cx="9144000" cy="2387600"/>
          </a:xfrm>
        </p:spPr>
        <p:txBody>
          <a:bodyPr>
            <a:noAutofit/>
          </a:bodyPr>
          <a:lstStyle/>
          <a:p>
            <a:r>
              <a:rPr lang="en-IN" sz="8000" dirty="0">
                <a:solidFill>
                  <a:srgbClr val="FF0000"/>
                </a:solidFill>
                <a:latin typeface="Arial Black" panose="020B0A04020102020204" pitchFamily="34" charset="0"/>
              </a:rPr>
              <a:t>MIXTURE </a:t>
            </a:r>
            <a:br>
              <a:rPr lang="en-IN" sz="8000" dirty="0">
                <a:solidFill>
                  <a:srgbClr val="FF0000"/>
                </a:solidFill>
                <a:latin typeface="Arial Black" panose="020B0A04020102020204" pitchFamily="34" charset="0"/>
              </a:rPr>
            </a:br>
            <a:r>
              <a:rPr lang="en-IN" sz="8000" dirty="0">
                <a:solidFill>
                  <a:srgbClr val="FF0000"/>
                </a:solidFill>
                <a:latin typeface="Arial Black" panose="020B0A04020102020204" pitchFamily="34" charset="0"/>
              </a:rPr>
              <a:t>&amp; </a:t>
            </a:r>
            <a:br>
              <a:rPr lang="en-IN" sz="8000" dirty="0">
                <a:solidFill>
                  <a:srgbClr val="FF0000"/>
                </a:solidFill>
                <a:latin typeface="Arial Black" panose="020B0A04020102020204" pitchFamily="34" charset="0"/>
              </a:rPr>
            </a:br>
            <a:r>
              <a:rPr lang="en-IN" sz="8000" dirty="0">
                <a:solidFill>
                  <a:srgbClr val="FF0000"/>
                </a:solidFill>
                <a:latin typeface="Arial Black" panose="020B0A04020102020204" pitchFamily="34" charset="0"/>
              </a:rPr>
              <a:t>ALLIGATION</a:t>
            </a:r>
          </a:p>
        </p:txBody>
      </p:sp>
    </p:spTree>
    <p:extLst>
      <p:ext uri="{BB962C8B-B14F-4D97-AF65-F5344CB8AC3E}">
        <p14:creationId xmlns:p14="http://schemas.microsoft.com/office/powerpoint/2010/main" val="328276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latin typeface="Arial Black" pitchFamily="34" charset="0"/>
              </a:rPr>
              <a:t>ALLIGATION AND MIXTURE</a:t>
            </a:r>
          </a:p>
          <a:p>
            <a:pPr>
              <a:buNone/>
            </a:pPr>
            <a:r>
              <a:rPr lang="en-US" b="1" dirty="0">
                <a:latin typeface="+mn-lt"/>
              </a:rPr>
              <a:t>Q 1. A vessel of 120 liters is filled with milk and water. 80% of milk and 40% of water is taken out of the vessel. It is found that the vessel is vacated by 65%. What is the ratio of milk to water? </a:t>
            </a:r>
          </a:p>
          <a:p>
            <a:pPr>
              <a:buNone/>
            </a:pPr>
            <a:r>
              <a:rPr lang="en-US" b="1" dirty="0">
                <a:latin typeface="+mn-lt"/>
              </a:rPr>
              <a:t>(1) 5 : 3 	(2) 6 : 5 	(3) 3 : 5 	(4) 4 : 3 	(5) None of these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E071AD2-97D2-F220-AAF8-B22B32222E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C9D523-B69C-B301-2757-30F2578C9110}"/>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812389D6-3437-A198-012C-87F57589F3E5}"/>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1. A vessel of 120 liters is filled with milk and water. 80% of milk and 40% of water is taken out of the vessel. It is found that the vessel is vacated by 65%. What is the ratio of milk to water? </a:t>
            </a:r>
          </a:p>
          <a:p>
            <a:pPr>
              <a:buNone/>
            </a:pPr>
            <a:r>
              <a:rPr lang="en-US" b="1" dirty="0">
                <a:solidFill>
                  <a:srgbClr val="FF0000"/>
                </a:solidFill>
                <a:latin typeface="+mn-lt"/>
              </a:rPr>
              <a:t>(1) 5 : 3 </a:t>
            </a:r>
            <a:r>
              <a:rPr lang="en-US" b="1" dirty="0">
                <a:latin typeface="+mn-lt"/>
              </a:rPr>
              <a:t>	(2) 6 : 5 	(3) 3 : 5 	(4) 4 : 3 	(5) None of these</a:t>
            </a:r>
          </a:p>
        </p:txBody>
      </p:sp>
    </p:spTree>
    <p:extLst>
      <p:ext uri="{BB962C8B-B14F-4D97-AF65-F5344CB8AC3E}">
        <p14:creationId xmlns:p14="http://schemas.microsoft.com/office/powerpoint/2010/main" val="8507013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2. In what proportion must wheat at Rs.3.20 per kg be mixed with wheat at Rs.3.70 per kg, so that the mixture be worth Rs.3.35 a kg? </a:t>
            </a:r>
          </a:p>
          <a:p>
            <a:pPr>
              <a:buNone/>
            </a:pPr>
            <a:r>
              <a:rPr lang="en-US" b="1" dirty="0">
                <a:latin typeface="+mn-lt"/>
              </a:rPr>
              <a:t>(1) 9 : 5 	(2) 7 : 5 	(3) 7 : 3 	(4) 3 : 1 	(5) None of these</a:t>
            </a:r>
          </a:p>
        </p:txBody>
      </p:sp>
    </p:spTree>
    <p:extLst>
      <p:ext uri="{BB962C8B-B14F-4D97-AF65-F5344CB8AC3E}">
        <p14:creationId xmlns:p14="http://schemas.microsoft.com/office/powerpoint/2010/main" val="3791988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04890B2-1A6C-CCDA-F8C5-FD20103522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803952-2675-6CC5-1DF1-67707271F4CF}"/>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36B2852E-89FF-5BE4-D088-5DD478AB9C3F}"/>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2. In what proportion must wheat at Rs.3.20 per kg be mixed with wheat at Rs.3.70 per kg, so that the mixture be worth Rs.3.35 a kg? </a:t>
            </a:r>
          </a:p>
          <a:p>
            <a:pPr>
              <a:buNone/>
            </a:pPr>
            <a:r>
              <a:rPr lang="en-US" b="1" dirty="0">
                <a:latin typeface="+mn-lt"/>
              </a:rPr>
              <a:t>(1) 9 : 5 	(2) 7 : 5 	</a:t>
            </a:r>
            <a:r>
              <a:rPr lang="en-US" b="1" dirty="0">
                <a:solidFill>
                  <a:srgbClr val="FF0000"/>
                </a:solidFill>
                <a:latin typeface="+mn-lt"/>
              </a:rPr>
              <a:t>(3) 7 : 3 </a:t>
            </a:r>
            <a:r>
              <a:rPr lang="en-US" b="1" dirty="0">
                <a:latin typeface="+mn-lt"/>
              </a:rPr>
              <a:t>	(4) 3 : 1 	(5) None of these</a:t>
            </a:r>
          </a:p>
        </p:txBody>
      </p:sp>
    </p:spTree>
    <p:extLst>
      <p:ext uri="{BB962C8B-B14F-4D97-AF65-F5344CB8AC3E}">
        <p14:creationId xmlns:p14="http://schemas.microsoft.com/office/powerpoint/2010/main" val="32537511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3. How much Sugar at Rs 24 per kg should be added to 15 kg of tea at Rs 60 per kg, as to make the mixture worth Rs 39 per kg? </a:t>
            </a:r>
          </a:p>
          <a:p>
            <a:pPr>
              <a:buNone/>
            </a:pPr>
            <a:r>
              <a:rPr lang="en-US" b="1" dirty="0">
                <a:latin typeface="+mn-lt"/>
              </a:rPr>
              <a:t>(1) 21 kg 	(2) 20 kg 	(3) 27 kg 	(4) 18 kg 	(5) None of these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437D5A2-5F88-4977-471A-92C9BA5CCB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838587-449F-FF9A-8F58-063BF281602A}"/>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B7EED780-FAF9-D6CB-1295-289E294228A4}"/>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3. How much Sugar at Rs 24 per kg should be added to 15 kg of tea at Rs 60 per kg, as to make the mixture worth Rs 39 per kg? </a:t>
            </a:r>
          </a:p>
          <a:p>
            <a:pPr>
              <a:buNone/>
            </a:pPr>
            <a:r>
              <a:rPr lang="en-US" b="1" dirty="0">
                <a:solidFill>
                  <a:srgbClr val="FF0000"/>
                </a:solidFill>
                <a:latin typeface="+mn-lt"/>
              </a:rPr>
              <a:t>(1) 21 kg </a:t>
            </a:r>
            <a:r>
              <a:rPr lang="en-US" b="1" dirty="0">
                <a:latin typeface="+mn-lt"/>
              </a:rPr>
              <a:t>	(2) 20 kg 	(3) 27 kg 	(4) 18 kg 	(5) None of these</a:t>
            </a:r>
            <a:r>
              <a:rPr lang="en-US" b="1" dirty="0">
                <a:latin typeface="Arial Black" pitchFamily="34" charset="0"/>
              </a:rPr>
              <a:t> </a:t>
            </a:r>
            <a:r>
              <a:rPr lang="en-US" b="1" dirty="0"/>
              <a:t> </a:t>
            </a:r>
          </a:p>
        </p:txBody>
      </p:sp>
    </p:spTree>
    <p:extLst>
      <p:ext uri="{BB962C8B-B14F-4D97-AF65-F5344CB8AC3E}">
        <p14:creationId xmlns:p14="http://schemas.microsoft.com/office/powerpoint/2010/main" val="677365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4. A mixture of a certain quantity of milk with 25 liters of water is worth Rs.2 per liter. If pure milk be worth Rs.12 per liter how much milk is there in the mixture? </a:t>
            </a:r>
          </a:p>
          <a:p>
            <a:pPr>
              <a:buNone/>
            </a:pPr>
            <a:r>
              <a:rPr lang="en-US" b="1" dirty="0">
                <a:latin typeface="+mn-lt"/>
              </a:rPr>
              <a:t>(1) 5 liters 		(2) 7 liters 		(3) 6 liters 		(4) 4 liters </a:t>
            </a:r>
          </a:p>
          <a:p>
            <a:pPr>
              <a:buNone/>
            </a:pPr>
            <a:r>
              <a:rPr lang="en-US" b="1" dirty="0">
                <a:latin typeface="+mn-lt"/>
              </a:rPr>
              <a:t>(5) None of these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1F21B56-FE22-4D9F-03C3-09214F8EC6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F43854-5781-9B94-1C80-BB43E9F83207}"/>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19AB0C6F-F843-5CAC-DBE2-B20894BDC006}"/>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4. A mixture of a certain quantity of milk with 25 liters of water is worth Rs.2 per liter. If pure milk be worth Rs.12 per liter how much milk is there in the mixture? </a:t>
            </a:r>
          </a:p>
          <a:p>
            <a:pPr>
              <a:buNone/>
            </a:pPr>
            <a:r>
              <a:rPr lang="en-US" b="1" dirty="0">
                <a:solidFill>
                  <a:srgbClr val="FF0000"/>
                </a:solidFill>
                <a:latin typeface="+mn-lt"/>
              </a:rPr>
              <a:t>(1) 5 liters </a:t>
            </a:r>
            <a:r>
              <a:rPr lang="en-US" b="1" dirty="0">
                <a:latin typeface="+mn-lt"/>
              </a:rPr>
              <a:t>		(2) 7 liters 		(3) 6 liters 		(4) 4 liters </a:t>
            </a:r>
          </a:p>
          <a:p>
            <a:pPr>
              <a:buNone/>
            </a:pPr>
            <a:r>
              <a:rPr lang="en-US" b="1" dirty="0">
                <a:latin typeface="+mn-lt"/>
              </a:rPr>
              <a:t>(5) None of these</a:t>
            </a:r>
          </a:p>
        </p:txBody>
      </p:sp>
    </p:spTree>
    <p:extLst>
      <p:ext uri="{BB962C8B-B14F-4D97-AF65-F5344CB8AC3E}">
        <p14:creationId xmlns:p14="http://schemas.microsoft.com/office/powerpoint/2010/main" val="3000549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5. In what proportion must water be mixed with spirit to gain 16% by selling it at cost price? </a:t>
            </a:r>
          </a:p>
          <a:p>
            <a:pPr>
              <a:buNone/>
            </a:pPr>
            <a:r>
              <a:rPr lang="en-US" b="1" dirty="0">
                <a:latin typeface="+mn-lt"/>
              </a:rPr>
              <a:t>(1) 4 : 25 	(2) 2 : 9 	(3) 1 : 6 	(4) 25 : 4 	(5) None of these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B4A444F-F898-D04B-6CC9-DC5E5DE7F3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D6F33-E8E7-8791-1C18-6CC1C05BB15D}"/>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92FC41F7-81FC-E45F-3A56-57264621F1C0}"/>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5. In what proportion must water be mixed with spirit to gain 16% by selling it at cost price? </a:t>
            </a:r>
          </a:p>
          <a:p>
            <a:pPr>
              <a:buNone/>
            </a:pPr>
            <a:r>
              <a:rPr lang="en-US" b="1" dirty="0">
                <a:solidFill>
                  <a:srgbClr val="FF0000"/>
                </a:solidFill>
                <a:latin typeface="+mn-lt"/>
              </a:rPr>
              <a:t>(1) 4 : 25 </a:t>
            </a:r>
            <a:r>
              <a:rPr lang="en-US" b="1" dirty="0">
                <a:latin typeface="+mn-lt"/>
              </a:rPr>
              <a:t>	(2) 2 : 9 	(3) 1 : 6 	(4) 25 : 4 	(5) None of these</a:t>
            </a:r>
          </a:p>
        </p:txBody>
      </p:sp>
    </p:spTree>
    <p:extLst>
      <p:ext uri="{BB962C8B-B14F-4D97-AF65-F5344CB8AC3E}">
        <p14:creationId xmlns:p14="http://schemas.microsoft.com/office/powerpoint/2010/main" val="12559928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6. A person has a chemical of Rs.50 per liter. In what ratio should water be mixed in that chemical so that after selling the mixture at Rs. 40 per liter he may get a profit of 50%. </a:t>
            </a:r>
          </a:p>
          <a:p>
            <a:pPr>
              <a:buNone/>
            </a:pPr>
            <a:r>
              <a:rPr lang="en-US" b="1" dirty="0">
                <a:latin typeface="+mn-lt"/>
              </a:rPr>
              <a:t>(1) 7 : 8 	(2) 9 : 8 	(3) 10 : 7 	(4) 4 : 3 	(5) None of these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41AA3B5-2304-F903-8C42-012B8649FA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392335-9171-A755-DE08-B049E9FE4F79}"/>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6D2F76F0-8D50-2C69-E268-27E7F6BDE232}"/>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6. A person has a chemical of Rs.50 per liter. In what ratio should water be mixed in that chemical so that after selling the mixture at Rs. 40 per liter he may get a profit of 50%. </a:t>
            </a:r>
          </a:p>
          <a:p>
            <a:pPr>
              <a:buNone/>
            </a:pPr>
            <a:r>
              <a:rPr lang="en-US" b="1" dirty="0">
                <a:solidFill>
                  <a:srgbClr val="FF0000"/>
                </a:solidFill>
                <a:latin typeface="+mn-lt"/>
              </a:rPr>
              <a:t>(1) 7 : 8 </a:t>
            </a:r>
            <a:r>
              <a:rPr lang="en-US" b="1" dirty="0">
                <a:latin typeface="+mn-lt"/>
              </a:rPr>
              <a:t>	(2) 9 : 8 	(3) 10 : 7 	(4) 4 : 3 	(5) None of these</a:t>
            </a:r>
          </a:p>
        </p:txBody>
      </p:sp>
    </p:spTree>
    <p:extLst>
      <p:ext uri="{BB962C8B-B14F-4D97-AF65-F5344CB8AC3E}">
        <p14:creationId xmlns:p14="http://schemas.microsoft.com/office/powerpoint/2010/main" val="32578563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7. Prabhu purchased 30 kg of rice at the rate of Rs.17.50 per kg and another 30 kg rice at a certain rate. He mixed the two and sold the entire quantity at the rate of Rs.18.60 per kg and made 20 per cent overall profit. At what price per kg did he purchase the lot of another 30 kg rice? </a:t>
            </a:r>
          </a:p>
          <a:p>
            <a:pPr>
              <a:buNone/>
            </a:pPr>
            <a:r>
              <a:rPr lang="en-US" b="1" dirty="0">
                <a:latin typeface="+mn-lt"/>
              </a:rPr>
              <a:t>(1) 14.50 	(2) 12.50 	(3) 15.50 	(4) 13.50 	(5) None of these</a:t>
            </a:r>
          </a:p>
          <a:p>
            <a:pPr>
              <a:buNone/>
            </a:pPr>
            <a:r>
              <a:rPr lang="en-US" b="1" dirty="0">
                <a:latin typeface="+mn-lt"/>
              </a:rPr>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3807BB7-BCD1-5CEF-46B4-B330F4BB36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9ABF03-510B-09C9-2571-97A8A55676E8}"/>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8A8F0C31-D95C-6038-0FB1-3C2AF558875C}"/>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7. Prabhu purchased 30 kg of rice at the rate of Rs.17.50 per kg and another 30 kg rice at a certain rate. He mixed the two and sold the entire quantity at the rate of Rs.18.60 per kg and made 20 per cent overall profit. At what price per kg did he purchase the lot of another 30 kg rice? </a:t>
            </a:r>
          </a:p>
          <a:p>
            <a:pPr>
              <a:buNone/>
            </a:pPr>
            <a:r>
              <a:rPr lang="en-US" b="1" dirty="0">
                <a:latin typeface="+mn-lt"/>
              </a:rPr>
              <a:t>(1) 14.50 	(2) 12.50 	(3) 15.50 	</a:t>
            </a:r>
            <a:r>
              <a:rPr lang="en-US" b="1" dirty="0">
                <a:solidFill>
                  <a:srgbClr val="FF0000"/>
                </a:solidFill>
                <a:latin typeface="+mn-lt"/>
              </a:rPr>
              <a:t>(4) 13.50 </a:t>
            </a:r>
            <a:r>
              <a:rPr lang="en-US" b="1" dirty="0">
                <a:latin typeface="+mn-lt"/>
              </a:rPr>
              <a:t>	(5) None of these</a:t>
            </a:r>
          </a:p>
          <a:p>
            <a:pPr>
              <a:buNone/>
            </a:pPr>
            <a:r>
              <a:rPr lang="en-US" b="1" dirty="0">
                <a:latin typeface="Arial Black" pitchFamily="34" charset="0"/>
              </a:rPr>
              <a:t> </a:t>
            </a:r>
            <a:r>
              <a:rPr lang="en-US" b="1" dirty="0"/>
              <a:t> </a:t>
            </a:r>
          </a:p>
        </p:txBody>
      </p:sp>
    </p:spTree>
    <p:extLst>
      <p:ext uri="{BB962C8B-B14F-4D97-AF65-F5344CB8AC3E}">
        <p14:creationId xmlns:p14="http://schemas.microsoft.com/office/powerpoint/2010/main" val="16535804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8. A petrol pump owner mixed leaded and unleaded petrol in such a way that the mixture contains 10% unleaded petrol. What quantity of leaded petrol should be added to 1 liter mixture so that the percentage of unleaded petrol becomes 5%. </a:t>
            </a:r>
          </a:p>
          <a:p>
            <a:pPr>
              <a:buNone/>
            </a:pPr>
            <a:r>
              <a:rPr lang="en-US" b="1" dirty="0">
                <a:latin typeface="+mn-lt"/>
              </a:rPr>
              <a:t>(1) 1000 ml 	(2) 900 ml 	(3) 1900 ml 	(4) 1800 ml 	(5) None of these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DBC8E28-8E79-9B89-E9E4-64DEBB9BF8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D6BB02-78B1-1406-F577-2E70C31284FC}"/>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F1605813-2BAC-C208-F437-DDD3669F7327}"/>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8. A petrol pump owner mixed leaded and unleaded petrol in such a way that the mixture contains 10% unleaded petrol. What quantity of leaded petrol should be added to 1 liter mixture so that the percentage of unleaded petrol becomes 5%. </a:t>
            </a:r>
          </a:p>
          <a:p>
            <a:pPr>
              <a:buNone/>
            </a:pPr>
            <a:r>
              <a:rPr lang="en-US" b="1" dirty="0">
                <a:solidFill>
                  <a:srgbClr val="FF0000"/>
                </a:solidFill>
                <a:latin typeface="+mn-lt"/>
              </a:rPr>
              <a:t>(1) 1000 ml </a:t>
            </a:r>
            <a:r>
              <a:rPr lang="en-US" b="1" dirty="0">
                <a:latin typeface="+mn-lt"/>
              </a:rPr>
              <a:t>	(2) 900 ml 	(3) 1900 ml 	(4) 1800 ml 	(5) None of these</a:t>
            </a:r>
          </a:p>
        </p:txBody>
      </p:sp>
    </p:spTree>
    <p:extLst>
      <p:ext uri="{BB962C8B-B14F-4D97-AF65-F5344CB8AC3E}">
        <p14:creationId xmlns:p14="http://schemas.microsoft.com/office/powerpoint/2010/main" val="39952759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9. 150 gm of sugar solution has 20% sugar in it. How much sugar should be added to make it 25% in the solution? </a:t>
            </a:r>
          </a:p>
          <a:p>
            <a:pPr>
              <a:buNone/>
            </a:pPr>
            <a:r>
              <a:rPr lang="en-US" b="1" dirty="0">
                <a:latin typeface="+mn-lt"/>
              </a:rPr>
              <a:t>(1) 10 gm 	(2) 45 gm 	(3) 35 gm 	(4) 40 gm 	(5) None of these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3FEEF80-13D6-21B9-551E-900128B201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25E0DD-48E1-29FB-8C79-38D7B1C90FA3}"/>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B296EC26-A47A-61D1-0EB3-4EB1394C591F}"/>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9. 150 gm of sugar solution has 20% sugar in it. How much sugar should be added to make it 25% in the solution? </a:t>
            </a:r>
          </a:p>
          <a:p>
            <a:pPr>
              <a:buNone/>
            </a:pPr>
            <a:r>
              <a:rPr lang="en-US" b="1" dirty="0">
                <a:solidFill>
                  <a:srgbClr val="FF0000"/>
                </a:solidFill>
                <a:latin typeface="+mn-lt"/>
              </a:rPr>
              <a:t>(1) 10 gm </a:t>
            </a:r>
            <a:r>
              <a:rPr lang="en-US" b="1" dirty="0">
                <a:latin typeface="+mn-lt"/>
              </a:rPr>
              <a:t>	(2) 45 gm 	(3) 35 gm 	(4) 40 gm 	(5) None of these</a:t>
            </a:r>
          </a:p>
        </p:txBody>
      </p:sp>
    </p:spTree>
    <p:extLst>
      <p:ext uri="{BB962C8B-B14F-4D97-AF65-F5344CB8AC3E}">
        <p14:creationId xmlns:p14="http://schemas.microsoft.com/office/powerpoint/2010/main" val="2724816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10. There are 75 students in a class, Rs.48 are distributed among them so that each boy gets Rs.1 and each girl gets 40P. Find the number of boys and girls in that class. </a:t>
            </a:r>
          </a:p>
          <a:p>
            <a:pPr>
              <a:buNone/>
            </a:pPr>
            <a:r>
              <a:rPr lang="en-US" b="1" dirty="0">
                <a:latin typeface="+mn-lt"/>
              </a:rPr>
              <a:t>(1) 30, 45 	(2) 40, 35 	(3) 25, 50 	(4) 35, 40 	(5) None of these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B4FAA93-D724-B6B9-80B5-2BE446B967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FE6E46-49D9-D26B-0A7E-3DAA81A28C58}"/>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AD9C4D9E-5157-2FA3-8AB4-52B5C3D7D11F}"/>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10. There are 75 students in a class, Rs.48 are distributed among them so that each boy gets Rs.1 and each girl gets 40P. Find the number of boys and girls in that class. </a:t>
            </a:r>
          </a:p>
          <a:p>
            <a:pPr>
              <a:buNone/>
            </a:pPr>
            <a:r>
              <a:rPr lang="en-US" b="1" dirty="0">
                <a:solidFill>
                  <a:srgbClr val="FF0000"/>
                </a:solidFill>
                <a:latin typeface="+mn-lt"/>
              </a:rPr>
              <a:t>(1) 30, 45 </a:t>
            </a:r>
            <a:r>
              <a:rPr lang="en-US" b="1" dirty="0">
                <a:latin typeface="+mn-lt"/>
              </a:rPr>
              <a:t>	(2) 40, 35 	(3) 25, 50 	(4) 35, 40 	(5) None of these</a:t>
            </a:r>
          </a:p>
        </p:txBody>
      </p:sp>
    </p:spTree>
    <p:extLst>
      <p:ext uri="{BB962C8B-B14F-4D97-AF65-F5344CB8AC3E}">
        <p14:creationId xmlns:p14="http://schemas.microsoft.com/office/powerpoint/2010/main" val="35896737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11. In a zoo, there are rabbits and pigeons. If heads are counted, there are 100 and if legs are counted, there are 290. How many rabbits are there? </a:t>
            </a:r>
          </a:p>
          <a:p>
            <a:pPr>
              <a:buNone/>
            </a:pPr>
            <a:r>
              <a:rPr lang="en-US" b="1" dirty="0">
                <a:latin typeface="+mn-lt"/>
              </a:rPr>
              <a:t>(1) 55 		(2) 45 		(3) 40 		(4) 50 		(5) None of these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315FB63-B3CA-3A01-FCA1-1F13D897C0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546185-00E2-F10E-5592-3200A1CF67FC}"/>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3DB9EC2E-64F2-E04A-2DC1-86B137FAD771}"/>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11. In a zoo, there are rabbits and pigeons. If heads are counted, there are 100 and if legs are counted, there are 290. How many rabbits are there? </a:t>
            </a:r>
          </a:p>
          <a:p>
            <a:pPr>
              <a:buNone/>
            </a:pPr>
            <a:r>
              <a:rPr lang="en-US" b="1" dirty="0">
                <a:latin typeface="+mn-lt"/>
              </a:rPr>
              <a:t>(1) 55 		</a:t>
            </a:r>
            <a:r>
              <a:rPr lang="en-US" b="1" dirty="0">
                <a:solidFill>
                  <a:srgbClr val="FF0000"/>
                </a:solidFill>
                <a:latin typeface="+mn-lt"/>
              </a:rPr>
              <a:t>(2) 45 	</a:t>
            </a:r>
            <a:r>
              <a:rPr lang="en-US" b="1" dirty="0">
                <a:latin typeface="+mn-lt"/>
              </a:rPr>
              <a:t>	(3) 40 		(4) 50 		(5) None of these</a:t>
            </a:r>
          </a:p>
        </p:txBody>
      </p:sp>
    </p:spTree>
    <p:extLst>
      <p:ext uri="{BB962C8B-B14F-4D97-AF65-F5344CB8AC3E}">
        <p14:creationId xmlns:p14="http://schemas.microsoft.com/office/powerpoint/2010/main" val="11568955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12. A person travels 245 km in 6 hours in two stages. In the first part of the journey, he travels by bus at the speed of 30 km/hr. In the second part of the journey, he travels by train at the speed of 50 km/hr. How much distance did he travel by train? </a:t>
            </a:r>
          </a:p>
          <a:p>
            <a:pPr marL="457200" indent="-457200">
              <a:buAutoNum type="arabicParenBoth"/>
            </a:pPr>
            <a:r>
              <a:rPr lang="en-US" b="1" dirty="0">
                <a:latin typeface="+mn-lt"/>
              </a:rPr>
              <a:t>162.5 km 	(2) 82.5 km  (3) 164 km   (4) 83 km  (5) None of these  </a:t>
            </a:r>
          </a:p>
          <a:p>
            <a:pPr>
              <a:buNone/>
            </a:pPr>
            <a:r>
              <a:rPr lang="en-US" b="1" dirty="0">
                <a:latin typeface="+mn-lt"/>
              </a:rPr>
              <a:t> </a:t>
            </a:r>
          </a:p>
          <a:p>
            <a:pPr>
              <a:buNone/>
            </a:pPr>
            <a:r>
              <a:rPr lang="en-US" b="1" dirty="0">
                <a:latin typeface="Arial Black" pitchFamily="34" charset="0"/>
              </a:rPr>
              <a:t> </a:t>
            </a:r>
            <a:r>
              <a:rPr lang="en-US" b="1" dirty="0"/>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82F1D3C-CA1A-5BDA-5238-1C0ADF0EEC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014662-6A7E-3C66-9DCA-F2F01871E00F}"/>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E38107CA-4A72-0832-F9A6-A3D65DDBB7C0}"/>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12. A person travels 245 km in 6 hours in two stages. In the first part of the journey, he travels by bus at the speed of 30 km/hr. In the second part of the journey, he travels by train at the speed of 50 km/hr. How much distance did he travel by train? </a:t>
            </a:r>
          </a:p>
          <a:p>
            <a:pPr marL="457200" indent="-457200">
              <a:buAutoNum type="arabicParenBoth"/>
            </a:pPr>
            <a:r>
              <a:rPr lang="en-US" b="1" dirty="0">
                <a:solidFill>
                  <a:srgbClr val="FF0000"/>
                </a:solidFill>
                <a:latin typeface="+mn-lt"/>
              </a:rPr>
              <a:t>162.5 km </a:t>
            </a:r>
            <a:r>
              <a:rPr lang="en-US" b="1" dirty="0">
                <a:latin typeface="+mn-lt"/>
              </a:rPr>
              <a:t>	(2) 82.5 </a:t>
            </a:r>
            <a:r>
              <a:rPr lang="en-US" b="1">
                <a:latin typeface="+mn-lt"/>
              </a:rPr>
              <a:t>km (</a:t>
            </a:r>
            <a:r>
              <a:rPr lang="en-US" b="1" dirty="0">
                <a:latin typeface="+mn-lt"/>
              </a:rPr>
              <a:t>3) 164 </a:t>
            </a:r>
            <a:r>
              <a:rPr lang="en-US" b="1">
                <a:latin typeface="+mn-lt"/>
              </a:rPr>
              <a:t>km  (</a:t>
            </a:r>
            <a:r>
              <a:rPr lang="en-US" b="1" dirty="0">
                <a:latin typeface="+mn-lt"/>
              </a:rPr>
              <a:t>4) 83 </a:t>
            </a:r>
            <a:r>
              <a:rPr lang="en-US" b="1">
                <a:latin typeface="+mn-lt"/>
              </a:rPr>
              <a:t>km (</a:t>
            </a:r>
            <a:r>
              <a:rPr lang="en-US" b="1" dirty="0">
                <a:latin typeface="+mn-lt"/>
              </a:rPr>
              <a:t>5) None of these  </a:t>
            </a:r>
          </a:p>
          <a:p>
            <a:pPr>
              <a:buNone/>
            </a:pPr>
            <a:r>
              <a:rPr lang="en-US" b="1" dirty="0"/>
              <a:t> </a:t>
            </a:r>
          </a:p>
          <a:p>
            <a:pPr>
              <a:buNone/>
            </a:pPr>
            <a:r>
              <a:rPr lang="en-US" b="1" dirty="0">
                <a:latin typeface="Arial Black" pitchFamily="34" charset="0"/>
              </a:rPr>
              <a:t> </a:t>
            </a:r>
            <a:r>
              <a:rPr lang="en-US" b="1" dirty="0"/>
              <a:t> </a:t>
            </a:r>
          </a:p>
        </p:txBody>
      </p:sp>
    </p:spTree>
    <p:extLst>
      <p:ext uri="{BB962C8B-B14F-4D97-AF65-F5344CB8AC3E}">
        <p14:creationId xmlns:p14="http://schemas.microsoft.com/office/powerpoint/2010/main" val="42437835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13. A trader has 25 kg of rice, part of which he sells at 4% profit and the rest at 9% profit.   He gains 7% on the whole. What is the quantity sold at 9% profit? </a:t>
            </a:r>
          </a:p>
          <a:p>
            <a:pPr>
              <a:buNone/>
            </a:pPr>
            <a:r>
              <a:rPr lang="en-US" b="1" dirty="0">
                <a:latin typeface="+mn-lt"/>
              </a:rPr>
              <a:t>           (1) 15 kg 	(2) 10 kg 	(3) 18 kg 	(4) 12 kg 	(5) None of these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CCCA695-14E1-0B4C-AAFF-0E510DF225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D54A18-FDE7-F064-FFAA-198CC2C3A6D6}"/>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6A0D5A12-B37A-3888-9EF4-A7D5B5542F37}"/>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13. A trader has 25 kg of rice, part of which he sells at 4% profit and the rest at 9% profit. He gains 7% on the whole. What is the quantity sold at 9% profit? </a:t>
            </a:r>
          </a:p>
          <a:p>
            <a:pPr>
              <a:buNone/>
            </a:pPr>
            <a:r>
              <a:rPr lang="en-US" b="1" dirty="0">
                <a:solidFill>
                  <a:srgbClr val="FF0000"/>
                </a:solidFill>
                <a:latin typeface="+mn-lt"/>
              </a:rPr>
              <a:t>          (1) 15 kg </a:t>
            </a:r>
            <a:r>
              <a:rPr lang="en-US" b="1" dirty="0">
                <a:latin typeface="+mn-lt"/>
              </a:rPr>
              <a:t>	(2) 10 kg 	(3) 18 kg 	(4) 12 kg 	(5) None of these</a:t>
            </a:r>
          </a:p>
        </p:txBody>
      </p:sp>
    </p:spTree>
    <p:extLst>
      <p:ext uri="{BB962C8B-B14F-4D97-AF65-F5344CB8AC3E}">
        <p14:creationId xmlns:p14="http://schemas.microsoft.com/office/powerpoint/2010/main" val="13612993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14. Ritu’s expenditure and saving are in the ratio 5 : 2. Her income increases by 12%. Her expenditure also increases by 14%. By how many % does her saving increase? </a:t>
            </a:r>
          </a:p>
          <a:p>
            <a:pPr>
              <a:buNone/>
            </a:pPr>
            <a:r>
              <a:rPr lang="en-US" b="1" dirty="0">
                <a:latin typeface="+mn-lt"/>
              </a:rPr>
              <a:t>(1) 14% 	(2) 7% 	     (3) 8% 	(4) 9% 	    (5) None of these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9A23B51-70F7-8FD0-4100-FB5ABCD8C1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2D9419-0ABE-27AB-C641-2510A9458E55}"/>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F48DBD2B-2B3D-0534-2B4E-36FED2178EC1}"/>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14. Ritu’s expenditure and saving are in the ratio 5 : 2. Her income increases by 12%. Her expenditure also increases by 14%. By how many % does her saving increase? </a:t>
            </a:r>
          </a:p>
          <a:p>
            <a:pPr>
              <a:buNone/>
            </a:pPr>
            <a:r>
              <a:rPr lang="en-US" b="1" dirty="0">
                <a:latin typeface="+mn-lt"/>
              </a:rPr>
              <a:t>(1) 14% 	</a:t>
            </a:r>
            <a:r>
              <a:rPr lang="en-US" b="1" dirty="0">
                <a:solidFill>
                  <a:srgbClr val="FF0000"/>
                </a:solidFill>
                <a:latin typeface="+mn-lt"/>
              </a:rPr>
              <a:t>(2) 7% </a:t>
            </a:r>
            <a:r>
              <a:rPr lang="en-US" b="1" dirty="0">
                <a:latin typeface="+mn-lt"/>
              </a:rPr>
              <a:t>	        (3) 8% 	 (4) 9%       (5) None of these</a:t>
            </a:r>
          </a:p>
        </p:txBody>
      </p:sp>
    </p:spTree>
    <p:extLst>
      <p:ext uri="{BB962C8B-B14F-4D97-AF65-F5344CB8AC3E}">
        <p14:creationId xmlns:p14="http://schemas.microsoft.com/office/powerpoint/2010/main" val="25986656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15. A jar contains a mixture of two liquids A and B in the ratio 3 : 1. When 15 liters of the mixture is taken out and 9 liters of liquid B is poured into the jar, the ratio becomes 3 : 4. How many liters of liquid was contained in the jar? </a:t>
            </a:r>
          </a:p>
          <a:p>
            <a:pPr>
              <a:buNone/>
            </a:pPr>
            <a:r>
              <a:rPr lang="en-US" b="1" dirty="0">
                <a:latin typeface="+mn-lt"/>
              </a:rPr>
              <a:t>(1) 27 liters 	(2) 24 liters 	(3) 30 liters 	(4) 21 liters 	(5) None of these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3FAC0BD-2B31-622B-17F1-20F86C8DBD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0EAC29-D623-40EA-52C3-9A034139AFC4}"/>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2BAE2ECA-A514-25D2-43F7-811F6CB9680D}"/>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15. A jar contains a mixture of two liquids A and B in the ratio 3 : 1. When 15 liters of the mixture is taken out and 9 liters of liquid B is poured into the jar, the ratio becomes 3 : 4. How many liters of liquid was contained in the jar? </a:t>
            </a:r>
          </a:p>
          <a:p>
            <a:pPr>
              <a:buNone/>
            </a:pPr>
            <a:r>
              <a:rPr lang="en-US" b="1" dirty="0">
                <a:solidFill>
                  <a:srgbClr val="FF0000"/>
                </a:solidFill>
                <a:latin typeface="+mn-lt"/>
              </a:rPr>
              <a:t>(1) 27 liters </a:t>
            </a:r>
            <a:r>
              <a:rPr lang="en-US" b="1" dirty="0">
                <a:latin typeface="+mn-lt"/>
              </a:rPr>
              <a:t>	(2) 24 liters 	(3) 30 liters 	(4) 21 liters 	(5) None of these</a:t>
            </a:r>
          </a:p>
        </p:txBody>
      </p:sp>
    </p:spTree>
    <p:extLst>
      <p:ext uri="{BB962C8B-B14F-4D97-AF65-F5344CB8AC3E}">
        <p14:creationId xmlns:p14="http://schemas.microsoft.com/office/powerpoint/2010/main" val="29660118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16. A vessel is filled with a liquid, 3 parts of which are water and 5 parts syrup. How much of the mixture must be drawn off and replaced with water so that the mixture may be half water and half syrup? </a:t>
            </a:r>
          </a:p>
          <a:p>
            <a:pPr>
              <a:buNone/>
            </a:pPr>
            <a:r>
              <a:rPr lang="en-US" b="1" dirty="0">
                <a:latin typeface="+mn-lt"/>
              </a:rPr>
              <a:t>(1)1/5  	(2) 1/7 	(3) 4/5 	(4) 3/10 	(5) None of these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8EF4392-6745-282C-9A83-A362DAE635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C10E97-53A5-AA8E-2D01-4DE9E42F3664}"/>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A30B6046-DB26-C9D5-A5CE-DB561EE9E5F7}"/>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16. A vessel is filled with a liquid, 3 parts of which are water and 5 parts syrup. How much of the mixture must be drawn off and replaced with water so that the mixture may be half water and half syrup? </a:t>
            </a:r>
          </a:p>
          <a:p>
            <a:pPr>
              <a:buNone/>
            </a:pPr>
            <a:r>
              <a:rPr lang="en-US" b="1" dirty="0">
                <a:solidFill>
                  <a:srgbClr val="FF0000"/>
                </a:solidFill>
                <a:latin typeface="+mn-lt"/>
              </a:rPr>
              <a:t>(1)1/5  </a:t>
            </a:r>
            <a:r>
              <a:rPr lang="en-US" b="1" dirty="0">
                <a:latin typeface="+mn-lt"/>
              </a:rPr>
              <a:t>	(2) 1/7 	(3) 4/5 	(4) 3/10 	(5) None of these  </a:t>
            </a:r>
          </a:p>
        </p:txBody>
      </p:sp>
    </p:spTree>
    <p:extLst>
      <p:ext uri="{BB962C8B-B14F-4D97-AF65-F5344CB8AC3E}">
        <p14:creationId xmlns:p14="http://schemas.microsoft.com/office/powerpoint/2010/main" val="36000208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17. A vessel contains mixture of liquids A and B in the ratio 3 : 2. When 20 liters of the mixture is taken out and replaced by 20 liters of liquid B, the ratio changes to 1 : 4. How many liters of liquid A was there initially present in the vessel? </a:t>
            </a:r>
          </a:p>
          <a:p>
            <a:pPr>
              <a:buNone/>
            </a:pPr>
            <a:r>
              <a:rPr lang="en-US" b="1" dirty="0">
                <a:latin typeface="+mn-lt"/>
              </a:rPr>
              <a:t>(1) 14 liters 	(2) 20 liters 	(3) 18 liters 	(4) 30 liters 	(5) None of these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EDF998D-2334-398D-E403-5FA74AA383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365451-9664-B45B-B554-F2E116FBB9A7}"/>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EEE347B7-4737-E1DD-1A6C-7762BBE10BB2}"/>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17. A vessel contains mixture of liquids A and B in the ratio 3 : 2. When 20 liters of the mixture is taken out and replaced by 20 liters of liquid B, the ratio changes to 1 : 4. How many liters of liquid A was there initially present in the vessel? </a:t>
            </a:r>
          </a:p>
          <a:p>
            <a:pPr>
              <a:buNone/>
            </a:pPr>
            <a:r>
              <a:rPr lang="en-US" b="1" dirty="0">
                <a:latin typeface="+mn-lt"/>
              </a:rPr>
              <a:t>(1) 14 liters 	(2) 20 liters 	</a:t>
            </a:r>
            <a:r>
              <a:rPr lang="en-US" b="1" dirty="0">
                <a:solidFill>
                  <a:srgbClr val="FF0000"/>
                </a:solidFill>
                <a:latin typeface="+mn-lt"/>
              </a:rPr>
              <a:t>(3) 18 liters </a:t>
            </a:r>
            <a:r>
              <a:rPr lang="en-US" b="1" dirty="0">
                <a:latin typeface="+mn-lt"/>
              </a:rPr>
              <a:t>	(4) 30 liters 	(5) None of these</a:t>
            </a:r>
          </a:p>
        </p:txBody>
      </p:sp>
    </p:spTree>
    <p:extLst>
      <p:ext uri="{BB962C8B-B14F-4D97-AF65-F5344CB8AC3E}">
        <p14:creationId xmlns:p14="http://schemas.microsoft.com/office/powerpoint/2010/main" val="12698595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18. 56 liters of a mixture contains milk and water in the ratio 5 : 2. How much water is to be added to get a new mixture containing milk and water in the ratio 5 : 3? </a:t>
            </a:r>
          </a:p>
          <a:p>
            <a:pPr>
              <a:buNone/>
            </a:pPr>
            <a:r>
              <a:rPr lang="en-US" b="1" dirty="0">
                <a:latin typeface="+mn-lt"/>
              </a:rPr>
              <a:t>(1) 9 liters 	(2) 6 liters 	(3) 7 liters 	(4) 8 liters 	(5) None of these  </a:t>
            </a:r>
          </a:p>
          <a:p>
            <a:pPr>
              <a:buNone/>
            </a:pPr>
            <a:r>
              <a:rPr lang="en-US" b="1" dirty="0"/>
              <a:t> </a:t>
            </a:r>
          </a:p>
          <a:p>
            <a:pPr>
              <a:buNone/>
            </a:pPr>
            <a:r>
              <a:rPr lang="en-US" b="1" dirty="0">
                <a:latin typeface="Arial Black" pitchFamily="34" charset="0"/>
              </a:rPr>
              <a:t> </a:t>
            </a:r>
            <a:r>
              <a:rPr lang="en-US" b="1" dirty="0"/>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617C7F8-4607-CAF9-FB14-35D298F140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0AB3BF-1DDD-D3B7-7A26-AA2868DC3EFE}"/>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CC18B8D2-6853-CC8A-A785-12D82043A678}"/>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18. 56 liters of a mixture contains milk and water in the ratio 5 : 2. How much water is to be added to get a new mixture containing milk and water in the ratio 5 : 3? </a:t>
            </a:r>
          </a:p>
          <a:p>
            <a:pPr>
              <a:buNone/>
            </a:pPr>
            <a:r>
              <a:rPr lang="en-US" b="1" dirty="0">
                <a:latin typeface="+mn-lt"/>
              </a:rPr>
              <a:t>(1) 9 liters 	(2) 6 liters 	(3) 7 liters 	</a:t>
            </a:r>
            <a:r>
              <a:rPr lang="en-US" b="1" dirty="0">
                <a:solidFill>
                  <a:srgbClr val="FF0000"/>
                </a:solidFill>
                <a:latin typeface="+mn-lt"/>
              </a:rPr>
              <a:t>(4) 8 liters </a:t>
            </a:r>
            <a:r>
              <a:rPr lang="en-US" b="1" dirty="0">
                <a:latin typeface="+mn-lt"/>
              </a:rPr>
              <a:t>	(5) None of these  </a:t>
            </a:r>
          </a:p>
          <a:p>
            <a:pPr>
              <a:buNone/>
            </a:pPr>
            <a:r>
              <a:rPr lang="en-US" b="1" dirty="0"/>
              <a:t> </a:t>
            </a:r>
          </a:p>
          <a:p>
            <a:pPr>
              <a:buNone/>
            </a:pPr>
            <a:r>
              <a:rPr lang="en-US" b="1" dirty="0">
                <a:latin typeface="Arial Black" pitchFamily="34" charset="0"/>
              </a:rPr>
              <a:t> </a:t>
            </a:r>
            <a:r>
              <a:rPr lang="en-US" b="1" dirty="0"/>
              <a:t> </a:t>
            </a:r>
          </a:p>
        </p:txBody>
      </p:sp>
    </p:spTree>
    <p:extLst>
      <p:ext uri="{BB962C8B-B14F-4D97-AF65-F5344CB8AC3E}">
        <p14:creationId xmlns:p14="http://schemas.microsoft.com/office/powerpoint/2010/main" val="37534530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19. Three equal glasses are filled with mixtures of milk and water. The proportion of milk and water in each glass is as follows. In the first glass as 3 : 1, in the second glass as 5 : 3 and in the third as 9 : 7. The contents of the three glasses are emptied into a single vessel. What is the proportion of milk and water in it? </a:t>
            </a:r>
          </a:p>
          <a:p>
            <a:pPr>
              <a:buNone/>
            </a:pPr>
            <a:r>
              <a:rPr lang="en-US" b="1" dirty="0">
                <a:latin typeface="+mn-lt"/>
              </a:rPr>
              <a:t>(1) 31 : 17 	(2) 17 : 31 	(3) 15 : 31 	(4) 31 : 15 	(5) None of these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8E8D5FA-2E56-7119-2B3D-4F5F76A898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018624-5A7E-06F7-59F3-8B0351FF42E6}"/>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404ED4BB-AEC4-9907-5E53-4E6C32BBE6F4}"/>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19. Three equal glasses are filled with mixtures of milk and water. The proportion of milk and water in each glass is as follows. In the first glass as 3 : 1, in the second glass as 5 : 3 and in the third as 9 : 7. The contents of the three glasses are emptied into a single vessel. What is the proportion of milk and water in it? </a:t>
            </a:r>
          </a:p>
          <a:p>
            <a:pPr>
              <a:buNone/>
            </a:pPr>
            <a:r>
              <a:rPr lang="en-US" b="1" dirty="0">
                <a:solidFill>
                  <a:srgbClr val="FF0000"/>
                </a:solidFill>
                <a:latin typeface="+mn-lt"/>
              </a:rPr>
              <a:t>(1) 31 : 17 </a:t>
            </a:r>
            <a:r>
              <a:rPr lang="en-US" b="1" dirty="0">
                <a:latin typeface="+mn-lt"/>
              </a:rPr>
              <a:t>	(2) 17 : 31 	(3) 15 : 31 	(4) 31 : 15 	(5) None of these </a:t>
            </a:r>
          </a:p>
        </p:txBody>
      </p:sp>
    </p:spTree>
    <p:extLst>
      <p:ext uri="{BB962C8B-B14F-4D97-AF65-F5344CB8AC3E}">
        <p14:creationId xmlns:p14="http://schemas.microsoft.com/office/powerpoint/2010/main" val="30424732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20. In an alloy, zinc and copper are in the ratio 3 : 4. In the second alloy the same elements are in the ratio 4 : 5. In what ratio should these two alloys be mixed to form a new alloy in which the two elements are in ratio 7 : 3? </a:t>
            </a:r>
          </a:p>
          <a:p>
            <a:pPr marL="457200" indent="-457200">
              <a:buAutoNum type="arabicParenBoth"/>
            </a:pPr>
            <a:r>
              <a:rPr lang="en-US" b="1" dirty="0">
                <a:latin typeface="+mn-lt"/>
              </a:rPr>
              <a:t>161 : 181 	(2) 181 : 181 	(3) 161 : 171 	(4) Not possible  (5) None of these  </a:t>
            </a:r>
          </a:p>
          <a:p>
            <a:pPr>
              <a:buNone/>
            </a:pPr>
            <a:r>
              <a:rPr lang="en-US" b="1" dirty="0">
                <a:latin typeface="Arial Black" pitchFamily="34" charset="0"/>
              </a:rPr>
              <a:t> </a:t>
            </a:r>
            <a:r>
              <a:rPr lang="en-US" b="1" dirty="0"/>
              <a:t> </a:t>
            </a:r>
          </a:p>
          <a:p>
            <a:pPr>
              <a:buNone/>
            </a:pPr>
            <a:r>
              <a:rPr lang="en-US" b="1" dirty="0"/>
              <a:t>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F243F72-691A-C8C5-E8C7-B9078FEBC7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EAB5D5-EF4D-3714-63E6-D38DD9F4C431}"/>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767CC99E-81BF-9DC4-F582-5803EC829099}"/>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20. In an alloy, zinc and copper are in the ratio 3 : 4. In the second alloy the same elements are in the ratio 4 : 5. In what ratio should these two alloys be mixed to form a new alloy in which the two elements are in ratio 7 : 3? </a:t>
            </a:r>
          </a:p>
          <a:p>
            <a:pPr marL="457200" indent="-457200">
              <a:buAutoNum type="arabicParenBoth"/>
            </a:pPr>
            <a:r>
              <a:rPr lang="en-US" b="1" dirty="0">
                <a:latin typeface="+mn-lt"/>
              </a:rPr>
              <a:t>161 : 181 	(2) 181 : 181 	(3) 161 : 171 </a:t>
            </a:r>
            <a:r>
              <a:rPr lang="en-US" b="1" dirty="0">
                <a:solidFill>
                  <a:srgbClr val="FF0000"/>
                </a:solidFill>
                <a:latin typeface="+mn-lt"/>
              </a:rPr>
              <a:t>	(4) Not possible  </a:t>
            </a:r>
            <a:r>
              <a:rPr lang="en-US" b="1" dirty="0">
                <a:latin typeface="+mn-lt"/>
              </a:rPr>
              <a:t>(5) None of these  </a:t>
            </a:r>
          </a:p>
          <a:p>
            <a:pPr>
              <a:buNone/>
            </a:pPr>
            <a:r>
              <a:rPr lang="en-US" b="1" dirty="0">
                <a:latin typeface="+mn-lt"/>
              </a:rPr>
              <a:t>  </a:t>
            </a:r>
          </a:p>
          <a:p>
            <a:pPr>
              <a:buNone/>
            </a:pPr>
            <a:r>
              <a:rPr lang="en-US" b="1" dirty="0"/>
              <a:t> </a:t>
            </a:r>
          </a:p>
        </p:txBody>
      </p:sp>
    </p:spTree>
    <p:extLst>
      <p:ext uri="{BB962C8B-B14F-4D97-AF65-F5344CB8AC3E}">
        <p14:creationId xmlns:p14="http://schemas.microsoft.com/office/powerpoint/2010/main" val="29457346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21. There are two vessels of equal capacity, one full of milk, and the second one-third full of water. The second vessel is then filled up out of the first, the contents of the second are then poured back into the first till it is full and then again, the contents of the first are poured back into the second till it is full. What is the proportion of milk in the second vessel? </a:t>
            </a:r>
          </a:p>
          <a:p>
            <a:pPr>
              <a:buNone/>
            </a:pPr>
            <a:r>
              <a:rPr lang="en-US" b="1" dirty="0">
                <a:latin typeface="+mn-lt"/>
              </a:rPr>
              <a:t>(1) Cannot possible 	(2) 20/27 	(3) 20/37 	(4) 7/27        (5) None of these  </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51456EF-194A-856A-0025-FB83D554ED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32C2D3-F777-092D-8C50-FDADA35D39BC}"/>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7FBA663C-8378-566E-3C7A-BB16F54BB20E}"/>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21. There are two vessels of equal capacity, one full of milk, and the second one-third full of water. The second vessel is then filled up out of the first, the contents of the second are then poured back into the first till it is full and then again, the contents of the first are poured back into the second till it is full. What is the proportion of milk in the second vessel? </a:t>
            </a:r>
          </a:p>
          <a:p>
            <a:pPr marL="457200" indent="-457200">
              <a:buAutoNum type="arabicParenBoth"/>
            </a:pPr>
            <a:r>
              <a:rPr lang="en-US" b="1" dirty="0">
                <a:latin typeface="+mn-lt"/>
              </a:rPr>
              <a:t>Cannot possible 	</a:t>
            </a:r>
            <a:r>
              <a:rPr lang="en-US" b="1" dirty="0">
                <a:solidFill>
                  <a:srgbClr val="FF0000"/>
                </a:solidFill>
                <a:latin typeface="+mn-lt"/>
              </a:rPr>
              <a:t>(2) 20/27 </a:t>
            </a:r>
            <a:r>
              <a:rPr lang="en-US" b="1" dirty="0">
                <a:latin typeface="+mn-lt"/>
              </a:rPr>
              <a:t>	(3) 20/37 	(4) 7/27        (5) None of these</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extLst>
      <p:ext uri="{BB962C8B-B14F-4D97-AF65-F5344CB8AC3E}">
        <p14:creationId xmlns:p14="http://schemas.microsoft.com/office/powerpoint/2010/main" val="34372080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22</a:t>
            </a:r>
            <a:r>
              <a:rPr lang="en-US" b="1" dirty="0"/>
              <a:t>. From a cask of wine, containing 64 liters, 8 liters are drawn out and the cask is filled up with water. If the same process is repeated a second, then a third time, what will be the proportion of wine to water in the resulting mixture? </a:t>
            </a:r>
          </a:p>
          <a:p>
            <a:pPr marL="457200" indent="-457200">
              <a:buAutoNum type="arabicParenBoth"/>
            </a:pPr>
            <a:r>
              <a:rPr lang="en-US" b="1" dirty="0"/>
              <a:t>343 : 169 	(2) 343 : 512 	(3) 169 : 343 	(4) 512 : 343 </a:t>
            </a:r>
          </a:p>
          <a:p>
            <a:pPr marL="457200" indent="-457200">
              <a:buNone/>
            </a:pPr>
            <a:r>
              <a:rPr lang="en-US" b="1" dirty="0"/>
              <a:t>(5) None of these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89106CA-8C02-CF77-4A87-05CEEEDC78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A2F21F-533B-C87D-BE1E-A27B9FEDA6F7}"/>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C3255738-D70C-9BB0-30E0-E2135FD2AE78}"/>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22. From a cask of wine, containing 64 liters, 8 liters are drawn out and the cask is filled up with water. If the same process is repeated a second, then a third time, what will be the proportion of wine to water in the resulting mixture? </a:t>
            </a:r>
          </a:p>
          <a:p>
            <a:pPr marL="457200" indent="-457200">
              <a:buAutoNum type="arabicParenBoth"/>
            </a:pPr>
            <a:r>
              <a:rPr lang="en-US" b="1" dirty="0">
                <a:solidFill>
                  <a:srgbClr val="FF0000"/>
                </a:solidFill>
                <a:latin typeface="+mn-lt"/>
              </a:rPr>
              <a:t>343 : 169 </a:t>
            </a:r>
            <a:r>
              <a:rPr lang="en-US" b="1" dirty="0">
                <a:latin typeface="+mn-lt"/>
              </a:rPr>
              <a:t>	(2) 343 : 512 	(3) 169 : 343 	(4) 512 : 343  (5) None of these</a:t>
            </a:r>
          </a:p>
        </p:txBody>
      </p:sp>
    </p:spTree>
    <p:extLst>
      <p:ext uri="{BB962C8B-B14F-4D97-AF65-F5344CB8AC3E}">
        <p14:creationId xmlns:p14="http://schemas.microsoft.com/office/powerpoint/2010/main" val="29495133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latin typeface="Arial Black" pitchFamily="34" charset="0"/>
              </a:rPr>
              <a:t>		ALLIGATION AND MIXTURE</a:t>
            </a:r>
          </a:p>
          <a:p>
            <a:pPr>
              <a:buNone/>
            </a:pPr>
            <a:r>
              <a:rPr lang="en-US" b="1" dirty="0">
                <a:latin typeface="+mn-lt"/>
              </a:rPr>
              <a:t>Q 23. A vessel contains 24 liters of milk. 4 liters are withdrawn and replaced by water. The process is repeated a second time. Find the ratio of milk to water in the resulting mixture? </a:t>
            </a:r>
          </a:p>
          <a:p>
            <a:pPr>
              <a:buNone/>
            </a:pPr>
            <a:r>
              <a:rPr lang="en-US" b="1" dirty="0">
                <a:latin typeface="+mn-lt"/>
              </a:rPr>
              <a:t>(1) 25 : 36 	(2) 36 : 11 	(3) 11 : 25 	(4) 25 : 11 	(5) None of these  </a:t>
            </a:r>
          </a:p>
          <a:p>
            <a:pPr>
              <a:buNone/>
            </a:pPr>
            <a:r>
              <a:rPr lang="en-US" b="1" dirty="0"/>
              <a:t>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9AF4E69-B621-1373-27FF-3B6254D6AC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7D0B64-93D1-7053-3A0B-36F7323CD804}"/>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A29B3A97-3065-F3F7-DA32-3EB219106C91}"/>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23. A vessel contains 24 liters of milk. 4 liters are withdrawn and replaced by water. The process is repeated a second time. Find the ratio of milk to water in the resulting mixture? </a:t>
            </a:r>
          </a:p>
          <a:p>
            <a:pPr>
              <a:buNone/>
            </a:pPr>
            <a:r>
              <a:rPr lang="en-US" b="1" dirty="0">
                <a:latin typeface="+mn-lt"/>
              </a:rPr>
              <a:t>(1) 25 : 36 	(2) 36 : 11 	(3) 11 : 25 	</a:t>
            </a:r>
            <a:r>
              <a:rPr lang="en-US" b="1" dirty="0">
                <a:solidFill>
                  <a:srgbClr val="FF0000"/>
                </a:solidFill>
                <a:latin typeface="+mn-lt"/>
              </a:rPr>
              <a:t>(4) 25 : 11 </a:t>
            </a:r>
            <a:r>
              <a:rPr lang="en-US" b="1" dirty="0">
                <a:latin typeface="+mn-lt"/>
              </a:rPr>
              <a:t>	(5) None of these  </a:t>
            </a:r>
          </a:p>
          <a:p>
            <a:pPr>
              <a:buNone/>
            </a:pPr>
            <a:r>
              <a:rPr lang="en-US" b="1" dirty="0"/>
              <a:t> </a:t>
            </a:r>
          </a:p>
        </p:txBody>
      </p:sp>
    </p:spTree>
    <p:extLst>
      <p:ext uri="{BB962C8B-B14F-4D97-AF65-F5344CB8AC3E}">
        <p14:creationId xmlns:p14="http://schemas.microsoft.com/office/powerpoint/2010/main" val="25733385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24. Eight liters are drawn off from a vessel full of water and substituted by pure milk. Again, eight liters of the mixture are drawn off and substituted by pure milk. If the vessel now contains water and milk in the ratio 9 : 40, find the capacity of the vessel. </a:t>
            </a:r>
          </a:p>
          <a:p>
            <a:pPr>
              <a:buNone/>
            </a:pPr>
            <a:r>
              <a:rPr lang="en-US" b="1" dirty="0">
                <a:latin typeface="+mn-lt"/>
              </a:rPr>
              <a:t>(1) 14 liters 	(2) 24 liters 	(3) 16 liters 	(4) 12 liters 	(5) None of these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746A67C-83C0-B92C-A6A3-5CBFE4873A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B71F8-A607-A6F3-AB11-866ECC505DE3}"/>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3FE6F2FE-1818-24F8-3DCB-750C13160943}"/>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mn-lt"/>
              </a:rPr>
              <a:t>Q 24. Eight liters are drawn off from a vessel full of water and substituted by pure milk. Again, eight liters of the mixture are drawn off and substituted by pure milk. If the vessel now contains water and milk in the ratio 9 : 40, find the capacity of the vessel. </a:t>
            </a:r>
          </a:p>
          <a:p>
            <a:pPr>
              <a:buNone/>
            </a:pPr>
            <a:r>
              <a:rPr lang="en-US" b="1" dirty="0">
                <a:solidFill>
                  <a:srgbClr val="FF0000"/>
                </a:solidFill>
                <a:latin typeface="+mn-lt"/>
              </a:rPr>
              <a:t>(1) 14 liters </a:t>
            </a:r>
            <a:r>
              <a:rPr lang="en-US" b="1" dirty="0">
                <a:latin typeface="+mn-lt"/>
              </a:rPr>
              <a:t>	(2) 24 liters 	(3) 16 liters 	(4) 12 liters 	(5) None of these</a:t>
            </a:r>
          </a:p>
        </p:txBody>
      </p:sp>
    </p:spTree>
    <p:extLst>
      <p:ext uri="{BB962C8B-B14F-4D97-AF65-F5344CB8AC3E}">
        <p14:creationId xmlns:p14="http://schemas.microsoft.com/office/powerpoint/2010/main" val="4254642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604695"/>
            <a:ext cx="11733048" cy="5344511"/>
          </a:xfrm>
        </p:spPr>
        <p:txBody>
          <a:bodyPr>
            <a:normAutofit/>
          </a:bodyPr>
          <a:lstStyle/>
          <a:p>
            <a:pPr>
              <a:buNone/>
            </a:pPr>
            <a:r>
              <a:rPr lang="en-US" sz="2000" b="1" dirty="0">
                <a:solidFill>
                  <a:schemeClr val="tx1">
                    <a:lumMod val="95000"/>
                    <a:lumOff val="5000"/>
                  </a:schemeClr>
                </a:solidFill>
                <a:latin typeface="Arial Black" pitchFamily="34" charset="0"/>
              </a:rPr>
              <a:t>		ALLIGATION AND MIXTURE</a:t>
            </a:r>
          </a:p>
          <a:p>
            <a:pPr>
              <a:buNone/>
            </a:pPr>
            <a:r>
              <a:rPr lang="en-US" b="1" dirty="0">
                <a:latin typeface="+mn-lt"/>
              </a:rPr>
              <a:t>Q 25. A 25-liters cylinder contains a mixture of oxygen and nitrogen, the volume of oxygen being 25% of total volume. A few liters of the mixture is released, and an equal amount of nitrogen is added. Then the same amount of the mixture as before is released and replaced by nitrogen for the second time. As a result, the oxygen content becomes 9% of the total volume. How many liters of mixture is released each time? </a:t>
            </a:r>
          </a:p>
          <a:p>
            <a:pPr marL="457200" indent="-457200">
              <a:buAutoNum type="arabicParenBoth"/>
            </a:pPr>
            <a:r>
              <a:rPr lang="en-US" b="1" dirty="0">
                <a:latin typeface="+mn-lt"/>
              </a:rPr>
              <a:t>15 liters 		(2) 10 liters 		(3) 14 liters 		(4) 18 liters </a:t>
            </a:r>
          </a:p>
          <a:p>
            <a:pPr marL="457200" indent="-457200">
              <a:buNone/>
            </a:pPr>
            <a:r>
              <a:rPr lang="en-US" b="1" dirty="0">
                <a:latin typeface="+mn-lt"/>
              </a:rPr>
              <a:t>(5) None of these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B594EF4-06C8-F700-2125-1CA49A7850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FC6562-50F5-C333-E6D1-0314734BBD30}"/>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70A283A3-3B03-53B7-0457-EF097EF20145}"/>
              </a:ext>
            </a:extLst>
          </p:cNvPr>
          <p:cNvSpPr>
            <a:spLocks noGrp="1"/>
          </p:cNvSpPr>
          <p:nvPr>
            <p:ph idx="1"/>
          </p:nvPr>
        </p:nvSpPr>
        <p:spPr>
          <a:xfrm>
            <a:off x="204952" y="584375"/>
            <a:ext cx="11733048" cy="5344511"/>
          </a:xfrm>
        </p:spPr>
        <p:txBody>
          <a:bodyPr>
            <a:normAutofit/>
          </a:bodyPr>
          <a:lstStyle/>
          <a:p>
            <a:pPr>
              <a:buNone/>
            </a:pPr>
            <a:r>
              <a:rPr lang="en-US" sz="2000" b="1" dirty="0">
                <a:solidFill>
                  <a:schemeClr val="tx1">
                    <a:lumMod val="95000"/>
                    <a:lumOff val="5000"/>
                  </a:schemeClr>
                </a:solidFill>
                <a:latin typeface="Arial Black" pitchFamily="34" charset="0"/>
              </a:rPr>
              <a:t>		ALLIGATION AND MIXTURE</a:t>
            </a:r>
          </a:p>
          <a:p>
            <a:pPr>
              <a:buNone/>
            </a:pPr>
            <a:r>
              <a:rPr lang="en-US" b="1" dirty="0">
                <a:latin typeface="+mn-lt"/>
              </a:rPr>
              <a:t>Q 25. A 25-liters cylinder contains a mixture of oxygen and nitrogen, the volume of oxygen being 25% of total volume. A few liters of the mixture is released, and an equal amount of nitrogen is added. Then the same amount of the mixture as before is released and replaced by nitrogen for the second time. As a result, the oxygen content becomes 9% of the total volume. How many liters of mixture is released each time? </a:t>
            </a:r>
          </a:p>
          <a:p>
            <a:pPr marL="457200" indent="-457200">
              <a:buAutoNum type="arabicParenBoth"/>
            </a:pPr>
            <a:r>
              <a:rPr lang="en-US" b="1" dirty="0">
                <a:latin typeface="+mn-lt"/>
              </a:rPr>
              <a:t>15 liters 		</a:t>
            </a:r>
            <a:r>
              <a:rPr lang="en-US" b="1" dirty="0">
                <a:solidFill>
                  <a:srgbClr val="FF0000"/>
                </a:solidFill>
                <a:latin typeface="+mn-lt"/>
              </a:rPr>
              <a:t>(2) 10 liters</a:t>
            </a:r>
            <a:r>
              <a:rPr lang="en-US" b="1" dirty="0">
                <a:latin typeface="+mn-lt"/>
              </a:rPr>
              <a:t> 		(3) 14 liters 		(4) 18 liters </a:t>
            </a:r>
          </a:p>
          <a:p>
            <a:pPr marL="457200" indent="-457200">
              <a:buNone/>
            </a:pPr>
            <a:r>
              <a:rPr lang="en-US" b="1" dirty="0">
                <a:latin typeface="+mn-lt"/>
              </a:rPr>
              <a:t>(5) None of these</a:t>
            </a:r>
          </a:p>
        </p:txBody>
      </p:sp>
    </p:spTree>
    <p:extLst>
      <p:ext uri="{BB962C8B-B14F-4D97-AF65-F5344CB8AC3E}">
        <p14:creationId xmlns:p14="http://schemas.microsoft.com/office/powerpoint/2010/main" val="38843064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C1534-5CF3-54E0-065D-2C1FF6255E35}"/>
              </a:ext>
            </a:extLst>
          </p:cNvPr>
          <p:cNvSpPr>
            <a:spLocks noGrp="1"/>
          </p:cNvSpPr>
          <p:nvPr>
            <p:ph type="title"/>
          </p:nvPr>
        </p:nvSpPr>
        <p:spPr>
          <a:xfrm>
            <a:off x="396240" y="590550"/>
            <a:ext cx="11399520" cy="3503930"/>
          </a:xfrm>
        </p:spPr>
        <p:txBody>
          <a:bodyPr>
            <a:noAutofit/>
          </a:bodyPr>
          <a:lstStyle/>
          <a:p>
            <a:pPr algn="ctr"/>
            <a:r>
              <a:rPr lang="en-IN" sz="5400" dirty="0">
                <a:solidFill>
                  <a:srgbClr val="FF0000"/>
                </a:solidFill>
                <a:latin typeface="+mn-lt"/>
              </a:rPr>
              <a:t>THANK YOU</a:t>
            </a:r>
          </a:p>
        </p:txBody>
      </p:sp>
    </p:spTree>
    <p:extLst>
      <p:ext uri="{BB962C8B-B14F-4D97-AF65-F5344CB8AC3E}">
        <p14:creationId xmlns:p14="http://schemas.microsoft.com/office/powerpoint/2010/main" val="33652980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sturPrep-Template.potx" id="{C3B8A6E5-A804-4E60-8D1B-A5B40FD32CD2}" vid="{258A70D1-D6EF-4570-8CD5-A0E127F22F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TesturPrep-Template</Template>
  <TotalTime>1193</TotalTime>
  <Words>4405</Words>
  <Application>Microsoft Office PowerPoint</Application>
  <PresentationFormat>Widescreen</PresentationFormat>
  <Paragraphs>227</Paragraphs>
  <Slides>52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Arial</vt:lpstr>
      <vt:lpstr>Arial Black</vt:lpstr>
      <vt:lpstr>Calibri</vt:lpstr>
      <vt:lpstr>Calibri Light</vt:lpstr>
      <vt:lpstr>Office Theme</vt:lpstr>
      <vt:lpstr>MIXTURE  &amp;  ALLIGATION</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-10 (CBSE)</dc:title>
  <dc:creator>anuj gupta</dc:creator>
  <cp:lastModifiedBy>Parveen  Kumar</cp:lastModifiedBy>
  <cp:revision>150</cp:revision>
  <dcterms:created xsi:type="dcterms:W3CDTF">2020-02-23T06:37:57Z</dcterms:created>
  <dcterms:modified xsi:type="dcterms:W3CDTF">2025-06-05T04:05:54Z</dcterms:modified>
</cp:coreProperties>
</file>