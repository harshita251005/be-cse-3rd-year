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303" r:id="rId2"/>
    <p:sldId id="256" r:id="rId3"/>
    <p:sldId id="278" r:id="rId4"/>
    <p:sldId id="301" r:id="rId5"/>
    <p:sldId id="279" r:id="rId6"/>
    <p:sldId id="257" r:id="rId7"/>
    <p:sldId id="280" r:id="rId8"/>
    <p:sldId id="258" r:id="rId9"/>
    <p:sldId id="281" r:id="rId10"/>
    <p:sldId id="262" r:id="rId11"/>
    <p:sldId id="305" r:id="rId12"/>
    <p:sldId id="264" r:id="rId13"/>
    <p:sldId id="287" r:id="rId14"/>
    <p:sldId id="265" r:id="rId15"/>
    <p:sldId id="304" r:id="rId16"/>
    <p:sldId id="266" r:id="rId17"/>
    <p:sldId id="289" r:id="rId18"/>
    <p:sldId id="267" r:id="rId19"/>
    <p:sldId id="290" r:id="rId20"/>
    <p:sldId id="268" r:id="rId21"/>
    <p:sldId id="291" r:id="rId22"/>
    <p:sldId id="269" r:id="rId23"/>
    <p:sldId id="292" r:id="rId24"/>
    <p:sldId id="270" r:id="rId25"/>
    <p:sldId id="293" r:id="rId26"/>
    <p:sldId id="272" r:id="rId27"/>
    <p:sldId id="295" r:id="rId28"/>
    <p:sldId id="273" r:id="rId29"/>
    <p:sldId id="296" r:id="rId30"/>
    <p:sldId id="275" r:id="rId31"/>
    <p:sldId id="298" r:id="rId32"/>
    <p:sldId id="276" r:id="rId33"/>
    <p:sldId id="299" r:id="rId34"/>
    <p:sldId id="277" r:id="rId35"/>
    <p:sldId id="300" r:id="rId36"/>
    <p:sldId id="302" r:id="rId37"/>
  </p:sldIdLst>
  <p:sldSz cx="12192000" cy="6858000"/>
  <p:notesSz cx="6858000" cy="9144000"/>
  <p:embeddedFontLst>
    <p:embeddedFont>
      <p:font typeface="Arial Black" panose="020B0A04020102020204" pitchFamily="34" charset="0"/>
      <p:regular r:id="rId39"/>
      <p:bold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hKBCat/0dCXzu4sWv39tpOEs9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92922F-3D29-445C-B6ED-E3FA9B5A5F44}">
  <a:tblStyle styleId="{9B92922F-3D29-445C-B6ED-E3FA9B5A5F4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a:extLst>
            <a:ext uri="{FF2B5EF4-FFF2-40B4-BE49-F238E27FC236}">
              <a16:creationId xmlns:a16="http://schemas.microsoft.com/office/drawing/2014/main" id="{C638B661-29C8-E40D-90C3-3F61281CF3DE}"/>
            </a:ext>
          </a:extLst>
        </p:cNvPr>
        <p:cNvGrpSpPr/>
        <p:nvPr/>
      </p:nvGrpSpPr>
      <p:grpSpPr>
        <a:xfrm>
          <a:off x="0" y="0"/>
          <a:ext cx="0" cy="0"/>
          <a:chOff x="0" y="0"/>
          <a:chExt cx="0" cy="0"/>
        </a:xfrm>
      </p:grpSpPr>
      <p:sp>
        <p:nvSpPr>
          <p:cNvPr id="227" name="Google Shape;227;p22:notes">
            <a:extLst>
              <a:ext uri="{FF2B5EF4-FFF2-40B4-BE49-F238E27FC236}">
                <a16:creationId xmlns:a16="http://schemas.microsoft.com/office/drawing/2014/main" id="{6BF6C9BF-60DA-0550-FCAE-01B62E92073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2:notes">
            <a:extLst>
              <a:ext uri="{FF2B5EF4-FFF2-40B4-BE49-F238E27FC236}">
                <a16:creationId xmlns:a16="http://schemas.microsoft.com/office/drawing/2014/main" id="{C231EBFC-50B6-E91A-A2B8-B897652F99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7548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5313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5889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1316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7529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6072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72A81A0D-9BC2-8684-01C1-9ACE2C1CA244}"/>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74597D21-BDD2-2978-2DF8-53F65CD3FA52}"/>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742F64BF-C85E-DEEF-0CC0-CB3BB2DF8C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636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81819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7413686-DAEB-9AC3-59FA-A535C77BDB74}"/>
            </a:ext>
          </a:extLst>
        </p:cNvPr>
        <p:cNvGrpSpPr/>
        <p:nvPr/>
      </p:nvGrpSpPr>
      <p:grpSpPr>
        <a:xfrm>
          <a:off x="0" y="0"/>
          <a:ext cx="0" cy="0"/>
          <a:chOff x="0" y="0"/>
          <a:chExt cx="0" cy="0"/>
        </a:xfrm>
      </p:grpSpPr>
      <p:sp>
        <p:nvSpPr>
          <p:cNvPr id="154" name="Google Shape;154;p10:notes">
            <a:extLst>
              <a:ext uri="{FF2B5EF4-FFF2-40B4-BE49-F238E27FC236}">
                <a16:creationId xmlns:a16="http://schemas.microsoft.com/office/drawing/2014/main" id="{038D9B1E-4893-85DF-3D4F-141DFB883B5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0:notes">
            <a:extLst>
              <a:ext uri="{FF2B5EF4-FFF2-40B4-BE49-F238E27FC236}">
                <a16:creationId xmlns:a16="http://schemas.microsoft.com/office/drawing/2014/main" id="{E4CF4BE8-A11E-E869-4FFC-4C0068569C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0483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0524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4507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9465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10233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36861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26102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0650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753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84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71112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661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userDrawn="1">
  <p:cSld name="OBJECT">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7"/>
        <p:cNvGrpSpPr/>
        <p:nvPr/>
      </p:nvGrpSpPr>
      <p:grpSpPr>
        <a:xfrm>
          <a:off x="0" y="0"/>
          <a:ext cx="0" cy="0"/>
          <a:chOff x="0" y="0"/>
          <a:chExt cx="0" cy="0"/>
        </a:xfrm>
      </p:grpSpPr>
      <p:sp>
        <p:nvSpPr>
          <p:cNvPr id="28" name="Google Shape;28;p2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_Title and Content">
  <p:cSld name="1_Title and Content">
    <p:spTree>
      <p:nvGrpSpPr>
        <p:cNvPr id="1" name="Shape 33"/>
        <p:cNvGrpSpPr/>
        <p:nvPr/>
      </p:nvGrpSpPr>
      <p:grpSpPr>
        <a:xfrm>
          <a:off x="0" y="0"/>
          <a:ext cx="0" cy="0"/>
          <a:chOff x="0" y="0"/>
          <a:chExt cx="0" cy="0"/>
        </a:xfrm>
      </p:grpSpPr>
      <p:sp>
        <p:nvSpPr>
          <p:cNvPr id="34" name="Google Shape;34;p26"/>
          <p:cNvSpPr txBox="1">
            <a:spLocks noGrp="1"/>
          </p:cNvSpPr>
          <p:nvPr>
            <p:ph type="title"/>
          </p:nvPr>
        </p:nvSpPr>
        <p:spPr>
          <a:xfrm>
            <a:off x="304800" y="270933"/>
            <a:ext cx="11582400" cy="745067"/>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3600"/>
              <a:buFont typeface="Arial"/>
              <a:buNone/>
              <a:defRPr sz="3600" b="1">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6"/>
          <p:cNvSpPr txBox="1">
            <a:spLocks noGrp="1"/>
          </p:cNvSpPr>
          <p:nvPr>
            <p:ph type="body" idx="1"/>
          </p:nvPr>
        </p:nvSpPr>
        <p:spPr>
          <a:xfrm>
            <a:off x="304800" y="1185333"/>
            <a:ext cx="11582400" cy="499163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304800" y="6380692"/>
            <a:ext cx="3276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8069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599" y="6356350"/>
            <a:ext cx="327659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9" name="Google Shape;39;p26"/>
          <p:cNvSpPr/>
          <p:nvPr/>
        </p:nvSpPr>
        <p:spPr>
          <a:xfrm>
            <a:off x="3706812" y="981604"/>
            <a:ext cx="4879976" cy="4879976"/>
          </a:xfrm>
          <a:prstGeom prst="rect">
            <a:avLst/>
          </a:prstGeom>
          <a:blipFill rotWithShape="1">
            <a:blip r:embed="rId2">
              <a:alphaModFix amt="32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6"/>
        <p:cNvGrpSpPr/>
        <p:nvPr/>
      </p:nvGrpSpPr>
      <p:grpSpPr>
        <a:xfrm>
          <a:off x="0" y="0"/>
          <a:ext cx="0" cy="0"/>
          <a:chOff x="0" y="0"/>
          <a:chExt cx="0" cy="0"/>
        </a:xfrm>
      </p:grpSpPr>
      <p:sp>
        <p:nvSpPr>
          <p:cNvPr id="47" name="Google Shape;4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3"/>
        <p:cNvGrpSpPr/>
        <p:nvPr/>
      </p:nvGrpSpPr>
      <p:grpSpPr>
        <a:xfrm>
          <a:off x="0" y="0"/>
          <a:ext cx="0" cy="0"/>
          <a:chOff x="0" y="0"/>
          <a:chExt cx="0" cy="0"/>
        </a:xfrm>
      </p:grpSpPr>
      <p:sp>
        <p:nvSpPr>
          <p:cNvPr id="54" name="Google Shape;54;p2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2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2"/>
        <p:cNvGrpSpPr/>
        <p:nvPr/>
      </p:nvGrpSpPr>
      <p:grpSpPr>
        <a:xfrm>
          <a:off x="0" y="0"/>
          <a:ext cx="0" cy="0"/>
          <a:chOff x="0" y="0"/>
          <a:chExt cx="0" cy="0"/>
        </a:xfrm>
      </p:grpSpPr>
      <p:sp>
        <p:nvSpPr>
          <p:cNvPr id="63" name="Google Shape;6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7"/>
        <p:cNvGrpSpPr/>
        <p:nvPr/>
      </p:nvGrpSpPr>
      <p:grpSpPr>
        <a:xfrm>
          <a:off x="0" y="0"/>
          <a:ext cx="0" cy="0"/>
          <a:chOff x="0" y="0"/>
          <a:chExt cx="0" cy="0"/>
        </a:xfrm>
      </p:grpSpPr>
      <p:sp>
        <p:nvSpPr>
          <p:cNvPr id="68" name="Google Shape;68;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1"/>
        <p:cNvGrpSpPr/>
        <p:nvPr/>
      </p:nvGrpSpPr>
      <p:grpSpPr>
        <a:xfrm>
          <a:off x="0" y="0"/>
          <a:ext cx="0" cy="0"/>
          <a:chOff x="0" y="0"/>
          <a:chExt cx="0" cy="0"/>
        </a:xfrm>
      </p:grpSpPr>
      <p:sp>
        <p:nvSpPr>
          <p:cNvPr id="72" name="Google Shape;72;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3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3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3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3"/>
          <p:cNvSpPr>
            <a:spLocks noGrp="1"/>
          </p:cNvSpPr>
          <p:nvPr>
            <p:ph type="pic" idx="2"/>
          </p:nvPr>
        </p:nvSpPr>
        <p:spPr>
          <a:xfrm>
            <a:off x="5183188" y="987425"/>
            <a:ext cx="6172200" cy="4873625"/>
          </a:xfrm>
          <a:prstGeom prst="rect">
            <a:avLst/>
          </a:prstGeom>
          <a:noFill/>
          <a:ln>
            <a:noFill/>
          </a:ln>
        </p:spPr>
      </p:sp>
      <p:sp>
        <p:nvSpPr>
          <p:cNvPr id="81" name="Google Shape;81;p3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5"/>
        <p:cNvGrpSpPr/>
        <p:nvPr/>
      </p:nvGrpSpPr>
      <p:grpSpPr>
        <a:xfrm>
          <a:off x="0" y="0"/>
          <a:ext cx="0" cy="0"/>
          <a:chOff x="0" y="0"/>
          <a:chExt cx="0" cy="0"/>
        </a:xfrm>
      </p:grpSpPr>
      <p:sp>
        <p:nvSpPr>
          <p:cNvPr id="86" name="Google Shape;86;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3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3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3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229">
          <a:extLst>
            <a:ext uri="{FF2B5EF4-FFF2-40B4-BE49-F238E27FC236}">
              <a16:creationId xmlns:a16="http://schemas.microsoft.com/office/drawing/2014/main" id="{4CE504C2-AE24-86F2-8A8F-6144CCB3F6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3A50CF-01C9-B0F8-89BF-3F359779C477}"/>
              </a:ext>
            </a:extLst>
          </p:cNvPr>
          <p:cNvSpPr txBox="1"/>
          <p:nvPr/>
        </p:nvSpPr>
        <p:spPr>
          <a:xfrm>
            <a:off x="921895" y="697021"/>
            <a:ext cx="10348210" cy="830997"/>
          </a:xfrm>
          <a:prstGeom prst="rect">
            <a:avLst/>
          </a:prstGeom>
          <a:noFill/>
        </p:spPr>
        <p:txBody>
          <a:bodyPr wrap="square" rtlCol="0">
            <a:spAutoFit/>
          </a:bodyPr>
          <a:lstStyle/>
          <a:p>
            <a:r>
              <a:rPr lang="en-US" sz="4800" b="1" dirty="0">
                <a:solidFill>
                  <a:srgbClr val="FF0000"/>
                </a:solidFill>
                <a:latin typeface="Arial Black" panose="020B0A04020102020204" pitchFamily="34" charset="0"/>
              </a:rPr>
              <a:t>M</a:t>
            </a:r>
            <a:r>
              <a:rPr lang="en-IN" sz="4800" b="1" dirty="0">
                <a:solidFill>
                  <a:srgbClr val="FF0000"/>
                </a:solidFill>
                <a:latin typeface="Arial Black" panose="020B0A04020102020204" pitchFamily="34" charset="0"/>
              </a:rPr>
              <a:t>ATHEMATICAL OPERATION</a:t>
            </a:r>
          </a:p>
        </p:txBody>
      </p:sp>
    </p:spTree>
    <p:extLst>
      <p:ext uri="{BB962C8B-B14F-4D97-AF65-F5344CB8AC3E}">
        <p14:creationId xmlns:p14="http://schemas.microsoft.com/office/powerpoint/2010/main" val="1410742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29476" y="1053202"/>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sz="3600" b="1" dirty="0">
                <a:solidFill>
                  <a:srgbClr val="FF0000"/>
                </a:solidFill>
                <a:latin typeface="Arial Black"/>
                <a:ea typeface="Arial Black"/>
                <a:cs typeface="Arial Black"/>
                <a:sym typeface="Arial Black"/>
              </a:rPr>
              <a:t>MATHEMATICAL OPERATION</a:t>
            </a:r>
            <a:endParaRPr sz="3600" dirty="0">
              <a:solidFill>
                <a:srgbClr val="FF0000"/>
              </a:solidFill>
            </a:endParaRPr>
          </a:p>
          <a:p>
            <a:pPr marL="228600" lvl="0" indent="-228600" algn="l" rtl="0">
              <a:lnSpc>
                <a:spcPct val="90000"/>
              </a:lnSpc>
              <a:spcBef>
                <a:spcPts val="1000"/>
              </a:spcBef>
              <a:spcAft>
                <a:spcPts val="0"/>
              </a:spcAft>
              <a:buClr>
                <a:schemeClr val="dk1"/>
              </a:buClr>
              <a:buSzPts val="2400"/>
              <a:buNone/>
            </a:pPr>
            <a:r>
              <a:rPr lang="en-IN" b="1" dirty="0"/>
              <a:t>Basic math operations include four basic operations:</a:t>
            </a:r>
          </a:p>
          <a:p>
            <a:pPr marL="228600" lvl="0" indent="-228600" algn="l" rtl="0">
              <a:lnSpc>
                <a:spcPct val="90000"/>
              </a:lnSpc>
              <a:spcBef>
                <a:spcPts val="1000"/>
              </a:spcBef>
              <a:spcAft>
                <a:spcPts val="0"/>
              </a:spcAft>
              <a:buClr>
                <a:schemeClr val="dk1"/>
              </a:buClr>
              <a:buSzPts val="2400"/>
              <a:buNone/>
            </a:pPr>
            <a:r>
              <a:rPr lang="en-IN" b="1" dirty="0"/>
              <a:t>● Addition (+)</a:t>
            </a:r>
          </a:p>
          <a:p>
            <a:pPr marL="228600" lvl="0" indent="-228600" algn="l" rtl="0">
              <a:lnSpc>
                <a:spcPct val="90000"/>
              </a:lnSpc>
              <a:spcBef>
                <a:spcPts val="1000"/>
              </a:spcBef>
              <a:spcAft>
                <a:spcPts val="0"/>
              </a:spcAft>
              <a:buClr>
                <a:schemeClr val="dk1"/>
              </a:buClr>
              <a:buSzPts val="2400"/>
              <a:buNone/>
            </a:pPr>
            <a:r>
              <a:rPr lang="en-IN" b="1" dirty="0"/>
              <a:t>● Subtraction (-)</a:t>
            </a:r>
          </a:p>
          <a:p>
            <a:pPr marL="228600" lvl="0" indent="-228600" algn="l" rtl="0">
              <a:lnSpc>
                <a:spcPct val="90000"/>
              </a:lnSpc>
              <a:spcBef>
                <a:spcPts val="1000"/>
              </a:spcBef>
              <a:spcAft>
                <a:spcPts val="0"/>
              </a:spcAft>
              <a:buClr>
                <a:schemeClr val="dk1"/>
              </a:buClr>
              <a:buSzPts val="2400"/>
              <a:buNone/>
            </a:pPr>
            <a:r>
              <a:rPr lang="en-IN" b="1" dirty="0"/>
              <a:t>● Multiplication (* or x) and</a:t>
            </a:r>
          </a:p>
          <a:p>
            <a:pPr marL="228600" lvl="0" indent="-228600" algn="l" rtl="0">
              <a:lnSpc>
                <a:spcPct val="90000"/>
              </a:lnSpc>
              <a:spcBef>
                <a:spcPts val="1000"/>
              </a:spcBef>
              <a:spcAft>
                <a:spcPts val="0"/>
              </a:spcAft>
              <a:buClr>
                <a:schemeClr val="dk1"/>
              </a:buClr>
              <a:buSzPts val="2400"/>
              <a:buNone/>
            </a:pPr>
            <a:r>
              <a:rPr lang="en-IN" b="1" dirty="0"/>
              <a:t>● Division ( : or /)</a:t>
            </a:r>
          </a:p>
          <a:p>
            <a:pPr marL="228600" lvl="0" indent="-228600" algn="l" rtl="0">
              <a:lnSpc>
                <a:spcPct val="90000"/>
              </a:lnSpc>
              <a:spcBef>
                <a:spcPts val="1000"/>
              </a:spcBef>
              <a:spcAft>
                <a:spcPts val="0"/>
              </a:spcAft>
              <a:buClr>
                <a:schemeClr val="dk1"/>
              </a:buClr>
              <a:buSzPts val="2400"/>
              <a:buNone/>
            </a:pPr>
            <a:endParaRPr lang="en-IN" b="1" dirty="0"/>
          </a:p>
          <a:p>
            <a:pPr marL="228600" lvl="0" indent="-228600" algn="l" rtl="0">
              <a:lnSpc>
                <a:spcPct val="90000"/>
              </a:lnSpc>
              <a:spcBef>
                <a:spcPts val="1000"/>
              </a:spcBef>
              <a:spcAft>
                <a:spcPts val="0"/>
              </a:spcAft>
              <a:buClr>
                <a:schemeClr val="dk1"/>
              </a:buClr>
              <a:buSzPts val="2400"/>
              <a:buNone/>
            </a:pPr>
            <a:r>
              <a:rPr lang="en-IN" b="1" dirty="0"/>
              <a:t>These operations are commonly called arithmetic operations. Arithmetic is the oldest and most elementary branch of mathematics.</a:t>
            </a: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pic>
        <p:nvPicPr>
          <p:cNvPr id="4" name="Picture 3">
            <a:extLst>
              <a:ext uri="{FF2B5EF4-FFF2-40B4-BE49-F238E27FC236}">
                <a16:creationId xmlns:a16="http://schemas.microsoft.com/office/drawing/2014/main" id="{059D7C48-897B-1EF8-523E-5C3EA592D48D}"/>
              </a:ext>
            </a:extLst>
          </p:cNvPr>
          <p:cNvPicPr>
            <a:picLocks noChangeAspect="1"/>
          </p:cNvPicPr>
          <p:nvPr/>
        </p:nvPicPr>
        <p:blipFill>
          <a:blip r:embed="rId3"/>
          <a:stretch>
            <a:fillRect/>
          </a:stretch>
        </p:blipFill>
        <p:spPr>
          <a:xfrm>
            <a:off x="2344237" y="2854961"/>
            <a:ext cx="7315200" cy="2514600"/>
          </a:xfrm>
          <a:prstGeom prst="rect">
            <a:avLst/>
          </a:prstGeom>
        </p:spPr>
      </p:pic>
      <p:sp>
        <p:nvSpPr>
          <p:cNvPr id="6" name="TextBox 5">
            <a:extLst>
              <a:ext uri="{FF2B5EF4-FFF2-40B4-BE49-F238E27FC236}">
                <a16:creationId xmlns:a16="http://schemas.microsoft.com/office/drawing/2014/main" id="{B04D92E2-BB8E-7401-D15D-3E09357A13A8}"/>
              </a:ext>
            </a:extLst>
          </p:cNvPr>
          <p:cNvSpPr txBox="1"/>
          <p:nvPr/>
        </p:nvSpPr>
        <p:spPr>
          <a:xfrm>
            <a:off x="335280" y="861750"/>
            <a:ext cx="11778163" cy="1938992"/>
          </a:xfrm>
          <a:prstGeom prst="rect">
            <a:avLst/>
          </a:prstGeom>
          <a:noFill/>
        </p:spPr>
        <p:txBody>
          <a:bodyPr wrap="square">
            <a:spAutoFit/>
          </a:bodyPr>
          <a:lstStyle/>
          <a:p>
            <a:r>
              <a:rPr lang="en-IN" sz="2400" b="1" dirty="0"/>
              <a:t>For every type of Mathematical operations question, you must know only one rule i.e. BODMAS. It is “Brackets, Orders, Division, Multiplication, Addition, and Subtraction. It means you must solve any equation in the BODMAS order. First, open the brackets, then solve the powers or roots, then perform Division followed by multiplication, Addition and subtraction</a:t>
            </a:r>
          </a:p>
        </p:txBody>
      </p:sp>
    </p:spTree>
    <p:extLst>
      <p:ext uri="{BB962C8B-B14F-4D97-AF65-F5344CB8AC3E}">
        <p14:creationId xmlns:p14="http://schemas.microsoft.com/office/powerpoint/2010/main" val="4251519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 </a:t>
            </a:r>
            <a:r>
              <a:rPr lang="en-US" b="1" dirty="0">
                <a:latin typeface="Arial" panose="020B0604020202020204" pitchFamily="34" charset="0"/>
                <a:cs typeface="Arial" panose="020B0604020202020204" pitchFamily="34" charset="0"/>
              </a:rPr>
              <a:t>If ‘&lt;’ means ‘minus’, ‘&gt;’ means ‘plus’, ‘=’ means ‘multiplied by’ and ‘$’ means ‘divided by’, then what would be the value of 27 &gt; 81 $ 9 &lt; 6?</a:t>
            </a:r>
            <a:endParaRPr b="1"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33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36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54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605558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00"/>
        <p:cNvGrpSpPr/>
        <p:nvPr/>
      </p:nvGrpSpPr>
      <p:grpSpPr>
        <a:xfrm>
          <a:off x="0" y="0"/>
          <a:ext cx="0" cy="0"/>
          <a:chOff x="0" y="0"/>
          <a:chExt cx="0" cy="0"/>
        </a:xfrm>
      </p:grpSpPr>
      <p:sp>
        <p:nvSpPr>
          <p:cNvPr id="102" name="Google Shape;102;p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 </a:t>
            </a:r>
            <a:r>
              <a:rPr lang="en-US" b="1" dirty="0">
                <a:latin typeface="Arial" panose="020B0604020202020204" pitchFamily="34" charset="0"/>
                <a:cs typeface="Arial" panose="020B0604020202020204" pitchFamily="34" charset="0"/>
              </a:rPr>
              <a:t>If ‘&lt;’ means ‘minus’, ‘&gt;’ means ‘plus’, ‘=’ means ‘multiplied by’ and ‘$’ means ‘divided by’, then what would be the value of 27 &gt; 81 $ 9 &lt; 6?</a:t>
            </a:r>
            <a:endParaRPr b="1"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33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36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54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(e) None of these</a:t>
            </a:r>
            <a:endParaRPr b="1" dirty="0">
              <a:solidFill>
                <a:srgbClr val="FF0000"/>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 </a:t>
            </a: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246475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8" name="Google Shape;108;p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 </a:t>
            </a:r>
            <a:r>
              <a:rPr lang="en-US" b="1" dirty="0">
                <a:latin typeface="Arial" panose="020B0604020202020204" pitchFamily="34" charset="0"/>
                <a:cs typeface="Arial" panose="020B0604020202020204" pitchFamily="34" charset="0"/>
              </a:rPr>
              <a:t>If ÷ means ×, × means +, + means – and – means ÷, find the value of 16 × 3 + 5 – 2 ÷ 4.</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9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10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19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29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06"/>
        <p:cNvGrpSpPr/>
        <p:nvPr/>
      </p:nvGrpSpPr>
      <p:grpSpPr>
        <a:xfrm>
          <a:off x="0" y="0"/>
          <a:ext cx="0" cy="0"/>
          <a:chOff x="0" y="0"/>
          <a:chExt cx="0" cy="0"/>
        </a:xfrm>
      </p:grpSpPr>
      <p:sp>
        <p:nvSpPr>
          <p:cNvPr id="108" name="Google Shape;108;p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2. </a:t>
            </a:r>
            <a:r>
              <a:rPr lang="en-US" b="1" dirty="0">
                <a:latin typeface="Arial" panose="020B0604020202020204" pitchFamily="34" charset="0"/>
                <a:cs typeface="Arial" panose="020B0604020202020204" pitchFamily="34" charset="0"/>
              </a:rPr>
              <a:t>If ÷ means ×, × means +, + means – and – means ÷, find the value of 16 × 3 + 5 – 2 ÷ 4.</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solidFill>
                  <a:srgbClr val="FF0000"/>
                </a:solidFill>
                <a:latin typeface="Arial" panose="020B0604020202020204" pitchFamily="34" charset="0"/>
                <a:cs typeface="Arial" panose="020B0604020202020204" pitchFamily="34" charset="0"/>
              </a:rPr>
              <a:t>9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10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19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29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23808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3. </a:t>
            </a:r>
            <a:r>
              <a:rPr lang="en-US" b="1" dirty="0">
                <a:latin typeface="Arial" panose="020B0604020202020204" pitchFamily="34" charset="0"/>
                <a:cs typeface="Arial" panose="020B0604020202020204" pitchFamily="34" charset="0"/>
              </a:rPr>
              <a:t>If + means -, - means ×, ÷ means + and × means ÷, then 15 – 3 + 10 × 5 ÷ 5 =?</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5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22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48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52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4" name="Google Shape;114;p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3. </a:t>
            </a:r>
            <a:r>
              <a:rPr lang="en-US" b="1" dirty="0">
                <a:latin typeface="Arial" panose="020B0604020202020204" pitchFamily="34" charset="0"/>
                <a:cs typeface="Arial" panose="020B0604020202020204" pitchFamily="34" charset="0"/>
              </a:rPr>
              <a:t>If + means -, - means ×, ÷ means + and × means ÷, then 15 – 3 + 10 × 5 ÷ 5 =?</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5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22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(c) 48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52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3793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40" name="Google Shape;140;p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40000" lnSpcReduction="20000"/>
          </a:bodyPr>
          <a:lstStyle/>
          <a:p>
            <a:pPr marL="228600" lvl="0" indent="-228600" algn="l" rtl="0">
              <a:lnSpc>
                <a:spcPct val="11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sz="7000" b="1" dirty="0">
                <a:solidFill>
                  <a:srgbClr val="0C0C0C"/>
                </a:solidFill>
                <a:latin typeface="Arial Black"/>
                <a:ea typeface="Arial Black"/>
                <a:cs typeface="Arial Black"/>
                <a:sym typeface="Arial Black"/>
              </a:rPr>
              <a:t>MATHEMATICAL OPERATION</a:t>
            </a:r>
            <a:endParaRPr sz="7000" dirty="0"/>
          </a:p>
          <a:p>
            <a:pPr marL="228600" lvl="0" indent="-228600" algn="l" rtl="0">
              <a:lnSpc>
                <a:spcPct val="110000"/>
              </a:lnSpc>
              <a:spcBef>
                <a:spcPts val="1000"/>
              </a:spcBef>
              <a:spcAft>
                <a:spcPts val="0"/>
              </a:spcAft>
              <a:buClr>
                <a:schemeClr val="dk1"/>
              </a:buClr>
              <a:buSzPts val="2400"/>
              <a:buNone/>
            </a:pPr>
            <a:r>
              <a:rPr lang="en-US" sz="7000" b="1" dirty="0">
                <a:latin typeface="Arial" panose="020B0604020202020204" pitchFamily="34" charset="0"/>
                <a:ea typeface="Arial Black"/>
                <a:cs typeface="Arial" panose="020B0604020202020204" pitchFamily="34" charset="0"/>
                <a:sym typeface="Arial Black"/>
              </a:rPr>
              <a:t>Q 4. </a:t>
            </a:r>
            <a:r>
              <a:rPr lang="en-US" sz="7000" b="1" dirty="0">
                <a:latin typeface="Arial" panose="020B0604020202020204" pitchFamily="34" charset="0"/>
                <a:cs typeface="Arial" panose="020B0604020202020204" pitchFamily="34" charset="0"/>
              </a:rPr>
              <a:t>If Q means ‘add to’, J means ‘multiply by’, T means ‘subtract from’ and K means ‘divide by’, then30 K 2 Q 3 J 6 T 5 =?</a:t>
            </a:r>
            <a:endParaRPr sz="7000" dirty="0">
              <a:latin typeface="Arial" panose="020B0604020202020204" pitchFamily="34" charset="0"/>
              <a:cs typeface="Arial" panose="020B0604020202020204" pitchFamily="34" charset="0"/>
            </a:endParaRPr>
          </a:p>
          <a:p>
            <a:pPr lvl="0" indent="-457200" algn="l" rtl="0">
              <a:lnSpc>
                <a:spcPct val="110000"/>
              </a:lnSpc>
              <a:spcBef>
                <a:spcPts val="1000"/>
              </a:spcBef>
              <a:spcAft>
                <a:spcPts val="0"/>
              </a:spcAft>
              <a:buClr>
                <a:schemeClr val="dk1"/>
              </a:buClr>
              <a:buSzPts val="2400"/>
              <a:buAutoNum type="alphaLcParenBoth"/>
            </a:pPr>
            <a:r>
              <a:rPr lang="en-US" sz="7000" b="1" dirty="0">
                <a:latin typeface="Arial" panose="020B0604020202020204" pitchFamily="34" charset="0"/>
                <a:cs typeface="Arial" panose="020B0604020202020204" pitchFamily="34" charset="0"/>
              </a:rPr>
              <a:t>18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(b) 28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(c) 31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(d) 103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(e) None of these</a:t>
            </a:r>
            <a:endParaRPr sz="7000" dirty="0">
              <a:latin typeface="Arial" panose="020B0604020202020204" pitchFamily="34" charset="0"/>
              <a:cs typeface="Arial" panose="020B0604020202020204" pitchFamily="34" charset="0"/>
            </a:endParaRPr>
          </a:p>
          <a:p>
            <a:pPr marL="228600" lvl="0" indent="-228600" algn="l" rtl="0">
              <a:lnSpc>
                <a:spcPct val="110000"/>
              </a:lnSpc>
              <a:spcBef>
                <a:spcPts val="1000"/>
              </a:spcBef>
              <a:spcAft>
                <a:spcPts val="0"/>
              </a:spcAft>
              <a:buClr>
                <a:schemeClr val="dk1"/>
              </a:buClr>
              <a:buSzPts val="2400"/>
              <a:buNone/>
            </a:pPr>
            <a:r>
              <a:rPr lang="en-US" sz="7000" b="1" dirty="0"/>
              <a:t> </a:t>
            </a:r>
            <a:endParaRPr sz="7000" dirty="0"/>
          </a:p>
          <a:p>
            <a:pPr marL="228600" lvl="0" indent="-228600" algn="l" rtl="0">
              <a:lnSpc>
                <a:spcPct val="110000"/>
              </a:lnSpc>
              <a:spcBef>
                <a:spcPts val="1000"/>
              </a:spcBef>
              <a:spcAft>
                <a:spcPts val="0"/>
              </a:spcAft>
              <a:buClr>
                <a:schemeClr val="dk1"/>
              </a:buClr>
              <a:buSzPts val="2400"/>
              <a:buNone/>
            </a:pPr>
            <a:endParaRPr b="1" dirty="0"/>
          </a:p>
          <a:p>
            <a:pPr marL="228600" lvl="0" indent="-228600" algn="l" rtl="0">
              <a:lnSpc>
                <a:spcPct val="11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11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38">
          <a:extLst>
            <a:ext uri="{FF2B5EF4-FFF2-40B4-BE49-F238E27FC236}">
              <a16:creationId xmlns:a16="http://schemas.microsoft.com/office/drawing/2014/main" id="{A9D270BD-DD96-0979-C1B5-73CBC0D87DD0}"/>
            </a:ext>
          </a:extLst>
        </p:cNvPr>
        <p:cNvGrpSpPr/>
        <p:nvPr/>
      </p:nvGrpSpPr>
      <p:grpSpPr>
        <a:xfrm>
          <a:off x="0" y="0"/>
          <a:ext cx="0" cy="0"/>
          <a:chOff x="0" y="0"/>
          <a:chExt cx="0" cy="0"/>
        </a:xfrm>
      </p:grpSpPr>
      <p:sp>
        <p:nvSpPr>
          <p:cNvPr id="140" name="Google Shape;140;p7">
            <a:extLst>
              <a:ext uri="{FF2B5EF4-FFF2-40B4-BE49-F238E27FC236}">
                <a16:creationId xmlns:a16="http://schemas.microsoft.com/office/drawing/2014/main" id="{B01FCBE6-4766-1958-6D09-AE0D7F983644}"/>
              </a:ext>
            </a:extLst>
          </p:cNvPr>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40000" lnSpcReduction="20000"/>
          </a:bodyPr>
          <a:lstStyle/>
          <a:p>
            <a:pPr marL="228600" lvl="0" indent="-228600" algn="l" rtl="0">
              <a:lnSpc>
                <a:spcPct val="11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sz="7000" b="1" dirty="0">
                <a:solidFill>
                  <a:srgbClr val="0C0C0C"/>
                </a:solidFill>
                <a:latin typeface="Arial Black"/>
                <a:ea typeface="Arial Black"/>
                <a:cs typeface="Arial Black"/>
                <a:sym typeface="Arial Black"/>
              </a:rPr>
              <a:t>MATHEMATICAL OPERATION</a:t>
            </a:r>
            <a:endParaRPr sz="7000" dirty="0"/>
          </a:p>
          <a:p>
            <a:pPr marL="228600" lvl="0" indent="-228600" algn="l" rtl="0">
              <a:lnSpc>
                <a:spcPct val="110000"/>
              </a:lnSpc>
              <a:spcBef>
                <a:spcPts val="1000"/>
              </a:spcBef>
              <a:spcAft>
                <a:spcPts val="0"/>
              </a:spcAft>
              <a:buClr>
                <a:schemeClr val="dk1"/>
              </a:buClr>
              <a:buSzPts val="2400"/>
              <a:buNone/>
            </a:pPr>
            <a:r>
              <a:rPr lang="en-US" sz="7000" b="1" dirty="0">
                <a:latin typeface="Arial" panose="020B0604020202020204" pitchFamily="34" charset="0"/>
                <a:ea typeface="Arial Black"/>
                <a:cs typeface="Arial" panose="020B0604020202020204" pitchFamily="34" charset="0"/>
                <a:sym typeface="Arial Black"/>
              </a:rPr>
              <a:t>Q 4. </a:t>
            </a:r>
            <a:r>
              <a:rPr lang="en-US" sz="7000" b="1" dirty="0">
                <a:latin typeface="Arial" panose="020B0604020202020204" pitchFamily="34" charset="0"/>
                <a:cs typeface="Arial" panose="020B0604020202020204" pitchFamily="34" charset="0"/>
              </a:rPr>
              <a:t>If Q means ‘add to’, J means ‘multiply by’, T means ‘subtract from’ and K means ‘divide by’, then30 K 2 Q 3 J 6 T 5 =?</a:t>
            </a:r>
            <a:endParaRPr sz="7000" dirty="0">
              <a:latin typeface="Arial" panose="020B0604020202020204" pitchFamily="34" charset="0"/>
              <a:cs typeface="Arial" panose="020B0604020202020204" pitchFamily="34" charset="0"/>
            </a:endParaRPr>
          </a:p>
          <a:p>
            <a:pPr lvl="0" indent="-457200" algn="l" rtl="0">
              <a:lnSpc>
                <a:spcPct val="110000"/>
              </a:lnSpc>
              <a:spcBef>
                <a:spcPts val="1000"/>
              </a:spcBef>
              <a:spcAft>
                <a:spcPts val="0"/>
              </a:spcAft>
              <a:buClr>
                <a:schemeClr val="dk1"/>
              </a:buClr>
              <a:buSzPts val="2400"/>
              <a:buAutoNum type="alphaLcParenBoth"/>
            </a:pPr>
            <a:r>
              <a:rPr lang="en-US" sz="7000" b="1" dirty="0">
                <a:latin typeface="Arial" panose="020B0604020202020204" pitchFamily="34" charset="0"/>
                <a:cs typeface="Arial" panose="020B0604020202020204" pitchFamily="34" charset="0"/>
              </a:rPr>
              <a:t>18                </a:t>
            </a:r>
          </a:p>
          <a:p>
            <a:pPr marL="0" lvl="0" indent="0" algn="l" rtl="0">
              <a:lnSpc>
                <a:spcPct val="110000"/>
              </a:lnSpc>
              <a:spcBef>
                <a:spcPts val="1000"/>
              </a:spcBef>
              <a:spcAft>
                <a:spcPts val="0"/>
              </a:spcAft>
              <a:buClr>
                <a:schemeClr val="dk1"/>
              </a:buClr>
              <a:buSzPts val="2400"/>
              <a:buNone/>
            </a:pPr>
            <a:r>
              <a:rPr lang="en-US" sz="7000" b="1" dirty="0">
                <a:solidFill>
                  <a:srgbClr val="FF0000"/>
                </a:solidFill>
                <a:latin typeface="Arial" panose="020B0604020202020204" pitchFamily="34" charset="0"/>
                <a:cs typeface="Arial" panose="020B0604020202020204" pitchFamily="34" charset="0"/>
              </a:rPr>
              <a:t>(b) 28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(c) 31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(d) 103         </a:t>
            </a:r>
          </a:p>
          <a:p>
            <a:pPr marL="0" lvl="0" indent="0" algn="l" rtl="0">
              <a:lnSpc>
                <a:spcPct val="110000"/>
              </a:lnSpc>
              <a:spcBef>
                <a:spcPts val="1000"/>
              </a:spcBef>
              <a:spcAft>
                <a:spcPts val="0"/>
              </a:spcAft>
              <a:buClr>
                <a:schemeClr val="dk1"/>
              </a:buClr>
              <a:buSzPts val="2400"/>
              <a:buNone/>
            </a:pPr>
            <a:r>
              <a:rPr lang="en-US" sz="7000" b="1" dirty="0">
                <a:latin typeface="Arial" panose="020B0604020202020204" pitchFamily="34" charset="0"/>
                <a:cs typeface="Arial" panose="020B0604020202020204" pitchFamily="34" charset="0"/>
              </a:rPr>
              <a:t>(e) None of these</a:t>
            </a:r>
            <a:endParaRPr sz="7000" dirty="0">
              <a:latin typeface="Arial" panose="020B0604020202020204" pitchFamily="34" charset="0"/>
              <a:cs typeface="Arial" panose="020B0604020202020204" pitchFamily="34" charset="0"/>
            </a:endParaRPr>
          </a:p>
          <a:p>
            <a:pPr marL="228600" lvl="0" indent="-228600" algn="l" rtl="0">
              <a:lnSpc>
                <a:spcPct val="110000"/>
              </a:lnSpc>
              <a:spcBef>
                <a:spcPts val="1000"/>
              </a:spcBef>
              <a:spcAft>
                <a:spcPts val="0"/>
              </a:spcAft>
              <a:buClr>
                <a:schemeClr val="dk1"/>
              </a:buClr>
              <a:buSzPts val="2400"/>
              <a:buNone/>
            </a:pPr>
            <a:r>
              <a:rPr lang="en-US" sz="7000" b="1" dirty="0"/>
              <a:t> </a:t>
            </a:r>
            <a:endParaRPr sz="7000" dirty="0"/>
          </a:p>
          <a:p>
            <a:pPr marL="228600" lvl="0" indent="-228600" algn="l" rtl="0">
              <a:lnSpc>
                <a:spcPct val="110000"/>
              </a:lnSpc>
              <a:spcBef>
                <a:spcPts val="1000"/>
              </a:spcBef>
              <a:spcAft>
                <a:spcPts val="0"/>
              </a:spcAft>
              <a:buClr>
                <a:schemeClr val="dk1"/>
              </a:buClr>
              <a:buSzPts val="2400"/>
              <a:buNone/>
            </a:pPr>
            <a:endParaRPr b="1" dirty="0"/>
          </a:p>
          <a:p>
            <a:pPr marL="228600" lvl="0" indent="-228600" algn="l" rtl="0">
              <a:lnSpc>
                <a:spcPct val="11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11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912428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2" name="Google Shape;152;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5. </a:t>
            </a:r>
            <a:r>
              <a:rPr lang="en-US" b="1" dirty="0">
                <a:latin typeface="Arial" panose="020B0604020202020204" pitchFamily="34" charset="0"/>
                <a:cs typeface="Arial" panose="020B0604020202020204" pitchFamily="34" charset="0"/>
              </a:rPr>
              <a:t>If ‘when’ means ‘×’, ‘you’ means ‘÷’, ‘come’ means ‘-‘ and ‘will’ means ‘+’, then what will be the value of “8 when 12 will 16 you 2 come 10”?</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45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94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96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112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2" name="Google Shape;152;p9"/>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5. </a:t>
            </a:r>
            <a:r>
              <a:rPr lang="en-US" b="1" dirty="0">
                <a:latin typeface="Arial" panose="020B0604020202020204" pitchFamily="34" charset="0"/>
                <a:cs typeface="Arial" panose="020B0604020202020204" pitchFamily="34" charset="0"/>
              </a:rPr>
              <a:t>If ‘when’ means ‘×’, ‘you’ means ‘÷’, ‘come’ means ‘-‘ and ‘will’ means ‘+’, then what will be the value of “8 when 12 will 16 you 2 come 10”?</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45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(b) 94 </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96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112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20942525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8" name="Google Shape;158;p1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25000" lnSpcReduction="2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sz="11200" b="1" dirty="0">
                <a:solidFill>
                  <a:srgbClr val="0C0C0C"/>
                </a:solidFill>
                <a:latin typeface="Arial Black"/>
                <a:ea typeface="Arial Black"/>
                <a:cs typeface="Arial Black"/>
                <a:sym typeface="Arial Black"/>
              </a:rPr>
              <a:t>	MATHEMATICAL OPERATION</a:t>
            </a:r>
            <a:endParaRPr sz="11200" dirty="0"/>
          </a:p>
          <a:p>
            <a:pPr marL="228600" lvl="0" indent="-228600" algn="l" rtl="0">
              <a:lnSpc>
                <a:spcPct val="90000"/>
              </a:lnSpc>
              <a:spcBef>
                <a:spcPts val="1000"/>
              </a:spcBef>
              <a:spcAft>
                <a:spcPts val="0"/>
              </a:spcAft>
              <a:buClr>
                <a:schemeClr val="dk1"/>
              </a:buClr>
              <a:buSzPts val="2400"/>
              <a:buNone/>
            </a:pPr>
            <a:endParaRPr lang="en-US" sz="5900"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sz="11200" b="1" dirty="0">
                <a:latin typeface="Arial" panose="020B0604020202020204" pitchFamily="34" charset="0"/>
                <a:ea typeface="Arial Black"/>
                <a:cs typeface="Arial" panose="020B0604020202020204" pitchFamily="34" charset="0"/>
                <a:sym typeface="Arial Black"/>
              </a:rPr>
              <a:t>Q 6. </a:t>
            </a:r>
            <a:r>
              <a:rPr lang="en-US" sz="11200" b="1" dirty="0">
                <a:latin typeface="Arial" panose="020B0604020202020204" pitchFamily="34" charset="0"/>
                <a:cs typeface="Arial" panose="020B0604020202020204" pitchFamily="34" charset="0"/>
              </a:rPr>
              <a:t>If A stands for +, B stands for -, C stands for ×, then what is the value of (10 C 4) A (4 C 4) B 6?</a:t>
            </a:r>
            <a:endParaRPr sz="11200"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sz="11200" b="1" dirty="0">
                <a:latin typeface="Arial" panose="020B0604020202020204" pitchFamily="34" charset="0"/>
                <a:cs typeface="Arial" panose="020B0604020202020204" pitchFamily="34" charset="0"/>
              </a:rPr>
              <a:t>60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(b) 56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(c) 50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(d) 46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(e) None of these</a:t>
            </a:r>
            <a:endParaRPr sz="112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sz="4000" b="1" dirty="0">
                <a:latin typeface="Arial" panose="020B0604020202020204" pitchFamily="34" charset="0"/>
                <a:cs typeface="Arial" panose="020B0604020202020204" pitchFamily="34" charset="0"/>
              </a:rPr>
              <a:t> </a:t>
            </a:r>
            <a:endParaRPr sz="4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56">
          <a:extLst>
            <a:ext uri="{FF2B5EF4-FFF2-40B4-BE49-F238E27FC236}">
              <a16:creationId xmlns:a16="http://schemas.microsoft.com/office/drawing/2014/main" id="{7FA8F581-A7B4-2B25-D72B-8EFBB7E87E0C}"/>
            </a:ext>
          </a:extLst>
        </p:cNvPr>
        <p:cNvGrpSpPr/>
        <p:nvPr/>
      </p:nvGrpSpPr>
      <p:grpSpPr>
        <a:xfrm>
          <a:off x="0" y="0"/>
          <a:ext cx="0" cy="0"/>
          <a:chOff x="0" y="0"/>
          <a:chExt cx="0" cy="0"/>
        </a:xfrm>
      </p:grpSpPr>
      <p:sp>
        <p:nvSpPr>
          <p:cNvPr id="158" name="Google Shape;158;p10">
            <a:extLst>
              <a:ext uri="{FF2B5EF4-FFF2-40B4-BE49-F238E27FC236}">
                <a16:creationId xmlns:a16="http://schemas.microsoft.com/office/drawing/2014/main" id="{E91A1648-B55D-FF63-8602-8A994E501743}"/>
              </a:ext>
            </a:extLst>
          </p:cNvPr>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25000" lnSpcReduction="2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a:t>
            </a:r>
            <a:r>
              <a:rPr lang="en-US" sz="11200" b="1" dirty="0">
                <a:solidFill>
                  <a:srgbClr val="0C0C0C"/>
                </a:solidFill>
                <a:latin typeface="Arial Black"/>
                <a:ea typeface="Arial Black"/>
                <a:cs typeface="Arial Black"/>
                <a:sym typeface="Arial Black"/>
              </a:rPr>
              <a:t>	MATHEMATICAL OPERATION</a:t>
            </a:r>
            <a:endParaRPr sz="11200" dirty="0"/>
          </a:p>
          <a:p>
            <a:pPr marL="228600" lvl="0" indent="-228600" algn="l" rtl="0">
              <a:lnSpc>
                <a:spcPct val="90000"/>
              </a:lnSpc>
              <a:spcBef>
                <a:spcPts val="1000"/>
              </a:spcBef>
              <a:spcAft>
                <a:spcPts val="0"/>
              </a:spcAft>
              <a:buClr>
                <a:schemeClr val="dk1"/>
              </a:buClr>
              <a:buSzPts val="2400"/>
              <a:buNone/>
            </a:pPr>
            <a:endParaRPr lang="en-US" sz="5900" b="1" dirty="0">
              <a:latin typeface="Arial" panose="020B0604020202020204" pitchFamily="34" charset="0"/>
              <a:ea typeface="Arial Black"/>
              <a:cs typeface="Arial" panose="020B0604020202020204" pitchFamily="34" charset="0"/>
              <a:sym typeface="Arial Black"/>
            </a:endParaRPr>
          </a:p>
          <a:p>
            <a:pPr marL="228600" lvl="0" indent="-228600" algn="l" rtl="0">
              <a:lnSpc>
                <a:spcPct val="90000"/>
              </a:lnSpc>
              <a:spcBef>
                <a:spcPts val="1000"/>
              </a:spcBef>
              <a:spcAft>
                <a:spcPts val="0"/>
              </a:spcAft>
              <a:buClr>
                <a:schemeClr val="dk1"/>
              </a:buClr>
              <a:buSzPts val="2400"/>
              <a:buNone/>
            </a:pPr>
            <a:r>
              <a:rPr lang="en-US" sz="11200" b="1" dirty="0">
                <a:latin typeface="Arial" panose="020B0604020202020204" pitchFamily="34" charset="0"/>
                <a:ea typeface="Arial Black"/>
                <a:cs typeface="Arial" panose="020B0604020202020204" pitchFamily="34" charset="0"/>
                <a:sym typeface="Arial Black"/>
              </a:rPr>
              <a:t>Q 6. </a:t>
            </a:r>
            <a:r>
              <a:rPr lang="en-US" sz="11200" b="1" dirty="0">
                <a:latin typeface="Arial" panose="020B0604020202020204" pitchFamily="34" charset="0"/>
                <a:cs typeface="Arial" panose="020B0604020202020204" pitchFamily="34" charset="0"/>
              </a:rPr>
              <a:t>If A stands for +, B stands for -, C stands for ×, then what is the value of (10 C 4) A (4 C 4) B 6?</a:t>
            </a:r>
            <a:endParaRPr sz="11200"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sz="11200" b="1" dirty="0">
                <a:latin typeface="Arial" panose="020B0604020202020204" pitchFamily="34" charset="0"/>
                <a:cs typeface="Arial" panose="020B0604020202020204" pitchFamily="34" charset="0"/>
              </a:rPr>
              <a:t>60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(b) 56           </a:t>
            </a:r>
          </a:p>
          <a:p>
            <a:pPr marL="0" lvl="0" indent="0" algn="l" rtl="0">
              <a:lnSpc>
                <a:spcPct val="90000"/>
              </a:lnSpc>
              <a:spcBef>
                <a:spcPts val="1000"/>
              </a:spcBef>
              <a:spcAft>
                <a:spcPts val="0"/>
              </a:spcAft>
              <a:buClr>
                <a:schemeClr val="dk1"/>
              </a:buClr>
              <a:buSzPts val="2400"/>
              <a:buNone/>
            </a:pPr>
            <a:r>
              <a:rPr lang="en-US" sz="11200" b="1" dirty="0">
                <a:solidFill>
                  <a:srgbClr val="FF0000"/>
                </a:solidFill>
                <a:latin typeface="Arial" panose="020B0604020202020204" pitchFamily="34" charset="0"/>
                <a:cs typeface="Arial" panose="020B0604020202020204" pitchFamily="34" charset="0"/>
              </a:rPr>
              <a:t>(c) 50 </a:t>
            </a:r>
            <a:r>
              <a:rPr lang="en-US" sz="11200"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(d) 46           </a:t>
            </a:r>
          </a:p>
          <a:p>
            <a:pPr marL="0" lvl="0" indent="0" algn="l" rtl="0">
              <a:lnSpc>
                <a:spcPct val="90000"/>
              </a:lnSpc>
              <a:spcBef>
                <a:spcPts val="1000"/>
              </a:spcBef>
              <a:spcAft>
                <a:spcPts val="0"/>
              </a:spcAft>
              <a:buClr>
                <a:schemeClr val="dk1"/>
              </a:buClr>
              <a:buSzPts val="2400"/>
              <a:buNone/>
            </a:pPr>
            <a:r>
              <a:rPr lang="en-US" sz="11200" b="1" dirty="0">
                <a:latin typeface="Arial" panose="020B0604020202020204" pitchFamily="34" charset="0"/>
                <a:cs typeface="Arial" panose="020B0604020202020204" pitchFamily="34" charset="0"/>
              </a:rPr>
              <a:t>(e) None of these</a:t>
            </a:r>
            <a:endParaRPr sz="112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sz="4000" b="1" dirty="0">
                <a:latin typeface="Arial" panose="020B0604020202020204" pitchFamily="34" charset="0"/>
                <a:cs typeface="Arial" panose="020B0604020202020204" pitchFamily="34" charset="0"/>
              </a:rPr>
              <a:t> </a:t>
            </a:r>
            <a:endParaRPr sz="4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latin typeface="Arial Black"/>
                <a:ea typeface="Arial Black"/>
                <a:cs typeface="Arial Black"/>
                <a:sym typeface="Arial Black"/>
              </a:rPr>
              <a:t> </a:t>
            </a: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633434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4" name="Google Shape;164;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Directions (Questions 7 to 10): In an imaginary language, the digits 0, 1, 2, 3, 4, 5, 6, 7, 8 and 9 are substituted by a, b, c, d, e, f, g, h, I and j. And 10 is written as </a:t>
            </a:r>
            <a:r>
              <a:rPr lang="en-US" b="1" dirty="0" err="1">
                <a:latin typeface="Arial" panose="020B0604020202020204" pitchFamily="34" charset="0"/>
                <a:cs typeface="Arial" panose="020B0604020202020204" pitchFamily="34" charset="0"/>
              </a:rPr>
              <a:t>ba</a:t>
            </a:r>
            <a:r>
              <a:rPr lang="en-US" b="1" dirty="0">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7. </a:t>
            </a:r>
            <a:r>
              <a:rPr lang="en-US" b="1" dirty="0">
                <a:latin typeface="Arial" panose="020B0604020202020204" pitchFamily="34" charset="0"/>
                <a:cs typeface="Arial" panose="020B0604020202020204" pitchFamily="34" charset="0"/>
              </a:rPr>
              <a:t>(cd + </a:t>
            </a:r>
            <a:r>
              <a:rPr lang="en-US" b="1" dirty="0" err="1">
                <a:latin typeface="Arial" panose="020B0604020202020204" pitchFamily="34" charset="0"/>
                <a:cs typeface="Arial" panose="020B0604020202020204" pitchFamily="34" charset="0"/>
              </a:rPr>
              <a:t>ef</a:t>
            </a:r>
            <a:r>
              <a:rPr lang="en-US" b="1" dirty="0">
                <a:latin typeface="Arial" panose="020B0604020202020204" pitchFamily="34" charset="0"/>
                <a:cs typeface="Arial" panose="020B0604020202020204" pitchFamily="34" charset="0"/>
              </a:rPr>
              <a:t>) × </a:t>
            </a:r>
            <a:r>
              <a:rPr lang="en-US" b="1" dirty="0" err="1">
                <a:latin typeface="Arial" panose="020B0604020202020204" pitchFamily="34" charset="0"/>
                <a:cs typeface="Arial" panose="020B0604020202020204" pitchFamily="34" charset="0"/>
              </a:rPr>
              <a:t>bc</a:t>
            </a:r>
            <a:r>
              <a:rPr lang="en-US" b="1" dirty="0">
                <a:latin typeface="Arial" panose="020B0604020202020204" pitchFamily="34" charset="0"/>
                <a:cs typeface="Arial" panose="020B0604020202020204" pitchFamily="34" charset="0"/>
              </a:rPr>
              <a:t>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684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816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916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1564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4" name="Google Shape;164;p1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Directions (Questions 7 to 10): In an imaginary language, the digits 0, 1, 2, 3, 4, 5, 6, 7, 8 and 9 are substituted by a, b, c, d, e, f, g, h, I and j. And 10 is written as </a:t>
            </a:r>
            <a:r>
              <a:rPr lang="en-US" b="1" dirty="0" err="1">
                <a:latin typeface="Arial" panose="020B0604020202020204" pitchFamily="34" charset="0"/>
                <a:cs typeface="Arial" panose="020B0604020202020204" pitchFamily="34" charset="0"/>
              </a:rPr>
              <a:t>ba</a:t>
            </a:r>
            <a:r>
              <a:rPr lang="en-US" b="1" dirty="0">
                <a:latin typeface="Arial" panose="020B0604020202020204" pitchFamily="34" charset="0"/>
                <a:cs typeface="Arial" panose="020B0604020202020204" pitchFamily="34" charset="0"/>
              </a:rPr>
              <a:t>.</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7. </a:t>
            </a:r>
            <a:r>
              <a:rPr lang="en-US" b="1" dirty="0">
                <a:latin typeface="Arial" panose="020B0604020202020204" pitchFamily="34" charset="0"/>
                <a:cs typeface="Arial" panose="020B0604020202020204" pitchFamily="34" charset="0"/>
              </a:rPr>
              <a:t>(cd + </a:t>
            </a:r>
            <a:r>
              <a:rPr lang="en-US" b="1" dirty="0" err="1">
                <a:latin typeface="Arial" panose="020B0604020202020204" pitchFamily="34" charset="0"/>
                <a:cs typeface="Arial" panose="020B0604020202020204" pitchFamily="34" charset="0"/>
              </a:rPr>
              <a:t>ef</a:t>
            </a:r>
            <a:r>
              <a:rPr lang="en-US" b="1" dirty="0">
                <a:latin typeface="Arial" panose="020B0604020202020204" pitchFamily="34" charset="0"/>
                <a:cs typeface="Arial" panose="020B0604020202020204" pitchFamily="34" charset="0"/>
              </a:rPr>
              <a:t>) × </a:t>
            </a:r>
            <a:r>
              <a:rPr lang="en-US" b="1" dirty="0" err="1">
                <a:latin typeface="Arial" panose="020B0604020202020204" pitchFamily="34" charset="0"/>
                <a:cs typeface="Arial" panose="020B0604020202020204" pitchFamily="34" charset="0"/>
              </a:rPr>
              <a:t>bc</a:t>
            </a:r>
            <a:r>
              <a:rPr lang="en-US" b="1" dirty="0">
                <a:latin typeface="Arial" panose="020B0604020202020204" pitchFamily="34" charset="0"/>
                <a:cs typeface="Arial" panose="020B0604020202020204" pitchFamily="34" charset="0"/>
              </a:rPr>
              <a:t>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684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(b) 816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916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1564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1679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70" name="Google Shape;170;p1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8. </a:t>
            </a:r>
            <a:r>
              <a:rPr lang="en-US" b="1" dirty="0" err="1">
                <a:latin typeface="Arial" panose="020B0604020202020204" pitchFamily="34" charset="0"/>
                <a:cs typeface="Arial" panose="020B0604020202020204" pitchFamily="34" charset="0"/>
              </a:rPr>
              <a:t>baf</a:t>
            </a:r>
            <a:r>
              <a:rPr lang="en-US" b="1" dirty="0">
                <a:latin typeface="Arial" panose="020B0604020202020204" pitchFamily="34" charset="0"/>
                <a:cs typeface="Arial" panose="020B0604020202020204" pitchFamily="34" charset="0"/>
              </a:rPr>
              <a:t> ÷ bf × d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err="1">
                <a:latin typeface="Arial" panose="020B0604020202020204" pitchFamily="34" charset="0"/>
                <a:cs typeface="Arial" panose="020B0604020202020204" pitchFamily="34" charset="0"/>
              </a:rPr>
              <a:t>df</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a:t>
            </a:r>
            <a:r>
              <a:rPr lang="en-US" b="1" dirty="0" err="1">
                <a:latin typeface="Arial" panose="020B0604020202020204" pitchFamily="34" charset="0"/>
                <a:cs typeface="Arial" panose="020B0604020202020204" pitchFamily="34" charset="0"/>
              </a:rPr>
              <a:t>cb</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be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d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68"/>
        <p:cNvGrpSpPr/>
        <p:nvPr/>
      </p:nvGrpSpPr>
      <p:grpSpPr>
        <a:xfrm>
          <a:off x="0" y="0"/>
          <a:ext cx="0" cy="0"/>
          <a:chOff x="0" y="0"/>
          <a:chExt cx="0" cy="0"/>
        </a:xfrm>
      </p:grpSpPr>
      <p:sp>
        <p:nvSpPr>
          <p:cNvPr id="170" name="Google Shape;170;p12"/>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8. </a:t>
            </a:r>
            <a:r>
              <a:rPr lang="en-US" b="1" dirty="0" err="1">
                <a:latin typeface="Arial" panose="020B0604020202020204" pitchFamily="34" charset="0"/>
                <a:cs typeface="Arial" panose="020B0604020202020204" pitchFamily="34" charset="0"/>
              </a:rPr>
              <a:t>baf</a:t>
            </a:r>
            <a:r>
              <a:rPr lang="en-US" b="1" dirty="0">
                <a:latin typeface="Arial" panose="020B0604020202020204" pitchFamily="34" charset="0"/>
                <a:cs typeface="Arial" panose="020B0604020202020204" pitchFamily="34" charset="0"/>
              </a:rPr>
              <a:t> ÷ bf × d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err="1">
                <a:latin typeface="Arial" panose="020B0604020202020204" pitchFamily="34" charset="0"/>
                <a:cs typeface="Arial" panose="020B0604020202020204" pitchFamily="34" charset="0"/>
              </a:rPr>
              <a:t>df</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(b) </a:t>
            </a:r>
            <a:r>
              <a:rPr lang="en-US" b="1" dirty="0" err="1">
                <a:solidFill>
                  <a:srgbClr val="FF0000"/>
                </a:solidFill>
                <a:latin typeface="Arial" panose="020B0604020202020204" pitchFamily="34" charset="0"/>
                <a:cs typeface="Arial" panose="020B0604020202020204" pitchFamily="34" charset="0"/>
              </a:rPr>
              <a:t>cb</a:t>
            </a:r>
            <a:r>
              <a:rPr lang="en-US" b="1" dirty="0">
                <a:solidFill>
                  <a:srgbClr val="FF0000"/>
                </a:solidFill>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be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d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30313968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6" name="Google Shape;176;p1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9. </a:t>
            </a:r>
            <a:r>
              <a:rPr lang="en-US" b="1" dirty="0">
                <a:latin typeface="Arial" panose="020B0604020202020204" pitchFamily="34" charset="0"/>
                <a:cs typeface="Arial" panose="020B0604020202020204" pitchFamily="34" charset="0"/>
              </a:rPr>
              <a:t>dc × f – (bf – d) × d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abb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a:t>
            </a:r>
            <a:r>
              <a:rPr lang="en-US" b="1" dirty="0" err="1">
                <a:latin typeface="Arial" panose="020B0604020202020204" pitchFamily="34" charset="0"/>
                <a:cs typeface="Arial" panose="020B0604020202020204" pitchFamily="34" charset="0"/>
              </a:rPr>
              <a:t>abe</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a:t>
            </a:r>
            <a:r>
              <a:rPr lang="en-US" b="1" dirty="0" err="1">
                <a:latin typeface="Arial" panose="020B0604020202020204" pitchFamily="34" charset="0"/>
                <a:cs typeface="Arial" panose="020B0604020202020204" pitchFamily="34" charset="0"/>
              </a:rPr>
              <a:t>bce</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bcf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74"/>
        <p:cNvGrpSpPr/>
        <p:nvPr/>
      </p:nvGrpSpPr>
      <p:grpSpPr>
        <a:xfrm>
          <a:off x="0" y="0"/>
          <a:ext cx="0" cy="0"/>
          <a:chOff x="0" y="0"/>
          <a:chExt cx="0" cy="0"/>
        </a:xfrm>
      </p:grpSpPr>
      <p:sp>
        <p:nvSpPr>
          <p:cNvPr id="176" name="Google Shape;176;p13"/>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9. </a:t>
            </a:r>
            <a:r>
              <a:rPr lang="en-US" b="1" dirty="0">
                <a:latin typeface="Arial" panose="020B0604020202020204" pitchFamily="34" charset="0"/>
                <a:cs typeface="Arial" panose="020B0604020202020204" pitchFamily="34" charset="0"/>
              </a:rPr>
              <a:t>dc × f – (bf – d) × d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abb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a:t>
            </a:r>
            <a:r>
              <a:rPr lang="en-US" b="1" dirty="0" err="1">
                <a:latin typeface="Arial" panose="020B0604020202020204" pitchFamily="34" charset="0"/>
                <a:cs typeface="Arial" panose="020B0604020202020204" pitchFamily="34" charset="0"/>
              </a:rPr>
              <a:t>abe</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(c) </a:t>
            </a:r>
            <a:r>
              <a:rPr lang="en-US" b="1" dirty="0" err="1">
                <a:solidFill>
                  <a:srgbClr val="FF0000"/>
                </a:solidFill>
                <a:latin typeface="Arial" panose="020B0604020202020204" pitchFamily="34" charset="0"/>
                <a:cs typeface="Arial" panose="020B0604020202020204" pitchFamily="34" charset="0"/>
              </a:rPr>
              <a:t>bce</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bcf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endParaRPr b="1" dirty="0"/>
          </a:p>
        </p:txBody>
      </p:sp>
    </p:spTree>
    <p:extLst>
      <p:ext uri="{BB962C8B-B14F-4D97-AF65-F5344CB8AC3E}">
        <p14:creationId xmlns:p14="http://schemas.microsoft.com/office/powerpoint/2010/main" val="3598780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2" name="Google Shape;182;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10. </a:t>
            </a:r>
            <a:r>
              <a:rPr lang="en-US" b="1" dirty="0">
                <a:latin typeface="Arial" panose="020B0604020202020204" pitchFamily="34" charset="0"/>
                <a:cs typeface="Arial" panose="020B0604020202020204" pitchFamily="34" charset="0"/>
              </a:rPr>
              <a:t>bee + </a:t>
            </a:r>
            <a:r>
              <a:rPr lang="en-US" b="1" dirty="0" err="1">
                <a:latin typeface="Arial" panose="020B0604020202020204" pitchFamily="34" charset="0"/>
                <a:cs typeface="Arial" panose="020B0604020202020204" pitchFamily="34" charset="0"/>
              </a:rPr>
              <a:t>fg</a:t>
            </a:r>
            <a:r>
              <a:rPr lang="en-US" b="1" dirty="0">
                <a:latin typeface="Arial" panose="020B0604020202020204" pitchFamily="34" charset="0"/>
                <a:cs typeface="Arial" panose="020B0604020202020204" pitchFamily="34" charset="0"/>
              </a:rPr>
              <a:t> – (ca × h/be)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err="1">
                <a:latin typeface="Arial" panose="020B0604020202020204" pitchFamily="34" charset="0"/>
                <a:cs typeface="Arial" panose="020B0604020202020204" pitchFamily="34" charset="0"/>
              </a:rPr>
              <a:t>bhc</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a:t>
            </a:r>
            <a:r>
              <a:rPr lang="en-US" b="1" dirty="0" err="1">
                <a:latin typeface="Arial" panose="020B0604020202020204" pitchFamily="34" charset="0"/>
                <a:cs typeface="Arial" panose="020B0604020202020204" pitchFamily="34" charset="0"/>
              </a:rPr>
              <a:t>bic</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bib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a:t>
            </a:r>
            <a:r>
              <a:rPr lang="en-US" b="1" dirty="0" err="1">
                <a:latin typeface="Arial" panose="020B0604020202020204" pitchFamily="34" charset="0"/>
                <a:cs typeface="Arial" panose="020B0604020202020204" pitchFamily="34" charset="0"/>
              </a:rPr>
              <a:t>bja</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80"/>
        <p:cNvGrpSpPr/>
        <p:nvPr/>
      </p:nvGrpSpPr>
      <p:grpSpPr>
        <a:xfrm>
          <a:off x="0" y="0"/>
          <a:ext cx="0" cy="0"/>
          <a:chOff x="0" y="0"/>
          <a:chExt cx="0" cy="0"/>
        </a:xfrm>
      </p:grpSpPr>
      <p:sp>
        <p:nvSpPr>
          <p:cNvPr id="182" name="Google Shape;182;p14"/>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10. </a:t>
            </a:r>
            <a:r>
              <a:rPr lang="en-US" b="1" dirty="0">
                <a:latin typeface="Arial" panose="020B0604020202020204" pitchFamily="34" charset="0"/>
                <a:cs typeface="Arial" panose="020B0604020202020204" pitchFamily="34" charset="0"/>
              </a:rPr>
              <a:t>bee + </a:t>
            </a:r>
            <a:r>
              <a:rPr lang="en-US" b="1" dirty="0" err="1">
                <a:latin typeface="Arial" panose="020B0604020202020204" pitchFamily="34" charset="0"/>
                <a:cs typeface="Arial" panose="020B0604020202020204" pitchFamily="34" charset="0"/>
              </a:rPr>
              <a:t>fg</a:t>
            </a:r>
            <a:r>
              <a:rPr lang="en-US" b="1" dirty="0">
                <a:latin typeface="Arial" panose="020B0604020202020204" pitchFamily="34" charset="0"/>
                <a:cs typeface="Arial" panose="020B0604020202020204" pitchFamily="34" charset="0"/>
              </a:rPr>
              <a:t> – (ca × h/be) is equal to</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err="1">
                <a:latin typeface="Arial" panose="020B0604020202020204" pitchFamily="34" charset="0"/>
                <a:cs typeface="Arial" panose="020B0604020202020204" pitchFamily="34" charset="0"/>
              </a:rPr>
              <a:t>bhc</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a:t>
            </a:r>
            <a:r>
              <a:rPr lang="en-US" b="1" dirty="0" err="1">
                <a:latin typeface="Arial" panose="020B0604020202020204" pitchFamily="34" charset="0"/>
                <a:cs typeface="Arial" panose="020B0604020202020204" pitchFamily="34" charset="0"/>
              </a:rPr>
              <a:t>bic</a:t>
            </a:r>
            <a:r>
              <a:rPr lang="en-US" b="1" dirty="0">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bib           </a:t>
            </a:r>
          </a:p>
          <a:p>
            <a:pPr marL="0" lvl="0" indent="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(d) </a:t>
            </a:r>
            <a:r>
              <a:rPr lang="en-US" b="1" dirty="0" err="1">
                <a:solidFill>
                  <a:srgbClr val="FF0000"/>
                </a:solidFill>
                <a:latin typeface="Arial" panose="020B0604020202020204" pitchFamily="34" charset="0"/>
                <a:cs typeface="Arial" panose="020B0604020202020204" pitchFamily="34" charset="0"/>
              </a:rPr>
              <a:t>bja</a:t>
            </a:r>
            <a:r>
              <a:rPr lang="en-US" b="1" dirty="0">
                <a:solidFill>
                  <a:srgbClr val="FF0000"/>
                </a:solidFill>
                <a:latin typeface="Arial" panose="020B0604020202020204" pitchFamily="34" charset="0"/>
                <a:cs typeface="Arial" panose="020B0604020202020204" pitchFamily="34" charset="0"/>
              </a:rPr>
              <a:t>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540692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8" name="Google Shape;188;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11. </a:t>
            </a:r>
            <a:r>
              <a:rPr lang="en-US" b="1" dirty="0">
                <a:latin typeface="Arial" panose="020B0604020202020204" pitchFamily="34" charset="0"/>
                <a:cs typeface="Arial" panose="020B0604020202020204" pitchFamily="34" charset="0"/>
              </a:rPr>
              <a:t>If ‘-‘ stands for ‘division’, ‘+’ for ‘multiplication’, ‘÷’ for ‘subtraction’ and ‘×’ for ‘addition’, then which one of the following equations is correct?</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4 × 5 + 9 – 3 ÷ 4 =15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4 × 5 × 9 + 3 ÷ 4 =11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4 – 5 ÷ 9 × 3 – 4 =17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18 + 6 ÷ 7 × 5 – 2 =18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86"/>
        <p:cNvGrpSpPr/>
        <p:nvPr/>
      </p:nvGrpSpPr>
      <p:grpSpPr>
        <a:xfrm>
          <a:off x="0" y="0"/>
          <a:ext cx="0" cy="0"/>
          <a:chOff x="0" y="0"/>
          <a:chExt cx="0" cy="0"/>
        </a:xfrm>
      </p:grpSpPr>
      <p:sp>
        <p:nvSpPr>
          <p:cNvPr id="188" name="Google Shape;188;p15"/>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11. </a:t>
            </a:r>
            <a:r>
              <a:rPr lang="en-US" b="1" dirty="0">
                <a:latin typeface="Arial" panose="020B0604020202020204" pitchFamily="34" charset="0"/>
                <a:cs typeface="Arial" panose="020B0604020202020204" pitchFamily="34" charset="0"/>
              </a:rPr>
              <a:t>If ‘-‘ stands for ‘division’, ‘+’ for ‘multiplication’, ‘÷’ for ‘subtraction’ and ‘×’ for ‘addition’, then which one of the following equations is correct?</a:t>
            </a:r>
            <a:endParaRPr dirty="0">
              <a:latin typeface="Arial" panose="020B0604020202020204" pitchFamily="34" charset="0"/>
              <a:cs typeface="Arial" panose="020B0604020202020204" pitchFamily="34" charset="0"/>
            </a:endParaRPr>
          </a:p>
          <a:p>
            <a:pPr lvl="0" indent="-457200" algn="l" rtl="0">
              <a:lnSpc>
                <a:spcPct val="90000"/>
              </a:lnSpc>
              <a:spcBef>
                <a:spcPts val="1000"/>
              </a:spcBef>
              <a:spcAft>
                <a:spcPts val="0"/>
              </a:spcAft>
              <a:buClr>
                <a:schemeClr val="dk1"/>
              </a:buClr>
              <a:buSzPts val="2400"/>
              <a:buAutoNum type="alphaLcParenBoth"/>
            </a:pPr>
            <a:r>
              <a:rPr lang="en-US" b="1" dirty="0">
                <a:solidFill>
                  <a:srgbClr val="FF0000"/>
                </a:solidFill>
                <a:latin typeface="Arial" panose="020B0604020202020204" pitchFamily="34" charset="0"/>
                <a:cs typeface="Arial" panose="020B0604020202020204" pitchFamily="34" charset="0"/>
              </a:rPr>
              <a:t>4 × 5 + 9 – 3 ÷ 4 =15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4 × 5 × 9 + 3 ÷ 4 =11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4 – 5 ÷ 9 × 3 – 4 =17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18 + 6 ÷ 7 × 5 – 2 =18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830829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200" name="Google Shape;200;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12. </a:t>
            </a:r>
            <a:r>
              <a:rPr lang="en-US" b="1" dirty="0">
                <a:latin typeface="Arial" panose="020B0604020202020204" pitchFamily="34" charset="0"/>
                <a:cs typeface="Arial" panose="020B0604020202020204" pitchFamily="34" charset="0"/>
              </a:rPr>
              <a:t>If ‘-‘ stands for ‘division’, ‘+’ for ‘multiplication’, ‘÷’ for ‘subtraction’ and ‘×’ for ‘addition’ which one of the following equations is correct?</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6 + 20 – 12 ÷ 7 – 1 = 38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6 – 20 ÷ 12 × 7 + 1 =57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6 + 20 – 12 ÷ 7 × 1 =62</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6 ÷ 20 × 12 + 7 – 1 =70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200" name="Google Shape;200;p17"/>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12. </a:t>
            </a:r>
            <a:r>
              <a:rPr lang="en-US" b="1" dirty="0">
                <a:latin typeface="Arial" panose="020B0604020202020204" pitchFamily="34" charset="0"/>
                <a:cs typeface="Arial" panose="020B0604020202020204" pitchFamily="34" charset="0"/>
              </a:rPr>
              <a:t>If ‘-‘ stands for ‘division’, ‘+’ for ‘multiplication’, ‘÷’ for ‘subtraction’ and ‘×’ for ‘addition’ which one of the following equations is correct?</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6 + 20 – 12 ÷ 7 – 1 = 38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6 – 20 ÷ 12 × 7 + 1 =57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6 + 20 – 12 ÷ 7 × 1 =62</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(d) 6 ÷ 20 × 12 + 7 – 1 =70     </a:t>
            </a:r>
            <a:endParaRPr dirty="0">
              <a:solidFill>
                <a:srgbClr val="FF0000"/>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1026424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6" name="Google Shape;206;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13. </a:t>
            </a:r>
            <a:r>
              <a:rPr lang="en-US" b="1" dirty="0">
                <a:latin typeface="Arial" panose="020B0604020202020204" pitchFamily="34" charset="0"/>
                <a:cs typeface="Arial" panose="020B0604020202020204" pitchFamily="34" charset="0"/>
              </a:rPr>
              <a:t>If → stands for ‘addition’, ← stands for ‘subtraction’, ↑ stands for ‘division’, ↓ stands for ‘multiplication’, ↗ stands for ‘equal to’, then which of the following alternatives is correct?</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7← 43 ↑ 6 ↓ 1 ↗ 4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3 ↓ 6 ↑ 2 → 3 ← 6 ↗ 5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5 → 7 ← 3 ↑ 2 ↗ 4</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2 ↓ 5 ← 6 → 2 ↗ 6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204"/>
        <p:cNvGrpSpPr/>
        <p:nvPr/>
      </p:nvGrpSpPr>
      <p:grpSpPr>
        <a:xfrm>
          <a:off x="0" y="0"/>
          <a:ext cx="0" cy="0"/>
          <a:chOff x="0" y="0"/>
          <a:chExt cx="0" cy="0"/>
        </a:xfrm>
      </p:grpSpPr>
      <p:sp>
        <p:nvSpPr>
          <p:cNvPr id="206" name="Google Shape;206;p18"/>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13. </a:t>
            </a:r>
            <a:r>
              <a:rPr lang="en-US" b="1" dirty="0">
                <a:latin typeface="Arial" panose="020B0604020202020204" pitchFamily="34" charset="0"/>
                <a:cs typeface="Arial" panose="020B0604020202020204" pitchFamily="34" charset="0"/>
              </a:rPr>
              <a:t>If → stands for ‘addition’, ← stands for ‘subtraction’, ↑ stands for ‘division’, ↓ stands for ‘multiplication’, ↗ stands for ‘equal to’, then which of the following alternatives is correct?</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7← 43 ↑ 6 ↓ 1 ↗ 4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3 ↓ 6 ↑ 2 → 3 ← 6 ↗ 5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5 → 7 ← 3 ↑ 2 ↗ 4</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(d) 2 ↓ 5 ← 6 → 2 ↗ 6     </a:t>
            </a:r>
            <a:endParaRPr dirty="0">
              <a:solidFill>
                <a:srgbClr val="FF0000"/>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extLst>
      <p:ext uri="{BB962C8B-B14F-4D97-AF65-F5344CB8AC3E}">
        <p14:creationId xmlns:p14="http://schemas.microsoft.com/office/powerpoint/2010/main" val="4154694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8" name="Google Shape;218;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14. </a:t>
            </a:r>
            <a:r>
              <a:rPr lang="en-US" b="1" dirty="0">
                <a:latin typeface="Arial" panose="020B0604020202020204" pitchFamily="34" charset="0"/>
                <a:cs typeface="Arial" panose="020B0604020202020204" pitchFamily="34" charset="0"/>
              </a:rPr>
              <a:t>If ‘÷’ stands for ‘greater than’, ‘×’ stands for ‘addition’, ‘+’ stands for ‘division’, ‘-‘ stands for ‘equal to’, ‘&gt;’ stands for ‘multiplication’, ‘=’ stands for ‘less than’ and ‘&lt;’ stands for ‘minus’, then which of the following alternatives is correct?</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5 &gt; 2 &lt; 1 – 3 × 4 × 1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5 &lt; 2 × 1 + 3 &gt; 4 × 1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5 &gt; 2 × 1 – 3 &gt; 4 &lt; 1</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5 + 2 × 1 = 3 + 4 &gt; 1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t> </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8" name="Google Shape;218;p20"/>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ea typeface="Arial Black"/>
                <a:cs typeface="Arial" panose="020B0604020202020204" pitchFamily="34" charset="0"/>
                <a:sym typeface="Arial Black"/>
              </a:rPr>
              <a:t>Q 14. </a:t>
            </a:r>
            <a:r>
              <a:rPr lang="en-US" b="1" dirty="0">
                <a:latin typeface="Arial" panose="020B0604020202020204" pitchFamily="34" charset="0"/>
                <a:cs typeface="Arial" panose="020B0604020202020204" pitchFamily="34" charset="0"/>
              </a:rPr>
              <a:t>If ‘÷’ stands for ‘greater than’, ‘×’ stands for ‘addition’, ‘+’ stands for ‘division’, ‘-‘ stands for ‘equal to’, ‘&gt;’ stands for ‘multiplication’, ‘=’ stands for ‘less than’ and ‘&lt;’ stands for ‘minus’, then which of the following alternatives is correct?</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5 &gt; 2 &lt; 1 – 3 × 4 × 1                   </a:t>
            </a:r>
            <a:endParaRPr dirty="0">
              <a:latin typeface="Arial" panose="020B0604020202020204" pitchFamily="34" charset="0"/>
              <a:cs typeface="Arial" panose="020B0604020202020204" pitchFamily="34" charset="0"/>
            </a:endParaRPr>
          </a:p>
          <a:p>
            <a:pPr marL="457200" lvl="0" indent="-4572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5 &lt; 2 × 1 + 3 &gt; 4 × 1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(c) 5 &gt; 2 × 1 – 3 &gt; 4 &lt; 1</a:t>
            </a:r>
            <a:endParaRPr dirty="0">
              <a:solidFill>
                <a:srgbClr val="FF0000"/>
              </a:solidFill>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5 + 2 × 1 = 3 + 4 &gt; 1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endParaRP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0796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4" name="Google Shape;224;p21"/>
          <p:cNvSpPr txBox="1">
            <a:spLocks noGrp="1"/>
          </p:cNvSpPr>
          <p:nvPr>
            <p:ph type="body" idx="4294967295"/>
          </p:nvPr>
        </p:nvSpPr>
        <p:spPr>
          <a:xfrm>
            <a:off x="204952" y="1072055"/>
            <a:ext cx="11733048" cy="534451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Directions : In each of the following questions, some symbols are represented by letters as shown below:</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Now, identify the correct expression in each case.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r>
              <a:rPr lang="en-US" b="1" dirty="0">
                <a:latin typeface="Arial" panose="020B0604020202020204" pitchFamily="34" charset="0"/>
                <a:ea typeface="Arial Black"/>
                <a:cs typeface="Arial" panose="020B0604020202020204" pitchFamily="34" charset="0"/>
                <a:sym typeface="Arial Black"/>
              </a:rPr>
              <a:t>Q 15. </a:t>
            </a:r>
            <a:endParaRPr b="1" dirty="0">
              <a:latin typeface="Arial" panose="020B0604020202020204" pitchFamily="34" charset="0"/>
              <a:ea typeface="Arial Black"/>
              <a:cs typeface="Arial" panose="020B0604020202020204" pitchFamily="34" charset="0"/>
              <a:sym typeface="Arial Black"/>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18 C 3 D 6 B 8 C 4 G 12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18 A 3 E 6 B 8 G 4 B 12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18 B 3 G 6 B 8 B 4 D 12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15 C 5 F 8 C 4 B 6 C 3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p>
        </p:txBody>
      </p:sp>
      <p:graphicFrame>
        <p:nvGraphicFramePr>
          <p:cNvPr id="225" name="Google Shape;225;p21"/>
          <p:cNvGraphicFramePr/>
          <p:nvPr>
            <p:extLst>
              <p:ext uri="{D42A27DB-BD31-4B8C-83A1-F6EECF244321}">
                <p14:modId xmlns:p14="http://schemas.microsoft.com/office/powerpoint/2010/main" val="3330894963"/>
              </p:ext>
            </p:extLst>
          </p:nvPr>
        </p:nvGraphicFramePr>
        <p:xfrm>
          <a:off x="1582131" y="1970774"/>
          <a:ext cx="5411475" cy="894346"/>
        </p:xfrm>
        <a:graphic>
          <a:graphicData uri="http://schemas.openxmlformats.org/drawingml/2006/table">
            <a:tbl>
              <a:tblPr>
                <a:noFill/>
                <a:tableStyleId>{9B92922F-3D29-445C-B6ED-E3FA9B5A5F44}</a:tableStyleId>
              </a:tblPr>
              <a:tblGrid>
                <a:gridCol w="773425">
                  <a:extLst>
                    <a:ext uri="{9D8B030D-6E8A-4147-A177-3AD203B41FA5}">
                      <a16:colId xmlns:a16="http://schemas.microsoft.com/office/drawing/2014/main" val="20000"/>
                    </a:ext>
                  </a:extLst>
                </a:gridCol>
                <a:gridCol w="772800">
                  <a:extLst>
                    <a:ext uri="{9D8B030D-6E8A-4147-A177-3AD203B41FA5}">
                      <a16:colId xmlns:a16="http://schemas.microsoft.com/office/drawing/2014/main" val="20001"/>
                    </a:ext>
                  </a:extLst>
                </a:gridCol>
                <a:gridCol w="772800">
                  <a:extLst>
                    <a:ext uri="{9D8B030D-6E8A-4147-A177-3AD203B41FA5}">
                      <a16:colId xmlns:a16="http://schemas.microsoft.com/office/drawing/2014/main" val="20002"/>
                    </a:ext>
                  </a:extLst>
                </a:gridCol>
                <a:gridCol w="772800">
                  <a:extLst>
                    <a:ext uri="{9D8B030D-6E8A-4147-A177-3AD203B41FA5}">
                      <a16:colId xmlns:a16="http://schemas.microsoft.com/office/drawing/2014/main" val="20003"/>
                    </a:ext>
                  </a:extLst>
                </a:gridCol>
                <a:gridCol w="772800">
                  <a:extLst>
                    <a:ext uri="{9D8B030D-6E8A-4147-A177-3AD203B41FA5}">
                      <a16:colId xmlns:a16="http://schemas.microsoft.com/office/drawing/2014/main" val="20004"/>
                    </a:ext>
                  </a:extLst>
                </a:gridCol>
                <a:gridCol w="773425">
                  <a:extLst>
                    <a:ext uri="{9D8B030D-6E8A-4147-A177-3AD203B41FA5}">
                      <a16:colId xmlns:a16="http://schemas.microsoft.com/office/drawing/2014/main" val="20005"/>
                    </a:ext>
                  </a:extLst>
                </a:gridCol>
                <a:gridCol w="773425">
                  <a:extLst>
                    <a:ext uri="{9D8B030D-6E8A-4147-A177-3AD203B41FA5}">
                      <a16:colId xmlns:a16="http://schemas.microsoft.com/office/drawing/2014/main" val="20006"/>
                    </a:ext>
                  </a:extLst>
                </a:gridCol>
              </a:tblGrid>
              <a:tr h="447173">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&lt;</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47173">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B</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E</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C</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D</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F</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4" name="Google Shape;224;p21"/>
          <p:cNvSpPr txBox="1">
            <a:spLocks noGrp="1"/>
          </p:cNvSpPr>
          <p:nvPr>
            <p:ph type="body" idx="4294967295"/>
          </p:nvPr>
        </p:nvSpPr>
        <p:spPr>
          <a:xfrm>
            <a:off x="204952" y="853441"/>
            <a:ext cx="11733048" cy="556312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Directions : In each of the following questions, some symbols are represented by letters as shown below:</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Now, identify the correct expression in each case.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r>
              <a:rPr lang="en-US" b="1" dirty="0">
                <a:latin typeface="Arial" panose="020B0604020202020204" pitchFamily="34" charset="0"/>
                <a:ea typeface="Arial Black"/>
                <a:cs typeface="Arial" panose="020B0604020202020204" pitchFamily="34" charset="0"/>
                <a:sym typeface="Arial Black"/>
              </a:rPr>
              <a:t>Q 15. </a:t>
            </a:r>
            <a:endParaRPr b="1" dirty="0">
              <a:latin typeface="Arial" panose="020B0604020202020204" pitchFamily="34" charset="0"/>
              <a:ea typeface="Arial Black"/>
              <a:cs typeface="Arial" panose="020B0604020202020204" pitchFamily="34" charset="0"/>
              <a:sym typeface="Arial Black"/>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18 C 3 D 6 B 8 C 4 G 12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18 A 3 E 6 B 8 G 4 B 12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solidFill>
                  <a:schemeClr val="tx1"/>
                </a:solidFill>
                <a:latin typeface="Arial" panose="020B0604020202020204" pitchFamily="34" charset="0"/>
                <a:cs typeface="Arial" panose="020B0604020202020204" pitchFamily="34" charset="0"/>
              </a:rPr>
              <a:t>(c) 18 B 3 G 6 B 8 B 4 D 12</a:t>
            </a:r>
            <a:r>
              <a:rPr lang="en-US" b="1" dirty="0">
                <a:latin typeface="Arial" panose="020B0604020202020204" pitchFamily="34" charset="0"/>
                <a:cs typeface="Arial" panose="020B0604020202020204" pitchFamily="34" charset="0"/>
              </a:rPr>
              <a:t>	</a:t>
            </a: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(d) 15 C 5 F 8 C 4 B 6 C 3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p>
        </p:txBody>
      </p:sp>
      <p:graphicFrame>
        <p:nvGraphicFramePr>
          <p:cNvPr id="2" name="Google Shape;225;p21">
            <a:extLst>
              <a:ext uri="{FF2B5EF4-FFF2-40B4-BE49-F238E27FC236}">
                <a16:creationId xmlns:a16="http://schemas.microsoft.com/office/drawing/2014/main" id="{99649304-7BFA-E741-51E0-D0202D65C1F3}"/>
              </a:ext>
            </a:extLst>
          </p:cNvPr>
          <p:cNvGraphicFramePr/>
          <p:nvPr>
            <p:extLst>
              <p:ext uri="{D42A27DB-BD31-4B8C-83A1-F6EECF244321}">
                <p14:modId xmlns:p14="http://schemas.microsoft.com/office/powerpoint/2010/main" val="912790674"/>
              </p:ext>
            </p:extLst>
          </p:nvPr>
        </p:nvGraphicFramePr>
        <p:xfrm>
          <a:off x="1582131" y="1970774"/>
          <a:ext cx="5411475" cy="894346"/>
        </p:xfrm>
        <a:graphic>
          <a:graphicData uri="http://schemas.openxmlformats.org/drawingml/2006/table">
            <a:tbl>
              <a:tblPr>
                <a:noFill/>
                <a:tableStyleId>{9B92922F-3D29-445C-B6ED-E3FA9B5A5F44}</a:tableStyleId>
              </a:tblPr>
              <a:tblGrid>
                <a:gridCol w="773425">
                  <a:extLst>
                    <a:ext uri="{9D8B030D-6E8A-4147-A177-3AD203B41FA5}">
                      <a16:colId xmlns:a16="http://schemas.microsoft.com/office/drawing/2014/main" val="20000"/>
                    </a:ext>
                  </a:extLst>
                </a:gridCol>
                <a:gridCol w="772800">
                  <a:extLst>
                    <a:ext uri="{9D8B030D-6E8A-4147-A177-3AD203B41FA5}">
                      <a16:colId xmlns:a16="http://schemas.microsoft.com/office/drawing/2014/main" val="20001"/>
                    </a:ext>
                  </a:extLst>
                </a:gridCol>
                <a:gridCol w="772800">
                  <a:extLst>
                    <a:ext uri="{9D8B030D-6E8A-4147-A177-3AD203B41FA5}">
                      <a16:colId xmlns:a16="http://schemas.microsoft.com/office/drawing/2014/main" val="20002"/>
                    </a:ext>
                  </a:extLst>
                </a:gridCol>
                <a:gridCol w="772800">
                  <a:extLst>
                    <a:ext uri="{9D8B030D-6E8A-4147-A177-3AD203B41FA5}">
                      <a16:colId xmlns:a16="http://schemas.microsoft.com/office/drawing/2014/main" val="20003"/>
                    </a:ext>
                  </a:extLst>
                </a:gridCol>
                <a:gridCol w="772800">
                  <a:extLst>
                    <a:ext uri="{9D8B030D-6E8A-4147-A177-3AD203B41FA5}">
                      <a16:colId xmlns:a16="http://schemas.microsoft.com/office/drawing/2014/main" val="20004"/>
                    </a:ext>
                  </a:extLst>
                </a:gridCol>
                <a:gridCol w="773425">
                  <a:extLst>
                    <a:ext uri="{9D8B030D-6E8A-4147-A177-3AD203B41FA5}">
                      <a16:colId xmlns:a16="http://schemas.microsoft.com/office/drawing/2014/main" val="20005"/>
                    </a:ext>
                  </a:extLst>
                </a:gridCol>
                <a:gridCol w="773425">
                  <a:extLst>
                    <a:ext uri="{9D8B030D-6E8A-4147-A177-3AD203B41FA5}">
                      <a16:colId xmlns:a16="http://schemas.microsoft.com/office/drawing/2014/main" val="20006"/>
                    </a:ext>
                  </a:extLst>
                </a:gridCol>
              </a:tblGrid>
              <a:tr h="447173">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&lt;</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47173">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B</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E</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C</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D</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F</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94729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29"/>
        <p:cNvGrpSpPr/>
        <p:nvPr/>
      </p:nvGrpSpPr>
      <p:grpSpPr>
        <a:xfrm>
          <a:off x="0" y="0"/>
          <a:ext cx="0" cy="0"/>
          <a:chOff x="0" y="0"/>
          <a:chExt cx="0" cy="0"/>
        </a:xfrm>
      </p:grpSpPr>
      <p:sp>
        <p:nvSpPr>
          <p:cNvPr id="231" name="Google Shape;231;p22"/>
          <p:cNvSpPr txBox="1">
            <a:spLocks noGrp="1"/>
          </p:cNvSpPr>
          <p:nvPr>
            <p:ph type="body" idx="4294967295"/>
          </p:nvPr>
        </p:nvSpPr>
        <p:spPr>
          <a:xfrm>
            <a:off x="204952" y="802641"/>
            <a:ext cx="11987048" cy="561392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Directions : In each of the following questions, some symbols are represented by letters as shown below:</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Now, identify the correct expression in each case.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r>
              <a:rPr lang="en-US" b="1" dirty="0">
                <a:latin typeface="Arial" panose="020B0604020202020204" pitchFamily="34" charset="0"/>
                <a:ea typeface="Arial Black"/>
                <a:cs typeface="Arial" panose="020B0604020202020204" pitchFamily="34" charset="0"/>
                <a:sym typeface="Arial Black"/>
              </a:rPr>
              <a:t>Q 16. </a:t>
            </a:r>
            <a:endParaRPr b="1" dirty="0">
              <a:latin typeface="Arial" panose="020B0604020202020204" pitchFamily="34" charset="0"/>
              <a:ea typeface="Arial Black"/>
              <a:cs typeface="Arial" panose="020B0604020202020204" pitchFamily="34" charset="0"/>
              <a:sym typeface="Arial Black"/>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15 B 5 G 8 B 4 G 6 F 3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15 C 15 B 8 F 4 B 6 C 3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15 A 5 E 8 C 4 B 6 E 3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(d) 15 C 5 F 8 C 4 B 6 C 3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p>
        </p:txBody>
      </p:sp>
      <p:graphicFrame>
        <p:nvGraphicFramePr>
          <p:cNvPr id="2" name="Google Shape;225;p21">
            <a:extLst>
              <a:ext uri="{FF2B5EF4-FFF2-40B4-BE49-F238E27FC236}">
                <a16:creationId xmlns:a16="http://schemas.microsoft.com/office/drawing/2014/main" id="{E7B5EE3C-C320-5A0F-93BF-C88C68B04E68}"/>
              </a:ext>
            </a:extLst>
          </p:cNvPr>
          <p:cNvGraphicFramePr/>
          <p:nvPr>
            <p:extLst>
              <p:ext uri="{D42A27DB-BD31-4B8C-83A1-F6EECF244321}">
                <p14:modId xmlns:p14="http://schemas.microsoft.com/office/powerpoint/2010/main" val="912790674"/>
              </p:ext>
            </p:extLst>
          </p:nvPr>
        </p:nvGraphicFramePr>
        <p:xfrm>
          <a:off x="1582131" y="1970774"/>
          <a:ext cx="5411475" cy="894346"/>
        </p:xfrm>
        <a:graphic>
          <a:graphicData uri="http://schemas.openxmlformats.org/drawingml/2006/table">
            <a:tbl>
              <a:tblPr>
                <a:noFill/>
                <a:tableStyleId>{9B92922F-3D29-445C-B6ED-E3FA9B5A5F44}</a:tableStyleId>
              </a:tblPr>
              <a:tblGrid>
                <a:gridCol w="773425">
                  <a:extLst>
                    <a:ext uri="{9D8B030D-6E8A-4147-A177-3AD203B41FA5}">
                      <a16:colId xmlns:a16="http://schemas.microsoft.com/office/drawing/2014/main" val="20000"/>
                    </a:ext>
                  </a:extLst>
                </a:gridCol>
                <a:gridCol w="772800">
                  <a:extLst>
                    <a:ext uri="{9D8B030D-6E8A-4147-A177-3AD203B41FA5}">
                      <a16:colId xmlns:a16="http://schemas.microsoft.com/office/drawing/2014/main" val="20001"/>
                    </a:ext>
                  </a:extLst>
                </a:gridCol>
                <a:gridCol w="772800">
                  <a:extLst>
                    <a:ext uri="{9D8B030D-6E8A-4147-A177-3AD203B41FA5}">
                      <a16:colId xmlns:a16="http://schemas.microsoft.com/office/drawing/2014/main" val="20002"/>
                    </a:ext>
                  </a:extLst>
                </a:gridCol>
                <a:gridCol w="772800">
                  <a:extLst>
                    <a:ext uri="{9D8B030D-6E8A-4147-A177-3AD203B41FA5}">
                      <a16:colId xmlns:a16="http://schemas.microsoft.com/office/drawing/2014/main" val="20003"/>
                    </a:ext>
                  </a:extLst>
                </a:gridCol>
                <a:gridCol w="772800">
                  <a:extLst>
                    <a:ext uri="{9D8B030D-6E8A-4147-A177-3AD203B41FA5}">
                      <a16:colId xmlns:a16="http://schemas.microsoft.com/office/drawing/2014/main" val="20004"/>
                    </a:ext>
                  </a:extLst>
                </a:gridCol>
                <a:gridCol w="773425">
                  <a:extLst>
                    <a:ext uri="{9D8B030D-6E8A-4147-A177-3AD203B41FA5}">
                      <a16:colId xmlns:a16="http://schemas.microsoft.com/office/drawing/2014/main" val="20005"/>
                    </a:ext>
                  </a:extLst>
                </a:gridCol>
                <a:gridCol w="773425">
                  <a:extLst>
                    <a:ext uri="{9D8B030D-6E8A-4147-A177-3AD203B41FA5}">
                      <a16:colId xmlns:a16="http://schemas.microsoft.com/office/drawing/2014/main" val="20006"/>
                    </a:ext>
                  </a:extLst>
                </a:gridCol>
              </a:tblGrid>
              <a:tr h="447173">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&lt;</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47173">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B</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E</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C</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D</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F</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29"/>
        <p:cNvGrpSpPr/>
        <p:nvPr/>
      </p:nvGrpSpPr>
      <p:grpSpPr>
        <a:xfrm>
          <a:off x="0" y="0"/>
          <a:ext cx="0" cy="0"/>
          <a:chOff x="0" y="0"/>
          <a:chExt cx="0" cy="0"/>
        </a:xfrm>
      </p:grpSpPr>
      <p:sp>
        <p:nvSpPr>
          <p:cNvPr id="231" name="Google Shape;231;p22"/>
          <p:cNvSpPr txBox="1">
            <a:spLocks noGrp="1"/>
          </p:cNvSpPr>
          <p:nvPr>
            <p:ph type="body" idx="4294967295"/>
          </p:nvPr>
        </p:nvSpPr>
        <p:spPr>
          <a:xfrm>
            <a:off x="204952" y="812801"/>
            <a:ext cx="11987048" cy="5603766"/>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C0C0C"/>
              </a:buClr>
              <a:buSzPts val="2400"/>
              <a:buNone/>
            </a:pPr>
            <a:r>
              <a:rPr lang="en-US" b="1" dirty="0">
                <a:solidFill>
                  <a:srgbClr val="0C0C0C"/>
                </a:solidFill>
                <a:latin typeface="Arial Black"/>
                <a:ea typeface="Arial Black"/>
                <a:cs typeface="Arial Black"/>
                <a:sym typeface="Arial Black"/>
              </a:rPr>
              <a:t>		 	MATHEMATICAL OPERATION</a:t>
            </a:r>
            <a:endParaRPr dirty="0"/>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Directions : In each of the following questions, some symbols are represented by letters as shown below:</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endParaRPr lang="en-US" sz="2000" b="1"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000"/>
              <a:buNone/>
            </a:pPr>
            <a:r>
              <a:rPr lang="en-US" sz="2000" b="1" dirty="0">
                <a:latin typeface="Arial" panose="020B0604020202020204" pitchFamily="34" charset="0"/>
                <a:cs typeface="Arial" panose="020B0604020202020204" pitchFamily="34" charset="0"/>
              </a:rPr>
              <a:t>Now, identify the correct expression in each case. </a:t>
            </a:r>
            <a:endParaRPr sz="2000"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 </a:t>
            </a:r>
            <a:r>
              <a:rPr lang="en-US" b="1" dirty="0">
                <a:latin typeface="Arial" panose="020B0604020202020204" pitchFamily="34" charset="0"/>
                <a:ea typeface="Arial Black"/>
                <a:cs typeface="Arial" panose="020B0604020202020204" pitchFamily="34" charset="0"/>
                <a:sym typeface="Arial Black"/>
              </a:rPr>
              <a:t>Q 16. </a:t>
            </a:r>
            <a:endParaRPr b="1" dirty="0">
              <a:latin typeface="Arial" panose="020B0604020202020204" pitchFamily="34" charset="0"/>
              <a:ea typeface="Arial Black"/>
              <a:cs typeface="Arial" panose="020B0604020202020204" pitchFamily="34" charset="0"/>
              <a:sym typeface="Arial Black"/>
            </a:endParaRPr>
          </a:p>
          <a:p>
            <a:pPr lvl="0" indent="-457200" algn="l" rtl="0">
              <a:lnSpc>
                <a:spcPct val="90000"/>
              </a:lnSpc>
              <a:spcBef>
                <a:spcPts val="1000"/>
              </a:spcBef>
              <a:spcAft>
                <a:spcPts val="0"/>
              </a:spcAft>
              <a:buClr>
                <a:schemeClr val="dk1"/>
              </a:buClr>
              <a:buSzPts val="2400"/>
              <a:buAutoNum type="alphaLcParenBoth"/>
            </a:pPr>
            <a:r>
              <a:rPr lang="en-US" b="1" dirty="0">
                <a:latin typeface="Arial" panose="020B0604020202020204" pitchFamily="34" charset="0"/>
                <a:cs typeface="Arial" panose="020B0604020202020204" pitchFamily="34" charset="0"/>
              </a:rPr>
              <a:t>15 B 5 G 8 B 4 G 6 F 3   	</a:t>
            </a:r>
          </a:p>
          <a:p>
            <a:pPr marL="0" lvl="0" indent="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(b) 15 C 15 B 8 F 4 B 6 C 3  </a:t>
            </a:r>
            <a:endParaRPr dirty="0">
              <a:latin typeface="Arial" panose="020B0604020202020204" pitchFamily="34" charset="0"/>
              <a:cs typeface="Arial" panose="020B0604020202020204" pitchFamily="34" charset="0"/>
            </a:endParaRP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c) 15 A 5 E 8 C 4 B 6 E 3		</a:t>
            </a:r>
          </a:p>
          <a:p>
            <a:pPr marL="228600" lvl="0" indent="-228600" algn="l" rtl="0">
              <a:lnSpc>
                <a:spcPct val="90000"/>
              </a:lnSpc>
              <a:spcBef>
                <a:spcPts val="1000"/>
              </a:spcBef>
              <a:spcAft>
                <a:spcPts val="0"/>
              </a:spcAft>
              <a:buClr>
                <a:schemeClr val="dk1"/>
              </a:buClr>
              <a:buSzPts val="2400"/>
              <a:buNone/>
            </a:pPr>
            <a:r>
              <a:rPr lang="en-US" b="1" dirty="0">
                <a:solidFill>
                  <a:srgbClr val="FF0000"/>
                </a:solidFill>
                <a:latin typeface="Arial" panose="020B0604020202020204" pitchFamily="34" charset="0"/>
                <a:cs typeface="Arial" panose="020B0604020202020204" pitchFamily="34" charset="0"/>
              </a:rPr>
              <a:t>(d) 15 C 5 F 8 C 4 B 6 C 3            </a:t>
            </a:r>
          </a:p>
          <a:p>
            <a:pPr marL="228600" lvl="0" indent="-228600" algn="l" rtl="0">
              <a:lnSpc>
                <a:spcPct val="90000"/>
              </a:lnSpc>
              <a:spcBef>
                <a:spcPts val="1000"/>
              </a:spcBef>
              <a:spcAft>
                <a:spcPts val="0"/>
              </a:spcAft>
              <a:buClr>
                <a:schemeClr val="dk1"/>
              </a:buClr>
              <a:buSzPts val="2400"/>
              <a:buNone/>
            </a:pPr>
            <a:r>
              <a:rPr lang="en-US" b="1" dirty="0">
                <a:latin typeface="Arial" panose="020B0604020202020204" pitchFamily="34" charset="0"/>
                <a:cs typeface="Arial" panose="020B0604020202020204" pitchFamily="34" charset="0"/>
              </a:rPr>
              <a:t>(e) None of these</a:t>
            </a:r>
            <a:endParaRPr dirty="0"/>
          </a:p>
        </p:txBody>
      </p:sp>
      <p:graphicFrame>
        <p:nvGraphicFramePr>
          <p:cNvPr id="2" name="Google Shape;225;p21">
            <a:extLst>
              <a:ext uri="{FF2B5EF4-FFF2-40B4-BE49-F238E27FC236}">
                <a16:creationId xmlns:a16="http://schemas.microsoft.com/office/drawing/2014/main" id="{EDFB6251-DEEE-4F41-EEDE-3D006E2543A9}"/>
              </a:ext>
            </a:extLst>
          </p:cNvPr>
          <p:cNvGraphicFramePr/>
          <p:nvPr>
            <p:extLst>
              <p:ext uri="{D42A27DB-BD31-4B8C-83A1-F6EECF244321}">
                <p14:modId xmlns:p14="http://schemas.microsoft.com/office/powerpoint/2010/main" val="912790674"/>
              </p:ext>
            </p:extLst>
          </p:nvPr>
        </p:nvGraphicFramePr>
        <p:xfrm>
          <a:off x="1582131" y="1970774"/>
          <a:ext cx="5411475" cy="894346"/>
        </p:xfrm>
        <a:graphic>
          <a:graphicData uri="http://schemas.openxmlformats.org/drawingml/2006/table">
            <a:tbl>
              <a:tblPr>
                <a:noFill/>
                <a:tableStyleId>{9B92922F-3D29-445C-B6ED-E3FA9B5A5F44}</a:tableStyleId>
              </a:tblPr>
              <a:tblGrid>
                <a:gridCol w="773425">
                  <a:extLst>
                    <a:ext uri="{9D8B030D-6E8A-4147-A177-3AD203B41FA5}">
                      <a16:colId xmlns:a16="http://schemas.microsoft.com/office/drawing/2014/main" val="20000"/>
                    </a:ext>
                  </a:extLst>
                </a:gridCol>
                <a:gridCol w="772800">
                  <a:extLst>
                    <a:ext uri="{9D8B030D-6E8A-4147-A177-3AD203B41FA5}">
                      <a16:colId xmlns:a16="http://schemas.microsoft.com/office/drawing/2014/main" val="20001"/>
                    </a:ext>
                  </a:extLst>
                </a:gridCol>
                <a:gridCol w="772800">
                  <a:extLst>
                    <a:ext uri="{9D8B030D-6E8A-4147-A177-3AD203B41FA5}">
                      <a16:colId xmlns:a16="http://schemas.microsoft.com/office/drawing/2014/main" val="20002"/>
                    </a:ext>
                  </a:extLst>
                </a:gridCol>
                <a:gridCol w="772800">
                  <a:extLst>
                    <a:ext uri="{9D8B030D-6E8A-4147-A177-3AD203B41FA5}">
                      <a16:colId xmlns:a16="http://schemas.microsoft.com/office/drawing/2014/main" val="20003"/>
                    </a:ext>
                  </a:extLst>
                </a:gridCol>
                <a:gridCol w="772800">
                  <a:extLst>
                    <a:ext uri="{9D8B030D-6E8A-4147-A177-3AD203B41FA5}">
                      <a16:colId xmlns:a16="http://schemas.microsoft.com/office/drawing/2014/main" val="20004"/>
                    </a:ext>
                  </a:extLst>
                </a:gridCol>
                <a:gridCol w="773425">
                  <a:extLst>
                    <a:ext uri="{9D8B030D-6E8A-4147-A177-3AD203B41FA5}">
                      <a16:colId xmlns:a16="http://schemas.microsoft.com/office/drawing/2014/main" val="20005"/>
                    </a:ext>
                  </a:extLst>
                </a:gridCol>
                <a:gridCol w="773425">
                  <a:extLst>
                    <a:ext uri="{9D8B030D-6E8A-4147-A177-3AD203B41FA5}">
                      <a16:colId xmlns:a16="http://schemas.microsoft.com/office/drawing/2014/main" val="20006"/>
                    </a:ext>
                  </a:extLst>
                </a:gridCol>
              </a:tblGrid>
              <a:tr h="447173">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&gt;</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&lt;</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47173">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B</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G</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E</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C</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D</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a:latin typeface="Times New Roman"/>
                          <a:ea typeface="Times New Roman"/>
                          <a:cs typeface="Times New Roman"/>
                          <a:sym typeface="Times New Roman"/>
                        </a:rPr>
                        <a:t>A</a:t>
                      </a:r>
                      <a:endParaRPr sz="2000" u="none" strike="noStrike" cap="none">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262890" marR="0" lvl="0" indent="0" algn="l" rtl="0">
                        <a:lnSpc>
                          <a:spcPct val="115000"/>
                        </a:lnSpc>
                        <a:spcBef>
                          <a:spcPts val="0"/>
                        </a:spcBef>
                        <a:spcAft>
                          <a:spcPts val="0"/>
                        </a:spcAft>
                        <a:buNone/>
                      </a:pPr>
                      <a:r>
                        <a:rPr lang="en-US" sz="2400" b="1" u="none" strike="noStrike" cap="none" dirty="0">
                          <a:latin typeface="Times New Roman"/>
                          <a:ea typeface="Times New Roman"/>
                          <a:cs typeface="Times New Roman"/>
                          <a:sym typeface="Times New Roman"/>
                        </a:rPr>
                        <a:t>F</a:t>
                      </a:r>
                      <a:endParaRPr sz="2000" u="none" strike="noStrike" cap="none" dirty="0">
                        <a:latin typeface="Calibri"/>
                        <a:ea typeface="Calibri"/>
                        <a:cs typeface="Calibri"/>
                        <a:sym typeface="Calibri"/>
                      </a:endParaRPr>
                    </a:p>
                  </a:txBody>
                  <a:tcPr marL="68575" marR="68575"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309488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29"/>
        <p:cNvGrpSpPr/>
        <p:nvPr/>
      </p:nvGrpSpPr>
      <p:grpSpPr>
        <a:xfrm>
          <a:off x="0" y="0"/>
          <a:ext cx="0" cy="0"/>
          <a:chOff x="0" y="0"/>
          <a:chExt cx="0" cy="0"/>
        </a:xfrm>
      </p:grpSpPr>
      <p:sp>
        <p:nvSpPr>
          <p:cNvPr id="4" name="TextBox 3">
            <a:extLst>
              <a:ext uri="{FF2B5EF4-FFF2-40B4-BE49-F238E27FC236}">
                <a16:creationId xmlns:a16="http://schemas.microsoft.com/office/drawing/2014/main" id="{AEDAAA08-6384-E8CC-B42F-D2E216B1FB9E}"/>
              </a:ext>
            </a:extLst>
          </p:cNvPr>
          <p:cNvSpPr txBox="1"/>
          <p:nvPr/>
        </p:nvSpPr>
        <p:spPr>
          <a:xfrm>
            <a:off x="1843790" y="2724347"/>
            <a:ext cx="10348210" cy="1569660"/>
          </a:xfrm>
          <a:prstGeom prst="rect">
            <a:avLst/>
          </a:prstGeom>
          <a:noFill/>
        </p:spPr>
        <p:txBody>
          <a:bodyPr wrap="square" rtlCol="0">
            <a:spAutoFit/>
          </a:bodyPr>
          <a:lstStyle/>
          <a:p>
            <a:r>
              <a:rPr lang="en-IN" sz="9600" b="1" dirty="0">
                <a:solidFill>
                  <a:srgbClr val="FF0000"/>
                </a:solidFill>
                <a:latin typeface="Arial Black" panose="020B0A04020102020204" pitchFamily="34" charset="0"/>
              </a:rPr>
              <a:t>THANK YOU</a:t>
            </a:r>
          </a:p>
        </p:txBody>
      </p:sp>
    </p:spTree>
    <p:extLst>
      <p:ext uri="{BB962C8B-B14F-4D97-AF65-F5344CB8AC3E}">
        <p14:creationId xmlns:p14="http://schemas.microsoft.com/office/powerpoint/2010/main" val="42852887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2706</Words>
  <Application>Microsoft Office PowerPoint</Application>
  <PresentationFormat>Widescreen</PresentationFormat>
  <Paragraphs>385</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 Black</vt: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LOGICAL REASONING</dc:title>
  <dc:creator>anuj gupta</dc:creator>
  <cp:lastModifiedBy>Suresh Sanwak</cp:lastModifiedBy>
  <cp:revision>17</cp:revision>
  <dcterms:created xsi:type="dcterms:W3CDTF">2020-02-23T06:37:57Z</dcterms:created>
  <dcterms:modified xsi:type="dcterms:W3CDTF">2025-06-02T07:58:21Z</dcterms:modified>
</cp:coreProperties>
</file>