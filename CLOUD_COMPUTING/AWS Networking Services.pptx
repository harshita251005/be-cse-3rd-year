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3"/>
  </p:notesMasterIdLst>
  <p:sldIdLst>
    <p:sldId id="256" r:id="rId2"/>
    <p:sldId id="594" r:id="rId3"/>
    <p:sldId id="884" r:id="rId4"/>
    <p:sldId id="893" r:id="rId5"/>
    <p:sldId id="895" r:id="rId6"/>
    <p:sldId id="894" r:id="rId7"/>
    <p:sldId id="896" r:id="rId8"/>
    <p:sldId id="897" r:id="rId9"/>
    <p:sldId id="898" r:id="rId10"/>
    <p:sldId id="899" r:id="rId11"/>
    <p:sldId id="900" r:id="rId12"/>
    <p:sldId id="901" r:id="rId13"/>
    <p:sldId id="902" r:id="rId14"/>
    <p:sldId id="903" r:id="rId15"/>
    <p:sldId id="907" r:id="rId16"/>
    <p:sldId id="904" r:id="rId17"/>
    <p:sldId id="908" r:id="rId18"/>
    <p:sldId id="905" r:id="rId19"/>
    <p:sldId id="596" r:id="rId20"/>
    <p:sldId id="569" r:id="rId21"/>
    <p:sldId id="570" r:id="rId22"/>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1pPr>
    <a:lvl2pPr marL="4572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2pPr>
    <a:lvl3pPr marL="9144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3pPr>
    <a:lvl4pPr marL="13716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4pPr>
    <a:lvl5pPr marL="18288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FFFF"/>
    <a:srgbClr val="F6CAD4"/>
    <a:srgbClr val="F9B9EB"/>
    <a:srgbClr val="F139E4"/>
    <a:srgbClr val="FFFF66"/>
    <a:srgbClr val="3A30FA"/>
    <a:srgbClr val="FF6600"/>
    <a:srgbClr val="B85250"/>
    <a:srgbClr val="FF3300"/>
    <a:srgbClr val="96969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p:cViewPr varScale="1">
        <p:scale>
          <a:sx n="59" d="100"/>
          <a:sy n="59" d="100"/>
        </p:scale>
        <p:origin x="1524" y="48"/>
      </p:cViewPr>
      <p:guideLst>
        <p:guide orient="horz" pos="2160"/>
        <p:guide pos="2880"/>
      </p:guideLst>
    </p:cSldViewPr>
  </p:slideViewPr>
  <p:notesTextViewPr>
    <p:cViewPr>
      <p:scale>
        <a:sx n="300" d="100"/>
        <a:sy n="300" d="100"/>
      </p:scale>
      <p:origin x="0" y="0"/>
    </p:cViewPr>
  </p:notesTextViewPr>
  <p:sorterViewPr>
    <p:cViewPr>
      <p:scale>
        <a:sx n="100" d="100"/>
        <a:sy n="100" d="100"/>
      </p:scale>
      <p:origin x="0" y="10314"/>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wrap="square" lIns="91440" tIns="45720" rIns="91440" bIns="45720" numCol="1" anchor="t" anchorCtr="0" compatLnSpc="1"/>
          <a:lstStyle>
            <a:lvl1pPr>
              <a:defRPr sz="1200">
                <a:latin typeface="Calibri" panose="020F0502020204030204" pitchFamily="34" charset="0"/>
                <a:ea typeface="MS PGothic" panose="020B0600070205080204" pitchFamily="34" charset="-128"/>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lstStyle>
            <a:lvl1pPr algn="r">
              <a:defRPr sz="1200">
                <a:latin typeface="Calibri" panose="020F0502020204030204" pitchFamily="34" charset="0"/>
              </a:defRPr>
            </a:lvl1pPr>
          </a:lstStyle>
          <a:p>
            <a:fld id="{88709C98-B80A-4F28-AF74-CF08CF81A715}" type="datetime1">
              <a:rPr lang="en-US"/>
              <a:pPr/>
              <a:t>11/1/2025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wrap="square" lIns="91440" tIns="45720" rIns="91440" bIns="45720" numCol="1" anchor="ctr" anchorCtr="0" compatLnSpc="1"/>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wrap="square" lIns="91440" tIns="45720" rIns="91440" bIns="45720" numCol="1" anchor="t" anchorCtr="0" compatLnSpc="1">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wrap="square" lIns="91440" tIns="45720" rIns="91440" bIns="45720" numCol="1" anchor="b" anchorCtr="0" compatLnSpc="1"/>
          <a:lstStyle>
            <a:lvl1pPr>
              <a:defRPr sz="1200">
                <a:latin typeface="Calibri" panose="020F0502020204030204" pitchFamily="34" charset="0"/>
                <a:ea typeface="MS PGothic" panose="020B0600070205080204" pitchFamily="34" charset="-128"/>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lstStyle>
            <a:lvl1pPr algn="r">
              <a:defRPr sz="1200">
                <a:latin typeface="Calibri" panose="020F0502020204030204" pitchFamily="34" charset="0"/>
              </a:defRPr>
            </a:lvl1pPr>
          </a:lstStyle>
          <a:p>
            <a:fld id="{4D112868-65FD-4572-A383-97DC0EC9B913}" type="slidenum">
              <a:rPr lang="en-US"/>
              <a:pPr/>
              <a:t>‹#›</a:t>
            </a:fld>
            <a:endParaRPr lang="en-US"/>
          </a:p>
        </p:txBody>
      </p:sp>
    </p:spTree>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MS PGothic" panose="020B0600070205080204" pitchFamily="34" charset="-128"/>
        <a:cs typeface="MS PGothic" panose="020B0600070205080204" pitchFamily="34" charset="-128"/>
      </a:defRPr>
    </a:lvl1pPr>
    <a:lvl2pPr marL="457200" algn="l" defTabSz="457200" rtl="0" eaLnBrk="0" fontAlgn="base" hangingPunct="0">
      <a:spcBef>
        <a:spcPct val="30000"/>
      </a:spcBef>
      <a:spcAft>
        <a:spcPct val="0"/>
      </a:spcAft>
      <a:defRPr sz="1200" kern="1200">
        <a:solidFill>
          <a:schemeClr val="tx1"/>
        </a:solidFill>
        <a:latin typeface="+mn-lt"/>
        <a:ea typeface="MS PGothic" panose="020B0600070205080204" pitchFamily="34" charset="-128"/>
        <a:cs typeface="MS PGothic" panose="020B0600070205080204" pitchFamily="34" charset="-128"/>
      </a:defRPr>
    </a:lvl2pPr>
    <a:lvl3pPr marL="914400" algn="l" defTabSz="457200" rtl="0" eaLnBrk="0" fontAlgn="base" hangingPunct="0">
      <a:spcBef>
        <a:spcPct val="30000"/>
      </a:spcBef>
      <a:spcAft>
        <a:spcPct val="0"/>
      </a:spcAft>
      <a:defRPr sz="1200" kern="1200">
        <a:solidFill>
          <a:schemeClr val="tx1"/>
        </a:solidFill>
        <a:latin typeface="+mn-lt"/>
        <a:ea typeface="MS PGothic" panose="020B0600070205080204" pitchFamily="34" charset="-128"/>
        <a:cs typeface="MS PGothic" panose="020B0600070205080204" pitchFamily="34" charset="-128"/>
      </a:defRPr>
    </a:lvl3pPr>
    <a:lvl4pPr marL="1371600" algn="l" defTabSz="457200" rtl="0" eaLnBrk="0" fontAlgn="base" hangingPunct="0">
      <a:spcBef>
        <a:spcPct val="30000"/>
      </a:spcBef>
      <a:spcAft>
        <a:spcPct val="0"/>
      </a:spcAft>
      <a:defRPr sz="1200" kern="1200">
        <a:solidFill>
          <a:schemeClr val="tx1"/>
        </a:solidFill>
        <a:latin typeface="+mn-lt"/>
        <a:ea typeface="MS PGothic" panose="020B0600070205080204" pitchFamily="34" charset="-128"/>
        <a:cs typeface="MS PGothic" panose="020B0600070205080204" pitchFamily="34" charset="-128"/>
      </a:defRPr>
    </a:lvl4pPr>
    <a:lvl5pPr marL="1828800" algn="l" defTabSz="457200" rtl="0" eaLnBrk="0" fontAlgn="base" hangingPunct="0">
      <a:spcBef>
        <a:spcPct val="30000"/>
      </a:spcBef>
      <a:spcAft>
        <a:spcPct val="0"/>
      </a:spcAft>
      <a:defRPr sz="1200" kern="1200">
        <a:solidFill>
          <a:schemeClr val="tx1"/>
        </a:solidFill>
        <a:latin typeface="+mn-lt"/>
        <a:ea typeface="MS PGothic" panose="020B0600070205080204" pitchFamily="34" charset="-128"/>
        <a:cs typeface="MS PGothic" panose="020B0600070205080204" pitchFamily="34" charset="-128"/>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
        <p:cNvGrpSpPr/>
        <p:nvPr/>
      </p:nvGrpSpPr>
      <p:grpSpPr>
        <a:xfrm>
          <a:off x="0" y="0"/>
          <a:ext cx="0" cy="0"/>
          <a:chOff x="0" y="0"/>
          <a:chExt cx="0" cy="0"/>
        </a:xfrm>
      </p:grpSpPr>
      <p:sp>
        <p:nvSpPr>
          <p:cNvPr id="43" name="Google Shape;43;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 name="Google Shape;44;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400"/>
              <a:buNone/>
            </a:pPr>
            <a:endParaRPr/>
          </a:p>
        </p:txBody>
      </p:sp>
      <p:sp>
        <p:nvSpPr>
          <p:cNvPr id="45" name="Google Shape;45;p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a:t>
            </a:fld>
            <a:endParaRPr/>
          </a:p>
        </p:txBody>
      </p:sp>
      <p:sp>
        <p:nvSpPr>
          <p:cNvPr id="46" name="Google Shape;46;p1: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r>
              <a:rPr lang="en-US"/>
              <a:t>1</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5486400" cy="914400"/>
          </a:xfrm>
        </p:spPr>
        <p:txBody>
          <a:bodyPr/>
          <a:lstStyle>
            <a:lvl1pPr>
              <a:defRPr sz="3200" b="1">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ubtitle 2"/>
          <p:cNvSpPr>
            <a:spLocks noGrp="1"/>
          </p:cNvSpPr>
          <p:nvPr>
            <p:ph type="subTitle" idx="1"/>
          </p:nvPr>
        </p:nvSpPr>
        <p:spPr>
          <a:xfrm>
            <a:off x="533400" y="1371600"/>
            <a:ext cx="8153400" cy="47244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lvl1pPr>
              <a:defRPr/>
            </a:lvl1pPr>
          </a:lstStyle>
          <a:p>
            <a:r>
              <a:rPr lang="en-US"/>
              <a:t>OOSE</a:t>
            </a:r>
          </a:p>
        </p:txBody>
      </p:sp>
      <p:sp>
        <p:nvSpPr>
          <p:cNvPr id="5" name="Footer Placeholder 4"/>
          <p:cNvSpPr>
            <a:spLocks noGrp="1"/>
          </p:cNvSpPr>
          <p:nvPr>
            <p:ph type="ftr" sz="quarter" idx="11"/>
          </p:nvPr>
        </p:nvSpPr>
        <p:spPr/>
        <p:txBody>
          <a:bodyPr/>
          <a:lstStyle>
            <a:lvl1pPr>
              <a:defRPr/>
            </a:lvl1pPr>
          </a:lstStyle>
          <a:p>
            <a:pPr>
              <a:defRPr/>
            </a:pPr>
            <a:r>
              <a:rPr lang="pt-BR"/>
              <a:t>Dr. Durgesh Srivastava, Gp. No.- 9</a:t>
            </a:r>
            <a:endParaRPr lang="en-US"/>
          </a:p>
        </p:txBody>
      </p:sp>
      <p:sp>
        <p:nvSpPr>
          <p:cNvPr id="6" name="Slide Number Placeholder 5"/>
          <p:cNvSpPr>
            <a:spLocks noGrp="1"/>
          </p:cNvSpPr>
          <p:nvPr>
            <p:ph type="sldNum" sz="quarter" idx="12"/>
          </p:nvPr>
        </p:nvSpPr>
        <p:spPr/>
        <p:txBody>
          <a:bodyPr/>
          <a:lstStyle>
            <a:lvl1pPr>
              <a:defRPr/>
            </a:lvl1pPr>
          </a:lstStyle>
          <a:p>
            <a:fld id="{FFC4ABB8-5B0F-4AA4-B6A6-7C7E2BD089D3}"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4" name="Picture 10" descr="LOGO.gif"/>
          <p:cNvPicPr>
            <a:picLocks noChangeAspect="1"/>
          </p:cNvPicPr>
          <p:nvPr/>
        </p:nvPicPr>
        <p:blipFill>
          <a:blip r:embed="rId2" cstate="print"/>
          <a:srcRect b="10713"/>
          <a:stretch>
            <a:fillRect/>
          </a:stretch>
        </p:blipFill>
        <p:spPr bwMode="auto">
          <a:xfrm>
            <a:off x="6553200" y="228600"/>
            <a:ext cx="2057400" cy="635000"/>
          </a:xfrm>
          <a:prstGeom prst="rect">
            <a:avLst/>
          </a:prstGeom>
          <a:noFill/>
          <a:ln w="9525">
            <a:noFill/>
            <a:miter lim="800000"/>
            <a:headEnd/>
            <a:tailEnd/>
          </a:ln>
        </p:spPr>
      </p:pic>
      <p:grpSp>
        <p:nvGrpSpPr>
          <p:cNvPr id="5" name="Group 7"/>
          <p:cNvGrpSpPr/>
          <p:nvPr/>
        </p:nvGrpSpPr>
        <p:grpSpPr bwMode="auto">
          <a:xfrm>
            <a:off x="6146800" y="0"/>
            <a:ext cx="2997200" cy="876300"/>
            <a:chOff x="6096000" y="3924300"/>
            <a:chExt cx="2997200" cy="876300"/>
          </a:xfrm>
        </p:grpSpPr>
        <p:sp>
          <p:nvSpPr>
            <p:cNvPr id="6" name="Rectangle 11"/>
            <p:cNvSpPr>
              <a:spLocks noChangeArrowheads="1"/>
            </p:cNvSpPr>
            <p:nvPr/>
          </p:nvSpPr>
          <p:spPr bwMode="auto">
            <a:xfrm>
              <a:off x="6096000" y="3924300"/>
              <a:ext cx="2997200" cy="838200"/>
            </a:xfrm>
            <a:prstGeom prst="rect">
              <a:avLst/>
            </a:prstGeom>
            <a:solidFill>
              <a:srgbClr val="FF3300"/>
            </a:solidFill>
            <a:ln w="9525">
              <a:noFill/>
              <a:miter lim="800000"/>
            </a:ln>
          </p:spPr>
          <p:txBody>
            <a:bodyPr wrap="none" anchor="ctr"/>
            <a:lstStyle/>
            <a:p>
              <a:endParaRPr lang="en-US">
                <a:latin typeface="Calibri" panose="020F0502020204030204" pitchFamily="34" charset="0"/>
              </a:endParaRPr>
            </a:p>
          </p:txBody>
        </p:sp>
        <p:pic>
          <p:nvPicPr>
            <p:cNvPr id="7" name="Picture 9" descr="LOGO.gif"/>
            <p:cNvPicPr>
              <a:picLocks noChangeAspect="1"/>
            </p:cNvPicPr>
            <p:nvPr/>
          </p:nvPicPr>
          <p:blipFill>
            <a:blip r:embed="rId2" cstate="print"/>
            <a:srcRect b="10713"/>
            <a:stretch>
              <a:fillRect/>
            </a:stretch>
          </p:blipFill>
          <p:spPr bwMode="auto">
            <a:xfrm>
              <a:off x="6502400" y="4152900"/>
              <a:ext cx="2057400" cy="635000"/>
            </a:xfrm>
            <a:prstGeom prst="rect">
              <a:avLst/>
            </a:prstGeom>
            <a:noFill/>
            <a:ln w="9525">
              <a:noFill/>
              <a:miter lim="800000"/>
              <a:headEnd/>
              <a:tailEnd/>
            </a:ln>
          </p:spPr>
        </p:pic>
        <p:sp>
          <p:nvSpPr>
            <p:cNvPr id="8" name="Rectangle 7"/>
            <p:cNvSpPr/>
            <p:nvPr/>
          </p:nvSpPr>
          <p:spPr>
            <a:xfrm>
              <a:off x="6477000" y="4114800"/>
              <a:ext cx="2076450" cy="685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pic>
        <p:nvPicPr>
          <p:cNvPr id="9" name="Picture 15" descr="logo.jpg"/>
          <p:cNvPicPr>
            <a:picLocks noChangeAspect="1"/>
          </p:cNvPicPr>
          <p:nvPr/>
        </p:nvPicPr>
        <p:blipFill>
          <a:blip r:embed="rId3" cstate="print"/>
          <a:srcRect/>
          <a:stretch>
            <a:fillRect/>
          </a:stretch>
        </p:blipFill>
        <p:spPr bwMode="auto">
          <a:xfrm>
            <a:off x="6553200" y="228600"/>
            <a:ext cx="1920875" cy="609600"/>
          </a:xfrm>
          <a:prstGeom prst="rect">
            <a:avLst/>
          </a:prstGeom>
          <a:noFill/>
          <a:ln w="9525">
            <a:noFill/>
            <a:miter lim="800000"/>
            <a:headEnd/>
            <a:tailEnd/>
          </a:ln>
        </p:spPr>
      </p:pic>
      <p:sp>
        <p:nvSpPr>
          <p:cNvPr id="2" name="Title 1"/>
          <p:cNvSpPr>
            <a:spLocks noGrp="1"/>
          </p:cNvSpPr>
          <p:nvPr>
            <p:ph type="title"/>
          </p:nvPr>
        </p:nvSpPr>
        <p:spPr/>
        <p:txBody>
          <a:bodyPr/>
          <a:lstStyle>
            <a:lvl1pPr>
              <a:defRPr sz="3200">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Content Placeholder 2"/>
          <p:cNvSpPr>
            <a:spLocks noGrp="1"/>
          </p:cNvSpPr>
          <p:nvPr>
            <p:ph idx="1"/>
          </p:nvPr>
        </p:nvSpPr>
        <p:spPr/>
        <p:txBody>
          <a:bodyPr/>
          <a:lstStyle>
            <a:lvl1pPr>
              <a:defRPr sz="2200">
                <a:latin typeface="Times New Roman" panose="02020603050405020304" pitchFamily="18" charset="0"/>
                <a:cs typeface="Times New Roman" panose="02020603050405020304" pitchFamily="18" charset="0"/>
              </a:defRPr>
            </a:lvl1pPr>
            <a:lvl2pPr>
              <a:defRPr sz="2200">
                <a:latin typeface="Times New Roman" panose="02020603050405020304" pitchFamily="18" charset="0"/>
                <a:cs typeface="Times New Roman" panose="02020603050405020304" pitchFamily="18" charset="0"/>
              </a:defRPr>
            </a:lvl2pPr>
            <a:lvl3pPr>
              <a:defRPr sz="2200">
                <a:latin typeface="Times New Roman" panose="02020603050405020304" pitchFamily="18" charset="0"/>
                <a:cs typeface="Times New Roman" panose="02020603050405020304" pitchFamily="18" charset="0"/>
              </a:defRPr>
            </a:lvl3pPr>
            <a:lvl4pPr>
              <a:defRPr sz="2200">
                <a:latin typeface="Times New Roman" panose="02020603050405020304" pitchFamily="18" charset="0"/>
                <a:cs typeface="Times New Roman" panose="02020603050405020304" pitchFamily="18" charset="0"/>
              </a:defRPr>
            </a:lvl4pPr>
            <a:lvl5pPr>
              <a:defRPr sz="2200">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p:cNvSpPr>
            <a:spLocks noGrp="1"/>
          </p:cNvSpPr>
          <p:nvPr>
            <p:ph type="dt" sz="half" idx="10"/>
          </p:nvPr>
        </p:nvSpPr>
        <p:spPr/>
        <p:txBody>
          <a:bodyPr/>
          <a:lstStyle>
            <a:lvl1pPr>
              <a:defRPr/>
            </a:lvl1pPr>
          </a:lstStyle>
          <a:p>
            <a:r>
              <a:rPr lang="en-US"/>
              <a:t>OOSE</a:t>
            </a:r>
          </a:p>
        </p:txBody>
      </p:sp>
      <p:sp>
        <p:nvSpPr>
          <p:cNvPr id="11" name="Footer Placeholder 4"/>
          <p:cNvSpPr>
            <a:spLocks noGrp="1"/>
          </p:cNvSpPr>
          <p:nvPr>
            <p:ph type="ftr" sz="quarter" idx="11"/>
          </p:nvPr>
        </p:nvSpPr>
        <p:spPr/>
        <p:txBody>
          <a:bodyPr/>
          <a:lstStyle>
            <a:lvl1pPr>
              <a:defRPr/>
            </a:lvl1pPr>
          </a:lstStyle>
          <a:p>
            <a:pPr>
              <a:defRPr/>
            </a:pPr>
            <a:r>
              <a:rPr lang="pt-BR"/>
              <a:t>Dr. Durgesh Srivastava, Gp. No.- 9</a:t>
            </a:r>
            <a:endParaRPr lang="en-US"/>
          </a:p>
        </p:txBody>
      </p:sp>
      <p:sp>
        <p:nvSpPr>
          <p:cNvPr id="12" name="Slide Number Placeholder 5"/>
          <p:cNvSpPr>
            <a:spLocks noGrp="1"/>
          </p:cNvSpPr>
          <p:nvPr>
            <p:ph type="sldNum" sz="quarter" idx="12"/>
          </p:nvPr>
        </p:nvSpPr>
        <p:spPr/>
        <p:txBody>
          <a:bodyPr/>
          <a:lstStyle>
            <a:lvl1pPr>
              <a:defRPr/>
            </a:lvl1pPr>
          </a:lstStyle>
          <a:p>
            <a:fld id="{8BD8F058-9003-4658-AA47-7D4800AF7EA2}"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2.jpeg"/><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0" y="0"/>
            <a:ext cx="6477000" cy="838200"/>
          </a:xfrm>
          <a:prstGeom prst="rect">
            <a:avLst/>
          </a:prstGeom>
          <a:noFill/>
          <a:ln w="9525">
            <a:noFill/>
            <a:miter lim="800000"/>
          </a:ln>
        </p:spPr>
        <p:txBody>
          <a:bodyPr vert="horz" wrap="square" lIns="91440" tIns="45720" rIns="91440" bIns="45720" numCol="1" anchor="ctr" anchorCtr="0" compatLnSpc="1"/>
          <a:lstStyle/>
          <a:p>
            <a:pPr lvl="0"/>
            <a:r>
              <a:rPr lang="en-US"/>
              <a:t>Click to edit Master title style</a:t>
            </a:r>
          </a:p>
        </p:txBody>
      </p:sp>
      <p:sp>
        <p:nvSpPr>
          <p:cNvPr id="1027" name="Text Placeholder 2"/>
          <p:cNvSpPr>
            <a:spLocks noGrp="1"/>
          </p:cNvSpPr>
          <p:nvPr>
            <p:ph type="body" idx="1"/>
          </p:nvPr>
        </p:nvSpPr>
        <p:spPr bwMode="auto">
          <a:xfrm>
            <a:off x="457200" y="1371600"/>
            <a:ext cx="8229600" cy="4525963"/>
          </a:xfrm>
          <a:prstGeom prst="rect">
            <a:avLst/>
          </a:prstGeom>
          <a:noFill/>
          <a:ln w="9525">
            <a:noFill/>
            <a:miter lim="800000"/>
          </a:ln>
        </p:spPr>
        <p:txBody>
          <a:bodyPr vert="horz" wrap="square" lIns="91440" tIns="45720" rIns="91440" bIns="45720" numCol="1" anchor="t" anchorCtr="0" compatLnSpc="1"/>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lstStyle>
            <a:lvl1pPr>
              <a:defRPr sz="1200" b="1">
                <a:solidFill>
                  <a:srgbClr val="0070C0"/>
                </a:solidFill>
                <a:latin typeface="Times New Roman" panose="02020603050405020304" pitchFamily="18" charset="0"/>
                <a:cs typeface="Times New Roman" panose="02020603050405020304" pitchFamily="18" charset="0"/>
              </a:defRPr>
            </a:lvl1pPr>
          </a:lstStyle>
          <a:p>
            <a:r>
              <a:rPr lang="en-US"/>
              <a:t>OOSE</a:t>
            </a:r>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wrap="square" lIns="91440" tIns="45720" rIns="91440" bIns="45720" numCol="1" anchor="ctr" anchorCtr="0" compatLnSpc="1"/>
          <a:lstStyle>
            <a:lvl1pPr algn="ctr">
              <a:defRPr sz="1200" b="1">
                <a:solidFill>
                  <a:srgbClr val="0070C0"/>
                </a:solidFill>
                <a:latin typeface="Times New Roman" panose="02020603050405020304" pitchFamily="18" charset="0"/>
                <a:ea typeface="MS PGothic" panose="020B0600070205080204" pitchFamily="34" charset="-128"/>
                <a:cs typeface="Times New Roman" panose="02020603050405020304" pitchFamily="18" charset="0"/>
              </a:defRPr>
            </a:lvl1pPr>
          </a:lstStyle>
          <a:p>
            <a:pPr>
              <a:defRPr/>
            </a:pPr>
            <a:r>
              <a:rPr lang="pt-BR"/>
              <a:t>Dr. Durgesh Srivastava, Gp. No.- 9</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lstStyle>
            <a:lvl1pPr algn="r">
              <a:defRPr sz="1200" b="1">
                <a:solidFill>
                  <a:srgbClr val="0070C0"/>
                </a:solidFill>
                <a:latin typeface="Times New Roman" panose="02020603050405020304" pitchFamily="18" charset="0"/>
                <a:cs typeface="Times New Roman" panose="02020603050405020304" pitchFamily="18" charset="0"/>
              </a:defRPr>
            </a:lvl1pPr>
          </a:lstStyle>
          <a:p>
            <a:fld id="{775DC763-8AAC-4A07-A453-38B55A3783BD}" type="slidenum">
              <a:rPr lang="en-US" smtClean="0"/>
              <a:pPr/>
              <a:t>‹#›</a:t>
            </a:fld>
            <a:endParaRPr lang="en-US"/>
          </a:p>
        </p:txBody>
      </p:sp>
      <p:sp>
        <p:nvSpPr>
          <p:cNvPr id="1031" name="Rectangle 11"/>
          <p:cNvSpPr>
            <a:spLocks noChangeArrowheads="1"/>
          </p:cNvSpPr>
          <p:nvPr/>
        </p:nvSpPr>
        <p:spPr bwMode="auto">
          <a:xfrm>
            <a:off x="0" y="0"/>
            <a:ext cx="9144000" cy="838200"/>
          </a:xfrm>
          <a:prstGeom prst="rect">
            <a:avLst/>
          </a:prstGeom>
          <a:solidFill>
            <a:srgbClr val="FF3300"/>
          </a:solidFill>
          <a:ln w="9525">
            <a:noFill/>
            <a:miter lim="800000"/>
          </a:ln>
        </p:spPr>
        <p:txBody>
          <a:bodyPr wrap="none" anchor="ctr"/>
          <a:lstStyle/>
          <a:p>
            <a:endParaRPr lang="en-US">
              <a:latin typeface="Calibri" panose="020F0502020204030204" pitchFamily="34" charset="0"/>
            </a:endParaRPr>
          </a:p>
        </p:txBody>
      </p:sp>
      <p:sp>
        <p:nvSpPr>
          <p:cNvPr id="8" name="Rectangle 11"/>
          <p:cNvSpPr>
            <a:spLocks noChangeArrowheads="1"/>
          </p:cNvSpPr>
          <p:nvPr/>
        </p:nvSpPr>
        <p:spPr bwMode="auto">
          <a:xfrm flipV="1">
            <a:off x="0" y="6705600"/>
            <a:ext cx="9144000" cy="198116"/>
          </a:xfrm>
          <a:prstGeom prst="rect">
            <a:avLst/>
          </a:prstGeom>
          <a:solidFill>
            <a:srgbClr val="FF0000"/>
          </a:solidFill>
          <a:ln w="9525">
            <a:noFill/>
            <a:miter lim="800000"/>
          </a:ln>
          <a:effectLst/>
          <a:scene3d>
            <a:camera prst="orthographicFront"/>
            <a:lightRig rig="threePt" dir="t"/>
          </a:scene3d>
          <a:sp3d>
            <a:bevelB/>
          </a:sp3d>
        </p:spPr>
        <p:txBody>
          <a:bodyPr wrap="none" anchor="ctr"/>
          <a:lstStyle/>
          <a:p>
            <a:pPr>
              <a:defRPr/>
            </a:pPr>
            <a:endParaRPr lang="en-US">
              <a:latin typeface="Calibri" panose="020F0502020204030204" pitchFamily="34" charset="0"/>
              <a:ea typeface="MS PGothic" panose="020B0600070205080204" pitchFamily="34" charset="-128"/>
            </a:endParaRPr>
          </a:p>
        </p:txBody>
      </p:sp>
      <p:pic>
        <p:nvPicPr>
          <p:cNvPr id="1035" name="Picture 10" descr="LOGO.gif"/>
          <p:cNvPicPr>
            <a:picLocks noChangeAspect="1"/>
          </p:cNvPicPr>
          <p:nvPr/>
        </p:nvPicPr>
        <p:blipFill>
          <a:blip r:embed="rId4" cstate="print"/>
          <a:srcRect b="10713"/>
          <a:stretch>
            <a:fillRect/>
          </a:stretch>
        </p:blipFill>
        <p:spPr bwMode="auto">
          <a:xfrm>
            <a:off x="6553200" y="228600"/>
            <a:ext cx="2057400" cy="635000"/>
          </a:xfrm>
          <a:prstGeom prst="rect">
            <a:avLst/>
          </a:prstGeom>
          <a:noFill/>
          <a:ln w="9525">
            <a:noFill/>
            <a:miter lim="800000"/>
            <a:headEnd/>
            <a:tailEnd/>
          </a:ln>
        </p:spPr>
      </p:pic>
      <p:pic>
        <p:nvPicPr>
          <p:cNvPr id="1036" name="Picture 10" descr="LOGO.gif"/>
          <p:cNvPicPr>
            <a:picLocks noChangeAspect="1"/>
          </p:cNvPicPr>
          <p:nvPr/>
        </p:nvPicPr>
        <p:blipFill>
          <a:blip r:embed="rId4" cstate="print"/>
          <a:srcRect b="10713"/>
          <a:stretch>
            <a:fillRect/>
          </a:stretch>
        </p:blipFill>
        <p:spPr bwMode="auto">
          <a:xfrm>
            <a:off x="6553200" y="228600"/>
            <a:ext cx="2057400" cy="635000"/>
          </a:xfrm>
          <a:prstGeom prst="rect">
            <a:avLst/>
          </a:prstGeom>
          <a:noFill/>
          <a:ln w="9525">
            <a:noFill/>
            <a:miter lim="800000"/>
            <a:headEnd/>
            <a:tailEnd/>
          </a:ln>
        </p:spPr>
      </p:pic>
      <p:grpSp>
        <p:nvGrpSpPr>
          <p:cNvPr id="1037" name="Group 7"/>
          <p:cNvGrpSpPr/>
          <p:nvPr/>
        </p:nvGrpSpPr>
        <p:grpSpPr bwMode="auto">
          <a:xfrm>
            <a:off x="6146800" y="0"/>
            <a:ext cx="2997200" cy="876300"/>
            <a:chOff x="6096000" y="3924300"/>
            <a:chExt cx="2997200" cy="876300"/>
          </a:xfrm>
        </p:grpSpPr>
        <p:sp>
          <p:nvSpPr>
            <p:cNvPr id="1039" name="Rectangle 11"/>
            <p:cNvSpPr>
              <a:spLocks noChangeArrowheads="1"/>
            </p:cNvSpPr>
            <p:nvPr/>
          </p:nvSpPr>
          <p:spPr bwMode="auto">
            <a:xfrm>
              <a:off x="6096000" y="3924300"/>
              <a:ext cx="2997200" cy="838200"/>
            </a:xfrm>
            <a:prstGeom prst="rect">
              <a:avLst/>
            </a:prstGeom>
            <a:solidFill>
              <a:srgbClr val="FF3300"/>
            </a:solidFill>
            <a:ln w="9525">
              <a:noFill/>
              <a:miter lim="800000"/>
            </a:ln>
          </p:spPr>
          <p:txBody>
            <a:bodyPr wrap="none" anchor="ctr"/>
            <a:lstStyle/>
            <a:p>
              <a:endParaRPr lang="en-US">
                <a:latin typeface="Calibri" panose="020F0502020204030204" pitchFamily="34" charset="0"/>
              </a:endParaRPr>
            </a:p>
          </p:txBody>
        </p:sp>
        <p:pic>
          <p:nvPicPr>
            <p:cNvPr id="1040" name="Picture 9" descr="LOGO.gif"/>
            <p:cNvPicPr>
              <a:picLocks noChangeAspect="1"/>
            </p:cNvPicPr>
            <p:nvPr/>
          </p:nvPicPr>
          <p:blipFill>
            <a:blip r:embed="rId4" cstate="print"/>
            <a:srcRect b="10713"/>
            <a:stretch>
              <a:fillRect/>
            </a:stretch>
          </p:blipFill>
          <p:spPr bwMode="auto">
            <a:xfrm>
              <a:off x="6502400" y="4152900"/>
              <a:ext cx="2057400" cy="635000"/>
            </a:xfrm>
            <a:prstGeom prst="rect">
              <a:avLst/>
            </a:prstGeom>
            <a:noFill/>
            <a:ln w="9525">
              <a:noFill/>
              <a:miter lim="800000"/>
              <a:headEnd/>
              <a:tailEnd/>
            </a:ln>
          </p:spPr>
        </p:pic>
        <p:sp>
          <p:nvSpPr>
            <p:cNvPr id="19" name="Rectangle 18"/>
            <p:cNvSpPr/>
            <p:nvPr/>
          </p:nvSpPr>
          <p:spPr>
            <a:xfrm>
              <a:off x="6477000" y="4114800"/>
              <a:ext cx="2076450" cy="685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pic>
        <p:nvPicPr>
          <p:cNvPr id="1038" name="Picture 15" descr="logo.jpg"/>
          <p:cNvPicPr>
            <a:picLocks noChangeAspect="1"/>
          </p:cNvPicPr>
          <p:nvPr/>
        </p:nvPicPr>
        <p:blipFill>
          <a:blip r:embed="rId5" cstate="print"/>
          <a:srcRect/>
          <a:stretch>
            <a:fillRect/>
          </a:stretch>
        </p:blipFill>
        <p:spPr bwMode="auto">
          <a:xfrm>
            <a:off x="6553200" y="228600"/>
            <a:ext cx="1920875" cy="609600"/>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Lst>
  <p:hf hdr="0"/>
  <p:txStyles>
    <p:titleStyle>
      <a:lvl1pPr algn="ctr" rtl="0" eaLnBrk="0" fontAlgn="base" hangingPunct="0">
        <a:spcBef>
          <a:spcPct val="0"/>
        </a:spcBef>
        <a:spcAft>
          <a:spcPct val="0"/>
        </a:spcAft>
        <a:defRPr sz="3000" kern="1200">
          <a:solidFill>
            <a:schemeClr val="tx1"/>
          </a:solidFill>
          <a:latin typeface="+mj-lt"/>
          <a:ea typeface="MS PGothic" panose="020B0600070205080204" pitchFamily="34" charset="-128"/>
          <a:cs typeface="MS PGothic" panose="020B0600070205080204" pitchFamily="34" charset="-128"/>
        </a:defRPr>
      </a:lvl1pPr>
      <a:lvl2pPr algn="ctr" rtl="0" eaLnBrk="0" fontAlgn="base" hangingPunct="0">
        <a:spcBef>
          <a:spcPct val="0"/>
        </a:spcBef>
        <a:spcAft>
          <a:spcPct val="0"/>
        </a:spcAft>
        <a:defRPr sz="3000">
          <a:solidFill>
            <a:schemeClr val="tx1"/>
          </a:solidFill>
          <a:latin typeface="Calibri" panose="020F0502020204030204" pitchFamily="34" charset="0"/>
          <a:ea typeface="MS PGothic" panose="020B0600070205080204" pitchFamily="34" charset="-128"/>
          <a:cs typeface="MS PGothic" panose="020B0600070205080204" pitchFamily="34" charset="-128"/>
        </a:defRPr>
      </a:lvl2pPr>
      <a:lvl3pPr algn="ctr" rtl="0" eaLnBrk="0" fontAlgn="base" hangingPunct="0">
        <a:spcBef>
          <a:spcPct val="0"/>
        </a:spcBef>
        <a:spcAft>
          <a:spcPct val="0"/>
        </a:spcAft>
        <a:defRPr sz="3000">
          <a:solidFill>
            <a:schemeClr val="tx1"/>
          </a:solidFill>
          <a:latin typeface="Calibri" panose="020F0502020204030204" pitchFamily="34" charset="0"/>
          <a:ea typeface="MS PGothic" panose="020B0600070205080204" pitchFamily="34" charset="-128"/>
          <a:cs typeface="MS PGothic" panose="020B0600070205080204" pitchFamily="34" charset="-128"/>
        </a:defRPr>
      </a:lvl3pPr>
      <a:lvl4pPr algn="ctr" rtl="0" eaLnBrk="0" fontAlgn="base" hangingPunct="0">
        <a:spcBef>
          <a:spcPct val="0"/>
        </a:spcBef>
        <a:spcAft>
          <a:spcPct val="0"/>
        </a:spcAft>
        <a:defRPr sz="3000">
          <a:solidFill>
            <a:schemeClr val="tx1"/>
          </a:solidFill>
          <a:latin typeface="Calibri" panose="020F0502020204030204" pitchFamily="34" charset="0"/>
          <a:ea typeface="MS PGothic" panose="020B0600070205080204" pitchFamily="34" charset="-128"/>
          <a:cs typeface="MS PGothic" panose="020B0600070205080204" pitchFamily="34" charset="-128"/>
        </a:defRPr>
      </a:lvl4pPr>
      <a:lvl5pPr algn="ctr" rtl="0" eaLnBrk="0" fontAlgn="base" hangingPunct="0">
        <a:spcBef>
          <a:spcPct val="0"/>
        </a:spcBef>
        <a:spcAft>
          <a:spcPct val="0"/>
        </a:spcAft>
        <a:defRPr sz="3000">
          <a:solidFill>
            <a:schemeClr val="tx1"/>
          </a:solidFill>
          <a:latin typeface="Calibri" panose="020F0502020204030204" pitchFamily="34" charset="0"/>
          <a:ea typeface="MS PGothic" panose="020B0600070205080204" pitchFamily="34" charset="-128"/>
          <a:cs typeface="MS PGothic" panose="020B0600070205080204" pitchFamily="34" charset="-128"/>
        </a:defRPr>
      </a:lvl5pPr>
      <a:lvl6pPr marL="457200" algn="ctr" rtl="0" fontAlgn="base">
        <a:spcBef>
          <a:spcPct val="0"/>
        </a:spcBef>
        <a:spcAft>
          <a:spcPct val="0"/>
        </a:spcAft>
        <a:defRPr sz="3000">
          <a:solidFill>
            <a:schemeClr val="tx1"/>
          </a:solidFill>
          <a:latin typeface="Calibri" panose="020F0502020204030204" pitchFamily="34" charset="0"/>
          <a:ea typeface="MS PGothic" panose="020B0600070205080204" pitchFamily="34" charset="-128"/>
        </a:defRPr>
      </a:lvl6pPr>
      <a:lvl7pPr marL="914400" algn="ctr" rtl="0" fontAlgn="base">
        <a:spcBef>
          <a:spcPct val="0"/>
        </a:spcBef>
        <a:spcAft>
          <a:spcPct val="0"/>
        </a:spcAft>
        <a:defRPr sz="3000">
          <a:solidFill>
            <a:schemeClr val="tx1"/>
          </a:solidFill>
          <a:latin typeface="Calibri" panose="020F0502020204030204" pitchFamily="34" charset="0"/>
          <a:ea typeface="MS PGothic" panose="020B0600070205080204" pitchFamily="34" charset="-128"/>
        </a:defRPr>
      </a:lvl7pPr>
      <a:lvl8pPr marL="1371600" algn="ctr" rtl="0" fontAlgn="base">
        <a:spcBef>
          <a:spcPct val="0"/>
        </a:spcBef>
        <a:spcAft>
          <a:spcPct val="0"/>
        </a:spcAft>
        <a:defRPr sz="3000">
          <a:solidFill>
            <a:schemeClr val="tx1"/>
          </a:solidFill>
          <a:latin typeface="Calibri" panose="020F0502020204030204" pitchFamily="34" charset="0"/>
          <a:ea typeface="MS PGothic" panose="020B0600070205080204" pitchFamily="34" charset="-128"/>
        </a:defRPr>
      </a:lvl8pPr>
      <a:lvl9pPr marL="1828800" algn="ctr" rtl="0" fontAlgn="base">
        <a:spcBef>
          <a:spcPct val="0"/>
        </a:spcBef>
        <a:spcAft>
          <a:spcPct val="0"/>
        </a:spcAft>
        <a:defRPr sz="3000">
          <a:solidFill>
            <a:schemeClr val="tx1"/>
          </a:solidFill>
          <a:latin typeface="Calibri" panose="020F0502020204030204" pitchFamily="34" charset="0"/>
          <a:ea typeface="MS PGothic" panose="020B0600070205080204" pitchFamily="34" charset="-128"/>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S PGothic" panose="020B0600070205080204" pitchFamily="34" charset="-128"/>
          <a:cs typeface="MS PGothic" panose="020B0600070205080204" pitchFamily="34" charset="-128"/>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S PGothic" panose="020B0600070205080204" pitchFamily="34" charset="-128"/>
          <a:cs typeface="MS PGothic" panose="020B0600070205080204" pitchFamily="34" charset="-128"/>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pitchFamily="34" charset="-128"/>
          <a:cs typeface="MS PGothic" panose="020B0600070205080204" pitchFamily="34" charset="-128"/>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pitchFamily="34" charset="-128"/>
          <a:cs typeface="MS PGothic" panose="020B0600070205080204" pitchFamily="34" charset="-128"/>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aws.amazon.com/training/" TargetMode="External"/><Relationship Id="rId2" Type="http://schemas.openxmlformats.org/officeDocument/2006/relationships/hyperlink" Target="https://www.coursera.org/specializations/cloud-computing" TargetMode="External"/><Relationship Id="rId1" Type="http://schemas.openxmlformats.org/officeDocument/2006/relationships/slideLayout" Target="../slideLayouts/slideLayout2.xml"/><Relationship Id="rId5" Type="http://schemas.openxmlformats.org/officeDocument/2006/relationships/hyperlink" Target="https://www.udemy.com/course/introduction-to-cloud-computing-on-amazon-aws-for-beginners/" TargetMode="External"/><Relationship Id="rId4" Type="http://schemas.openxmlformats.org/officeDocument/2006/relationships/hyperlink" Target="https://onlinecourses.nptel.ac.in/noc21_cs14/preview"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7"/>
        <p:cNvGrpSpPr/>
        <p:nvPr/>
      </p:nvGrpSpPr>
      <p:grpSpPr>
        <a:xfrm>
          <a:off x="0" y="0"/>
          <a:ext cx="0" cy="0"/>
          <a:chOff x="0" y="0"/>
          <a:chExt cx="0" cy="0"/>
        </a:xfrm>
      </p:grpSpPr>
      <p:sp>
        <p:nvSpPr>
          <p:cNvPr id="48" name="Google Shape;48;p1"/>
          <p:cNvSpPr txBox="1"/>
          <p:nvPr/>
        </p:nvSpPr>
        <p:spPr>
          <a:xfrm>
            <a:off x="2000254" y="5292872"/>
            <a:ext cx="5200650" cy="412578"/>
          </a:xfrm>
          <a:prstGeom prst="rect">
            <a:avLst/>
          </a:prstGeom>
          <a:noFill/>
          <a:ln>
            <a:noFill/>
          </a:ln>
        </p:spPr>
        <p:txBody>
          <a:bodyPr spcFirstLastPara="1" wrap="square" lIns="58337" tIns="29161" rIns="58337" bIns="29161" anchor="t" anchorCtr="0">
            <a:spAutoFit/>
          </a:bodyPr>
          <a:lstStyle/>
          <a:p>
            <a:pPr algn="ctr">
              <a:spcBef>
                <a:spcPts val="0"/>
              </a:spcBef>
              <a:spcAft>
                <a:spcPts val="0"/>
              </a:spcAft>
              <a:buClr>
                <a:srgbClr val="000000"/>
              </a:buClr>
              <a:buSzPts val="1800"/>
            </a:pPr>
            <a:r>
              <a:rPr lang="en-US" sz="1149" b="1">
                <a:solidFill>
                  <a:schemeClr val="dk1"/>
                </a:solidFill>
                <a:latin typeface="Times New Roman"/>
                <a:ea typeface="Times New Roman"/>
                <a:cs typeface="Times New Roman"/>
                <a:sym typeface="Times New Roman"/>
              </a:rPr>
              <a:t>Chitkara University Institute of Engineering and Technology,</a:t>
            </a:r>
            <a:br>
              <a:rPr lang="en-US" sz="1149">
                <a:solidFill>
                  <a:schemeClr val="dk1"/>
                </a:solidFill>
                <a:latin typeface="Times New Roman"/>
                <a:ea typeface="Times New Roman"/>
                <a:cs typeface="Times New Roman"/>
                <a:sym typeface="Times New Roman"/>
              </a:rPr>
            </a:br>
            <a:r>
              <a:rPr lang="en-US" sz="1149" b="1">
                <a:solidFill>
                  <a:schemeClr val="dk1"/>
                </a:solidFill>
                <a:latin typeface="Times New Roman"/>
                <a:ea typeface="Times New Roman"/>
                <a:cs typeface="Times New Roman"/>
                <a:sym typeface="Times New Roman"/>
              </a:rPr>
              <a:t>Chitkara University, Punjab, India</a:t>
            </a:r>
            <a:endParaRPr sz="1149">
              <a:solidFill>
                <a:schemeClr val="dk1"/>
              </a:solidFill>
              <a:latin typeface="Times New Roman"/>
              <a:ea typeface="Times New Roman"/>
              <a:cs typeface="Times New Roman"/>
              <a:sym typeface="Times New Roman"/>
            </a:endParaRPr>
          </a:p>
        </p:txBody>
      </p:sp>
      <p:sp>
        <p:nvSpPr>
          <p:cNvPr id="49" name="Google Shape;49;p1"/>
          <p:cNvSpPr txBox="1">
            <a:spLocks noGrp="1"/>
          </p:cNvSpPr>
          <p:nvPr>
            <p:ph type="sldNum" idx="12"/>
          </p:nvPr>
        </p:nvSpPr>
        <p:spPr>
          <a:xfrm>
            <a:off x="6553200" y="5670921"/>
            <a:ext cx="2133600" cy="279631"/>
          </a:xfrm>
          <a:prstGeom prst="rect">
            <a:avLst/>
          </a:prstGeom>
          <a:noFill/>
          <a:ln>
            <a:noFill/>
          </a:ln>
        </p:spPr>
        <p:txBody>
          <a:bodyPr spcFirstLastPara="1" vert="horz" wrap="square" lIns="58337" tIns="29161" rIns="58337" bIns="29161" numCol="1" anchor="ctr" anchorCtr="0" compatLnSpc="1">
            <a:noAutofit/>
          </a:bodyPr>
          <a:lstStyle/>
          <a:p>
            <a:pPr>
              <a:spcBef>
                <a:spcPts val="0"/>
              </a:spcBef>
              <a:spcAft>
                <a:spcPts val="0"/>
              </a:spcAft>
              <a:buSzPts val="1200"/>
            </a:pPr>
            <a:fld id="{00000000-1234-1234-1234-123412341234}" type="slidenum">
              <a:rPr lang="en-US">
                <a:latin typeface="Times New Roman"/>
                <a:ea typeface="Times New Roman"/>
                <a:cs typeface="Times New Roman"/>
                <a:sym typeface="Times New Roman"/>
              </a:rPr>
              <a:pPr>
                <a:spcBef>
                  <a:spcPts val="0"/>
                </a:spcBef>
                <a:spcAft>
                  <a:spcPts val="0"/>
                </a:spcAft>
                <a:buSzPts val="1200"/>
              </a:pPr>
              <a:t>1</a:t>
            </a:fld>
            <a:endParaRPr>
              <a:latin typeface="Times New Roman"/>
              <a:ea typeface="Times New Roman"/>
              <a:cs typeface="Times New Roman"/>
              <a:sym typeface="Times New Roman"/>
            </a:endParaRPr>
          </a:p>
        </p:txBody>
      </p:sp>
      <p:sp>
        <p:nvSpPr>
          <p:cNvPr id="50" name="Google Shape;50;p1"/>
          <p:cNvSpPr/>
          <p:nvPr/>
        </p:nvSpPr>
        <p:spPr>
          <a:xfrm>
            <a:off x="2045294" y="4936029"/>
            <a:ext cx="4996266" cy="356838"/>
          </a:xfrm>
          <a:prstGeom prst="rect">
            <a:avLst/>
          </a:prstGeom>
          <a:solidFill>
            <a:schemeClr val="lt1"/>
          </a:solidFill>
          <a:ln>
            <a:noFill/>
          </a:ln>
        </p:spPr>
        <p:txBody>
          <a:bodyPr spcFirstLastPara="1" wrap="square" lIns="58337" tIns="29161" rIns="58337" bIns="29161" anchor="ctr" anchorCtr="0">
            <a:noAutofit/>
          </a:bodyPr>
          <a:lstStyle/>
          <a:p>
            <a:pPr algn="ctr">
              <a:spcBef>
                <a:spcPts val="0"/>
              </a:spcBef>
              <a:spcAft>
                <a:spcPts val="0"/>
              </a:spcAft>
              <a:buClr>
                <a:srgbClr val="000000"/>
              </a:buClr>
              <a:buSzPts val="1800"/>
            </a:pPr>
            <a:r>
              <a:rPr lang="en-US" sz="1149">
                <a:solidFill>
                  <a:schemeClr val="dk1"/>
                </a:solidFill>
                <a:latin typeface="Times New Roman"/>
                <a:ea typeface="Times New Roman"/>
                <a:cs typeface="Times New Roman"/>
                <a:sym typeface="Times New Roman"/>
              </a:rPr>
              <a:t>Department of Computer Science &amp; Engineering</a:t>
            </a:r>
            <a:endParaRPr sz="893">
              <a:solidFill>
                <a:srgbClr val="000000"/>
              </a:solidFill>
              <a:latin typeface="Arial"/>
              <a:ea typeface="Arial"/>
              <a:cs typeface="Arial"/>
              <a:sym typeface="Arial"/>
            </a:endParaRPr>
          </a:p>
        </p:txBody>
      </p:sp>
      <p:sp>
        <p:nvSpPr>
          <p:cNvPr id="51" name="Google Shape;51;p1"/>
          <p:cNvSpPr/>
          <p:nvPr/>
        </p:nvSpPr>
        <p:spPr>
          <a:xfrm>
            <a:off x="1" y="2094482"/>
            <a:ext cx="9144000" cy="451628"/>
          </a:xfrm>
          <a:prstGeom prst="rect">
            <a:avLst/>
          </a:prstGeom>
          <a:noFill/>
          <a:ln>
            <a:noFill/>
          </a:ln>
        </p:spPr>
        <p:txBody>
          <a:bodyPr spcFirstLastPara="1" wrap="square" lIns="58337" tIns="29161" rIns="58337" bIns="29161" anchor="t" anchorCtr="0">
            <a:spAutoFit/>
          </a:bodyPr>
          <a:lstStyle/>
          <a:p>
            <a:pPr algn="ctr"/>
            <a:r>
              <a:rPr lang="en-US" sz="2552" b="1" dirty="0">
                <a:latin typeface="Times New Roman" panose="02020603050405020304" pitchFamily="18" charset="0"/>
                <a:cs typeface="Times New Roman" panose="02020603050405020304" pitchFamily="18" charset="0"/>
              </a:rPr>
              <a:t>AWS Networking Services	</a:t>
            </a:r>
          </a:p>
        </p:txBody>
      </p:sp>
      <p:sp>
        <p:nvSpPr>
          <p:cNvPr id="52" name="Google Shape;52;p1"/>
          <p:cNvSpPr/>
          <p:nvPr/>
        </p:nvSpPr>
        <p:spPr>
          <a:xfrm>
            <a:off x="2286760" y="3269537"/>
            <a:ext cx="5445679" cy="294469"/>
          </a:xfrm>
          <a:prstGeom prst="rect">
            <a:avLst/>
          </a:prstGeom>
          <a:noFill/>
          <a:ln>
            <a:noFill/>
          </a:ln>
        </p:spPr>
        <p:txBody>
          <a:bodyPr spcFirstLastPara="1" wrap="square" lIns="58337" tIns="29161" rIns="58337" bIns="29161" anchor="t" anchorCtr="0">
            <a:spAutoFit/>
          </a:bodyPr>
          <a:lstStyle/>
          <a:p>
            <a:pPr>
              <a:spcBef>
                <a:spcPts val="0"/>
              </a:spcBef>
              <a:spcAft>
                <a:spcPts val="0"/>
              </a:spcAft>
              <a:buClr>
                <a:srgbClr val="000000"/>
              </a:buClr>
              <a:buSzPts val="2400"/>
            </a:pPr>
            <a:r>
              <a:rPr lang="en-US" sz="1531">
                <a:solidFill>
                  <a:schemeClr val="dk1"/>
                </a:solidFill>
                <a:latin typeface="Times New Roman"/>
                <a:ea typeface="Times New Roman"/>
                <a:cs typeface="Times New Roman"/>
                <a:sym typeface="Times New Roman"/>
              </a:rPr>
              <a:t>Bachelor of Engineering - Computer Science &amp; Engineering </a:t>
            </a:r>
            <a:endParaRPr sz="1531">
              <a:solidFill>
                <a:schemeClr val="dk1"/>
              </a:solidFill>
              <a:latin typeface="Times New Roman"/>
              <a:ea typeface="Times New Roman"/>
              <a:cs typeface="Times New Roman"/>
              <a:sym typeface="Times New Roman"/>
            </a:endParaRPr>
          </a:p>
        </p:txBody>
      </p:sp>
      <p:sp>
        <p:nvSpPr>
          <p:cNvPr id="53" name="Google Shape;53;p1"/>
          <p:cNvSpPr/>
          <p:nvPr/>
        </p:nvSpPr>
        <p:spPr>
          <a:xfrm>
            <a:off x="2433994" y="3924844"/>
            <a:ext cx="3953133" cy="314218"/>
          </a:xfrm>
          <a:prstGeom prst="rect">
            <a:avLst/>
          </a:prstGeom>
          <a:noFill/>
          <a:ln>
            <a:noFill/>
          </a:ln>
        </p:spPr>
        <p:txBody>
          <a:bodyPr spcFirstLastPara="1" wrap="square" lIns="58337" tIns="29161" rIns="58337" bIns="29161" anchor="t" anchorCtr="0">
            <a:spAutoFit/>
          </a:bodyPr>
          <a:lstStyle/>
          <a:p>
            <a:pPr algn="ctr">
              <a:spcBef>
                <a:spcPts val="0"/>
              </a:spcBef>
              <a:spcAft>
                <a:spcPts val="0"/>
              </a:spcAft>
              <a:buClr>
                <a:srgbClr val="000000"/>
              </a:buClr>
              <a:buSzPts val="1800"/>
            </a:pPr>
            <a:r>
              <a:rPr lang="en-US" sz="1659" b="1">
                <a:solidFill>
                  <a:srgbClr val="000000"/>
                </a:solidFill>
                <a:latin typeface="Times New Roman"/>
                <a:ea typeface="Times New Roman"/>
                <a:cs typeface="Times New Roman"/>
                <a:sym typeface="Times New Roman"/>
              </a:rPr>
              <a:t>Cloud Computing (CC)(23CS009)</a:t>
            </a:r>
            <a:endParaRPr sz="2042" b="1">
              <a:solidFill>
                <a:schemeClr val="dk1"/>
              </a:solidFill>
              <a:latin typeface="Times New Roman"/>
              <a:ea typeface="Times New Roman"/>
              <a:cs typeface="Times New Roman"/>
              <a:sym typeface="Times New Roman"/>
            </a:endParaRPr>
          </a:p>
        </p:txBody>
      </p:sp>
      <p:sp>
        <p:nvSpPr>
          <p:cNvPr id="54" name="Google Shape;54;p1"/>
          <p:cNvSpPr/>
          <p:nvPr/>
        </p:nvSpPr>
        <p:spPr>
          <a:xfrm>
            <a:off x="3210580" y="4396182"/>
            <a:ext cx="3059885" cy="294469"/>
          </a:xfrm>
          <a:prstGeom prst="rect">
            <a:avLst/>
          </a:prstGeom>
          <a:noFill/>
          <a:ln>
            <a:noFill/>
          </a:ln>
        </p:spPr>
        <p:txBody>
          <a:bodyPr spcFirstLastPara="1" wrap="square" lIns="58337" tIns="29161" rIns="58337" bIns="29161" anchor="t" anchorCtr="0">
            <a:spAutoFit/>
          </a:bodyPr>
          <a:lstStyle/>
          <a:p>
            <a:pPr algn="ctr">
              <a:spcBef>
                <a:spcPts val="0"/>
              </a:spcBef>
              <a:spcAft>
                <a:spcPts val="0"/>
              </a:spcAft>
              <a:buClr>
                <a:srgbClr val="000000"/>
              </a:buClr>
              <a:buSzPts val="2400"/>
            </a:pPr>
            <a:endParaRPr sz="1531">
              <a:solidFill>
                <a:schemeClr val="dk1"/>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219200"/>
            <a:ext cx="8534400" cy="3581400"/>
          </a:xfrm>
        </p:spPr>
        <p:txBody>
          <a:bodyPr>
            <a:normAutofit/>
          </a:bodyPr>
          <a:lstStyle/>
          <a:p>
            <a:pPr marL="298450" marR="99695" indent="-285750" algn="just">
              <a:lnSpc>
                <a:spcPct val="170000"/>
              </a:lnSpc>
              <a:spcBef>
                <a:spcPts val="10"/>
              </a:spcBef>
            </a:pPr>
            <a:r>
              <a:rPr lang="en-US" sz="2000" spc="-5" dirty="0">
                <a:solidFill>
                  <a:prstClr val="black"/>
                </a:solidFill>
                <a:latin typeface="Cambria"/>
                <a:cs typeface="Cambria"/>
              </a:rPr>
              <a:t>AWS Networking Services</a:t>
            </a:r>
          </a:p>
          <a:p>
            <a:pPr marL="298450" marR="99695" indent="-285750" algn="just">
              <a:lnSpc>
                <a:spcPct val="170000"/>
              </a:lnSpc>
              <a:spcBef>
                <a:spcPts val="10"/>
              </a:spcBef>
            </a:pPr>
            <a:r>
              <a:rPr lang="en-US" sz="2000" spc="-5" dirty="0">
                <a:solidFill>
                  <a:prstClr val="black"/>
                </a:solidFill>
                <a:latin typeface="Cambria"/>
                <a:cs typeface="Cambria"/>
              </a:rPr>
              <a:t>Virtual Private Network (VPN)</a:t>
            </a:r>
          </a:p>
          <a:p>
            <a:pPr marL="298450" marR="99695" indent="-285750" algn="just">
              <a:lnSpc>
                <a:spcPct val="170000"/>
              </a:lnSpc>
              <a:spcBef>
                <a:spcPts val="10"/>
              </a:spcBef>
            </a:pPr>
            <a:r>
              <a:rPr lang="en-US" sz="2000" spc="-5" dirty="0">
                <a:solidFill>
                  <a:prstClr val="black"/>
                </a:solidFill>
                <a:latin typeface="Cambria"/>
                <a:cs typeface="Cambria"/>
              </a:rPr>
              <a:t>Virtual Private Cloud (VPC)</a:t>
            </a:r>
          </a:p>
          <a:p>
            <a:pPr marL="298450" marR="99695" indent="-285750" algn="just">
              <a:lnSpc>
                <a:spcPct val="170000"/>
              </a:lnSpc>
              <a:spcBef>
                <a:spcPts val="10"/>
              </a:spcBef>
            </a:pPr>
            <a:r>
              <a:rPr lang="en-US" sz="2000" spc="-5" dirty="0">
                <a:solidFill>
                  <a:prstClr val="black"/>
                </a:solidFill>
                <a:latin typeface="Cambria"/>
                <a:cs typeface="Cambria"/>
              </a:rPr>
              <a:t>VPN vs. VPC</a:t>
            </a:r>
          </a:p>
          <a:p>
            <a:pPr marL="298450" marR="99695" indent="-285750" algn="just">
              <a:lnSpc>
                <a:spcPct val="170000"/>
              </a:lnSpc>
              <a:spcBef>
                <a:spcPts val="10"/>
              </a:spcBef>
            </a:pPr>
            <a:endParaRPr lang="en-US" sz="2000" spc="-5" dirty="0">
              <a:solidFill>
                <a:prstClr val="black"/>
              </a:solidFill>
              <a:latin typeface="Cambria"/>
              <a:cs typeface="Cambria"/>
            </a:endParaRPr>
          </a:p>
          <a:p>
            <a:pPr marL="298450" marR="99695" indent="-285750" algn="just">
              <a:lnSpc>
                <a:spcPct val="170000"/>
              </a:lnSpc>
              <a:spcBef>
                <a:spcPts val="10"/>
              </a:spcBef>
            </a:pPr>
            <a:endParaRPr lang="en-US" sz="2000" spc="-5" dirty="0">
              <a:solidFill>
                <a:prstClr val="black"/>
              </a:solidFill>
              <a:latin typeface="Cambria"/>
              <a:cs typeface="Cambria"/>
            </a:endParaRPr>
          </a:p>
          <a:p>
            <a:pPr marL="298450" marR="99695" indent="-285750" algn="just">
              <a:lnSpc>
                <a:spcPct val="170000"/>
              </a:lnSpc>
              <a:spcBef>
                <a:spcPts val="10"/>
              </a:spcBef>
            </a:pPr>
            <a:endParaRPr lang="en-US" sz="1900" b="0" spc="-5" dirty="0">
              <a:solidFill>
                <a:prstClr val="black"/>
              </a:solidFill>
              <a:latin typeface="Cambria"/>
              <a:cs typeface="Cambria"/>
            </a:endParaRPr>
          </a:p>
          <a:p>
            <a:pPr marL="298450" marR="99695" indent="-285750" algn="just">
              <a:lnSpc>
                <a:spcPct val="170000"/>
              </a:lnSpc>
              <a:spcBef>
                <a:spcPts val="10"/>
              </a:spcBef>
            </a:pPr>
            <a:endParaRPr lang="en-US" sz="1900" b="0" spc="-5" dirty="0">
              <a:solidFill>
                <a:prstClr val="black"/>
              </a:solidFill>
              <a:latin typeface="Cambria"/>
              <a:cs typeface="Cambria"/>
            </a:endParaRPr>
          </a:p>
          <a:p>
            <a:pPr marL="298450" marR="99695" indent="-285750" algn="just">
              <a:lnSpc>
                <a:spcPct val="170000"/>
              </a:lnSpc>
              <a:spcBef>
                <a:spcPts val="10"/>
              </a:spcBef>
            </a:pPr>
            <a:endParaRPr lang="en-US" sz="1900" b="0" spc="-5" dirty="0">
              <a:solidFill>
                <a:prstClr val="black"/>
              </a:solidFill>
              <a:latin typeface="Cambria"/>
              <a:cs typeface="Cambria"/>
            </a:endParaRPr>
          </a:p>
          <a:p>
            <a:pPr marL="298450" marR="99695" indent="-285750" algn="just">
              <a:lnSpc>
                <a:spcPct val="170000"/>
              </a:lnSpc>
              <a:spcBef>
                <a:spcPts val="10"/>
              </a:spcBef>
            </a:pPr>
            <a:endParaRPr lang="en-US" sz="1900" b="0" spc="-5" dirty="0">
              <a:solidFill>
                <a:prstClr val="black"/>
              </a:solidFill>
              <a:latin typeface="Cambria"/>
              <a:cs typeface="Cambria"/>
            </a:endParaRPr>
          </a:p>
          <a:p>
            <a:pPr marL="298450" marR="99695" indent="-285750" algn="just">
              <a:lnSpc>
                <a:spcPct val="170000"/>
              </a:lnSpc>
              <a:spcBef>
                <a:spcPts val="10"/>
              </a:spcBef>
            </a:pPr>
            <a:endParaRPr lang="en-US" sz="1900" b="0" spc="-5" dirty="0">
              <a:solidFill>
                <a:prstClr val="black"/>
              </a:solidFill>
              <a:latin typeface="Cambria"/>
              <a:cs typeface="Cambria"/>
            </a:endParaRPr>
          </a:p>
          <a:p>
            <a:pPr marL="298450" marR="99695" indent="-285750" algn="just">
              <a:lnSpc>
                <a:spcPct val="170000"/>
              </a:lnSpc>
              <a:spcBef>
                <a:spcPts val="10"/>
              </a:spcBef>
            </a:pPr>
            <a:endParaRPr lang="en-US" sz="1900" b="0" spc="-5" dirty="0">
              <a:solidFill>
                <a:prstClr val="black"/>
              </a:solidFill>
              <a:latin typeface="Cambria"/>
              <a:cs typeface="Cambria"/>
            </a:endParaRPr>
          </a:p>
          <a:p>
            <a:pPr marL="298450" marR="99695" indent="-285750" algn="just">
              <a:lnSpc>
                <a:spcPct val="170000"/>
              </a:lnSpc>
              <a:spcBef>
                <a:spcPts val="10"/>
              </a:spcBef>
            </a:pPr>
            <a:endParaRPr lang="en-US" sz="1900" b="0" spc="-5" dirty="0">
              <a:solidFill>
                <a:prstClr val="black"/>
              </a:solidFill>
              <a:latin typeface="Cambria"/>
              <a:cs typeface="Cambria"/>
            </a:endParaRPr>
          </a:p>
          <a:p>
            <a:pPr marL="298450" marR="99695" indent="-285750" algn="just">
              <a:lnSpc>
                <a:spcPct val="170000"/>
              </a:lnSpc>
              <a:spcBef>
                <a:spcPts val="10"/>
              </a:spcBef>
            </a:pPr>
            <a:endParaRPr lang="en-US" sz="1900" b="0" spc="-5" dirty="0">
              <a:solidFill>
                <a:prstClr val="black"/>
              </a:solidFill>
              <a:latin typeface="Cambria"/>
              <a:cs typeface="Cambria"/>
            </a:endParaRPr>
          </a:p>
          <a:p>
            <a:pPr marL="298450" marR="99695" indent="-285750" algn="just">
              <a:lnSpc>
                <a:spcPct val="170000"/>
              </a:lnSpc>
              <a:spcBef>
                <a:spcPts val="10"/>
              </a:spcBef>
            </a:pPr>
            <a:endParaRPr lang="en-US" sz="1900" b="0" spc="-5" dirty="0">
              <a:solidFill>
                <a:prstClr val="black"/>
              </a:solidFill>
              <a:latin typeface="Cambria"/>
              <a:cs typeface="Cambria"/>
            </a:endParaRPr>
          </a:p>
          <a:p>
            <a:pPr marL="298450" marR="99695" indent="-285750" algn="just">
              <a:lnSpc>
                <a:spcPct val="170000"/>
              </a:lnSpc>
              <a:spcBef>
                <a:spcPts val="10"/>
              </a:spcBef>
            </a:pPr>
            <a:endParaRPr lang="en-US" sz="1900" b="0" spc="-5" dirty="0">
              <a:solidFill>
                <a:prstClr val="black"/>
              </a:solidFill>
              <a:latin typeface="Cambria"/>
              <a:cs typeface="Cambria"/>
            </a:endParaRPr>
          </a:p>
          <a:p>
            <a:pPr marL="298450" marR="99695" indent="-285750" algn="just">
              <a:lnSpc>
                <a:spcPct val="170000"/>
              </a:lnSpc>
              <a:spcBef>
                <a:spcPts val="10"/>
              </a:spcBef>
            </a:pPr>
            <a:endParaRPr lang="en-US" sz="1900" b="0" spc="-5" dirty="0">
              <a:solidFill>
                <a:prstClr val="black"/>
              </a:solidFill>
              <a:latin typeface="Cambria"/>
              <a:cs typeface="Cambria"/>
            </a:endParaRPr>
          </a:p>
          <a:p>
            <a:pPr marL="298450" marR="99695" indent="-285750" algn="just">
              <a:lnSpc>
                <a:spcPct val="170000"/>
              </a:lnSpc>
              <a:spcBef>
                <a:spcPts val="10"/>
              </a:spcBef>
            </a:pPr>
            <a:endParaRPr lang="en-US" sz="1900" b="0" spc="-5" dirty="0">
              <a:solidFill>
                <a:prstClr val="black"/>
              </a:solidFill>
              <a:latin typeface="Cambria"/>
              <a:cs typeface="Cambria"/>
            </a:endParaRPr>
          </a:p>
          <a:p>
            <a:pPr marL="298450" marR="99695" indent="-285750" algn="just">
              <a:lnSpc>
                <a:spcPct val="170000"/>
              </a:lnSpc>
              <a:spcBef>
                <a:spcPts val="10"/>
              </a:spcBef>
            </a:pPr>
            <a:endParaRPr lang="en-US" sz="1900" b="0" spc="-5" dirty="0">
              <a:solidFill>
                <a:prstClr val="black"/>
              </a:solidFill>
              <a:latin typeface="Cambria"/>
              <a:cs typeface="Cambria"/>
            </a:endParaRPr>
          </a:p>
          <a:p>
            <a:pPr marL="298450" marR="99695" indent="-285750" algn="just">
              <a:lnSpc>
                <a:spcPct val="170000"/>
              </a:lnSpc>
              <a:spcBef>
                <a:spcPts val="10"/>
              </a:spcBef>
            </a:pPr>
            <a:endParaRPr lang="en-US" sz="1900" b="0" spc="-5" dirty="0">
              <a:solidFill>
                <a:prstClr val="black"/>
              </a:solidFill>
              <a:latin typeface="Cambria"/>
              <a:cs typeface="Cambria"/>
            </a:endParaRPr>
          </a:p>
          <a:p>
            <a:endParaRPr lang="en-US" dirty="0"/>
          </a:p>
        </p:txBody>
      </p:sp>
      <p:sp>
        <p:nvSpPr>
          <p:cNvPr id="5" name="Slide Number Placeholder 4"/>
          <p:cNvSpPr>
            <a:spLocks noGrp="1"/>
          </p:cNvSpPr>
          <p:nvPr>
            <p:ph type="sldNum" sz="quarter" idx="12"/>
          </p:nvPr>
        </p:nvSpPr>
        <p:spPr/>
        <p:txBody>
          <a:bodyPr/>
          <a:lstStyle/>
          <a:p>
            <a:fld id="{8BD8F058-9003-4658-AA47-7D4800AF7EA2}" type="slidenum">
              <a:rPr lang="en-US" smtClean="0"/>
              <a:pPr/>
              <a:t>2</a:t>
            </a:fld>
            <a:endParaRPr lang="en-US"/>
          </a:p>
        </p:txBody>
      </p:sp>
      <p:sp>
        <p:nvSpPr>
          <p:cNvPr id="2" name="Date Placeholder 1">
            <a:extLst>
              <a:ext uri="{FF2B5EF4-FFF2-40B4-BE49-F238E27FC236}">
                <a16:creationId xmlns:a16="http://schemas.microsoft.com/office/drawing/2014/main" id="{E0C41854-84C9-8E83-C796-B314C3DDBA19}"/>
              </a:ext>
            </a:extLst>
          </p:cNvPr>
          <p:cNvSpPr>
            <a:spLocks noGrp="1"/>
          </p:cNvSpPr>
          <p:nvPr>
            <p:ph type="dt" sz="half" idx="10"/>
          </p:nvPr>
        </p:nvSpPr>
        <p:spPr>
          <a:xfrm>
            <a:off x="457200" y="6356350"/>
            <a:ext cx="2133600" cy="365125"/>
          </a:xfrm>
        </p:spPr>
        <p:txBody>
          <a:bodyPr/>
          <a:lstStyle/>
          <a:p>
            <a:r>
              <a:rPr lang="en-US" dirty="0"/>
              <a:t>Cloud Computing</a:t>
            </a:r>
          </a:p>
        </p:txBody>
      </p:sp>
      <p:sp>
        <p:nvSpPr>
          <p:cNvPr id="6" name="TextBox 5">
            <a:extLst>
              <a:ext uri="{FF2B5EF4-FFF2-40B4-BE49-F238E27FC236}">
                <a16:creationId xmlns:a16="http://schemas.microsoft.com/office/drawing/2014/main" id="{68F776C0-2105-14A4-CF91-C90ACD1D2A36}"/>
              </a:ext>
            </a:extLst>
          </p:cNvPr>
          <p:cNvSpPr txBox="1"/>
          <p:nvPr/>
        </p:nvSpPr>
        <p:spPr>
          <a:xfrm>
            <a:off x="457200" y="158296"/>
            <a:ext cx="4593770" cy="584775"/>
          </a:xfrm>
          <a:prstGeom prst="rect">
            <a:avLst/>
          </a:prstGeom>
          <a:noFill/>
        </p:spPr>
        <p:txBody>
          <a:bodyPr wrap="square">
            <a:spAutoFit/>
          </a:bodyPr>
          <a:lstStyle/>
          <a:p>
            <a:pPr marL="0" lvl="0" indent="0">
              <a:buNone/>
            </a:pPr>
            <a:r>
              <a:rPr lang="en-US" sz="3200" b="1" spc="-5" dirty="0">
                <a:solidFill>
                  <a:prstClr val="black"/>
                </a:solidFill>
                <a:latin typeface="Cambria"/>
                <a:cs typeface="Cambria"/>
              </a:rPr>
              <a:t>Contents</a:t>
            </a:r>
          </a:p>
        </p:txBody>
      </p:sp>
    </p:spTree>
    <p:extLst>
      <p:ext uri="{BB962C8B-B14F-4D97-AF65-F5344CB8AC3E}">
        <p14:creationId xmlns:p14="http://schemas.microsoft.com/office/powerpoint/2010/main" val="36877048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47961B-CB0A-8B4D-7EC4-3579BBB3CE99}"/>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CBC47823-9F72-5CA6-55CD-7BAF0F2DB430}"/>
              </a:ext>
            </a:extLst>
          </p:cNvPr>
          <p:cNvSpPr>
            <a:spLocks noGrp="1"/>
          </p:cNvSpPr>
          <p:nvPr>
            <p:ph type="sldNum" sz="quarter" idx="12"/>
          </p:nvPr>
        </p:nvSpPr>
        <p:spPr/>
        <p:txBody>
          <a:bodyPr/>
          <a:lstStyle/>
          <a:p>
            <a:fld id="{8BD8F058-9003-4658-AA47-7D4800AF7EA2}" type="slidenum">
              <a:rPr lang="en-US" smtClean="0"/>
              <a:pPr/>
              <a:t>3</a:t>
            </a:fld>
            <a:endParaRPr lang="en-US"/>
          </a:p>
        </p:txBody>
      </p:sp>
      <p:sp>
        <p:nvSpPr>
          <p:cNvPr id="2" name="Date Placeholder 1">
            <a:extLst>
              <a:ext uri="{FF2B5EF4-FFF2-40B4-BE49-F238E27FC236}">
                <a16:creationId xmlns:a16="http://schemas.microsoft.com/office/drawing/2014/main" id="{871C1766-4DC2-E88B-7034-5F3215F451C8}"/>
              </a:ext>
            </a:extLst>
          </p:cNvPr>
          <p:cNvSpPr>
            <a:spLocks noGrp="1"/>
          </p:cNvSpPr>
          <p:nvPr>
            <p:ph type="dt" sz="half" idx="10"/>
          </p:nvPr>
        </p:nvSpPr>
        <p:spPr>
          <a:xfrm>
            <a:off x="457200" y="6356350"/>
            <a:ext cx="2133600" cy="365125"/>
          </a:xfrm>
        </p:spPr>
        <p:txBody>
          <a:bodyPr/>
          <a:lstStyle/>
          <a:p>
            <a:r>
              <a:rPr lang="en-US" dirty="0"/>
              <a:t>Cloud Computing</a:t>
            </a:r>
          </a:p>
        </p:txBody>
      </p:sp>
      <p:sp>
        <p:nvSpPr>
          <p:cNvPr id="6" name="TextBox 5">
            <a:extLst>
              <a:ext uri="{FF2B5EF4-FFF2-40B4-BE49-F238E27FC236}">
                <a16:creationId xmlns:a16="http://schemas.microsoft.com/office/drawing/2014/main" id="{C594ADE9-26F4-F78F-BA8B-DE82E34697DE}"/>
              </a:ext>
            </a:extLst>
          </p:cNvPr>
          <p:cNvSpPr txBox="1"/>
          <p:nvPr/>
        </p:nvSpPr>
        <p:spPr>
          <a:xfrm>
            <a:off x="152400" y="147411"/>
            <a:ext cx="7130143" cy="553998"/>
          </a:xfrm>
          <a:prstGeom prst="rect">
            <a:avLst/>
          </a:prstGeom>
          <a:noFill/>
        </p:spPr>
        <p:txBody>
          <a:bodyPr wrap="square">
            <a:spAutoFit/>
          </a:bodyPr>
          <a:lstStyle/>
          <a:p>
            <a:r>
              <a:rPr lang="en-US" sz="3000" b="1" spc="-5" dirty="0">
                <a:solidFill>
                  <a:prstClr val="black"/>
                </a:solidFill>
                <a:latin typeface="Cambria"/>
              </a:rPr>
              <a:t>AWS Networking Services</a:t>
            </a:r>
          </a:p>
        </p:txBody>
      </p:sp>
      <p:sp>
        <p:nvSpPr>
          <p:cNvPr id="4" name="TextBox 3">
            <a:extLst>
              <a:ext uri="{FF2B5EF4-FFF2-40B4-BE49-F238E27FC236}">
                <a16:creationId xmlns:a16="http://schemas.microsoft.com/office/drawing/2014/main" id="{8F4BB570-15D1-4377-7DA6-288470BA1DF8}"/>
              </a:ext>
            </a:extLst>
          </p:cNvPr>
          <p:cNvSpPr txBox="1"/>
          <p:nvPr/>
        </p:nvSpPr>
        <p:spPr>
          <a:xfrm>
            <a:off x="533400" y="1160571"/>
            <a:ext cx="7848600" cy="458074"/>
          </a:xfrm>
          <a:prstGeom prst="rect">
            <a:avLst/>
          </a:prstGeom>
          <a:noFill/>
        </p:spPr>
        <p:txBody>
          <a:bodyPr wrap="square">
            <a:spAutoFit/>
          </a:bodyPr>
          <a:lstStyle/>
          <a:p>
            <a:pPr marL="0" indent="0" algn="just">
              <a:lnSpc>
                <a:spcPct val="150000"/>
              </a:lnSpc>
              <a:buNone/>
            </a:pPr>
            <a:endParaRPr lang="en-GB" sz="18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8E339BAE-E2D9-B0BA-EB38-0CE8F2FB04A9}"/>
              </a:ext>
            </a:extLst>
          </p:cNvPr>
          <p:cNvSpPr txBox="1"/>
          <p:nvPr/>
        </p:nvSpPr>
        <p:spPr>
          <a:xfrm>
            <a:off x="152400" y="1389608"/>
            <a:ext cx="8381999" cy="2843342"/>
          </a:xfrm>
          <a:prstGeom prst="rect">
            <a:avLst/>
          </a:prstGeom>
          <a:noFill/>
        </p:spPr>
        <p:txBody>
          <a:bodyPr wrap="square">
            <a:spAutoFit/>
          </a:bodyPr>
          <a:lstStyle/>
          <a:p>
            <a:pPr marL="457200" indent="457200" algn="just">
              <a:lnSpc>
                <a:spcPct val="150000"/>
              </a:lnSpc>
              <a:spcAft>
                <a:spcPts val="1200"/>
              </a:spcAft>
              <a:buNone/>
            </a:pPr>
            <a:r>
              <a:rPr lang="en-US" sz="1800" dirty="0">
                <a:effectLst/>
                <a:latin typeface="Times New Roman" panose="02020603050405020304" pitchFamily="18" charset="0"/>
                <a:ea typeface="Times New Roman" panose="02020603050405020304" pitchFamily="18" charset="0"/>
              </a:rPr>
              <a:t>Amazon Web Services (AWS) provides a comprehensive suite of networking services that enable businesses to build secure, scalable, and high-performing cloud infrastructures. </a:t>
            </a:r>
          </a:p>
          <a:p>
            <a:pPr marL="457200" indent="457200" algn="just">
              <a:lnSpc>
                <a:spcPct val="150000"/>
              </a:lnSpc>
              <a:spcAft>
                <a:spcPts val="1200"/>
              </a:spcAft>
              <a:buNone/>
            </a:pPr>
            <a:r>
              <a:rPr lang="en-US" sz="1800" dirty="0">
                <a:effectLst/>
                <a:latin typeface="Times New Roman" panose="02020603050405020304" pitchFamily="18" charset="0"/>
                <a:ea typeface="Times New Roman" panose="02020603050405020304" pitchFamily="18" charset="0"/>
              </a:rPr>
              <a:t>These services facilitate seamless communication between resources, secure data transfers, and the efficient delivery of applications across the globe. </a:t>
            </a:r>
          </a:p>
          <a:p>
            <a:pPr marL="457200" indent="457200" algn="just">
              <a:lnSpc>
                <a:spcPct val="150000"/>
              </a:lnSpc>
              <a:spcAft>
                <a:spcPts val="1200"/>
              </a:spcAft>
              <a:buNone/>
            </a:pPr>
            <a:r>
              <a:rPr lang="en-US" sz="1800" dirty="0">
                <a:effectLst/>
                <a:latin typeface="Times New Roman" panose="02020603050405020304" pitchFamily="18" charset="0"/>
                <a:ea typeface="Times New Roman" panose="02020603050405020304" pitchFamily="18" charset="0"/>
              </a:rPr>
              <a:t>Some key AWS networking services and their functionalities are:</a:t>
            </a:r>
          </a:p>
        </p:txBody>
      </p:sp>
    </p:spTree>
    <p:extLst>
      <p:ext uri="{BB962C8B-B14F-4D97-AF65-F5344CB8AC3E}">
        <p14:creationId xmlns:p14="http://schemas.microsoft.com/office/powerpoint/2010/main" val="32660041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847A7D-865D-A539-50C4-EF1CB72C4EA4}"/>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23856A47-5803-5625-A0D6-4697D0DC8BCC}"/>
              </a:ext>
            </a:extLst>
          </p:cNvPr>
          <p:cNvSpPr>
            <a:spLocks noGrp="1"/>
          </p:cNvSpPr>
          <p:nvPr>
            <p:ph type="sldNum" sz="quarter" idx="12"/>
          </p:nvPr>
        </p:nvSpPr>
        <p:spPr/>
        <p:txBody>
          <a:bodyPr/>
          <a:lstStyle/>
          <a:p>
            <a:fld id="{8BD8F058-9003-4658-AA47-7D4800AF7EA2}" type="slidenum">
              <a:rPr lang="en-US" smtClean="0"/>
              <a:pPr/>
              <a:t>4</a:t>
            </a:fld>
            <a:endParaRPr lang="en-US"/>
          </a:p>
        </p:txBody>
      </p:sp>
      <p:sp>
        <p:nvSpPr>
          <p:cNvPr id="2" name="Date Placeholder 1">
            <a:extLst>
              <a:ext uri="{FF2B5EF4-FFF2-40B4-BE49-F238E27FC236}">
                <a16:creationId xmlns:a16="http://schemas.microsoft.com/office/drawing/2014/main" id="{9138C02A-7712-B8D0-82D8-0CBCA31D4CE2}"/>
              </a:ext>
            </a:extLst>
          </p:cNvPr>
          <p:cNvSpPr>
            <a:spLocks noGrp="1"/>
          </p:cNvSpPr>
          <p:nvPr>
            <p:ph type="dt" sz="half" idx="10"/>
          </p:nvPr>
        </p:nvSpPr>
        <p:spPr>
          <a:xfrm>
            <a:off x="457200" y="6356350"/>
            <a:ext cx="2133600" cy="365125"/>
          </a:xfrm>
        </p:spPr>
        <p:txBody>
          <a:bodyPr/>
          <a:lstStyle/>
          <a:p>
            <a:r>
              <a:rPr lang="en-US" dirty="0"/>
              <a:t>Cloud Computing</a:t>
            </a:r>
          </a:p>
        </p:txBody>
      </p:sp>
      <p:sp>
        <p:nvSpPr>
          <p:cNvPr id="6" name="TextBox 5">
            <a:extLst>
              <a:ext uri="{FF2B5EF4-FFF2-40B4-BE49-F238E27FC236}">
                <a16:creationId xmlns:a16="http://schemas.microsoft.com/office/drawing/2014/main" id="{6C35BB30-2947-2ACB-4323-65A01225C7F0}"/>
              </a:ext>
            </a:extLst>
          </p:cNvPr>
          <p:cNvSpPr txBox="1"/>
          <p:nvPr/>
        </p:nvSpPr>
        <p:spPr>
          <a:xfrm>
            <a:off x="152400" y="147411"/>
            <a:ext cx="7130143" cy="553998"/>
          </a:xfrm>
          <a:prstGeom prst="rect">
            <a:avLst/>
          </a:prstGeom>
          <a:noFill/>
        </p:spPr>
        <p:txBody>
          <a:bodyPr wrap="square">
            <a:spAutoFit/>
          </a:bodyPr>
          <a:lstStyle/>
          <a:p>
            <a:r>
              <a:rPr lang="en-US" sz="3000" b="1" spc="-5" dirty="0">
                <a:solidFill>
                  <a:prstClr val="black"/>
                </a:solidFill>
                <a:latin typeface="Cambria"/>
              </a:rPr>
              <a:t>AWS Networking Services</a:t>
            </a:r>
          </a:p>
        </p:txBody>
      </p:sp>
      <p:sp>
        <p:nvSpPr>
          <p:cNvPr id="4" name="TextBox 3">
            <a:extLst>
              <a:ext uri="{FF2B5EF4-FFF2-40B4-BE49-F238E27FC236}">
                <a16:creationId xmlns:a16="http://schemas.microsoft.com/office/drawing/2014/main" id="{24E38778-33D1-D786-3487-70DD3DA8AC02}"/>
              </a:ext>
            </a:extLst>
          </p:cNvPr>
          <p:cNvSpPr txBox="1"/>
          <p:nvPr/>
        </p:nvSpPr>
        <p:spPr>
          <a:xfrm>
            <a:off x="533400" y="1160571"/>
            <a:ext cx="7848600" cy="458074"/>
          </a:xfrm>
          <a:prstGeom prst="rect">
            <a:avLst/>
          </a:prstGeom>
          <a:noFill/>
        </p:spPr>
        <p:txBody>
          <a:bodyPr wrap="square">
            <a:spAutoFit/>
          </a:bodyPr>
          <a:lstStyle/>
          <a:p>
            <a:pPr marL="0" indent="0" algn="just">
              <a:lnSpc>
                <a:spcPct val="150000"/>
              </a:lnSpc>
              <a:buNone/>
            </a:pPr>
            <a:endParaRPr lang="en-GB" sz="18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A54C3B21-E901-3045-D8F6-6DE3EB0111E3}"/>
              </a:ext>
            </a:extLst>
          </p:cNvPr>
          <p:cNvSpPr txBox="1"/>
          <p:nvPr/>
        </p:nvSpPr>
        <p:spPr>
          <a:xfrm>
            <a:off x="-228600" y="1220555"/>
            <a:ext cx="9220200" cy="4616648"/>
          </a:xfrm>
          <a:prstGeom prst="rect">
            <a:avLst/>
          </a:prstGeom>
          <a:noFill/>
        </p:spPr>
        <p:txBody>
          <a:bodyPr wrap="square">
            <a:spAutoFit/>
          </a:bodyPr>
          <a:lstStyle/>
          <a:p>
            <a:pPr marL="457200" indent="457200" algn="just">
              <a:lnSpc>
                <a:spcPct val="150000"/>
              </a:lnSpc>
              <a:spcAft>
                <a:spcPts val="1200"/>
              </a:spcAft>
              <a:buNone/>
            </a:pPr>
            <a:r>
              <a:rPr lang="en-US" sz="1800" b="1" dirty="0">
                <a:effectLst/>
                <a:latin typeface="Times New Roman" panose="02020603050405020304" pitchFamily="18" charset="0"/>
                <a:ea typeface="Times New Roman" panose="02020603050405020304" pitchFamily="18" charset="0"/>
              </a:rPr>
              <a:t>1. Amazon Virtual Private Cloud (VPC)</a:t>
            </a:r>
          </a:p>
          <a:p>
            <a:pPr marL="457200" indent="457200" algn="just">
              <a:lnSpc>
                <a:spcPct val="150000"/>
              </a:lnSpc>
              <a:spcAft>
                <a:spcPts val="1200"/>
              </a:spcAft>
              <a:buNone/>
            </a:pPr>
            <a:r>
              <a:rPr lang="en-US" sz="1800" dirty="0">
                <a:effectLst/>
                <a:latin typeface="Times New Roman" panose="02020603050405020304" pitchFamily="18" charset="0"/>
                <a:ea typeface="Times New Roman" panose="02020603050405020304" pitchFamily="18" charset="0"/>
              </a:rPr>
              <a:t>Amazon VPC allows users to create isolated virtual networks within the AWS cloud. It provides complete control over IP address ranges, subnets, route tables, and network gateways. Users can securely connect their on-premises infrastructure to the cloud using AWS Direct Connect or VPN.</a:t>
            </a:r>
          </a:p>
          <a:p>
            <a:pPr marL="457200" indent="457200" algn="just">
              <a:lnSpc>
                <a:spcPct val="150000"/>
              </a:lnSpc>
              <a:spcAft>
                <a:spcPts val="1200"/>
              </a:spcAft>
              <a:buNone/>
            </a:pPr>
            <a:r>
              <a:rPr lang="en-US" sz="1800" b="1" dirty="0">
                <a:effectLst/>
                <a:latin typeface="Times New Roman" panose="02020603050405020304" pitchFamily="18" charset="0"/>
                <a:ea typeface="Times New Roman" panose="02020603050405020304" pitchFamily="18" charset="0"/>
              </a:rPr>
              <a:t>Key Features:</a:t>
            </a:r>
          </a:p>
          <a:p>
            <a:pPr marL="457200" algn="just">
              <a:spcAft>
                <a:spcPts val="1200"/>
              </a:spcAft>
            </a:pPr>
            <a:r>
              <a:rPr lang="en-US" dirty="0">
                <a:effectLst/>
                <a:latin typeface="Times New Roman" panose="02020603050405020304" pitchFamily="18" charset="0"/>
                <a:ea typeface="Times New Roman" panose="02020603050405020304" pitchFamily="18" charset="0"/>
              </a:rPr>
              <a:t>	●	Subnet segmentation (public and private subnets)</a:t>
            </a:r>
          </a:p>
          <a:p>
            <a:pPr marL="457200" algn="just">
              <a:spcAft>
                <a:spcPts val="1200"/>
              </a:spcAft>
            </a:pPr>
            <a:r>
              <a:rPr lang="en-US" dirty="0">
                <a:effectLst/>
                <a:latin typeface="Times New Roman" panose="02020603050405020304" pitchFamily="18" charset="0"/>
                <a:ea typeface="Times New Roman" panose="02020603050405020304" pitchFamily="18" charset="0"/>
              </a:rPr>
              <a:t>	●	Security through Network Access Control Lists (NACLs) and Security Groups</a:t>
            </a:r>
          </a:p>
          <a:p>
            <a:pPr marL="457200" algn="just">
              <a:spcAft>
                <a:spcPts val="1200"/>
              </a:spcAft>
            </a:pPr>
            <a:r>
              <a:rPr lang="en-US" dirty="0">
                <a:effectLst/>
                <a:latin typeface="Times New Roman" panose="02020603050405020304" pitchFamily="18" charset="0"/>
                <a:ea typeface="Times New Roman" panose="02020603050405020304" pitchFamily="18" charset="0"/>
              </a:rPr>
              <a:t>	●	Internet Gateway (IGW) for external communication</a:t>
            </a:r>
          </a:p>
          <a:p>
            <a:pPr marL="457200" algn="just">
              <a:spcAft>
                <a:spcPts val="1200"/>
              </a:spcAft>
            </a:pPr>
            <a:r>
              <a:rPr lang="en-US" dirty="0">
                <a:effectLst/>
                <a:latin typeface="Times New Roman" panose="02020603050405020304" pitchFamily="18" charset="0"/>
                <a:ea typeface="Times New Roman" panose="02020603050405020304" pitchFamily="18" charset="0"/>
              </a:rPr>
              <a:t>	●	Virtual Private Gateway (VGW) for private connections</a:t>
            </a:r>
          </a:p>
        </p:txBody>
      </p:sp>
    </p:spTree>
    <p:extLst>
      <p:ext uri="{BB962C8B-B14F-4D97-AF65-F5344CB8AC3E}">
        <p14:creationId xmlns:p14="http://schemas.microsoft.com/office/powerpoint/2010/main" val="39221338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C645DD-C9BA-3ABD-DCCA-20415EE75F5F}"/>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BF73FE0C-2611-B3B9-3E2E-F52309342B4E}"/>
              </a:ext>
            </a:extLst>
          </p:cNvPr>
          <p:cNvSpPr>
            <a:spLocks noGrp="1"/>
          </p:cNvSpPr>
          <p:nvPr>
            <p:ph type="sldNum" sz="quarter" idx="12"/>
          </p:nvPr>
        </p:nvSpPr>
        <p:spPr/>
        <p:txBody>
          <a:bodyPr/>
          <a:lstStyle/>
          <a:p>
            <a:fld id="{8BD8F058-9003-4658-AA47-7D4800AF7EA2}" type="slidenum">
              <a:rPr lang="en-US" smtClean="0"/>
              <a:pPr/>
              <a:t>5</a:t>
            </a:fld>
            <a:endParaRPr lang="en-US"/>
          </a:p>
        </p:txBody>
      </p:sp>
      <p:sp>
        <p:nvSpPr>
          <p:cNvPr id="2" name="Date Placeholder 1">
            <a:extLst>
              <a:ext uri="{FF2B5EF4-FFF2-40B4-BE49-F238E27FC236}">
                <a16:creationId xmlns:a16="http://schemas.microsoft.com/office/drawing/2014/main" id="{FE8BCD5C-2091-21CE-5B0B-74F8F5E1A6DF}"/>
              </a:ext>
            </a:extLst>
          </p:cNvPr>
          <p:cNvSpPr>
            <a:spLocks noGrp="1"/>
          </p:cNvSpPr>
          <p:nvPr>
            <p:ph type="dt" sz="half" idx="10"/>
          </p:nvPr>
        </p:nvSpPr>
        <p:spPr>
          <a:xfrm>
            <a:off x="457200" y="6356350"/>
            <a:ext cx="2133600" cy="365125"/>
          </a:xfrm>
        </p:spPr>
        <p:txBody>
          <a:bodyPr/>
          <a:lstStyle/>
          <a:p>
            <a:r>
              <a:rPr lang="en-US" dirty="0"/>
              <a:t>Cloud Computing</a:t>
            </a:r>
          </a:p>
        </p:txBody>
      </p:sp>
      <p:sp>
        <p:nvSpPr>
          <p:cNvPr id="6" name="TextBox 5">
            <a:extLst>
              <a:ext uri="{FF2B5EF4-FFF2-40B4-BE49-F238E27FC236}">
                <a16:creationId xmlns:a16="http://schemas.microsoft.com/office/drawing/2014/main" id="{74B465DB-C407-ABF4-799D-60C0D7E6589C}"/>
              </a:ext>
            </a:extLst>
          </p:cNvPr>
          <p:cNvSpPr txBox="1"/>
          <p:nvPr/>
        </p:nvSpPr>
        <p:spPr>
          <a:xfrm>
            <a:off x="152400" y="147411"/>
            <a:ext cx="7130143" cy="553998"/>
          </a:xfrm>
          <a:prstGeom prst="rect">
            <a:avLst/>
          </a:prstGeom>
          <a:noFill/>
        </p:spPr>
        <p:txBody>
          <a:bodyPr wrap="square">
            <a:spAutoFit/>
          </a:bodyPr>
          <a:lstStyle/>
          <a:p>
            <a:r>
              <a:rPr lang="en-US" sz="3000" b="1" spc="-5" dirty="0">
                <a:solidFill>
                  <a:prstClr val="black"/>
                </a:solidFill>
                <a:latin typeface="Cambria"/>
              </a:rPr>
              <a:t>AWS Networking Services</a:t>
            </a:r>
          </a:p>
        </p:txBody>
      </p:sp>
      <p:sp>
        <p:nvSpPr>
          <p:cNvPr id="4" name="TextBox 3">
            <a:extLst>
              <a:ext uri="{FF2B5EF4-FFF2-40B4-BE49-F238E27FC236}">
                <a16:creationId xmlns:a16="http://schemas.microsoft.com/office/drawing/2014/main" id="{CA7C42F8-E02A-ED81-FD41-6BE5E64CD389}"/>
              </a:ext>
            </a:extLst>
          </p:cNvPr>
          <p:cNvSpPr txBox="1"/>
          <p:nvPr/>
        </p:nvSpPr>
        <p:spPr>
          <a:xfrm>
            <a:off x="533400" y="1160571"/>
            <a:ext cx="7848600" cy="458074"/>
          </a:xfrm>
          <a:prstGeom prst="rect">
            <a:avLst/>
          </a:prstGeom>
          <a:noFill/>
        </p:spPr>
        <p:txBody>
          <a:bodyPr wrap="square">
            <a:spAutoFit/>
          </a:bodyPr>
          <a:lstStyle/>
          <a:p>
            <a:pPr marL="0" indent="0" algn="just">
              <a:lnSpc>
                <a:spcPct val="150000"/>
              </a:lnSpc>
              <a:buNone/>
            </a:pPr>
            <a:endParaRPr lang="en-GB" sz="18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97A44A50-65C8-7396-5ED9-6CC2A94EC920}"/>
              </a:ext>
            </a:extLst>
          </p:cNvPr>
          <p:cNvSpPr txBox="1"/>
          <p:nvPr/>
        </p:nvSpPr>
        <p:spPr>
          <a:xfrm>
            <a:off x="152400" y="1389608"/>
            <a:ext cx="8381999" cy="2581732"/>
          </a:xfrm>
          <a:prstGeom prst="rect">
            <a:avLst/>
          </a:prstGeom>
          <a:noFill/>
        </p:spPr>
        <p:txBody>
          <a:bodyPr wrap="square">
            <a:spAutoFit/>
          </a:bodyPr>
          <a:lstStyle/>
          <a:p>
            <a:pPr marL="457200" indent="457200" algn="just">
              <a:lnSpc>
                <a:spcPct val="150000"/>
              </a:lnSpc>
              <a:spcAft>
                <a:spcPts val="1200"/>
              </a:spcAft>
              <a:buNone/>
            </a:pPr>
            <a:r>
              <a:rPr lang="en-US" sz="1800" b="1" dirty="0">
                <a:effectLst/>
                <a:latin typeface="Times New Roman" panose="02020603050405020304" pitchFamily="18" charset="0"/>
                <a:ea typeface="Times New Roman" panose="02020603050405020304" pitchFamily="18" charset="0"/>
              </a:rPr>
              <a:t>Examples of Amazon VPC Usage:</a:t>
            </a:r>
          </a:p>
          <a:p>
            <a:pPr marL="457200" algn="just">
              <a:lnSpc>
                <a:spcPct val="150000"/>
              </a:lnSpc>
              <a:spcAft>
                <a:spcPts val="1200"/>
              </a:spcAft>
            </a:pPr>
            <a:r>
              <a:rPr lang="en-US" sz="1800" dirty="0">
                <a:effectLst/>
                <a:latin typeface="Times New Roman" panose="02020603050405020304" pitchFamily="18" charset="0"/>
                <a:ea typeface="Times New Roman" panose="02020603050405020304" pitchFamily="18" charset="0"/>
              </a:rPr>
              <a:t>■	Netflix: Uses AWS VPC to handle massive streaming traffic securely.</a:t>
            </a:r>
          </a:p>
          <a:p>
            <a:pPr marL="457200" algn="just">
              <a:lnSpc>
                <a:spcPct val="150000"/>
              </a:lnSpc>
              <a:spcAft>
                <a:spcPts val="1200"/>
              </a:spcAft>
            </a:pPr>
            <a:r>
              <a:rPr lang="en-US" sz="1800" dirty="0">
                <a:effectLst/>
                <a:latin typeface="Times New Roman" panose="02020603050405020304" pitchFamily="18" charset="0"/>
                <a:ea typeface="Times New Roman" panose="02020603050405020304" pitchFamily="18" charset="0"/>
              </a:rPr>
              <a:t>■	Airbnb: Manages user data in a secure cloud environment using VPC.</a:t>
            </a:r>
          </a:p>
          <a:p>
            <a:pPr marL="457200" algn="just">
              <a:lnSpc>
                <a:spcPct val="150000"/>
              </a:lnSpc>
              <a:spcAft>
                <a:spcPts val="1200"/>
              </a:spcAft>
            </a:pPr>
            <a:r>
              <a:rPr lang="en-US" sz="1800" dirty="0">
                <a:effectLst/>
                <a:latin typeface="Times New Roman" panose="02020603050405020304" pitchFamily="18" charset="0"/>
                <a:ea typeface="Times New Roman" panose="02020603050405020304" pitchFamily="18" charset="0"/>
              </a:rPr>
              <a:t>■	FINRA (Financial Industry Regulatory Authority): Ensures compliance and secure transaction processing using AWS VPC.</a:t>
            </a:r>
          </a:p>
        </p:txBody>
      </p:sp>
    </p:spTree>
    <p:extLst>
      <p:ext uri="{BB962C8B-B14F-4D97-AF65-F5344CB8AC3E}">
        <p14:creationId xmlns:p14="http://schemas.microsoft.com/office/powerpoint/2010/main" val="31703826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D2A3F4-C710-D4AC-5B17-94D8965BB9B5}"/>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419E0888-6C20-FC73-BC27-B1FB4FC3BE5D}"/>
              </a:ext>
            </a:extLst>
          </p:cNvPr>
          <p:cNvSpPr>
            <a:spLocks noGrp="1"/>
          </p:cNvSpPr>
          <p:nvPr>
            <p:ph type="sldNum" sz="quarter" idx="12"/>
          </p:nvPr>
        </p:nvSpPr>
        <p:spPr/>
        <p:txBody>
          <a:bodyPr/>
          <a:lstStyle/>
          <a:p>
            <a:fld id="{8BD8F058-9003-4658-AA47-7D4800AF7EA2}" type="slidenum">
              <a:rPr lang="en-US" smtClean="0"/>
              <a:pPr/>
              <a:t>6</a:t>
            </a:fld>
            <a:endParaRPr lang="en-US"/>
          </a:p>
        </p:txBody>
      </p:sp>
      <p:sp>
        <p:nvSpPr>
          <p:cNvPr id="2" name="Date Placeholder 1">
            <a:extLst>
              <a:ext uri="{FF2B5EF4-FFF2-40B4-BE49-F238E27FC236}">
                <a16:creationId xmlns:a16="http://schemas.microsoft.com/office/drawing/2014/main" id="{9F6C9EE5-39BE-6AEE-5C25-8A5C83B69306}"/>
              </a:ext>
            </a:extLst>
          </p:cNvPr>
          <p:cNvSpPr>
            <a:spLocks noGrp="1"/>
          </p:cNvSpPr>
          <p:nvPr>
            <p:ph type="dt" sz="half" idx="10"/>
          </p:nvPr>
        </p:nvSpPr>
        <p:spPr>
          <a:xfrm>
            <a:off x="457200" y="6356350"/>
            <a:ext cx="2133600" cy="365125"/>
          </a:xfrm>
        </p:spPr>
        <p:txBody>
          <a:bodyPr/>
          <a:lstStyle/>
          <a:p>
            <a:r>
              <a:rPr lang="en-US" dirty="0"/>
              <a:t>Cloud Computing</a:t>
            </a:r>
          </a:p>
        </p:txBody>
      </p:sp>
      <p:sp>
        <p:nvSpPr>
          <p:cNvPr id="6" name="TextBox 5">
            <a:extLst>
              <a:ext uri="{FF2B5EF4-FFF2-40B4-BE49-F238E27FC236}">
                <a16:creationId xmlns:a16="http://schemas.microsoft.com/office/drawing/2014/main" id="{FEB444FB-9896-B94B-2808-C1E6D080EE49}"/>
              </a:ext>
            </a:extLst>
          </p:cNvPr>
          <p:cNvSpPr txBox="1"/>
          <p:nvPr/>
        </p:nvSpPr>
        <p:spPr>
          <a:xfrm>
            <a:off x="152400" y="147411"/>
            <a:ext cx="7130143" cy="553998"/>
          </a:xfrm>
          <a:prstGeom prst="rect">
            <a:avLst/>
          </a:prstGeom>
          <a:noFill/>
        </p:spPr>
        <p:txBody>
          <a:bodyPr wrap="square">
            <a:spAutoFit/>
          </a:bodyPr>
          <a:lstStyle/>
          <a:p>
            <a:r>
              <a:rPr lang="en-US" sz="3000" b="1" spc="-5" dirty="0">
                <a:solidFill>
                  <a:prstClr val="black"/>
                </a:solidFill>
                <a:latin typeface="Cambria"/>
              </a:rPr>
              <a:t>AWS Networking Services</a:t>
            </a:r>
          </a:p>
        </p:txBody>
      </p:sp>
      <p:sp>
        <p:nvSpPr>
          <p:cNvPr id="4" name="TextBox 3">
            <a:extLst>
              <a:ext uri="{FF2B5EF4-FFF2-40B4-BE49-F238E27FC236}">
                <a16:creationId xmlns:a16="http://schemas.microsoft.com/office/drawing/2014/main" id="{7F6FD132-76BF-7C0C-06B5-6FB9011278AC}"/>
              </a:ext>
            </a:extLst>
          </p:cNvPr>
          <p:cNvSpPr txBox="1"/>
          <p:nvPr/>
        </p:nvSpPr>
        <p:spPr>
          <a:xfrm>
            <a:off x="533400" y="1160571"/>
            <a:ext cx="7848600" cy="458074"/>
          </a:xfrm>
          <a:prstGeom prst="rect">
            <a:avLst/>
          </a:prstGeom>
          <a:noFill/>
        </p:spPr>
        <p:txBody>
          <a:bodyPr wrap="square">
            <a:spAutoFit/>
          </a:bodyPr>
          <a:lstStyle/>
          <a:p>
            <a:pPr marL="0" indent="0" algn="just">
              <a:lnSpc>
                <a:spcPct val="150000"/>
              </a:lnSpc>
              <a:buNone/>
            </a:pPr>
            <a:endParaRPr lang="en-GB" sz="18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AD288839-41AF-7C51-C3DE-405D44F0E156}"/>
              </a:ext>
            </a:extLst>
          </p:cNvPr>
          <p:cNvSpPr txBox="1"/>
          <p:nvPr/>
        </p:nvSpPr>
        <p:spPr>
          <a:xfrm>
            <a:off x="-32657" y="1193228"/>
            <a:ext cx="8643257" cy="4551502"/>
          </a:xfrm>
          <a:prstGeom prst="rect">
            <a:avLst/>
          </a:prstGeom>
          <a:noFill/>
        </p:spPr>
        <p:txBody>
          <a:bodyPr wrap="square">
            <a:spAutoFit/>
          </a:bodyPr>
          <a:lstStyle/>
          <a:p>
            <a:pPr marL="457200" indent="457200" algn="just">
              <a:lnSpc>
                <a:spcPct val="150000"/>
              </a:lnSpc>
              <a:spcAft>
                <a:spcPts val="1200"/>
              </a:spcAft>
              <a:buNone/>
            </a:pPr>
            <a:r>
              <a:rPr lang="en-US" sz="1800" b="1" dirty="0">
                <a:effectLst/>
                <a:latin typeface="Times New Roman" panose="02020603050405020304" pitchFamily="18" charset="0"/>
                <a:ea typeface="Times New Roman" panose="02020603050405020304" pitchFamily="18" charset="0"/>
              </a:rPr>
              <a:t>2. AWS Direct Connect</a:t>
            </a:r>
          </a:p>
          <a:p>
            <a:pPr marL="457200" indent="457200" algn="just">
              <a:lnSpc>
                <a:spcPct val="150000"/>
              </a:lnSpc>
              <a:spcAft>
                <a:spcPts val="1200"/>
              </a:spcAft>
              <a:buNone/>
            </a:pPr>
            <a:r>
              <a:rPr lang="en-US" sz="1800" dirty="0">
                <a:effectLst/>
                <a:latin typeface="Times New Roman" panose="02020603050405020304" pitchFamily="18" charset="0"/>
                <a:ea typeface="Times New Roman" panose="02020603050405020304" pitchFamily="18" charset="0"/>
              </a:rPr>
              <a:t>AWS Direct Connect is a dedicated network service that provides private, low-latency, and high-bandwidth connections between on-premises data centers and AWS resources. This service is ideal for organizations with heavy data workloads or regulatory requirements for private connections.</a:t>
            </a:r>
          </a:p>
          <a:p>
            <a:pPr marL="457200" indent="457200" algn="just">
              <a:lnSpc>
                <a:spcPct val="150000"/>
              </a:lnSpc>
              <a:spcAft>
                <a:spcPts val="1200"/>
              </a:spcAft>
              <a:buNone/>
            </a:pPr>
            <a:r>
              <a:rPr lang="en-US" sz="1800" b="1" dirty="0">
                <a:effectLst/>
                <a:latin typeface="Times New Roman" panose="02020603050405020304" pitchFamily="18" charset="0"/>
                <a:ea typeface="Times New Roman" panose="02020603050405020304" pitchFamily="18" charset="0"/>
              </a:rPr>
              <a:t>Key Features:</a:t>
            </a:r>
          </a:p>
          <a:p>
            <a:pPr marL="457200" indent="457200" algn="just">
              <a:lnSpc>
                <a:spcPct val="150000"/>
              </a:lnSpc>
              <a:spcAft>
                <a:spcPts val="1200"/>
              </a:spcAft>
              <a:buNone/>
            </a:pPr>
            <a:r>
              <a:rPr lang="en-US" sz="1800" dirty="0">
                <a:effectLst/>
                <a:latin typeface="Times New Roman" panose="02020603050405020304" pitchFamily="18" charset="0"/>
                <a:ea typeface="Times New Roman" panose="02020603050405020304" pitchFamily="18" charset="0"/>
              </a:rPr>
              <a:t>●	Enhanced performance with consistent bandwidth</a:t>
            </a:r>
          </a:p>
          <a:p>
            <a:pPr marL="457200" indent="457200" algn="just">
              <a:lnSpc>
                <a:spcPct val="150000"/>
              </a:lnSpc>
              <a:spcAft>
                <a:spcPts val="1200"/>
              </a:spcAft>
              <a:buNone/>
            </a:pPr>
            <a:r>
              <a:rPr lang="en-US" sz="1800" dirty="0">
                <a:effectLst/>
                <a:latin typeface="Times New Roman" panose="02020603050405020304" pitchFamily="18" charset="0"/>
                <a:ea typeface="Times New Roman" panose="02020603050405020304" pitchFamily="18" charset="0"/>
              </a:rPr>
              <a:t>●	Lower data transfer costs</a:t>
            </a:r>
          </a:p>
          <a:p>
            <a:pPr marL="457200" indent="457200" algn="just">
              <a:lnSpc>
                <a:spcPct val="150000"/>
              </a:lnSpc>
              <a:spcAft>
                <a:spcPts val="1200"/>
              </a:spcAft>
              <a:buNone/>
            </a:pPr>
            <a:r>
              <a:rPr lang="en-US" sz="1800" dirty="0">
                <a:effectLst/>
                <a:latin typeface="Times New Roman" panose="02020603050405020304" pitchFamily="18" charset="0"/>
                <a:ea typeface="Times New Roman" panose="02020603050405020304" pitchFamily="18" charset="0"/>
              </a:rPr>
              <a:t>●	Secure and private connectivity</a:t>
            </a:r>
          </a:p>
        </p:txBody>
      </p:sp>
    </p:spTree>
    <p:extLst>
      <p:ext uri="{BB962C8B-B14F-4D97-AF65-F5344CB8AC3E}">
        <p14:creationId xmlns:p14="http://schemas.microsoft.com/office/powerpoint/2010/main" val="39837132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FBB3BB-BFC7-F38F-168B-C5B40A15B4B0}"/>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B8901503-02E7-AC32-0E64-AF7468CBB2E7}"/>
              </a:ext>
            </a:extLst>
          </p:cNvPr>
          <p:cNvSpPr>
            <a:spLocks noGrp="1"/>
          </p:cNvSpPr>
          <p:nvPr>
            <p:ph type="sldNum" sz="quarter" idx="12"/>
          </p:nvPr>
        </p:nvSpPr>
        <p:spPr/>
        <p:txBody>
          <a:bodyPr/>
          <a:lstStyle/>
          <a:p>
            <a:fld id="{8BD8F058-9003-4658-AA47-7D4800AF7EA2}" type="slidenum">
              <a:rPr lang="en-US" smtClean="0"/>
              <a:pPr/>
              <a:t>7</a:t>
            </a:fld>
            <a:endParaRPr lang="en-US"/>
          </a:p>
        </p:txBody>
      </p:sp>
      <p:sp>
        <p:nvSpPr>
          <p:cNvPr id="2" name="Date Placeholder 1">
            <a:extLst>
              <a:ext uri="{FF2B5EF4-FFF2-40B4-BE49-F238E27FC236}">
                <a16:creationId xmlns:a16="http://schemas.microsoft.com/office/drawing/2014/main" id="{872F62C4-4196-7DB2-EC04-B91190796159}"/>
              </a:ext>
            </a:extLst>
          </p:cNvPr>
          <p:cNvSpPr>
            <a:spLocks noGrp="1"/>
          </p:cNvSpPr>
          <p:nvPr>
            <p:ph type="dt" sz="half" idx="10"/>
          </p:nvPr>
        </p:nvSpPr>
        <p:spPr>
          <a:xfrm>
            <a:off x="457200" y="6356350"/>
            <a:ext cx="2133600" cy="365125"/>
          </a:xfrm>
        </p:spPr>
        <p:txBody>
          <a:bodyPr/>
          <a:lstStyle/>
          <a:p>
            <a:r>
              <a:rPr lang="en-US" dirty="0"/>
              <a:t>Cloud Computing</a:t>
            </a:r>
          </a:p>
        </p:txBody>
      </p:sp>
      <p:sp>
        <p:nvSpPr>
          <p:cNvPr id="6" name="TextBox 5">
            <a:extLst>
              <a:ext uri="{FF2B5EF4-FFF2-40B4-BE49-F238E27FC236}">
                <a16:creationId xmlns:a16="http://schemas.microsoft.com/office/drawing/2014/main" id="{7489B69C-F66D-ACBD-0BEC-106CE6BB3948}"/>
              </a:ext>
            </a:extLst>
          </p:cNvPr>
          <p:cNvSpPr txBox="1"/>
          <p:nvPr/>
        </p:nvSpPr>
        <p:spPr>
          <a:xfrm>
            <a:off x="152400" y="147411"/>
            <a:ext cx="7130143" cy="553998"/>
          </a:xfrm>
          <a:prstGeom prst="rect">
            <a:avLst/>
          </a:prstGeom>
          <a:noFill/>
        </p:spPr>
        <p:txBody>
          <a:bodyPr wrap="square">
            <a:spAutoFit/>
          </a:bodyPr>
          <a:lstStyle/>
          <a:p>
            <a:r>
              <a:rPr lang="en-US" sz="3000" b="1" spc="-5" dirty="0">
                <a:solidFill>
                  <a:prstClr val="black"/>
                </a:solidFill>
                <a:latin typeface="Cambria"/>
              </a:rPr>
              <a:t>AWS Networking Services</a:t>
            </a:r>
          </a:p>
        </p:txBody>
      </p:sp>
      <p:sp>
        <p:nvSpPr>
          <p:cNvPr id="4" name="TextBox 3">
            <a:extLst>
              <a:ext uri="{FF2B5EF4-FFF2-40B4-BE49-F238E27FC236}">
                <a16:creationId xmlns:a16="http://schemas.microsoft.com/office/drawing/2014/main" id="{F485D34E-FE30-2459-C286-641FE56F8AD3}"/>
              </a:ext>
            </a:extLst>
          </p:cNvPr>
          <p:cNvSpPr txBox="1"/>
          <p:nvPr/>
        </p:nvSpPr>
        <p:spPr>
          <a:xfrm>
            <a:off x="533400" y="1160571"/>
            <a:ext cx="7848600" cy="458074"/>
          </a:xfrm>
          <a:prstGeom prst="rect">
            <a:avLst/>
          </a:prstGeom>
          <a:noFill/>
        </p:spPr>
        <p:txBody>
          <a:bodyPr wrap="square">
            <a:spAutoFit/>
          </a:bodyPr>
          <a:lstStyle/>
          <a:p>
            <a:pPr marL="0" indent="0" algn="just">
              <a:lnSpc>
                <a:spcPct val="150000"/>
              </a:lnSpc>
              <a:buNone/>
            </a:pPr>
            <a:endParaRPr lang="en-GB" sz="18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92946C19-50D8-D6BF-91A0-0DEA6D1C1E67}"/>
              </a:ext>
            </a:extLst>
          </p:cNvPr>
          <p:cNvSpPr txBox="1"/>
          <p:nvPr/>
        </p:nvSpPr>
        <p:spPr>
          <a:xfrm>
            <a:off x="-76200" y="1127914"/>
            <a:ext cx="8610600" cy="4813112"/>
          </a:xfrm>
          <a:prstGeom prst="rect">
            <a:avLst/>
          </a:prstGeom>
          <a:noFill/>
        </p:spPr>
        <p:txBody>
          <a:bodyPr wrap="square">
            <a:spAutoFit/>
          </a:bodyPr>
          <a:lstStyle/>
          <a:p>
            <a:pPr marL="457200" indent="457200" algn="just">
              <a:lnSpc>
                <a:spcPct val="150000"/>
              </a:lnSpc>
              <a:spcAft>
                <a:spcPts val="1200"/>
              </a:spcAft>
              <a:buNone/>
            </a:pPr>
            <a:r>
              <a:rPr lang="en-US" sz="1800" b="1" dirty="0">
                <a:effectLst/>
                <a:latin typeface="Times New Roman" panose="02020603050405020304" pitchFamily="18" charset="0"/>
                <a:ea typeface="Times New Roman" panose="02020603050405020304" pitchFamily="18" charset="0"/>
              </a:rPr>
              <a:t>3. Elastic Load Balancing (ELB)</a:t>
            </a:r>
          </a:p>
          <a:p>
            <a:pPr marL="457200" indent="457200" algn="just">
              <a:lnSpc>
                <a:spcPct val="150000"/>
              </a:lnSpc>
              <a:spcAft>
                <a:spcPts val="1200"/>
              </a:spcAft>
              <a:buNone/>
            </a:pPr>
            <a:r>
              <a:rPr lang="en-US" sz="1800" dirty="0">
                <a:effectLst/>
                <a:latin typeface="Times New Roman" panose="02020603050405020304" pitchFamily="18" charset="0"/>
                <a:ea typeface="Times New Roman" panose="02020603050405020304" pitchFamily="18" charset="0"/>
              </a:rPr>
              <a:t>Elastic Load Balancing distributes incoming application traffic across multiple targets (e.g., EC2 instances, containers) to ensure availability and fault tolerance. AWS provides three types of load balancers:</a:t>
            </a:r>
          </a:p>
          <a:p>
            <a:pPr marL="457200" algn="just">
              <a:lnSpc>
                <a:spcPct val="150000"/>
              </a:lnSpc>
              <a:spcAft>
                <a:spcPts val="1200"/>
              </a:spcAft>
            </a:pPr>
            <a:r>
              <a:rPr lang="en-US" sz="1800" dirty="0">
                <a:effectLst/>
                <a:latin typeface="Times New Roman" panose="02020603050405020304" pitchFamily="18" charset="0"/>
                <a:ea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rPr>
              <a:t>Application Load Balancer (ALB) </a:t>
            </a:r>
            <a:r>
              <a:rPr lang="en-US" sz="1800" dirty="0">
                <a:effectLst/>
                <a:latin typeface="Times New Roman" panose="02020603050405020304" pitchFamily="18" charset="0"/>
                <a:ea typeface="Times New Roman" panose="02020603050405020304" pitchFamily="18" charset="0"/>
              </a:rPr>
              <a:t>– Operates at the application layer (Layer 7), ideal for HTTP/HTTPS traffic.</a:t>
            </a:r>
          </a:p>
          <a:p>
            <a:pPr marL="457200" algn="just">
              <a:lnSpc>
                <a:spcPct val="150000"/>
              </a:lnSpc>
              <a:spcAft>
                <a:spcPts val="1200"/>
              </a:spcAft>
            </a:pPr>
            <a:r>
              <a:rPr lang="en-US" sz="1800" dirty="0">
                <a:effectLst/>
                <a:latin typeface="Times New Roman" panose="02020603050405020304" pitchFamily="18" charset="0"/>
                <a:ea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rPr>
              <a:t>Network Load Balancer (NLB) </a:t>
            </a:r>
            <a:r>
              <a:rPr lang="en-US" sz="1800" dirty="0">
                <a:effectLst/>
                <a:latin typeface="Times New Roman" panose="02020603050405020304" pitchFamily="18" charset="0"/>
                <a:ea typeface="Times New Roman" panose="02020603050405020304" pitchFamily="18" charset="0"/>
              </a:rPr>
              <a:t>– Works at the transport layer (Layer 4), designed for TCP/UDP traffic with ultra-low latency.</a:t>
            </a:r>
          </a:p>
          <a:p>
            <a:pPr marL="457200" algn="just">
              <a:lnSpc>
                <a:spcPct val="150000"/>
              </a:lnSpc>
              <a:spcAft>
                <a:spcPts val="1200"/>
              </a:spcAft>
            </a:pPr>
            <a:r>
              <a:rPr lang="en-US" sz="1800" dirty="0">
                <a:effectLst/>
                <a:latin typeface="Times New Roman" panose="02020603050405020304" pitchFamily="18" charset="0"/>
                <a:ea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rPr>
              <a:t>Gateway Load Balancer (GWLB)</a:t>
            </a:r>
            <a:r>
              <a:rPr lang="en-US" sz="1800" dirty="0">
                <a:effectLst/>
                <a:latin typeface="Times New Roman" panose="02020603050405020304" pitchFamily="18" charset="0"/>
                <a:ea typeface="Times New Roman" panose="02020603050405020304" pitchFamily="18" charset="0"/>
              </a:rPr>
              <a:t> – Manages and routes traffic to third-party virtual appliances.</a:t>
            </a:r>
          </a:p>
        </p:txBody>
      </p:sp>
    </p:spTree>
    <p:extLst>
      <p:ext uri="{BB962C8B-B14F-4D97-AF65-F5344CB8AC3E}">
        <p14:creationId xmlns:p14="http://schemas.microsoft.com/office/powerpoint/2010/main" val="14202844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7A8995-85C6-B190-21F8-E9AB2A5F6615}"/>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0FC2F36E-EDE2-3172-8567-741A45FE546F}"/>
              </a:ext>
            </a:extLst>
          </p:cNvPr>
          <p:cNvSpPr>
            <a:spLocks noGrp="1"/>
          </p:cNvSpPr>
          <p:nvPr>
            <p:ph type="sldNum" sz="quarter" idx="12"/>
          </p:nvPr>
        </p:nvSpPr>
        <p:spPr/>
        <p:txBody>
          <a:bodyPr/>
          <a:lstStyle/>
          <a:p>
            <a:fld id="{8BD8F058-9003-4658-AA47-7D4800AF7EA2}" type="slidenum">
              <a:rPr lang="en-US" smtClean="0"/>
              <a:pPr/>
              <a:t>8</a:t>
            </a:fld>
            <a:endParaRPr lang="en-US"/>
          </a:p>
        </p:txBody>
      </p:sp>
      <p:sp>
        <p:nvSpPr>
          <p:cNvPr id="2" name="Date Placeholder 1">
            <a:extLst>
              <a:ext uri="{FF2B5EF4-FFF2-40B4-BE49-F238E27FC236}">
                <a16:creationId xmlns:a16="http://schemas.microsoft.com/office/drawing/2014/main" id="{4ECF7B88-4454-B8B4-C919-9C262358364B}"/>
              </a:ext>
            </a:extLst>
          </p:cNvPr>
          <p:cNvSpPr>
            <a:spLocks noGrp="1"/>
          </p:cNvSpPr>
          <p:nvPr>
            <p:ph type="dt" sz="half" idx="10"/>
          </p:nvPr>
        </p:nvSpPr>
        <p:spPr>
          <a:xfrm>
            <a:off x="457200" y="6356350"/>
            <a:ext cx="2133600" cy="365125"/>
          </a:xfrm>
        </p:spPr>
        <p:txBody>
          <a:bodyPr/>
          <a:lstStyle/>
          <a:p>
            <a:r>
              <a:rPr lang="en-US" dirty="0"/>
              <a:t>Cloud Computing</a:t>
            </a:r>
          </a:p>
        </p:txBody>
      </p:sp>
      <p:sp>
        <p:nvSpPr>
          <p:cNvPr id="6" name="TextBox 5">
            <a:extLst>
              <a:ext uri="{FF2B5EF4-FFF2-40B4-BE49-F238E27FC236}">
                <a16:creationId xmlns:a16="http://schemas.microsoft.com/office/drawing/2014/main" id="{DEC1C2D5-8F60-A19A-41AD-147C9376E98F}"/>
              </a:ext>
            </a:extLst>
          </p:cNvPr>
          <p:cNvSpPr txBox="1"/>
          <p:nvPr/>
        </p:nvSpPr>
        <p:spPr>
          <a:xfrm>
            <a:off x="152400" y="147411"/>
            <a:ext cx="7130143" cy="553998"/>
          </a:xfrm>
          <a:prstGeom prst="rect">
            <a:avLst/>
          </a:prstGeom>
          <a:noFill/>
        </p:spPr>
        <p:txBody>
          <a:bodyPr wrap="square">
            <a:spAutoFit/>
          </a:bodyPr>
          <a:lstStyle/>
          <a:p>
            <a:r>
              <a:rPr lang="en-US" sz="3000" b="1" spc="-5" dirty="0">
                <a:solidFill>
                  <a:prstClr val="black"/>
                </a:solidFill>
                <a:latin typeface="Cambria"/>
              </a:rPr>
              <a:t>AWS Networking Services</a:t>
            </a:r>
          </a:p>
        </p:txBody>
      </p:sp>
      <p:sp>
        <p:nvSpPr>
          <p:cNvPr id="4" name="TextBox 3">
            <a:extLst>
              <a:ext uri="{FF2B5EF4-FFF2-40B4-BE49-F238E27FC236}">
                <a16:creationId xmlns:a16="http://schemas.microsoft.com/office/drawing/2014/main" id="{15AFE037-8A31-76D8-12E8-E418D16138DF}"/>
              </a:ext>
            </a:extLst>
          </p:cNvPr>
          <p:cNvSpPr txBox="1"/>
          <p:nvPr/>
        </p:nvSpPr>
        <p:spPr>
          <a:xfrm>
            <a:off x="533400" y="1160571"/>
            <a:ext cx="7848600" cy="458074"/>
          </a:xfrm>
          <a:prstGeom prst="rect">
            <a:avLst/>
          </a:prstGeom>
          <a:noFill/>
        </p:spPr>
        <p:txBody>
          <a:bodyPr wrap="square">
            <a:spAutoFit/>
          </a:bodyPr>
          <a:lstStyle/>
          <a:p>
            <a:pPr marL="0" indent="0" algn="just">
              <a:lnSpc>
                <a:spcPct val="150000"/>
              </a:lnSpc>
              <a:buNone/>
            </a:pPr>
            <a:endParaRPr lang="en-GB" sz="18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F1A443E2-3189-995E-8D75-8AF08DD05094}"/>
              </a:ext>
            </a:extLst>
          </p:cNvPr>
          <p:cNvSpPr txBox="1"/>
          <p:nvPr/>
        </p:nvSpPr>
        <p:spPr>
          <a:xfrm>
            <a:off x="1" y="1160571"/>
            <a:ext cx="8381999" cy="4136004"/>
          </a:xfrm>
          <a:prstGeom prst="rect">
            <a:avLst/>
          </a:prstGeom>
          <a:noFill/>
        </p:spPr>
        <p:txBody>
          <a:bodyPr wrap="square">
            <a:spAutoFit/>
          </a:bodyPr>
          <a:lstStyle/>
          <a:p>
            <a:pPr marL="457200" indent="457200" algn="just">
              <a:lnSpc>
                <a:spcPct val="150000"/>
              </a:lnSpc>
              <a:spcAft>
                <a:spcPts val="1200"/>
              </a:spcAft>
              <a:buNone/>
            </a:pPr>
            <a:r>
              <a:rPr lang="en-US" sz="1800" b="1" dirty="0">
                <a:effectLst/>
                <a:latin typeface="Times New Roman" panose="02020603050405020304" pitchFamily="18" charset="0"/>
                <a:ea typeface="Times New Roman" panose="02020603050405020304" pitchFamily="18" charset="0"/>
              </a:rPr>
              <a:t>4. Amazon Route 53</a:t>
            </a:r>
          </a:p>
          <a:p>
            <a:pPr marL="457200" indent="457200" algn="just">
              <a:lnSpc>
                <a:spcPct val="150000"/>
              </a:lnSpc>
              <a:spcAft>
                <a:spcPts val="1200"/>
              </a:spcAft>
              <a:buNone/>
            </a:pPr>
            <a:r>
              <a:rPr lang="en-US" sz="1800" dirty="0">
                <a:effectLst/>
                <a:latin typeface="Times New Roman" panose="02020603050405020304" pitchFamily="18" charset="0"/>
                <a:ea typeface="Times New Roman" panose="02020603050405020304" pitchFamily="18" charset="0"/>
              </a:rPr>
              <a:t>Amazon Route 53 is a scalable Domain Name System (DNS) web service that connects user requests to AWS resources. It offers domain registration, DNS routing, and health-checking capabilities.</a:t>
            </a:r>
          </a:p>
          <a:p>
            <a:pPr marL="457200" indent="457200" algn="just">
              <a:lnSpc>
                <a:spcPct val="150000"/>
              </a:lnSpc>
              <a:spcAft>
                <a:spcPts val="1200"/>
              </a:spcAft>
              <a:buNone/>
            </a:pPr>
            <a:r>
              <a:rPr lang="en-US" sz="1800" b="1" dirty="0">
                <a:effectLst/>
                <a:latin typeface="Times New Roman" panose="02020603050405020304" pitchFamily="18" charset="0"/>
                <a:ea typeface="Times New Roman" panose="02020603050405020304" pitchFamily="18" charset="0"/>
              </a:rPr>
              <a:t>Key Features:</a:t>
            </a:r>
          </a:p>
          <a:p>
            <a:pPr marL="457200" indent="457200" algn="just">
              <a:lnSpc>
                <a:spcPct val="150000"/>
              </a:lnSpc>
              <a:spcAft>
                <a:spcPts val="1200"/>
              </a:spcAft>
              <a:buNone/>
            </a:pPr>
            <a:r>
              <a:rPr lang="en-US" sz="1800" dirty="0">
                <a:effectLst/>
                <a:latin typeface="Times New Roman" panose="02020603050405020304" pitchFamily="18" charset="0"/>
                <a:ea typeface="Times New Roman" panose="02020603050405020304" pitchFamily="18" charset="0"/>
              </a:rPr>
              <a:t>●	Global DNS management with low-latency routing</a:t>
            </a:r>
          </a:p>
          <a:p>
            <a:pPr marL="457200" indent="457200" algn="just">
              <a:lnSpc>
                <a:spcPct val="150000"/>
              </a:lnSpc>
              <a:spcAft>
                <a:spcPts val="1200"/>
              </a:spcAft>
              <a:buNone/>
            </a:pPr>
            <a:r>
              <a:rPr lang="en-US" sz="1800" dirty="0">
                <a:effectLst/>
                <a:latin typeface="Times New Roman" panose="02020603050405020304" pitchFamily="18" charset="0"/>
                <a:ea typeface="Times New Roman" panose="02020603050405020304" pitchFamily="18" charset="0"/>
              </a:rPr>
              <a:t>●	Traffic flow policies (e.g., weighted, latency-based, geolocation)</a:t>
            </a:r>
          </a:p>
          <a:p>
            <a:pPr marL="457200" indent="457200" algn="just">
              <a:lnSpc>
                <a:spcPct val="150000"/>
              </a:lnSpc>
              <a:spcAft>
                <a:spcPts val="1200"/>
              </a:spcAft>
              <a:buNone/>
            </a:pPr>
            <a:r>
              <a:rPr lang="en-US" sz="1800" dirty="0">
                <a:effectLst/>
                <a:latin typeface="Times New Roman" panose="02020603050405020304" pitchFamily="18" charset="0"/>
                <a:ea typeface="Times New Roman" panose="02020603050405020304" pitchFamily="18" charset="0"/>
              </a:rPr>
              <a:t>●	Domain registration and DNS failover</a:t>
            </a:r>
          </a:p>
        </p:txBody>
      </p:sp>
    </p:spTree>
    <p:extLst>
      <p:ext uri="{BB962C8B-B14F-4D97-AF65-F5344CB8AC3E}">
        <p14:creationId xmlns:p14="http://schemas.microsoft.com/office/powerpoint/2010/main" val="9840298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8E72B0-2F80-A2BA-E1F4-CA95A9CD7E99}"/>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407BEAAC-AA95-497B-C1D7-8400A50D3203}"/>
              </a:ext>
            </a:extLst>
          </p:cNvPr>
          <p:cNvSpPr>
            <a:spLocks noGrp="1"/>
          </p:cNvSpPr>
          <p:nvPr>
            <p:ph type="sldNum" sz="quarter" idx="12"/>
          </p:nvPr>
        </p:nvSpPr>
        <p:spPr/>
        <p:txBody>
          <a:bodyPr/>
          <a:lstStyle/>
          <a:p>
            <a:fld id="{8BD8F058-9003-4658-AA47-7D4800AF7EA2}" type="slidenum">
              <a:rPr lang="en-US" smtClean="0"/>
              <a:pPr/>
              <a:t>9</a:t>
            </a:fld>
            <a:endParaRPr lang="en-US"/>
          </a:p>
        </p:txBody>
      </p:sp>
      <p:sp>
        <p:nvSpPr>
          <p:cNvPr id="2" name="Date Placeholder 1">
            <a:extLst>
              <a:ext uri="{FF2B5EF4-FFF2-40B4-BE49-F238E27FC236}">
                <a16:creationId xmlns:a16="http://schemas.microsoft.com/office/drawing/2014/main" id="{C7604912-2C02-E7BC-E90E-04E4C0FACBDA}"/>
              </a:ext>
            </a:extLst>
          </p:cNvPr>
          <p:cNvSpPr>
            <a:spLocks noGrp="1"/>
          </p:cNvSpPr>
          <p:nvPr>
            <p:ph type="dt" sz="half" idx="10"/>
          </p:nvPr>
        </p:nvSpPr>
        <p:spPr>
          <a:xfrm>
            <a:off x="457200" y="6356350"/>
            <a:ext cx="2133600" cy="365125"/>
          </a:xfrm>
        </p:spPr>
        <p:txBody>
          <a:bodyPr/>
          <a:lstStyle/>
          <a:p>
            <a:r>
              <a:rPr lang="en-US" dirty="0"/>
              <a:t>Cloud Computing</a:t>
            </a:r>
          </a:p>
        </p:txBody>
      </p:sp>
      <p:sp>
        <p:nvSpPr>
          <p:cNvPr id="6" name="TextBox 5">
            <a:extLst>
              <a:ext uri="{FF2B5EF4-FFF2-40B4-BE49-F238E27FC236}">
                <a16:creationId xmlns:a16="http://schemas.microsoft.com/office/drawing/2014/main" id="{B798A752-DFB6-3350-26E8-D967F0B0F711}"/>
              </a:ext>
            </a:extLst>
          </p:cNvPr>
          <p:cNvSpPr txBox="1"/>
          <p:nvPr/>
        </p:nvSpPr>
        <p:spPr>
          <a:xfrm>
            <a:off x="152400" y="147411"/>
            <a:ext cx="7130143" cy="553998"/>
          </a:xfrm>
          <a:prstGeom prst="rect">
            <a:avLst/>
          </a:prstGeom>
          <a:noFill/>
        </p:spPr>
        <p:txBody>
          <a:bodyPr wrap="square">
            <a:spAutoFit/>
          </a:bodyPr>
          <a:lstStyle/>
          <a:p>
            <a:r>
              <a:rPr lang="en-US" sz="3000" b="1" spc="-5" dirty="0">
                <a:solidFill>
                  <a:prstClr val="black"/>
                </a:solidFill>
                <a:latin typeface="Cambria"/>
              </a:rPr>
              <a:t>AWS Networking Services</a:t>
            </a:r>
          </a:p>
        </p:txBody>
      </p:sp>
      <p:sp>
        <p:nvSpPr>
          <p:cNvPr id="4" name="TextBox 3">
            <a:extLst>
              <a:ext uri="{FF2B5EF4-FFF2-40B4-BE49-F238E27FC236}">
                <a16:creationId xmlns:a16="http://schemas.microsoft.com/office/drawing/2014/main" id="{5AD36461-C5AD-8191-B7B2-5172DA7DB8B3}"/>
              </a:ext>
            </a:extLst>
          </p:cNvPr>
          <p:cNvSpPr txBox="1"/>
          <p:nvPr/>
        </p:nvSpPr>
        <p:spPr>
          <a:xfrm>
            <a:off x="533400" y="1160571"/>
            <a:ext cx="7848600" cy="458074"/>
          </a:xfrm>
          <a:prstGeom prst="rect">
            <a:avLst/>
          </a:prstGeom>
          <a:noFill/>
        </p:spPr>
        <p:txBody>
          <a:bodyPr wrap="square">
            <a:spAutoFit/>
          </a:bodyPr>
          <a:lstStyle/>
          <a:p>
            <a:pPr marL="0" indent="0" algn="just">
              <a:lnSpc>
                <a:spcPct val="150000"/>
              </a:lnSpc>
              <a:buNone/>
            </a:pPr>
            <a:endParaRPr lang="en-GB" sz="18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D2A3407D-9A26-8F9F-47C3-16550400E069}"/>
              </a:ext>
            </a:extLst>
          </p:cNvPr>
          <p:cNvSpPr txBox="1"/>
          <p:nvPr/>
        </p:nvSpPr>
        <p:spPr>
          <a:xfrm>
            <a:off x="0" y="1360998"/>
            <a:ext cx="8381999" cy="4136004"/>
          </a:xfrm>
          <a:prstGeom prst="rect">
            <a:avLst/>
          </a:prstGeom>
          <a:noFill/>
        </p:spPr>
        <p:txBody>
          <a:bodyPr wrap="square">
            <a:spAutoFit/>
          </a:bodyPr>
          <a:lstStyle/>
          <a:p>
            <a:pPr marL="457200" indent="457200" algn="just">
              <a:lnSpc>
                <a:spcPct val="150000"/>
              </a:lnSpc>
              <a:spcAft>
                <a:spcPts val="1200"/>
              </a:spcAft>
              <a:buNone/>
            </a:pPr>
            <a:r>
              <a:rPr lang="en-US" sz="1800" b="1" dirty="0">
                <a:effectLst/>
                <a:latin typeface="Times New Roman" panose="02020603050405020304" pitchFamily="18" charset="0"/>
                <a:ea typeface="Times New Roman" panose="02020603050405020304" pitchFamily="18" charset="0"/>
              </a:rPr>
              <a:t>5. AWS Transit Gateway</a:t>
            </a:r>
          </a:p>
          <a:p>
            <a:pPr marL="457200" indent="457200" algn="just">
              <a:lnSpc>
                <a:spcPct val="150000"/>
              </a:lnSpc>
              <a:spcAft>
                <a:spcPts val="1200"/>
              </a:spcAft>
              <a:buNone/>
            </a:pPr>
            <a:r>
              <a:rPr lang="en-US" sz="1800" dirty="0">
                <a:effectLst/>
                <a:latin typeface="Times New Roman" panose="02020603050405020304" pitchFamily="18" charset="0"/>
                <a:ea typeface="Times New Roman" panose="02020603050405020304" pitchFamily="18" charset="0"/>
              </a:rPr>
              <a:t>AWS Transit Gateway simplifies the management of large-scale networks by allowing users to connect multiple VPCs, on-premises networks, and remote locations through a single gateway.</a:t>
            </a:r>
          </a:p>
          <a:p>
            <a:pPr marL="457200" indent="457200" algn="just">
              <a:lnSpc>
                <a:spcPct val="150000"/>
              </a:lnSpc>
              <a:spcAft>
                <a:spcPts val="1200"/>
              </a:spcAft>
              <a:buNone/>
            </a:pPr>
            <a:r>
              <a:rPr lang="en-US" sz="1800" b="1" dirty="0">
                <a:effectLst/>
                <a:latin typeface="Times New Roman" panose="02020603050405020304" pitchFamily="18" charset="0"/>
                <a:ea typeface="Times New Roman" panose="02020603050405020304" pitchFamily="18" charset="0"/>
              </a:rPr>
              <a:t>Key Features:</a:t>
            </a:r>
          </a:p>
          <a:p>
            <a:pPr marL="457200" indent="457200" algn="just">
              <a:lnSpc>
                <a:spcPct val="150000"/>
              </a:lnSpc>
              <a:spcAft>
                <a:spcPts val="1200"/>
              </a:spcAft>
              <a:buNone/>
            </a:pPr>
            <a:r>
              <a:rPr lang="en-US" sz="1800" dirty="0">
                <a:effectLst/>
                <a:latin typeface="Times New Roman" panose="02020603050405020304" pitchFamily="18" charset="0"/>
                <a:ea typeface="Times New Roman" panose="02020603050405020304" pitchFamily="18" charset="0"/>
              </a:rPr>
              <a:t>●	Centralized network management</a:t>
            </a:r>
          </a:p>
          <a:p>
            <a:pPr marL="457200" indent="457200" algn="just">
              <a:lnSpc>
                <a:spcPct val="150000"/>
              </a:lnSpc>
              <a:spcAft>
                <a:spcPts val="1200"/>
              </a:spcAft>
              <a:buNone/>
            </a:pPr>
            <a:r>
              <a:rPr lang="en-US" sz="1800" dirty="0">
                <a:effectLst/>
                <a:latin typeface="Times New Roman" panose="02020603050405020304" pitchFamily="18" charset="0"/>
                <a:ea typeface="Times New Roman" panose="02020603050405020304" pitchFamily="18" charset="0"/>
              </a:rPr>
              <a:t>●	Scalable inter-VPC connectivity</a:t>
            </a:r>
          </a:p>
          <a:p>
            <a:pPr marL="457200" indent="457200" algn="just">
              <a:lnSpc>
                <a:spcPct val="150000"/>
              </a:lnSpc>
              <a:spcAft>
                <a:spcPts val="1200"/>
              </a:spcAft>
              <a:buNone/>
            </a:pPr>
            <a:r>
              <a:rPr lang="en-US" sz="1800" dirty="0">
                <a:effectLst/>
                <a:latin typeface="Times New Roman" panose="02020603050405020304" pitchFamily="18" charset="0"/>
                <a:ea typeface="Times New Roman" panose="02020603050405020304" pitchFamily="18" charset="0"/>
              </a:rPr>
              <a:t>●	Integration with AWS Direct Connect and VPN</a:t>
            </a:r>
          </a:p>
        </p:txBody>
      </p:sp>
    </p:spTree>
    <p:extLst>
      <p:ext uri="{BB962C8B-B14F-4D97-AF65-F5344CB8AC3E}">
        <p14:creationId xmlns:p14="http://schemas.microsoft.com/office/powerpoint/2010/main" val="22345111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4A4924-DF72-7FAA-FB63-FB9AC9F122B6}"/>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C6B4BD3C-26C9-8F35-5D87-96B8D212E385}"/>
              </a:ext>
            </a:extLst>
          </p:cNvPr>
          <p:cNvSpPr>
            <a:spLocks noGrp="1"/>
          </p:cNvSpPr>
          <p:nvPr>
            <p:ph type="sldNum" sz="quarter" idx="12"/>
          </p:nvPr>
        </p:nvSpPr>
        <p:spPr/>
        <p:txBody>
          <a:bodyPr/>
          <a:lstStyle/>
          <a:p>
            <a:fld id="{8BD8F058-9003-4658-AA47-7D4800AF7EA2}" type="slidenum">
              <a:rPr lang="en-US" smtClean="0"/>
              <a:pPr/>
              <a:t>10</a:t>
            </a:fld>
            <a:endParaRPr lang="en-US"/>
          </a:p>
        </p:txBody>
      </p:sp>
      <p:sp>
        <p:nvSpPr>
          <p:cNvPr id="2" name="Date Placeholder 1">
            <a:extLst>
              <a:ext uri="{FF2B5EF4-FFF2-40B4-BE49-F238E27FC236}">
                <a16:creationId xmlns:a16="http://schemas.microsoft.com/office/drawing/2014/main" id="{D680D916-30CE-416B-401E-5DFEB369F57A}"/>
              </a:ext>
            </a:extLst>
          </p:cNvPr>
          <p:cNvSpPr>
            <a:spLocks noGrp="1"/>
          </p:cNvSpPr>
          <p:nvPr>
            <p:ph type="dt" sz="half" idx="10"/>
          </p:nvPr>
        </p:nvSpPr>
        <p:spPr>
          <a:xfrm>
            <a:off x="457200" y="6356350"/>
            <a:ext cx="2133600" cy="365125"/>
          </a:xfrm>
        </p:spPr>
        <p:txBody>
          <a:bodyPr/>
          <a:lstStyle/>
          <a:p>
            <a:r>
              <a:rPr lang="en-US" dirty="0"/>
              <a:t>Cloud Computing</a:t>
            </a:r>
          </a:p>
        </p:txBody>
      </p:sp>
      <p:sp>
        <p:nvSpPr>
          <p:cNvPr id="6" name="TextBox 5">
            <a:extLst>
              <a:ext uri="{FF2B5EF4-FFF2-40B4-BE49-F238E27FC236}">
                <a16:creationId xmlns:a16="http://schemas.microsoft.com/office/drawing/2014/main" id="{2DD2EAC0-1FA6-75D7-67D5-7AB433472913}"/>
              </a:ext>
            </a:extLst>
          </p:cNvPr>
          <p:cNvSpPr txBox="1"/>
          <p:nvPr/>
        </p:nvSpPr>
        <p:spPr>
          <a:xfrm>
            <a:off x="152400" y="147411"/>
            <a:ext cx="7130143" cy="553998"/>
          </a:xfrm>
          <a:prstGeom prst="rect">
            <a:avLst/>
          </a:prstGeom>
          <a:noFill/>
        </p:spPr>
        <p:txBody>
          <a:bodyPr wrap="square">
            <a:spAutoFit/>
          </a:bodyPr>
          <a:lstStyle/>
          <a:p>
            <a:r>
              <a:rPr lang="en-US" sz="3000" b="1" spc="-5" dirty="0">
                <a:solidFill>
                  <a:prstClr val="black"/>
                </a:solidFill>
                <a:latin typeface="Cambria"/>
              </a:rPr>
              <a:t>AWS Networking Services</a:t>
            </a:r>
          </a:p>
        </p:txBody>
      </p:sp>
      <p:sp>
        <p:nvSpPr>
          <p:cNvPr id="4" name="TextBox 3">
            <a:extLst>
              <a:ext uri="{FF2B5EF4-FFF2-40B4-BE49-F238E27FC236}">
                <a16:creationId xmlns:a16="http://schemas.microsoft.com/office/drawing/2014/main" id="{8C70AB48-ED24-0BE5-90FB-0F295E89F7C9}"/>
              </a:ext>
            </a:extLst>
          </p:cNvPr>
          <p:cNvSpPr txBox="1"/>
          <p:nvPr/>
        </p:nvSpPr>
        <p:spPr>
          <a:xfrm>
            <a:off x="533400" y="1160571"/>
            <a:ext cx="7848600" cy="458074"/>
          </a:xfrm>
          <a:prstGeom prst="rect">
            <a:avLst/>
          </a:prstGeom>
          <a:noFill/>
        </p:spPr>
        <p:txBody>
          <a:bodyPr wrap="square">
            <a:spAutoFit/>
          </a:bodyPr>
          <a:lstStyle/>
          <a:p>
            <a:pPr marL="0" indent="0" algn="just">
              <a:lnSpc>
                <a:spcPct val="150000"/>
              </a:lnSpc>
              <a:buNone/>
            </a:pPr>
            <a:endParaRPr lang="en-GB" sz="18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84F07927-B6C8-8AEA-0F3D-CBA8139DE73D}"/>
              </a:ext>
            </a:extLst>
          </p:cNvPr>
          <p:cNvSpPr txBox="1"/>
          <p:nvPr/>
        </p:nvSpPr>
        <p:spPr>
          <a:xfrm>
            <a:off x="1" y="1367837"/>
            <a:ext cx="8381999" cy="3720506"/>
          </a:xfrm>
          <a:prstGeom prst="rect">
            <a:avLst/>
          </a:prstGeom>
          <a:noFill/>
        </p:spPr>
        <p:txBody>
          <a:bodyPr wrap="square">
            <a:spAutoFit/>
          </a:bodyPr>
          <a:lstStyle/>
          <a:p>
            <a:pPr marL="457200" indent="457200" algn="just">
              <a:lnSpc>
                <a:spcPct val="150000"/>
              </a:lnSpc>
              <a:spcAft>
                <a:spcPts val="1200"/>
              </a:spcAft>
              <a:buNone/>
            </a:pPr>
            <a:r>
              <a:rPr lang="en-US" sz="1800" b="1" dirty="0">
                <a:effectLst/>
                <a:latin typeface="Times New Roman" panose="02020603050405020304" pitchFamily="18" charset="0"/>
                <a:ea typeface="Times New Roman" panose="02020603050405020304" pitchFamily="18" charset="0"/>
              </a:rPr>
              <a:t>6. AWS Global Accelerator</a:t>
            </a:r>
          </a:p>
          <a:p>
            <a:pPr marL="457200" indent="457200" algn="just">
              <a:lnSpc>
                <a:spcPct val="150000"/>
              </a:lnSpc>
              <a:spcAft>
                <a:spcPts val="1200"/>
              </a:spcAft>
              <a:buNone/>
            </a:pPr>
            <a:r>
              <a:rPr lang="en-US" sz="1800" dirty="0">
                <a:effectLst/>
                <a:latin typeface="Times New Roman" panose="02020603050405020304" pitchFamily="18" charset="0"/>
                <a:ea typeface="Times New Roman" panose="02020603050405020304" pitchFamily="18" charset="0"/>
              </a:rPr>
              <a:t>AWS Global Accelerator enhances the performance and availability of global applications by routing traffic through the AWS global network.</a:t>
            </a:r>
          </a:p>
          <a:p>
            <a:pPr marL="457200" indent="457200" algn="just">
              <a:lnSpc>
                <a:spcPct val="150000"/>
              </a:lnSpc>
              <a:spcAft>
                <a:spcPts val="1200"/>
              </a:spcAft>
              <a:buNone/>
            </a:pPr>
            <a:r>
              <a:rPr lang="en-US" sz="1800" b="1" dirty="0">
                <a:effectLst/>
                <a:latin typeface="Times New Roman" panose="02020603050405020304" pitchFamily="18" charset="0"/>
                <a:ea typeface="Times New Roman" panose="02020603050405020304" pitchFamily="18" charset="0"/>
              </a:rPr>
              <a:t>Key Features:</a:t>
            </a:r>
          </a:p>
          <a:p>
            <a:pPr marL="457200" indent="457200" algn="just">
              <a:lnSpc>
                <a:spcPct val="150000"/>
              </a:lnSpc>
              <a:spcAft>
                <a:spcPts val="1200"/>
              </a:spcAft>
              <a:buNone/>
            </a:pPr>
            <a:r>
              <a:rPr lang="en-US" sz="1800" dirty="0">
                <a:effectLst/>
                <a:latin typeface="Times New Roman" panose="02020603050405020304" pitchFamily="18" charset="0"/>
                <a:ea typeface="Times New Roman" panose="02020603050405020304" pitchFamily="18" charset="0"/>
              </a:rPr>
              <a:t>●	Reduced latency with optimal routing</a:t>
            </a:r>
          </a:p>
          <a:p>
            <a:pPr marL="457200" indent="457200" algn="just">
              <a:lnSpc>
                <a:spcPct val="150000"/>
              </a:lnSpc>
              <a:spcAft>
                <a:spcPts val="1200"/>
              </a:spcAft>
              <a:buNone/>
            </a:pPr>
            <a:r>
              <a:rPr lang="en-US" sz="1800" dirty="0">
                <a:effectLst/>
                <a:latin typeface="Times New Roman" panose="02020603050405020304" pitchFamily="18" charset="0"/>
                <a:ea typeface="Times New Roman" panose="02020603050405020304" pitchFamily="18" charset="0"/>
              </a:rPr>
              <a:t>●	Automatic failover across AWS Regions</a:t>
            </a:r>
          </a:p>
          <a:p>
            <a:pPr marL="457200" indent="457200" algn="just">
              <a:lnSpc>
                <a:spcPct val="150000"/>
              </a:lnSpc>
              <a:spcAft>
                <a:spcPts val="1200"/>
              </a:spcAft>
              <a:buNone/>
            </a:pPr>
            <a:r>
              <a:rPr lang="en-US" sz="1800" dirty="0">
                <a:effectLst/>
                <a:latin typeface="Times New Roman" panose="02020603050405020304" pitchFamily="18" charset="0"/>
                <a:ea typeface="Times New Roman" panose="02020603050405020304" pitchFamily="18" charset="0"/>
              </a:rPr>
              <a:t>●	Support for both TCP and UDP traffic</a:t>
            </a:r>
          </a:p>
        </p:txBody>
      </p:sp>
    </p:spTree>
    <p:extLst>
      <p:ext uri="{BB962C8B-B14F-4D97-AF65-F5344CB8AC3E}">
        <p14:creationId xmlns:p14="http://schemas.microsoft.com/office/powerpoint/2010/main" val="24383135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0D3B44-22AC-6D0F-43E7-781FA056CC3D}"/>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CFF2DA0E-FC1C-4135-8971-770AED5F16F1}"/>
              </a:ext>
            </a:extLst>
          </p:cNvPr>
          <p:cNvSpPr>
            <a:spLocks noGrp="1"/>
          </p:cNvSpPr>
          <p:nvPr>
            <p:ph type="sldNum" sz="quarter" idx="12"/>
          </p:nvPr>
        </p:nvSpPr>
        <p:spPr/>
        <p:txBody>
          <a:bodyPr/>
          <a:lstStyle/>
          <a:p>
            <a:fld id="{8BD8F058-9003-4658-AA47-7D4800AF7EA2}" type="slidenum">
              <a:rPr lang="en-US" smtClean="0"/>
              <a:pPr/>
              <a:t>11</a:t>
            </a:fld>
            <a:endParaRPr lang="en-US"/>
          </a:p>
        </p:txBody>
      </p:sp>
      <p:sp>
        <p:nvSpPr>
          <p:cNvPr id="2" name="Date Placeholder 1">
            <a:extLst>
              <a:ext uri="{FF2B5EF4-FFF2-40B4-BE49-F238E27FC236}">
                <a16:creationId xmlns:a16="http://schemas.microsoft.com/office/drawing/2014/main" id="{543F0E68-DD21-A8B2-78BD-761F4F5CA3DE}"/>
              </a:ext>
            </a:extLst>
          </p:cNvPr>
          <p:cNvSpPr>
            <a:spLocks noGrp="1"/>
          </p:cNvSpPr>
          <p:nvPr>
            <p:ph type="dt" sz="half" idx="10"/>
          </p:nvPr>
        </p:nvSpPr>
        <p:spPr>
          <a:xfrm>
            <a:off x="457200" y="6356350"/>
            <a:ext cx="2133600" cy="365125"/>
          </a:xfrm>
        </p:spPr>
        <p:txBody>
          <a:bodyPr/>
          <a:lstStyle/>
          <a:p>
            <a:r>
              <a:rPr lang="en-US" dirty="0"/>
              <a:t>Cloud Computing</a:t>
            </a:r>
          </a:p>
        </p:txBody>
      </p:sp>
      <p:sp>
        <p:nvSpPr>
          <p:cNvPr id="6" name="TextBox 5">
            <a:extLst>
              <a:ext uri="{FF2B5EF4-FFF2-40B4-BE49-F238E27FC236}">
                <a16:creationId xmlns:a16="http://schemas.microsoft.com/office/drawing/2014/main" id="{113E3A7C-8909-1B07-9749-FB172EE77CEB}"/>
              </a:ext>
            </a:extLst>
          </p:cNvPr>
          <p:cNvSpPr txBox="1"/>
          <p:nvPr/>
        </p:nvSpPr>
        <p:spPr>
          <a:xfrm>
            <a:off x="152400" y="147411"/>
            <a:ext cx="7130143" cy="553998"/>
          </a:xfrm>
          <a:prstGeom prst="rect">
            <a:avLst/>
          </a:prstGeom>
          <a:noFill/>
        </p:spPr>
        <p:txBody>
          <a:bodyPr wrap="square">
            <a:spAutoFit/>
          </a:bodyPr>
          <a:lstStyle/>
          <a:p>
            <a:r>
              <a:rPr lang="en-US" sz="3000" b="1" spc="-5" dirty="0">
                <a:solidFill>
                  <a:prstClr val="black"/>
                </a:solidFill>
                <a:latin typeface="Cambria"/>
              </a:rPr>
              <a:t>AWS Networking Services</a:t>
            </a:r>
          </a:p>
        </p:txBody>
      </p:sp>
      <p:sp>
        <p:nvSpPr>
          <p:cNvPr id="4" name="TextBox 3">
            <a:extLst>
              <a:ext uri="{FF2B5EF4-FFF2-40B4-BE49-F238E27FC236}">
                <a16:creationId xmlns:a16="http://schemas.microsoft.com/office/drawing/2014/main" id="{112961DB-B454-B9BD-E705-2610DE929FD9}"/>
              </a:ext>
            </a:extLst>
          </p:cNvPr>
          <p:cNvSpPr txBox="1"/>
          <p:nvPr/>
        </p:nvSpPr>
        <p:spPr>
          <a:xfrm>
            <a:off x="533400" y="1160571"/>
            <a:ext cx="7848600" cy="458074"/>
          </a:xfrm>
          <a:prstGeom prst="rect">
            <a:avLst/>
          </a:prstGeom>
          <a:noFill/>
        </p:spPr>
        <p:txBody>
          <a:bodyPr wrap="square">
            <a:spAutoFit/>
          </a:bodyPr>
          <a:lstStyle/>
          <a:p>
            <a:pPr marL="0" indent="0" algn="just">
              <a:lnSpc>
                <a:spcPct val="150000"/>
              </a:lnSpc>
              <a:buNone/>
            </a:pPr>
            <a:endParaRPr lang="en-GB" sz="18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721C9F26-E902-2DBA-4279-C0E068F92E16}"/>
              </a:ext>
            </a:extLst>
          </p:cNvPr>
          <p:cNvSpPr txBox="1"/>
          <p:nvPr/>
        </p:nvSpPr>
        <p:spPr>
          <a:xfrm>
            <a:off x="152400" y="1389608"/>
            <a:ext cx="8381999" cy="3720506"/>
          </a:xfrm>
          <a:prstGeom prst="rect">
            <a:avLst/>
          </a:prstGeom>
          <a:noFill/>
        </p:spPr>
        <p:txBody>
          <a:bodyPr wrap="square">
            <a:spAutoFit/>
          </a:bodyPr>
          <a:lstStyle/>
          <a:p>
            <a:pPr marL="457200" indent="457200" algn="just">
              <a:lnSpc>
                <a:spcPct val="150000"/>
              </a:lnSpc>
              <a:spcAft>
                <a:spcPts val="1200"/>
              </a:spcAft>
              <a:buNone/>
            </a:pPr>
            <a:r>
              <a:rPr lang="en-US" sz="1800" b="1" dirty="0">
                <a:effectLst/>
                <a:latin typeface="Times New Roman" panose="02020603050405020304" pitchFamily="18" charset="0"/>
                <a:ea typeface="Times New Roman" panose="02020603050405020304" pitchFamily="18" charset="0"/>
              </a:rPr>
              <a:t>7. AWS Private Link</a:t>
            </a:r>
          </a:p>
          <a:p>
            <a:pPr marL="457200" indent="457200" algn="just">
              <a:lnSpc>
                <a:spcPct val="150000"/>
              </a:lnSpc>
              <a:spcAft>
                <a:spcPts val="1200"/>
              </a:spcAft>
              <a:buNone/>
            </a:pPr>
            <a:r>
              <a:rPr lang="en-US" sz="1800" dirty="0">
                <a:effectLst/>
                <a:latin typeface="Times New Roman" panose="02020603050405020304" pitchFamily="18" charset="0"/>
                <a:ea typeface="Times New Roman" panose="02020603050405020304" pitchFamily="18" charset="0"/>
              </a:rPr>
              <a:t>AWS Private Link enables secure access to AWS services and third-party applications over a private network, avoiding public internet exposure.</a:t>
            </a:r>
          </a:p>
          <a:p>
            <a:pPr marL="457200" indent="457200" algn="just">
              <a:lnSpc>
                <a:spcPct val="150000"/>
              </a:lnSpc>
              <a:spcAft>
                <a:spcPts val="1200"/>
              </a:spcAft>
              <a:buNone/>
            </a:pPr>
            <a:r>
              <a:rPr lang="en-US" sz="1800" b="1" dirty="0">
                <a:effectLst/>
                <a:latin typeface="Times New Roman" panose="02020603050405020304" pitchFamily="18" charset="0"/>
                <a:ea typeface="Times New Roman" panose="02020603050405020304" pitchFamily="18" charset="0"/>
              </a:rPr>
              <a:t>Key Features:</a:t>
            </a:r>
          </a:p>
          <a:p>
            <a:pPr marL="457200" indent="457200" algn="just">
              <a:lnSpc>
                <a:spcPct val="150000"/>
              </a:lnSpc>
              <a:spcAft>
                <a:spcPts val="1200"/>
              </a:spcAft>
              <a:buNone/>
            </a:pPr>
            <a:r>
              <a:rPr lang="en-US" sz="1800" dirty="0">
                <a:effectLst/>
                <a:latin typeface="Times New Roman" panose="02020603050405020304" pitchFamily="18" charset="0"/>
                <a:ea typeface="Times New Roman" panose="02020603050405020304" pitchFamily="18" charset="0"/>
              </a:rPr>
              <a:t>●	Secure and private connectivity</a:t>
            </a:r>
          </a:p>
          <a:p>
            <a:pPr marL="457200" indent="457200" algn="just">
              <a:lnSpc>
                <a:spcPct val="150000"/>
              </a:lnSpc>
              <a:spcAft>
                <a:spcPts val="1200"/>
              </a:spcAft>
              <a:buNone/>
            </a:pPr>
            <a:r>
              <a:rPr lang="en-US" sz="1800" dirty="0">
                <a:effectLst/>
                <a:latin typeface="Times New Roman" panose="02020603050405020304" pitchFamily="18" charset="0"/>
                <a:ea typeface="Times New Roman" panose="02020603050405020304" pitchFamily="18" charset="0"/>
              </a:rPr>
              <a:t>●	Reduced data exposure risks</a:t>
            </a:r>
          </a:p>
          <a:p>
            <a:pPr marL="457200" indent="457200" algn="just">
              <a:lnSpc>
                <a:spcPct val="150000"/>
              </a:lnSpc>
              <a:spcAft>
                <a:spcPts val="1200"/>
              </a:spcAft>
              <a:buNone/>
            </a:pPr>
            <a:r>
              <a:rPr lang="en-US" sz="1800" dirty="0">
                <a:effectLst/>
                <a:latin typeface="Times New Roman" panose="02020603050405020304" pitchFamily="18" charset="0"/>
                <a:ea typeface="Times New Roman" panose="02020603050405020304" pitchFamily="18" charset="0"/>
              </a:rPr>
              <a:t>●	Simplified network architecture</a:t>
            </a:r>
          </a:p>
        </p:txBody>
      </p:sp>
    </p:spTree>
    <p:extLst>
      <p:ext uri="{BB962C8B-B14F-4D97-AF65-F5344CB8AC3E}">
        <p14:creationId xmlns:p14="http://schemas.microsoft.com/office/powerpoint/2010/main" val="24752771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EACF74-061D-40B2-F55C-8C6175B8AF7B}"/>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7E8C1B2B-4F35-D6C1-13D6-0F55E55964E5}"/>
              </a:ext>
            </a:extLst>
          </p:cNvPr>
          <p:cNvSpPr>
            <a:spLocks noGrp="1"/>
          </p:cNvSpPr>
          <p:nvPr>
            <p:ph type="sldNum" sz="quarter" idx="12"/>
          </p:nvPr>
        </p:nvSpPr>
        <p:spPr/>
        <p:txBody>
          <a:bodyPr/>
          <a:lstStyle/>
          <a:p>
            <a:fld id="{8BD8F058-9003-4658-AA47-7D4800AF7EA2}" type="slidenum">
              <a:rPr lang="en-US" smtClean="0"/>
              <a:pPr/>
              <a:t>12</a:t>
            </a:fld>
            <a:endParaRPr lang="en-US"/>
          </a:p>
        </p:txBody>
      </p:sp>
      <p:sp>
        <p:nvSpPr>
          <p:cNvPr id="2" name="Date Placeholder 1">
            <a:extLst>
              <a:ext uri="{FF2B5EF4-FFF2-40B4-BE49-F238E27FC236}">
                <a16:creationId xmlns:a16="http://schemas.microsoft.com/office/drawing/2014/main" id="{A41517D6-0D73-5B1D-4232-1D849CC0A9B6}"/>
              </a:ext>
            </a:extLst>
          </p:cNvPr>
          <p:cNvSpPr>
            <a:spLocks noGrp="1"/>
          </p:cNvSpPr>
          <p:nvPr>
            <p:ph type="dt" sz="half" idx="10"/>
          </p:nvPr>
        </p:nvSpPr>
        <p:spPr>
          <a:xfrm>
            <a:off x="457200" y="6356350"/>
            <a:ext cx="2133600" cy="365125"/>
          </a:xfrm>
        </p:spPr>
        <p:txBody>
          <a:bodyPr/>
          <a:lstStyle/>
          <a:p>
            <a:r>
              <a:rPr lang="en-US" dirty="0"/>
              <a:t>Cloud Computing</a:t>
            </a:r>
          </a:p>
        </p:txBody>
      </p:sp>
      <p:sp>
        <p:nvSpPr>
          <p:cNvPr id="6" name="TextBox 5">
            <a:extLst>
              <a:ext uri="{FF2B5EF4-FFF2-40B4-BE49-F238E27FC236}">
                <a16:creationId xmlns:a16="http://schemas.microsoft.com/office/drawing/2014/main" id="{D5C21378-685F-6DE1-5805-E0080B1FB8F3}"/>
              </a:ext>
            </a:extLst>
          </p:cNvPr>
          <p:cNvSpPr txBox="1"/>
          <p:nvPr/>
        </p:nvSpPr>
        <p:spPr>
          <a:xfrm>
            <a:off x="152400" y="147411"/>
            <a:ext cx="7130143" cy="553998"/>
          </a:xfrm>
          <a:prstGeom prst="rect">
            <a:avLst/>
          </a:prstGeom>
          <a:noFill/>
        </p:spPr>
        <p:txBody>
          <a:bodyPr wrap="square">
            <a:spAutoFit/>
          </a:bodyPr>
          <a:lstStyle/>
          <a:p>
            <a:r>
              <a:rPr lang="en-US" sz="3000" b="1" spc="-5" dirty="0">
                <a:solidFill>
                  <a:prstClr val="black"/>
                </a:solidFill>
                <a:latin typeface="Cambria"/>
              </a:rPr>
              <a:t>AWS Networking Services</a:t>
            </a:r>
          </a:p>
        </p:txBody>
      </p:sp>
      <p:sp>
        <p:nvSpPr>
          <p:cNvPr id="4" name="TextBox 3">
            <a:extLst>
              <a:ext uri="{FF2B5EF4-FFF2-40B4-BE49-F238E27FC236}">
                <a16:creationId xmlns:a16="http://schemas.microsoft.com/office/drawing/2014/main" id="{7D99D790-A17A-CFCA-6DA7-5E0E7C695DD5}"/>
              </a:ext>
            </a:extLst>
          </p:cNvPr>
          <p:cNvSpPr txBox="1"/>
          <p:nvPr/>
        </p:nvSpPr>
        <p:spPr>
          <a:xfrm>
            <a:off x="533400" y="1160571"/>
            <a:ext cx="7848600" cy="458074"/>
          </a:xfrm>
          <a:prstGeom prst="rect">
            <a:avLst/>
          </a:prstGeom>
          <a:noFill/>
        </p:spPr>
        <p:txBody>
          <a:bodyPr wrap="square">
            <a:spAutoFit/>
          </a:bodyPr>
          <a:lstStyle/>
          <a:p>
            <a:pPr marL="0" indent="0" algn="just">
              <a:lnSpc>
                <a:spcPct val="150000"/>
              </a:lnSpc>
              <a:buNone/>
            </a:pPr>
            <a:endParaRPr lang="en-GB" sz="18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4EB3F83F-CE8B-8765-2D97-EFC0780CC7E6}"/>
              </a:ext>
            </a:extLst>
          </p:cNvPr>
          <p:cNvSpPr txBox="1"/>
          <p:nvPr/>
        </p:nvSpPr>
        <p:spPr>
          <a:xfrm>
            <a:off x="152400" y="1389608"/>
            <a:ext cx="8381999" cy="3720506"/>
          </a:xfrm>
          <a:prstGeom prst="rect">
            <a:avLst/>
          </a:prstGeom>
          <a:noFill/>
        </p:spPr>
        <p:txBody>
          <a:bodyPr wrap="square">
            <a:spAutoFit/>
          </a:bodyPr>
          <a:lstStyle/>
          <a:p>
            <a:pPr marL="457200" indent="457200" algn="just">
              <a:lnSpc>
                <a:spcPct val="150000"/>
              </a:lnSpc>
              <a:spcAft>
                <a:spcPts val="1200"/>
              </a:spcAft>
              <a:buNone/>
            </a:pPr>
            <a:r>
              <a:rPr lang="en-US" sz="1800" b="1" dirty="0">
                <a:effectLst/>
                <a:latin typeface="Times New Roman" panose="02020603050405020304" pitchFamily="18" charset="0"/>
                <a:ea typeface="Times New Roman" panose="02020603050405020304" pitchFamily="18" charset="0"/>
              </a:rPr>
              <a:t>8. AWS CloudFront</a:t>
            </a:r>
          </a:p>
          <a:p>
            <a:pPr marL="457200" indent="457200" algn="just">
              <a:lnSpc>
                <a:spcPct val="150000"/>
              </a:lnSpc>
              <a:spcAft>
                <a:spcPts val="1200"/>
              </a:spcAft>
              <a:buNone/>
            </a:pPr>
            <a:r>
              <a:rPr lang="en-US" sz="1800" dirty="0">
                <a:effectLst/>
                <a:latin typeface="Times New Roman" panose="02020603050405020304" pitchFamily="18" charset="0"/>
                <a:ea typeface="Times New Roman" panose="02020603050405020304" pitchFamily="18" charset="0"/>
              </a:rPr>
              <a:t>AWS CloudFront is a fast, global Content Delivery Network (CDN) service that securely delivers data, videos, applications, and APIs to users with low latency.</a:t>
            </a:r>
          </a:p>
          <a:p>
            <a:pPr marL="457200" indent="457200" algn="just">
              <a:lnSpc>
                <a:spcPct val="150000"/>
              </a:lnSpc>
              <a:spcAft>
                <a:spcPts val="1200"/>
              </a:spcAft>
              <a:buNone/>
            </a:pPr>
            <a:r>
              <a:rPr lang="en-US" sz="1800" b="1" dirty="0">
                <a:effectLst/>
                <a:latin typeface="Times New Roman" panose="02020603050405020304" pitchFamily="18" charset="0"/>
                <a:ea typeface="Times New Roman" panose="02020603050405020304" pitchFamily="18" charset="0"/>
              </a:rPr>
              <a:t>Key Features:</a:t>
            </a:r>
          </a:p>
          <a:p>
            <a:pPr marL="457200" indent="457200" algn="just">
              <a:lnSpc>
                <a:spcPct val="150000"/>
              </a:lnSpc>
              <a:spcAft>
                <a:spcPts val="1200"/>
              </a:spcAft>
              <a:buNone/>
            </a:pPr>
            <a:r>
              <a:rPr lang="en-US" sz="1800" dirty="0">
                <a:effectLst/>
                <a:latin typeface="Times New Roman" panose="02020603050405020304" pitchFamily="18" charset="0"/>
                <a:ea typeface="Times New Roman" panose="02020603050405020304" pitchFamily="18" charset="0"/>
              </a:rPr>
              <a:t>●	Edge locations for faster delivery</a:t>
            </a:r>
          </a:p>
          <a:p>
            <a:pPr marL="457200" indent="457200" algn="just">
              <a:lnSpc>
                <a:spcPct val="150000"/>
              </a:lnSpc>
              <a:spcAft>
                <a:spcPts val="1200"/>
              </a:spcAft>
              <a:buNone/>
            </a:pPr>
            <a:r>
              <a:rPr lang="en-US" sz="1800" dirty="0">
                <a:effectLst/>
                <a:latin typeface="Times New Roman" panose="02020603050405020304" pitchFamily="18" charset="0"/>
                <a:ea typeface="Times New Roman" panose="02020603050405020304" pitchFamily="18" charset="0"/>
              </a:rPr>
              <a:t>●	Integration with AWS Shield for DDoS protection</a:t>
            </a:r>
          </a:p>
          <a:p>
            <a:pPr marL="457200" indent="457200" algn="just">
              <a:lnSpc>
                <a:spcPct val="150000"/>
              </a:lnSpc>
              <a:spcAft>
                <a:spcPts val="1200"/>
              </a:spcAft>
              <a:buNone/>
            </a:pPr>
            <a:r>
              <a:rPr lang="en-US" sz="1800" dirty="0">
                <a:effectLst/>
                <a:latin typeface="Times New Roman" panose="02020603050405020304" pitchFamily="18" charset="0"/>
                <a:ea typeface="Times New Roman" panose="02020603050405020304" pitchFamily="18" charset="0"/>
              </a:rPr>
              <a:t>●	Support for real-time streaming</a:t>
            </a:r>
          </a:p>
        </p:txBody>
      </p:sp>
    </p:spTree>
    <p:extLst>
      <p:ext uri="{BB962C8B-B14F-4D97-AF65-F5344CB8AC3E}">
        <p14:creationId xmlns:p14="http://schemas.microsoft.com/office/powerpoint/2010/main" val="40301375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393975-FB9E-2989-2926-28DAB841F079}"/>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F5078BB7-44CC-A6A2-F494-2F8EC75C1793}"/>
              </a:ext>
            </a:extLst>
          </p:cNvPr>
          <p:cNvSpPr>
            <a:spLocks noGrp="1"/>
          </p:cNvSpPr>
          <p:nvPr>
            <p:ph type="sldNum" sz="quarter" idx="12"/>
          </p:nvPr>
        </p:nvSpPr>
        <p:spPr/>
        <p:txBody>
          <a:bodyPr/>
          <a:lstStyle/>
          <a:p>
            <a:fld id="{8BD8F058-9003-4658-AA47-7D4800AF7EA2}" type="slidenum">
              <a:rPr lang="en-US" smtClean="0"/>
              <a:pPr/>
              <a:t>13</a:t>
            </a:fld>
            <a:endParaRPr lang="en-US"/>
          </a:p>
        </p:txBody>
      </p:sp>
      <p:sp>
        <p:nvSpPr>
          <p:cNvPr id="2" name="Date Placeholder 1">
            <a:extLst>
              <a:ext uri="{FF2B5EF4-FFF2-40B4-BE49-F238E27FC236}">
                <a16:creationId xmlns:a16="http://schemas.microsoft.com/office/drawing/2014/main" id="{D07FAF48-176E-30FA-AFA9-0D65C7805CFE}"/>
              </a:ext>
            </a:extLst>
          </p:cNvPr>
          <p:cNvSpPr>
            <a:spLocks noGrp="1"/>
          </p:cNvSpPr>
          <p:nvPr>
            <p:ph type="dt" sz="half" idx="10"/>
          </p:nvPr>
        </p:nvSpPr>
        <p:spPr>
          <a:xfrm>
            <a:off x="457200" y="6356350"/>
            <a:ext cx="2133600" cy="365125"/>
          </a:xfrm>
        </p:spPr>
        <p:txBody>
          <a:bodyPr/>
          <a:lstStyle/>
          <a:p>
            <a:r>
              <a:rPr lang="en-US" dirty="0"/>
              <a:t>Cloud Computing</a:t>
            </a:r>
          </a:p>
        </p:txBody>
      </p:sp>
      <p:sp>
        <p:nvSpPr>
          <p:cNvPr id="6" name="TextBox 5">
            <a:extLst>
              <a:ext uri="{FF2B5EF4-FFF2-40B4-BE49-F238E27FC236}">
                <a16:creationId xmlns:a16="http://schemas.microsoft.com/office/drawing/2014/main" id="{909BA823-5E3D-00B8-CEFA-94B39541905C}"/>
              </a:ext>
            </a:extLst>
          </p:cNvPr>
          <p:cNvSpPr txBox="1"/>
          <p:nvPr/>
        </p:nvSpPr>
        <p:spPr>
          <a:xfrm>
            <a:off x="152400" y="147411"/>
            <a:ext cx="7130143" cy="553998"/>
          </a:xfrm>
          <a:prstGeom prst="rect">
            <a:avLst/>
          </a:prstGeom>
          <a:noFill/>
        </p:spPr>
        <p:txBody>
          <a:bodyPr wrap="square">
            <a:spAutoFit/>
          </a:bodyPr>
          <a:lstStyle/>
          <a:p>
            <a:r>
              <a:rPr lang="en-US" sz="3000" b="1" spc="-5" dirty="0">
                <a:solidFill>
                  <a:prstClr val="black"/>
                </a:solidFill>
                <a:latin typeface="Cambria"/>
              </a:rPr>
              <a:t>VPN and VPC</a:t>
            </a:r>
          </a:p>
        </p:txBody>
      </p:sp>
      <p:sp>
        <p:nvSpPr>
          <p:cNvPr id="4" name="TextBox 3">
            <a:extLst>
              <a:ext uri="{FF2B5EF4-FFF2-40B4-BE49-F238E27FC236}">
                <a16:creationId xmlns:a16="http://schemas.microsoft.com/office/drawing/2014/main" id="{B5B09FD6-55E6-F81E-5072-594AD438C7A0}"/>
              </a:ext>
            </a:extLst>
          </p:cNvPr>
          <p:cNvSpPr txBox="1"/>
          <p:nvPr/>
        </p:nvSpPr>
        <p:spPr>
          <a:xfrm>
            <a:off x="533400" y="1160571"/>
            <a:ext cx="7848600" cy="458074"/>
          </a:xfrm>
          <a:prstGeom prst="rect">
            <a:avLst/>
          </a:prstGeom>
          <a:noFill/>
        </p:spPr>
        <p:txBody>
          <a:bodyPr wrap="square">
            <a:spAutoFit/>
          </a:bodyPr>
          <a:lstStyle/>
          <a:p>
            <a:pPr marL="0" indent="0" algn="just">
              <a:lnSpc>
                <a:spcPct val="150000"/>
              </a:lnSpc>
              <a:buNone/>
            </a:pPr>
            <a:endParaRPr lang="en-GB" sz="18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F0AE7BDF-97D2-1C7E-B837-8611FB6D221E}"/>
              </a:ext>
            </a:extLst>
          </p:cNvPr>
          <p:cNvSpPr txBox="1"/>
          <p:nvPr/>
        </p:nvSpPr>
        <p:spPr>
          <a:xfrm>
            <a:off x="152400" y="1389608"/>
            <a:ext cx="8381999" cy="2997231"/>
          </a:xfrm>
          <a:prstGeom prst="rect">
            <a:avLst/>
          </a:prstGeom>
          <a:noFill/>
        </p:spPr>
        <p:txBody>
          <a:bodyPr wrap="square">
            <a:spAutoFit/>
          </a:bodyPr>
          <a:lstStyle/>
          <a:p>
            <a:pPr marL="457200" indent="457200" algn="just">
              <a:lnSpc>
                <a:spcPct val="150000"/>
              </a:lnSpc>
              <a:spcAft>
                <a:spcPts val="1200"/>
              </a:spcAft>
              <a:buNone/>
            </a:pPr>
            <a:r>
              <a:rPr lang="en-US" sz="1800" dirty="0">
                <a:effectLst/>
                <a:latin typeface="Times New Roman" panose="02020603050405020304" pitchFamily="18" charset="0"/>
                <a:ea typeface="Times New Roman" panose="02020603050405020304" pitchFamily="18" charset="0"/>
              </a:rPr>
              <a:t>In modern cloud computing and networking, </a:t>
            </a:r>
          </a:p>
          <a:p>
            <a:pPr marL="457200" indent="457200" algn="just">
              <a:lnSpc>
                <a:spcPct val="150000"/>
              </a:lnSpc>
              <a:spcAft>
                <a:spcPts val="1200"/>
              </a:spcAft>
              <a:buNone/>
            </a:pPr>
            <a:r>
              <a:rPr lang="en-US" sz="1800" b="1" dirty="0">
                <a:effectLst/>
                <a:latin typeface="Times New Roman" panose="02020603050405020304" pitchFamily="18" charset="0"/>
                <a:ea typeface="Times New Roman" panose="02020603050405020304" pitchFamily="18" charset="0"/>
              </a:rPr>
              <a:t>VPN (Virtual Private Network) </a:t>
            </a:r>
            <a:r>
              <a:rPr lang="en-US" sz="1800" dirty="0">
                <a:effectLst/>
                <a:latin typeface="Times New Roman" panose="02020603050405020304" pitchFamily="18" charset="0"/>
                <a:ea typeface="Times New Roman" panose="02020603050405020304" pitchFamily="18" charset="0"/>
              </a:rPr>
              <a:t>and </a:t>
            </a:r>
          </a:p>
          <a:p>
            <a:pPr marL="457200" indent="457200" algn="just">
              <a:lnSpc>
                <a:spcPct val="150000"/>
              </a:lnSpc>
              <a:spcAft>
                <a:spcPts val="1200"/>
              </a:spcAft>
              <a:buNone/>
            </a:pPr>
            <a:r>
              <a:rPr lang="en-US" sz="1800" b="1" dirty="0">
                <a:effectLst/>
                <a:latin typeface="Times New Roman" panose="02020603050405020304" pitchFamily="18" charset="0"/>
                <a:ea typeface="Times New Roman" panose="02020603050405020304" pitchFamily="18" charset="0"/>
              </a:rPr>
              <a:t>VPC (Virtual Private Cloud) </a:t>
            </a:r>
            <a:r>
              <a:rPr lang="en-US" sz="1800" dirty="0">
                <a:effectLst/>
                <a:latin typeface="Times New Roman" panose="02020603050405020304" pitchFamily="18" charset="0"/>
                <a:ea typeface="Times New Roman" panose="02020603050405020304" pitchFamily="18" charset="0"/>
              </a:rPr>
              <a:t>play critical roles in securing and managing network resources. </a:t>
            </a:r>
          </a:p>
          <a:p>
            <a:pPr marL="457200" indent="457200" algn="just">
              <a:lnSpc>
                <a:spcPct val="150000"/>
              </a:lnSpc>
              <a:spcAft>
                <a:spcPts val="1200"/>
              </a:spcAft>
              <a:buNone/>
            </a:pPr>
            <a:r>
              <a:rPr lang="en-US" sz="1800" dirty="0">
                <a:effectLst/>
                <a:latin typeface="Times New Roman" panose="02020603050405020304" pitchFamily="18" charset="0"/>
                <a:ea typeface="Times New Roman" panose="02020603050405020304" pitchFamily="18" charset="0"/>
              </a:rPr>
              <a:t>While both technologies offer privacy and isolation, they serve distinct purposes and operate differently within a network infrastructure.</a:t>
            </a:r>
          </a:p>
        </p:txBody>
      </p:sp>
    </p:spTree>
    <p:extLst>
      <p:ext uri="{BB962C8B-B14F-4D97-AF65-F5344CB8AC3E}">
        <p14:creationId xmlns:p14="http://schemas.microsoft.com/office/powerpoint/2010/main" val="23998854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38A491-D9D9-3CDD-5276-0EA940890FDD}"/>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E10BEB2F-1557-D150-93E1-6AA1C9803656}"/>
              </a:ext>
            </a:extLst>
          </p:cNvPr>
          <p:cNvSpPr>
            <a:spLocks noGrp="1"/>
          </p:cNvSpPr>
          <p:nvPr>
            <p:ph type="sldNum" sz="quarter" idx="12"/>
          </p:nvPr>
        </p:nvSpPr>
        <p:spPr/>
        <p:txBody>
          <a:bodyPr/>
          <a:lstStyle/>
          <a:p>
            <a:fld id="{8BD8F058-9003-4658-AA47-7D4800AF7EA2}" type="slidenum">
              <a:rPr lang="en-US" smtClean="0"/>
              <a:pPr/>
              <a:t>14</a:t>
            </a:fld>
            <a:endParaRPr lang="en-US"/>
          </a:p>
        </p:txBody>
      </p:sp>
      <p:sp>
        <p:nvSpPr>
          <p:cNvPr id="2" name="Date Placeholder 1">
            <a:extLst>
              <a:ext uri="{FF2B5EF4-FFF2-40B4-BE49-F238E27FC236}">
                <a16:creationId xmlns:a16="http://schemas.microsoft.com/office/drawing/2014/main" id="{AC2E2700-B422-48B0-C3DE-84E7C9092188}"/>
              </a:ext>
            </a:extLst>
          </p:cNvPr>
          <p:cNvSpPr>
            <a:spLocks noGrp="1"/>
          </p:cNvSpPr>
          <p:nvPr>
            <p:ph type="dt" sz="half" idx="10"/>
          </p:nvPr>
        </p:nvSpPr>
        <p:spPr>
          <a:xfrm>
            <a:off x="457200" y="6356350"/>
            <a:ext cx="2133600" cy="365125"/>
          </a:xfrm>
        </p:spPr>
        <p:txBody>
          <a:bodyPr/>
          <a:lstStyle/>
          <a:p>
            <a:r>
              <a:rPr lang="en-US" dirty="0"/>
              <a:t>Cloud Computing</a:t>
            </a:r>
          </a:p>
        </p:txBody>
      </p:sp>
      <p:sp>
        <p:nvSpPr>
          <p:cNvPr id="6" name="TextBox 5">
            <a:extLst>
              <a:ext uri="{FF2B5EF4-FFF2-40B4-BE49-F238E27FC236}">
                <a16:creationId xmlns:a16="http://schemas.microsoft.com/office/drawing/2014/main" id="{8FD4AD25-43D7-31D0-F1EC-B19175EEF144}"/>
              </a:ext>
            </a:extLst>
          </p:cNvPr>
          <p:cNvSpPr txBox="1"/>
          <p:nvPr/>
        </p:nvSpPr>
        <p:spPr>
          <a:xfrm>
            <a:off x="152400" y="147411"/>
            <a:ext cx="7130143" cy="553998"/>
          </a:xfrm>
          <a:prstGeom prst="rect">
            <a:avLst/>
          </a:prstGeom>
          <a:noFill/>
        </p:spPr>
        <p:txBody>
          <a:bodyPr wrap="square">
            <a:spAutoFit/>
          </a:bodyPr>
          <a:lstStyle/>
          <a:p>
            <a:r>
              <a:rPr lang="en-US" sz="3000" b="1" spc="-5" dirty="0">
                <a:solidFill>
                  <a:prstClr val="black"/>
                </a:solidFill>
                <a:latin typeface="Cambria"/>
              </a:rPr>
              <a:t>Virtual Private Network (VPN)</a:t>
            </a:r>
          </a:p>
        </p:txBody>
      </p:sp>
      <p:sp>
        <p:nvSpPr>
          <p:cNvPr id="4" name="TextBox 3">
            <a:extLst>
              <a:ext uri="{FF2B5EF4-FFF2-40B4-BE49-F238E27FC236}">
                <a16:creationId xmlns:a16="http://schemas.microsoft.com/office/drawing/2014/main" id="{75E9713D-8DEB-2BDA-E168-AB2882E7160D}"/>
              </a:ext>
            </a:extLst>
          </p:cNvPr>
          <p:cNvSpPr txBox="1"/>
          <p:nvPr/>
        </p:nvSpPr>
        <p:spPr>
          <a:xfrm>
            <a:off x="533400" y="1160571"/>
            <a:ext cx="7848600" cy="458074"/>
          </a:xfrm>
          <a:prstGeom prst="rect">
            <a:avLst/>
          </a:prstGeom>
          <a:noFill/>
        </p:spPr>
        <p:txBody>
          <a:bodyPr wrap="square">
            <a:spAutoFit/>
          </a:bodyPr>
          <a:lstStyle/>
          <a:p>
            <a:pPr marL="0" indent="0" algn="just">
              <a:lnSpc>
                <a:spcPct val="150000"/>
              </a:lnSpc>
              <a:buNone/>
            </a:pPr>
            <a:endParaRPr lang="en-GB" sz="18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40B51894-C7B5-5F8D-67C2-25D572AD50FC}"/>
              </a:ext>
            </a:extLst>
          </p:cNvPr>
          <p:cNvSpPr txBox="1"/>
          <p:nvPr/>
        </p:nvSpPr>
        <p:spPr>
          <a:xfrm>
            <a:off x="0" y="1219200"/>
            <a:ext cx="8381999" cy="4397614"/>
          </a:xfrm>
          <a:prstGeom prst="rect">
            <a:avLst/>
          </a:prstGeom>
          <a:noFill/>
        </p:spPr>
        <p:txBody>
          <a:bodyPr wrap="square">
            <a:spAutoFit/>
          </a:bodyPr>
          <a:lstStyle/>
          <a:p>
            <a:pPr marL="457200" indent="457200" algn="just">
              <a:lnSpc>
                <a:spcPct val="150000"/>
              </a:lnSpc>
              <a:spcAft>
                <a:spcPts val="1200"/>
              </a:spcAft>
              <a:buNone/>
            </a:pPr>
            <a:r>
              <a:rPr lang="en-US" sz="1800" dirty="0">
                <a:effectLst/>
                <a:latin typeface="Times New Roman" panose="02020603050405020304" pitchFamily="18" charset="0"/>
                <a:ea typeface="Times New Roman" panose="02020603050405020304" pitchFamily="18" charset="0"/>
              </a:rPr>
              <a:t>A VPN is a technology that creates </a:t>
            </a:r>
            <a:r>
              <a:rPr lang="en-US" sz="1800" b="1" dirty="0">
                <a:effectLst/>
                <a:latin typeface="Times New Roman" panose="02020603050405020304" pitchFamily="18" charset="0"/>
                <a:ea typeface="Times New Roman" panose="02020603050405020304" pitchFamily="18" charset="0"/>
              </a:rPr>
              <a:t>a secure, encrypted connection </a:t>
            </a:r>
            <a:r>
              <a:rPr lang="en-US" sz="1800" dirty="0">
                <a:effectLst/>
                <a:latin typeface="Times New Roman" panose="02020603050405020304" pitchFamily="18" charset="0"/>
                <a:ea typeface="Times New Roman" panose="02020603050405020304" pitchFamily="18" charset="0"/>
              </a:rPr>
              <a:t>between a </a:t>
            </a:r>
            <a:r>
              <a:rPr lang="en-US" sz="1800" b="1" dirty="0">
                <a:effectLst/>
                <a:latin typeface="Times New Roman" panose="02020603050405020304" pitchFamily="18" charset="0"/>
                <a:ea typeface="Times New Roman" panose="02020603050405020304" pitchFamily="18" charset="0"/>
              </a:rPr>
              <a:t>user's device or private network and a remote network </a:t>
            </a:r>
            <a:r>
              <a:rPr lang="en-US" sz="1800" dirty="0">
                <a:effectLst/>
                <a:latin typeface="Times New Roman" panose="02020603050405020304" pitchFamily="18" charset="0"/>
                <a:ea typeface="Times New Roman" panose="02020603050405020304" pitchFamily="18" charset="0"/>
              </a:rPr>
              <a:t>over the public internet. </a:t>
            </a:r>
          </a:p>
          <a:p>
            <a:pPr marL="457200" indent="457200" algn="just">
              <a:lnSpc>
                <a:spcPct val="150000"/>
              </a:lnSpc>
              <a:spcAft>
                <a:spcPts val="1200"/>
              </a:spcAft>
              <a:buNone/>
            </a:pPr>
            <a:r>
              <a:rPr lang="en-US" sz="1800" dirty="0">
                <a:effectLst/>
                <a:latin typeface="Times New Roman" panose="02020603050405020304" pitchFamily="18" charset="0"/>
                <a:ea typeface="Times New Roman" panose="02020603050405020304" pitchFamily="18" charset="0"/>
              </a:rPr>
              <a:t>It allows users to access private resources securely while maintaining confidentiality and data integrity.</a:t>
            </a:r>
          </a:p>
          <a:p>
            <a:pPr marL="457200" indent="457200" algn="just">
              <a:lnSpc>
                <a:spcPct val="150000"/>
              </a:lnSpc>
              <a:spcAft>
                <a:spcPts val="1200"/>
              </a:spcAft>
              <a:buNone/>
            </a:pPr>
            <a:r>
              <a:rPr lang="en-US" sz="1800" dirty="0">
                <a:effectLst/>
                <a:latin typeface="Times New Roman" panose="02020603050405020304" pitchFamily="18" charset="0"/>
                <a:ea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rPr>
              <a:t>How VPN Works</a:t>
            </a:r>
          </a:p>
          <a:p>
            <a:pPr marL="457200" indent="457200" algn="just">
              <a:lnSpc>
                <a:spcPct val="150000"/>
              </a:lnSpc>
              <a:spcAft>
                <a:spcPts val="1200"/>
              </a:spcAft>
              <a:buNone/>
            </a:pPr>
            <a:r>
              <a:rPr lang="en-US" sz="1800" dirty="0">
                <a:effectLst/>
                <a:latin typeface="Times New Roman" panose="02020603050405020304" pitchFamily="18" charset="0"/>
                <a:ea typeface="Times New Roman" panose="02020603050405020304" pitchFamily="18" charset="0"/>
              </a:rPr>
              <a:t>When a user connects to a VPN, their internet traffic is encrypted and routed through a secure tunnel to a VPN server. </a:t>
            </a:r>
          </a:p>
          <a:p>
            <a:pPr marL="457200" indent="457200" algn="just">
              <a:lnSpc>
                <a:spcPct val="150000"/>
              </a:lnSpc>
              <a:spcAft>
                <a:spcPts val="1200"/>
              </a:spcAft>
              <a:buNone/>
            </a:pPr>
            <a:r>
              <a:rPr lang="en-US" sz="1800" dirty="0">
                <a:effectLst/>
                <a:latin typeface="Times New Roman" panose="02020603050405020304" pitchFamily="18" charset="0"/>
                <a:ea typeface="Times New Roman" panose="02020603050405020304" pitchFamily="18" charset="0"/>
              </a:rPr>
              <a:t>This process masks the user’s IP address and protects the data from being intercepted by malicious actors.</a:t>
            </a:r>
          </a:p>
        </p:txBody>
      </p:sp>
    </p:spTree>
    <p:extLst>
      <p:ext uri="{BB962C8B-B14F-4D97-AF65-F5344CB8AC3E}">
        <p14:creationId xmlns:p14="http://schemas.microsoft.com/office/powerpoint/2010/main" val="19456001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38172D-B899-3F7D-1090-08AD49C770EA}"/>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2A405E3E-721E-86C9-FCD1-F048D9AADE01}"/>
              </a:ext>
            </a:extLst>
          </p:cNvPr>
          <p:cNvSpPr>
            <a:spLocks noGrp="1"/>
          </p:cNvSpPr>
          <p:nvPr>
            <p:ph type="sldNum" sz="quarter" idx="12"/>
          </p:nvPr>
        </p:nvSpPr>
        <p:spPr/>
        <p:txBody>
          <a:bodyPr/>
          <a:lstStyle/>
          <a:p>
            <a:fld id="{8BD8F058-9003-4658-AA47-7D4800AF7EA2}" type="slidenum">
              <a:rPr lang="en-US" smtClean="0"/>
              <a:pPr/>
              <a:t>15</a:t>
            </a:fld>
            <a:endParaRPr lang="en-US"/>
          </a:p>
        </p:txBody>
      </p:sp>
      <p:sp>
        <p:nvSpPr>
          <p:cNvPr id="2" name="Date Placeholder 1">
            <a:extLst>
              <a:ext uri="{FF2B5EF4-FFF2-40B4-BE49-F238E27FC236}">
                <a16:creationId xmlns:a16="http://schemas.microsoft.com/office/drawing/2014/main" id="{7E36C78E-613C-B840-7873-3A415C5D2958}"/>
              </a:ext>
            </a:extLst>
          </p:cNvPr>
          <p:cNvSpPr>
            <a:spLocks noGrp="1"/>
          </p:cNvSpPr>
          <p:nvPr>
            <p:ph type="dt" sz="half" idx="10"/>
          </p:nvPr>
        </p:nvSpPr>
        <p:spPr>
          <a:xfrm>
            <a:off x="457200" y="6356350"/>
            <a:ext cx="2133600" cy="365125"/>
          </a:xfrm>
        </p:spPr>
        <p:txBody>
          <a:bodyPr/>
          <a:lstStyle/>
          <a:p>
            <a:r>
              <a:rPr lang="en-US" dirty="0"/>
              <a:t>Cloud Computing</a:t>
            </a:r>
          </a:p>
        </p:txBody>
      </p:sp>
      <p:sp>
        <p:nvSpPr>
          <p:cNvPr id="6" name="TextBox 5">
            <a:extLst>
              <a:ext uri="{FF2B5EF4-FFF2-40B4-BE49-F238E27FC236}">
                <a16:creationId xmlns:a16="http://schemas.microsoft.com/office/drawing/2014/main" id="{DA902D76-27CA-3B4E-2962-02EB1C9F95E6}"/>
              </a:ext>
            </a:extLst>
          </p:cNvPr>
          <p:cNvSpPr txBox="1"/>
          <p:nvPr/>
        </p:nvSpPr>
        <p:spPr>
          <a:xfrm>
            <a:off x="152400" y="147411"/>
            <a:ext cx="7130143" cy="553998"/>
          </a:xfrm>
          <a:prstGeom prst="rect">
            <a:avLst/>
          </a:prstGeom>
          <a:noFill/>
        </p:spPr>
        <p:txBody>
          <a:bodyPr wrap="square">
            <a:spAutoFit/>
          </a:bodyPr>
          <a:lstStyle/>
          <a:p>
            <a:r>
              <a:rPr lang="en-US" sz="3000" b="1" spc="-5" dirty="0">
                <a:solidFill>
                  <a:prstClr val="black"/>
                </a:solidFill>
                <a:latin typeface="Cambria"/>
              </a:rPr>
              <a:t>Virtual Private Network (VPN)</a:t>
            </a:r>
          </a:p>
        </p:txBody>
      </p:sp>
      <p:sp>
        <p:nvSpPr>
          <p:cNvPr id="4" name="TextBox 3">
            <a:extLst>
              <a:ext uri="{FF2B5EF4-FFF2-40B4-BE49-F238E27FC236}">
                <a16:creationId xmlns:a16="http://schemas.microsoft.com/office/drawing/2014/main" id="{568F00C6-275B-0E2E-EC30-5469F6F0E918}"/>
              </a:ext>
            </a:extLst>
          </p:cNvPr>
          <p:cNvSpPr txBox="1"/>
          <p:nvPr/>
        </p:nvSpPr>
        <p:spPr>
          <a:xfrm>
            <a:off x="533400" y="1160571"/>
            <a:ext cx="7848600" cy="458074"/>
          </a:xfrm>
          <a:prstGeom prst="rect">
            <a:avLst/>
          </a:prstGeom>
          <a:noFill/>
        </p:spPr>
        <p:txBody>
          <a:bodyPr wrap="square">
            <a:spAutoFit/>
          </a:bodyPr>
          <a:lstStyle/>
          <a:p>
            <a:pPr marL="0" indent="0" algn="just">
              <a:lnSpc>
                <a:spcPct val="150000"/>
              </a:lnSpc>
              <a:buNone/>
            </a:pPr>
            <a:endParaRPr lang="en-GB" sz="18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3D64DF35-FE02-703E-F412-E671B43667D1}"/>
              </a:ext>
            </a:extLst>
          </p:cNvPr>
          <p:cNvSpPr txBox="1"/>
          <p:nvPr/>
        </p:nvSpPr>
        <p:spPr>
          <a:xfrm>
            <a:off x="-130629" y="1178142"/>
            <a:ext cx="8763000" cy="4770537"/>
          </a:xfrm>
          <a:prstGeom prst="rect">
            <a:avLst/>
          </a:prstGeom>
          <a:noFill/>
        </p:spPr>
        <p:txBody>
          <a:bodyPr wrap="square">
            <a:spAutoFit/>
          </a:bodyPr>
          <a:lstStyle/>
          <a:p>
            <a:pPr marL="457200" indent="457200" algn="just">
              <a:lnSpc>
                <a:spcPct val="150000"/>
              </a:lnSpc>
              <a:spcAft>
                <a:spcPts val="1200"/>
              </a:spcAft>
              <a:buNone/>
            </a:pPr>
            <a:r>
              <a:rPr lang="en-US" sz="1800" dirty="0">
                <a:effectLst/>
                <a:latin typeface="Times New Roman" panose="02020603050405020304" pitchFamily="18" charset="0"/>
                <a:ea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rPr>
              <a:t>Types of VPNs</a:t>
            </a:r>
          </a:p>
          <a:p>
            <a:pPr marL="914400" lvl="1" indent="457200" algn="just">
              <a:lnSpc>
                <a:spcPct val="150000"/>
              </a:lnSpc>
              <a:spcAft>
                <a:spcPts val="1200"/>
              </a:spcAft>
            </a:pPr>
            <a:r>
              <a:rPr lang="en-US" b="1" dirty="0">
                <a:effectLst/>
                <a:latin typeface="Times New Roman" panose="02020603050405020304" pitchFamily="18" charset="0"/>
                <a:ea typeface="Times New Roman" panose="02020603050405020304" pitchFamily="18" charset="0"/>
              </a:rPr>
              <a:t>1.	Site-to-Site VPN: </a:t>
            </a:r>
            <a:r>
              <a:rPr lang="en-US" dirty="0">
                <a:effectLst/>
                <a:latin typeface="Times New Roman" panose="02020603050405020304" pitchFamily="18" charset="0"/>
                <a:ea typeface="Times New Roman" panose="02020603050405020304" pitchFamily="18" charset="0"/>
              </a:rPr>
              <a:t>Connects entire networks (e.g., branch offices to a corporate headquarters).</a:t>
            </a:r>
          </a:p>
          <a:p>
            <a:pPr marL="914400" lvl="1" indent="457200" algn="just">
              <a:lnSpc>
                <a:spcPct val="150000"/>
              </a:lnSpc>
              <a:spcAft>
                <a:spcPts val="1200"/>
              </a:spcAft>
            </a:pPr>
            <a:r>
              <a:rPr lang="en-US" b="1" dirty="0">
                <a:effectLst/>
                <a:latin typeface="Times New Roman" panose="02020603050405020304" pitchFamily="18" charset="0"/>
                <a:ea typeface="Times New Roman" panose="02020603050405020304" pitchFamily="18" charset="0"/>
              </a:rPr>
              <a:t>2.	Remote Access VPN: </a:t>
            </a:r>
            <a:r>
              <a:rPr lang="en-US" dirty="0">
                <a:effectLst/>
                <a:latin typeface="Times New Roman" panose="02020603050405020304" pitchFamily="18" charset="0"/>
                <a:ea typeface="Times New Roman" panose="02020603050405020304" pitchFamily="18" charset="0"/>
              </a:rPr>
              <a:t>Allows individual users to access a private network securely from remote locations.</a:t>
            </a:r>
          </a:p>
          <a:p>
            <a:pPr marL="457200" indent="457200" algn="just">
              <a:lnSpc>
                <a:spcPct val="150000"/>
              </a:lnSpc>
              <a:spcAft>
                <a:spcPts val="1200"/>
              </a:spcAft>
              <a:buNone/>
            </a:pPr>
            <a:r>
              <a:rPr lang="en-US" sz="1800" dirty="0">
                <a:effectLst/>
                <a:latin typeface="Times New Roman" panose="02020603050405020304" pitchFamily="18" charset="0"/>
                <a:ea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rPr>
              <a:t>Benefits of VPN</a:t>
            </a:r>
          </a:p>
          <a:p>
            <a:pPr marL="1371600" lvl="2" algn="just">
              <a:spcAft>
                <a:spcPts val="1200"/>
              </a:spcAft>
            </a:pPr>
            <a:r>
              <a:rPr lang="en-US" dirty="0">
                <a:effectLst/>
                <a:latin typeface="Times New Roman" panose="02020603050405020304" pitchFamily="18" charset="0"/>
                <a:ea typeface="Times New Roman" panose="02020603050405020304" pitchFamily="18" charset="0"/>
              </a:rPr>
              <a:t>○	Secure data transmission through encryption.</a:t>
            </a:r>
          </a:p>
          <a:p>
            <a:pPr marL="1371600" lvl="2" algn="just">
              <a:spcAft>
                <a:spcPts val="1200"/>
              </a:spcAft>
            </a:pPr>
            <a:r>
              <a:rPr lang="en-US" dirty="0">
                <a:effectLst/>
                <a:latin typeface="Times New Roman" panose="02020603050405020304" pitchFamily="18" charset="0"/>
                <a:ea typeface="Times New Roman" panose="02020603050405020304" pitchFamily="18" charset="0"/>
              </a:rPr>
              <a:t>○	Remote access to private networks.</a:t>
            </a:r>
          </a:p>
          <a:p>
            <a:pPr marL="1371600" lvl="2" algn="just">
              <a:spcAft>
                <a:spcPts val="1200"/>
              </a:spcAft>
            </a:pPr>
            <a:r>
              <a:rPr lang="en-US" dirty="0">
                <a:effectLst/>
                <a:latin typeface="Times New Roman" panose="02020603050405020304" pitchFamily="18" charset="0"/>
                <a:ea typeface="Times New Roman" panose="02020603050405020304" pitchFamily="18" charset="0"/>
              </a:rPr>
              <a:t>○	Protection against cyber threats and data interception.</a:t>
            </a:r>
          </a:p>
          <a:p>
            <a:pPr marL="1371600" lvl="2" algn="just">
              <a:spcAft>
                <a:spcPts val="1200"/>
              </a:spcAft>
            </a:pPr>
            <a:r>
              <a:rPr lang="en-US" dirty="0">
                <a:effectLst/>
                <a:latin typeface="Times New Roman" panose="02020603050405020304" pitchFamily="18" charset="0"/>
                <a:ea typeface="Times New Roman" panose="02020603050405020304" pitchFamily="18" charset="0"/>
              </a:rPr>
              <a:t>○	Anonymity by hiding the user's IP address.</a:t>
            </a:r>
          </a:p>
        </p:txBody>
      </p:sp>
    </p:spTree>
    <p:extLst>
      <p:ext uri="{BB962C8B-B14F-4D97-AF65-F5344CB8AC3E}">
        <p14:creationId xmlns:p14="http://schemas.microsoft.com/office/powerpoint/2010/main" val="42773821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A06EAD-72E8-5E14-D565-EB3DE61637FD}"/>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240F0CE8-82D5-8F8B-1E9A-71386CD834F6}"/>
              </a:ext>
            </a:extLst>
          </p:cNvPr>
          <p:cNvSpPr>
            <a:spLocks noGrp="1"/>
          </p:cNvSpPr>
          <p:nvPr>
            <p:ph type="sldNum" sz="quarter" idx="12"/>
          </p:nvPr>
        </p:nvSpPr>
        <p:spPr/>
        <p:txBody>
          <a:bodyPr/>
          <a:lstStyle/>
          <a:p>
            <a:fld id="{8BD8F058-9003-4658-AA47-7D4800AF7EA2}" type="slidenum">
              <a:rPr lang="en-US" smtClean="0"/>
              <a:pPr/>
              <a:t>16</a:t>
            </a:fld>
            <a:endParaRPr lang="en-US"/>
          </a:p>
        </p:txBody>
      </p:sp>
      <p:sp>
        <p:nvSpPr>
          <p:cNvPr id="2" name="Date Placeholder 1">
            <a:extLst>
              <a:ext uri="{FF2B5EF4-FFF2-40B4-BE49-F238E27FC236}">
                <a16:creationId xmlns:a16="http://schemas.microsoft.com/office/drawing/2014/main" id="{4FC3C330-1CDF-756C-EEDA-F6BF07FC24D8}"/>
              </a:ext>
            </a:extLst>
          </p:cNvPr>
          <p:cNvSpPr>
            <a:spLocks noGrp="1"/>
          </p:cNvSpPr>
          <p:nvPr>
            <p:ph type="dt" sz="half" idx="10"/>
          </p:nvPr>
        </p:nvSpPr>
        <p:spPr>
          <a:xfrm>
            <a:off x="457200" y="6356350"/>
            <a:ext cx="2133600" cy="365125"/>
          </a:xfrm>
        </p:spPr>
        <p:txBody>
          <a:bodyPr/>
          <a:lstStyle/>
          <a:p>
            <a:r>
              <a:rPr lang="en-US" dirty="0"/>
              <a:t>Cloud Computing</a:t>
            </a:r>
          </a:p>
        </p:txBody>
      </p:sp>
      <p:sp>
        <p:nvSpPr>
          <p:cNvPr id="6" name="TextBox 5">
            <a:extLst>
              <a:ext uri="{FF2B5EF4-FFF2-40B4-BE49-F238E27FC236}">
                <a16:creationId xmlns:a16="http://schemas.microsoft.com/office/drawing/2014/main" id="{0EDD1FA3-30EC-4881-671B-E9F0063B1384}"/>
              </a:ext>
            </a:extLst>
          </p:cNvPr>
          <p:cNvSpPr txBox="1"/>
          <p:nvPr/>
        </p:nvSpPr>
        <p:spPr>
          <a:xfrm>
            <a:off x="152400" y="147411"/>
            <a:ext cx="7130143" cy="553998"/>
          </a:xfrm>
          <a:prstGeom prst="rect">
            <a:avLst/>
          </a:prstGeom>
          <a:noFill/>
        </p:spPr>
        <p:txBody>
          <a:bodyPr wrap="square">
            <a:spAutoFit/>
          </a:bodyPr>
          <a:lstStyle/>
          <a:p>
            <a:r>
              <a:rPr lang="en-US" sz="3000" b="1" spc="-5" dirty="0">
                <a:solidFill>
                  <a:prstClr val="black"/>
                </a:solidFill>
                <a:latin typeface="Cambria"/>
              </a:rPr>
              <a:t>Virtual Private Cloud (VPC)</a:t>
            </a:r>
          </a:p>
        </p:txBody>
      </p:sp>
      <p:sp>
        <p:nvSpPr>
          <p:cNvPr id="4" name="TextBox 3">
            <a:extLst>
              <a:ext uri="{FF2B5EF4-FFF2-40B4-BE49-F238E27FC236}">
                <a16:creationId xmlns:a16="http://schemas.microsoft.com/office/drawing/2014/main" id="{182423D9-09F2-B0FB-5719-C8C5BF515B1B}"/>
              </a:ext>
            </a:extLst>
          </p:cNvPr>
          <p:cNvSpPr txBox="1"/>
          <p:nvPr/>
        </p:nvSpPr>
        <p:spPr>
          <a:xfrm>
            <a:off x="533400" y="1160571"/>
            <a:ext cx="7848600" cy="458074"/>
          </a:xfrm>
          <a:prstGeom prst="rect">
            <a:avLst/>
          </a:prstGeom>
          <a:noFill/>
        </p:spPr>
        <p:txBody>
          <a:bodyPr wrap="square">
            <a:spAutoFit/>
          </a:bodyPr>
          <a:lstStyle/>
          <a:p>
            <a:pPr marL="0" indent="0" algn="just">
              <a:lnSpc>
                <a:spcPct val="150000"/>
              </a:lnSpc>
              <a:buNone/>
            </a:pPr>
            <a:endParaRPr lang="en-GB" sz="18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469D4ECE-322D-6E48-0A27-9501F7CC6101}"/>
              </a:ext>
            </a:extLst>
          </p:cNvPr>
          <p:cNvSpPr txBox="1"/>
          <p:nvPr/>
        </p:nvSpPr>
        <p:spPr>
          <a:xfrm>
            <a:off x="21772" y="1160571"/>
            <a:ext cx="8381999" cy="4813112"/>
          </a:xfrm>
          <a:prstGeom prst="rect">
            <a:avLst/>
          </a:prstGeom>
          <a:noFill/>
        </p:spPr>
        <p:txBody>
          <a:bodyPr wrap="square">
            <a:spAutoFit/>
          </a:bodyPr>
          <a:lstStyle/>
          <a:p>
            <a:pPr marL="457200" indent="457200" algn="just">
              <a:lnSpc>
                <a:spcPct val="150000"/>
              </a:lnSpc>
              <a:spcAft>
                <a:spcPts val="1200"/>
              </a:spcAft>
              <a:buNone/>
            </a:pPr>
            <a:r>
              <a:rPr lang="en-US" sz="1800" dirty="0">
                <a:effectLst/>
                <a:latin typeface="Times New Roman" panose="02020603050405020304" pitchFamily="18" charset="0"/>
                <a:ea typeface="Times New Roman" panose="02020603050405020304" pitchFamily="18" charset="0"/>
              </a:rPr>
              <a:t>A </a:t>
            </a:r>
            <a:r>
              <a:rPr lang="en-US" sz="1800" b="1" dirty="0">
                <a:effectLst/>
                <a:latin typeface="Times New Roman" panose="02020603050405020304" pitchFamily="18" charset="0"/>
                <a:ea typeface="Times New Roman" panose="02020603050405020304" pitchFamily="18" charset="0"/>
              </a:rPr>
              <a:t>VPC </a:t>
            </a:r>
            <a:r>
              <a:rPr lang="en-US" sz="1800" dirty="0">
                <a:effectLst/>
                <a:latin typeface="Times New Roman" panose="02020603050405020304" pitchFamily="18" charset="0"/>
                <a:ea typeface="Times New Roman" panose="02020603050405020304" pitchFamily="18" charset="0"/>
              </a:rPr>
              <a:t>is a logically isolated section of a public cloud (such as AWS, Azure, or Google Cloud) where users can deploy and manage virtual resources like servers, databases, and storage. </a:t>
            </a:r>
          </a:p>
          <a:p>
            <a:pPr marL="457200" indent="457200" algn="just">
              <a:lnSpc>
                <a:spcPct val="150000"/>
              </a:lnSpc>
              <a:spcAft>
                <a:spcPts val="1200"/>
              </a:spcAft>
              <a:buNone/>
            </a:pPr>
            <a:r>
              <a:rPr lang="en-US" sz="1800" dirty="0">
                <a:effectLst/>
                <a:latin typeface="Times New Roman" panose="02020603050405020304" pitchFamily="18" charset="0"/>
                <a:ea typeface="Times New Roman" panose="02020603050405020304" pitchFamily="18" charset="0"/>
              </a:rPr>
              <a:t>It allows for full control over the networking environment, including IP addressing, subnets, and route tables.</a:t>
            </a:r>
          </a:p>
          <a:p>
            <a:pPr marL="457200" indent="457200" algn="just">
              <a:lnSpc>
                <a:spcPct val="150000"/>
              </a:lnSpc>
              <a:spcAft>
                <a:spcPts val="1200"/>
              </a:spcAft>
              <a:buNone/>
            </a:pPr>
            <a:r>
              <a:rPr lang="en-US" sz="1800" dirty="0">
                <a:effectLst/>
                <a:latin typeface="Times New Roman" panose="02020603050405020304" pitchFamily="18" charset="0"/>
                <a:ea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rPr>
              <a:t>How VPC Works</a:t>
            </a:r>
          </a:p>
          <a:p>
            <a:pPr marL="457200" indent="457200" algn="just">
              <a:lnSpc>
                <a:spcPct val="150000"/>
              </a:lnSpc>
              <a:spcAft>
                <a:spcPts val="1200"/>
              </a:spcAft>
              <a:buNone/>
            </a:pPr>
            <a:r>
              <a:rPr lang="en-US" sz="1800" dirty="0">
                <a:effectLst/>
                <a:latin typeface="Times New Roman" panose="02020603050405020304" pitchFamily="18" charset="0"/>
                <a:ea typeface="Times New Roman" panose="02020603050405020304" pitchFamily="18" charset="0"/>
              </a:rPr>
              <a:t>Within a VPC, users can divide resources into subnets (public or private) and establish network gateways to control inbound and outbound traffic. </a:t>
            </a:r>
          </a:p>
          <a:p>
            <a:pPr marL="457200" indent="457200" algn="just">
              <a:lnSpc>
                <a:spcPct val="150000"/>
              </a:lnSpc>
              <a:spcAft>
                <a:spcPts val="1200"/>
              </a:spcAft>
              <a:buNone/>
            </a:pPr>
            <a:r>
              <a:rPr lang="en-US" sz="1800" dirty="0">
                <a:effectLst/>
                <a:latin typeface="Times New Roman" panose="02020603050405020304" pitchFamily="18" charset="0"/>
                <a:ea typeface="Times New Roman" panose="02020603050405020304" pitchFamily="18" charset="0"/>
              </a:rPr>
              <a:t>This isolation ensures that cloud resources remain secure and independent from other tenants on the cloud.</a:t>
            </a:r>
          </a:p>
        </p:txBody>
      </p:sp>
    </p:spTree>
    <p:extLst>
      <p:ext uri="{BB962C8B-B14F-4D97-AF65-F5344CB8AC3E}">
        <p14:creationId xmlns:p14="http://schemas.microsoft.com/office/powerpoint/2010/main" val="39395212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08E467-C9C3-E372-B01E-21E3A7D49D16}"/>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B9904AEA-B502-E4F4-4C9A-E7F4AAF5130E}"/>
              </a:ext>
            </a:extLst>
          </p:cNvPr>
          <p:cNvSpPr>
            <a:spLocks noGrp="1"/>
          </p:cNvSpPr>
          <p:nvPr>
            <p:ph type="sldNum" sz="quarter" idx="12"/>
          </p:nvPr>
        </p:nvSpPr>
        <p:spPr/>
        <p:txBody>
          <a:bodyPr/>
          <a:lstStyle/>
          <a:p>
            <a:fld id="{8BD8F058-9003-4658-AA47-7D4800AF7EA2}" type="slidenum">
              <a:rPr lang="en-US" smtClean="0"/>
              <a:pPr/>
              <a:t>17</a:t>
            </a:fld>
            <a:endParaRPr lang="en-US"/>
          </a:p>
        </p:txBody>
      </p:sp>
      <p:sp>
        <p:nvSpPr>
          <p:cNvPr id="2" name="Date Placeholder 1">
            <a:extLst>
              <a:ext uri="{FF2B5EF4-FFF2-40B4-BE49-F238E27FC236}">
                <a16:creationId xmlns:a16="http://schemas.microsoft.com/office/drawing/2014/main" id="{FD77D1D1-D3C2-8A28-5FF1-A30DB55F5387}"/>
              </a:ext>
            </a:extLst>
          </p:cNvPr>
          <p:cNvSpPr>
            <a:spLocks noGrp="1"/>
          </p:cNvSpPr>
          <p:nvPr>
            <p:ph type="dt" sz="half" idx="10"/>
          </p:nvPr>
        </p:nvSpPr>
        <p:spPr>
          <a:xfrm>
            <a:off x="457200" y="6356350"/>
            <a:ext cx="2133600" cy="365125"/>
          </a:xfrm>
        </p:spPr>
        <p:txBody>
          <a:bodyPr/>
          <a:lstStyle/>
          <a:p>
            <a:r>
              <a:rPr lang="en-US" dirty="0"/>
              <a:t>Cloud Computing</a:t>
            </a:r>
          </a:p>
        </p:txBody>
      </p:sp>
      <p:sp>
        <p:nvSpPr>
          <p:cNvPr id="6" name="TextBox 5">
            <a:extLst>
              <a:ext uri="{FF2B5EF4-FFF2-40B4-BE49-F238E27FC236}">
                <a16:creationId xmlns:a16="http://schemas.microsoft.com/office/drawing/2014/main" id="{54FAA5A9-6388-ABD4-3A99-F36645B34DD9}"/>
              </a:ext>
            </a:extLst>
          </p:cNvPr>
          <p:cNvSpPr txBox="1"/>
          <p:nvPr/>
        </p:nvSpPr>
        <p:spPr>
          <a:xfrm>
            <a:off x="152400" y="147411"/>
            <a:ext cx="7130143" cy="553998"/>
          </a:xfrm>
          <a:prstGeom prst="rect">
            <a:avLst/>
          </a:prstGeom>
          <a:noFill/>
        </p:spPr>
        <p:txBody>
          <a:bodyPr wrap="square">
            <a:spAutoFit/>
          </a:bodyPr>
          <a:lstStyle/>
          <a:p>
            <a:r>
              <a:rPr lang="en-US" sz="3000" b="1" spc="-5" dirty="0">
                <a:solidFill>
                  <a:prstClr val="black"/>
                </a:solidFill>
                <a:latin typeface="Cambria"/>
              </a:rPr>
              <a:t>Virtual Private Cloud (VPC)</a:t>
            </a:r>
          </a:p>
        </p:txBody>
      </p:sp>
      <p:sp>
        <p:nvSpPr>
          <p:cNvPr id="4" name="TextBox 3">
            <a:extLst>
              <a:ext uri="{FF2B5EF4-FFF2-40B4-BE49-F238E27FC236}">
                <a16:creationId xmlns:a16="http://schemas.microsoft.com/office/drawing/2014/main" id="{10555079-6287-2BD0-CD36-EB4600BA0697}"/>
              </a:ext>
            </a:extLst>
          </p:cNvPr>
          <p:cNvSpPr txBox="1"/>
          <p:nvPr/>
        </p:nvSpPr>
        <p:spPr>
          <a:xfrm>
            <a:off x="533400" y="1160571"/>
            <a:ext cx="7848600" cy="458074"/>
          </a:xfrm>
          <a:prstGeom prst="rect">
            <a:avLst/>
          </a:prstGeom>
          <a:noFill/>
        </p:spPr>
        <p:txBody>
          <a:bodyPr wrap="square">
            <a:spAutoFit/>
          </a:bodyPr>
          <a:lstStyle/>
          <a:p>
            <a:pPr marL="0" indent="0" algn="just">
              <a:lnSpc>
                <a:spcPct val="150000"/>
              </a:lnSpc>
              <a:buNone/>
            </a:pPr>
            <a:endParaRPr lang="en-GB" sz="18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090578DE-E57F-FA06-88AA-B4CEDEDE1317}"/>
              </a:ext>
            </a:extLst>
          </p:cNvPr>
          <p:cNvSpPr txBox="1"/>
          <p:nvPr/>
        </p:nvSpPr>
        <p:spPr>
          <a:xfrm>
            <a:off x="-381000" y="1305341"/>
            <a:ext cx="9296400" cy="4678204"/>
          </a:xfrm>
          <a:prstGeom prst="rect">
            <a:avLst/>
          </a:prstGeom>
          <a:noFill/>
        </p:spPr>
        <p:txBody>
          <a:bodyPr wrap="square">
            <a:spAutoFit/>
          </a:bodyPr>
          <a:lstStyle/>
          <a:p>
            <a:pPr marL="457200" indent="457200" algn="just">
              <a:spcAft>
                <a:spcPts val="1200"/>
              </a:spcAft>
              <a:buNone/>
            </a:pPr>
            <a:r>
              <a:rPr lang="en-US" sz="1800" dirty="0">
                <a:effectLst/>
                <a:latin typeface="Times New Roman" panose="02020603050405020304" pitchFamily="18" charset="0"/>
                <a:ea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rPr>
              <a:t>Key Components of a VPC:</a:t>
            </a:r>
          </a:p>
          <a:p>
            <a:pPr marL="914400" lvl="1" indent="457200" algn="just">
              <a:spcAft>
                <a:spcPts val="1200"/>
              </a:spcAft>
            </a:pPr>
            <a:r>
              <a:rPr lang="en-US" dirty="0">
                <a:effectLst/>
                <a:latin typeface="Times New Roman" panose="02020603050405020304" pitchFamily="18" charset="0"/>
                <a:ea typeface="Times New Roman" panose="02020603050405020304" pitchFamily="18" charset="0"/>
              </a:rPr>
              <a:t>1.	Subnets: Divisions within the VPC for organizing resources.</a:t>
            </a:r>
          </a:p>
          <a:p>
            <a:pPr marL="914400" lvl="1" indent="457200" algn="just">
              <a:spcAft>
                <a:spcPts val="1200"/>
              </a:spcAft>
            </a:pPr>
            <a:r>
              <a:rPr lang="en-US" dirty="0">
                <a:effectLst/>
                <a:latin typeface="Times New Roman" panose="02020603050405020304" pitchFamily="18" charset="0"/>
                <a:ea typeface="Times New Roman" panose="02020603050405020304" pitchFamily="18" charset="0"/>
              </a:rPr>
              <a:t>2.	Route Tables: Define how traffic flows between subnets and external networks.</a:t>
            </a:r>
          </a:p>
          <a:p>
            <a:pPr marL="914400" lvl="1" indent="457200" algn="just">
              <a:spcAft>
                <a:spcPts val="1200"/>
              </a:spcAft>
            </a:pPr>
            <a:r>
              <a:rPr lang="en-US" dirty="0">
                <a:effectLst/>
                <a:latin typeface="Times New Roman" panose="02020603050405020304" pitchFamily="18" charset="0"/>
                <a:ea typeface="Times New Roman" panose="02020603050405020304" pitchFamily="18" charset="0"/>
              </a:rPr>
              <a:t>3.	Security Groups and NACLs: Control access through firewall-like rules.</a:t>
            </a:r>
          </a:p>
          <a:p>
            <a:pPr marL="914400" lvl="1" indent="457200" algn="just">
              <a:spcAft>
                <a:spcPts val="1200"/>
              </a:spcAft>
            </a:pPr>
            <a:r>
              <a:rPr lang="en-US" dirty="0">
                <a:effectLst/>
                <a:latin typeface="Times New Roman" panose="02020603050405020304" pitchFamily="18" charset="0"/>
                <a:ea typeface="Times New Roman" panose="02020603050405020304" pitchFamily="18" charset="0"/>
              </a:rPr>
              <a:t>4.	Internet Gateway (IGW): Allows public access to resources in the VPC.</a:t>
            </a:r>
          </a:p>
          <a:p>
            <a:pPr marL="457200" indent="457200" algn="just">
              <a:spcAft>
                <a:spcPts val="1200"/>
              </a:spcAft>
              <a:buNone/>
            </a:pPr>
            <a:endParaRPr lang="en-US" sz="1800" dirty="0">
              <a:effectLst/>
              <a:latin typeface="Times New Roman" panose="02020603050405020304" pitchFamily="18" charset="0"/>
              <a:ea typeface="Times New Roman" panose="02020603050405020304" pitchFamily="18" charset="0"/>
            </a:endParaRPr>
          </a:p>
          <a:p>
            <a:pPr marL="457200" indent="457200" algn="just">
              <a:spcAft>
                <a:spcPts val="1200"/>
              </a:spcAft>
              <a:buNone/>
            </a:pPr>
            <a:r>
              <a:rPr lang="en-US" sz="1800" dirty="0">
                <a:effectLst/>
                <a:latin typeface="Times New Roman" panose="02020603050405020304" pitchFamily="18" charset="0"/>
                <a:ea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rPr>
              <a:t>Benefits of VPC:</a:t>
            </a:r>
          </a:p>
          <a:p>
            <a:pPr marL="914400" lvl="1" indent="457200" algn="just">
              <a:spcAft>
                <a:spcPts val="1200"/>
              </a:spcAft>
            </a:pPr>
            <a:r>
              <a:rPr lang="en-US" dirty="0">
                <a:effectLst/>
                <a:latin typeface="Times New Roman" panose="02020603050405020304" pitchFamily="18" charset="0"/>
                <a:ea typeface="Times New Roman" panose="02020603050405020304" pitchFamily="18" charset="0"/>
              </a:rPr>
              <a:t>○	Isolated and secure cloud environment.</a:t>
            </a:r>
          </a:p>
          <a:p>
            <a:pPr marL="914400" lvl="1" indent="457200" algn="just">
              <a:spcAft>
                <a:spcPts val="1200"/>
              </a:spcAft>
            </a:pPr>
            <a:r>
              <a:rPr lang="en-US" dirty="0">
                <a:effectLst/>
                <a:latin typeface="Times New Roman" panose="02020603050405020304" pitchFamily="18" charset="0"/>
                <a:ea typeface="Times New Roman" panose="02020603050405020304" pitchFamily="18" charset="0"/>
              </a:rPr>
              <a:t>○	Customizable IP address ranges and subnets.</a:t>
            </a:r>
          </a:p>
          <a:p>
            <a:pPr marL="914400" lvl="1" indent="457200" algn="just">
              <a:spcAft>
                <a:spcPts val="1200"/>
              </a:spcAft>
            </a:pPr>
            <a:r>
              <a:rPr lang="en-US" dirty="0">
                <a:effectLst/>
                <a:latin typeface="Times New Roman" panose="02020603050405020304" pitchFamily="18" charset="0"/>
                <a:ea typeface="Times New Roman" panose="02020603050405020304" pitchFamily="18" charset="0"/>
              </a:rPr>
              <a:t>○	Scalable and flexible architecture.</a:t>
            </a:r>
          </a:p>
          <a:p>
            <a:pPr marL="914400" lvl="1" indent="457200" algn="just">
              <a:spcAft>
                <a:spcPts val="1200"/>
              </a:spcAft>
            </a:pPr>
            <a:r>
              <a:rPr lang="en-US" dirty="0">
                <a:effectLst/>
                <a:latin typeface="Times New Roman" panose="02020603050405020304" pitchFamily="18" charset="0"/>
                <a:ea typeface="Times New Roman" panose="02020603050405020304" pitchFamily="18" charset="0"/>
              </a:rPr>
              <a:t>○	Controlled access with security policies.</a:t>
            </a:r>
          </a:p>
        </p:txBody>
      </p:sp>
    </p:spTree>
    <p:extLst>
      <p:ext uri="{BB962C8B-B14F-4D97-AF65-F5344CB8AC3E}">
        <p14:creationId xmlns:p14="http://schemas.microsoft.com/office/powerpoint/2010/main" val="21471922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B8B644-5F23-B76A-BB23-B030E80DFF83}"/>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EB25B4A6-269E-8007-1B4D-D80778A53E65}"/>
              </a:ext>
            </a:extLst>
          </p:cNvPr>
          <p:cNvSpPr>
            <a:spLocks noGrp="1"/>
          </p:cNvSpPr>
          <p:nvPr>
            <p:ph type="sldNum" sz="quarter" idx="12"/>
          </p:nvPr>
        </p:nvSpPr>
        <p:spPr/>
        <p:txBody>
          <a:bodyPr/>
          <a:lstStyle/>
          <a:p>
            <a:fld id="{8BD8F058-9003-4658-AA47-7D4800AF7EA2}" type="slidenum">
              <a:rPr lang="en-US" smtClean="0"/>
              <a:pPr/>
              <a:t>18</a:t>
            </a:fld>
            <a:endParaRPr lang="en-US"/>
          </a:p>
        </p:txBody>
      </p:sp>
      <p:sp>
        <p:nvSpPr>
          <p:cNvPr id="2" name="Date Placeholder 1">
            <a:extLst>
              <a:ext uri="{FF2B5EF4-FFF2-40B4-BE49-F238E27FC236}">
                <a16:creationId xmlns:a16="http://schemas.microsoft.com/office/drawing/2014/main" id="{D6E0CBB2-8F82-3F81-E44C-B310E16D67C4}"/>
              </a:ext>
            </a:extLst>
          </p:cNvPr>
          <p:cNvSpPr>
            <a:spLocks noGrp="1"/>
          </p:cNvSpPr>
          <p:nvPr>
            <p:ph type="dt" sz="half" idx="10"/>
          </p:nvPr>
        </p:nvSpPr>
        <p:spPr>
          <a:xfrm>
            <a:off x="457200" y="6356350"/>
            <a:ext cx="2133600" cy="365125"/>
          </a:xfrm>
        </p:spPr>
        <p:txBody>
          <a:bodyPr/>
          <a:lstStyle/>
          <a:p>
            <a:r>
              <a:rPr lang="en-US" dirty="0"/>
              <a:t>Cloud Computing</a:t>
            </a:r>
          </a:p>
        </p:txBody>
      </p:sp>
      <p:sp>
        <p:nvSpPr>
          <p:cNvPr id="6" name="TextBox 5">
            <a:extLst>
              <a:ext uri="{FF2B5EF4-FFF2-40B4-BE49-F238E27FC236}">
                <a16:creationId xmlns:a16="http://schemas.microsoft.com/office/drawing/2014/main" id="{BBDEE7A6-9800-2DF5-2AF6-C56AB72910BD}"/>
              </a:ext>
            </a:extLst>
          </p:cNvPr>
          <p:cNvSpPr txBox="1"/>
          <p:nvPr/>
        </p:nvSpPr>
        <p:spPr>
          <a:xfrm>
            <a:off x="152400" y="147411"/>
            <a:ext cx="7130143" cy="553998"/>
          </a:xfrm>
          <a:prstGeom prst="rect">
            <a:avLst/>
          </a:prstGeom>
          <a:noFill/>
        </p:spPr>
        <p:txBody>
          <a:bodyPr wrap="square">
            <a:spAutoFit/>
          </a:bodyPr>
          <a:lstStyle/>
          <a:p>
            <a:r>
              <a:rPr lang="en-US" sz="3000" b="1" spc="-5" dirty="0">
                <a:solidFill>
                  <a:prstClr val="black"/>
                </a:solidFill>
                <a:latin typeface="Cambria"/>
              </a:rPr>
              <a:t>VPN vs. VPC</a:t>
            </a:r>
          </a:p>
        </p:txBody>
      </p:sp>
      <p:sp>
        <p:nvSpPr>
          <p:cNvPr id="4" name="TextBox 3">
            <a:extLst>
              <a:ext uri="{FF2B5EF4-FFF2-40B4-BE49-F238E27FC236}">
                <a16:creationId xmlns:a16="http://schemas.microsoft.com/office/drawing/2014/main" id="{DD393125-34F5-58F9-C982-08A443F315D6}"/>
              </a:ext>
            </a:extLst>
          </p:cNvPr>
          <p:cNvSpPr txBox="1"/>
          <p:nvPr/>
        </p:nvSpPr>
        <p:spPr>
          <a:xfrm>
            <a:off x="533400" y="1160571"/>
            <a:ext cx="7848600" cy="458074"/>
          </a:xfrm>
          <a:prstGeom prst="rect">
            <a:avLst/>
          </a:prstGeom>
          <a:noFill/>
        </p:spPr>
        <p:txBody>
          <a:bodyPr wrap="square">
            <a:spAutoFit/>
          </a:bodyPr>
          <a:lstStyle/>
          <a:p>
            <a:pPr marL="0" indent="0" algn="just">
              <a:lnSpc>
                <a:spcPct val="150000"/>
              </a:lnSpc>
              <a:buNone/>
            </a:pPr>
            <a:endParaRPr lang="en-GB" sz="1800"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F1EAEEF2-D150-7B7A-34DD-4C39768DA94B}"/>
              </a:ext>
            </a:extLst>
          </p:cNvPr>
          <p:cNvPicPr>
            <a:picLocks noChangeAspect="1"/>
          </p:cNvPicPr>
          <p:nvPr/>
        </p:nvPicPr>
        <p:blipFill>
          <a:blip r:embed="rId2"/>
          <a:stretch>
            <a:fillRect/>
          </a:stretch>
        </p:blipFill>
        <p:spPr>
          <a:xfrm>
            <a:off x="457199" y="1367837"/>
            <a:ext cx="8153401" cy="4659944"/>
          </a:xfrm>
          <a:prstGeom prst="rect">
            <a:avLst/>
          </a:prstGeom>
        </p:spPr>
      </p:pic>
    </p:spTree>
    <p:extLst>
      <p:ext uri="{BB962C8B-B14F-4D97-AF65-F5344CB8AC3E}">
        <p14:creationId xmlns:p14="http://schemas.microsoft.com/office/powerpoint/2010/main" val="5286401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1" y="1371600"/>
            <a:ext cx="8153400" cy="2667000"/>
          </a:xfrm>
        </p:spPr>
        <p:txBody>
          <a:bodyPr>
            <a:noAutofit/>
          </a:bodyPr>
          <a:lstStyle/>
          <a:p>
            <a:pPr marL="298450" marR="99695" indent="-285750" algn="just">
              <a:lnSpc>
                <a:spcPct val="170000"/>
              </a:lnSpc>
              <a:spcBef>
                <a:spcPts val="10"/>
              </a:spcBef>
            </a:pPr>
            <a:r>
              <a:rPr lang="en-US" sz="1800" spc="-5" dirty="0">
                <a:solidFill>
                  <a:prstClr val="black"/>
                </a:solidFill>
                <a:latin typeface="Cambria"/>
                <a:cs typeface="Cambria"/>
              </a:rPr>
              <a:t>AWS Networking Services</a:t>
            </a:r>
          </a:p>
          <a:p>
            <a:pPr marL="298450" marR="99695" indent="-285750" algn="just">
              <a:lnSpc>
                <a:spcPct val="170000"/>
              </a:lnSpc>
              <a:spcBef>
                <a:spcPts val="10"/>
              </a:spcBef>
            </a:pPr>
            <a:r>
              <a:rPr lang="en-US" sz="1800" spc="-5" dirty="0">
                <a:solidFill>
                  <a:prstClr val="black"/>
                </a:solidFill>
                <a:latin typeface="Cambria"/>
                <a:cs typeface="Cambria"/>
              </a:rPr>
              <a:t>Virtual Private Network (VPN)</a:t>
            </a:r>
          </a:p>
          <a:p>
            <a:pPr marL="298450" marR="99695" indent="-285750" algn="just">
              <a:lnSpc>
                <a:spcPct val="170000"/>
              </a:lnSpc>
              <a:spcBef>
                <a:spcPts val="10"/>
              </a:spcBef>
            </a:pPr>
            <a:r>
              <a:rPr lang="en-US" sz="1800" spc="-5" dirty="0">
                <a:solidFill>
                  <a:prstClr val="black"/>
                </a:solidFill>
                <a:latin typeface="Cambria"/>
                <a:cs typeface="Cambria"/>
              </a:rPr>
              <a:t>Virtual Private Cloud (VPC)</a:t>
            </a:r>
          </a:p>
          <a:p>
            <a:pPr marL="298450" marR="99695" indent="-285750" algn="just">
              <a:lnSpc>
                <a:spcPct val="170000"/>
              </a:lnSpc>
              <a:spcBef>
                <a:spcPts val="10"/>
              </a:spcBef>
            </a:pPr>
            <a:r>
              <a:rPr lang="en-US" sz="1800" spc="-5" dirty="0">
                <a:solidFill>
                  <a:prstClr val="black"/>
                </a:solidFill>
                <a:latin typeface="Cambria"/>
                <a:cs typeface="Cambria"/>
              </a:rPr>
              <a:t>VPN vs. VPC</a:t>
            </a:r>
          </a:p>
        </p:txBody>
      </p:sp>
      <p:sp>
        <p:nvSpPr>
          <p:cNvPr id="5" name="Slide Number Placeholder 4"/>
          <p:cNvSpPr>
            <a:spLocks noGrp="1"/>
          </p:cNvSpPr>
          <p:nvPr>
            <p:ph type="sldNum" sz="quarter" idx="12"/>
          </p:nvPr>
        </p:nvSpPr>
        <p:spPr/>
        <p:txBody>
          <a:bodyPr/>
          <a:lstStyle/>
          <a:p>
            <a:fld id="{8BD8F058-9003-4658-AA47-7D4800AF7EA2}" type="slidenum">
              <a:rPr lang="en-US" smtClean="0"/>
              <a:pPr/>
              <a:t>19</a:t>
            </a:fld>
            <a:endParaRPr lang="en-US" dirty="0"/>
          </a:p>
        </p:txBody>
      </p:sp>
      <p:sp>
        <p:nvSpPr>
          <p:cNvPr id="2" name="Date Placeholder 1">
            <a:extLst>
              <a:ext uri="{FF2B5EF4-FFF2-40B4-BE49-F238E27FC236}">
                <a16:creationId xmlns:a16="http://schemas.microsoft.com/office/drawing/2014/main" id="{E0C41854-84C9-8E83-C796-B314C3DDBA19}"/>
              </a:ext>
            </a:extLst>
          </p:cNvPr>
          <p:cNvSpPr>
            <a:spLocks noGrp="1"/>
          </p:cNvSpPr>
          <p:nvPr>
            <p:ph type="dt" sz="half" idx="10"/>
          </p:nvPr>
        </p:nvSpPr>
        <p:spPr>
          <a:xfrm>
            <a:off x="457200" y="6356350"/>
            <a:ext cx="2133600" cy="365125"/>
          </a:xfrm>
        </p:spPr>
        <p:txBody>
          <a:bodyPr/>
          <a:lstStyle/>
          <a:p>
            <a:r>
              <a:rPr lang="en-US" dirty="0"/>
              <a:t>Cloud Computing</a:t>
            </a:r>
          </a:p>
        </p:txBody>
      </p:sp>
      <p:sp>
        <p:nvSpPr>
          <p:cNvPr id="6" name="TextBox 5">
            <a:extLst>
              <a:ext uri="{FF2B5EF4-FFF2-40B4-BE49-F238E27FC236}">
                <a16:creationId xmlns:a16="http://schemas.microsoft.com/office/drawing/2014/main" id="{B9A239C8-F492-3DFB-FD78-75879BC7745C}"/>
              </a:ext>
            </a:extLst>
          </p:cNvPr>
          <p:cNvSpPr txBox="1"/>
          <p:nvPr/>
        </p:nvSpPr>
        <p:spPr>
          <a:xfrm>
            <a:off x="293915" y="-48532"/>
            <a:ext cx="4593770" cy="776623"/>
          </a:xfrm>
          <a:prstGeom prst="rect">
            <a:avLst/>
          </a:prstGeom>
          <a:noFill/>
        </p:spPr>
        <p:txBody>
          <a:bodyPr wrap="square">
            <a:spAutoFit/>
          </a:bodyPr>
          <a:lstStyle/>
          <a:p>
            <a:pPr marL="0" lvl="0" indent="0">
              <a:lnSpc>
                <a:spcPct val="160000"/>
              </a:lnSpc>
              <a:buNone/>
            </a:pPr>
            <a:r>
              <a:rPr lang="en-US" sz="3200" b="1" spc="-5" dirty="0">
                <a:solidFill>
                  <a:prstClr val="black"/>
                </a:solidFill>
                <a:latin typeface="Cambria"/>
                <a:cs typeface="Cambria"/>
              </a:rPr>
              <a:t>Summary</a:t>
            </a:r>
          </a:p>
        </p:txBody>
      </p:sp>
    </p:spTree>
    <p:extLst>
      <p:ext uri="{BB962C8B-B14F-4D97-AF65-F5344CB8AC3E}">
        <p14:creationId xmlns:p14="http://schemas.microsoft.com/office/powerpoint/2010/main" val="14161580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04800"/>
            <a:ext cx="4038600" cy="609600"/>
          </a:xfrm>
        </p:spPr>
        <p:txBody>
          <a:bodyPr/>
          <a:lstStyle/>
          <a:p>
            <a:r>
              <a:rPr lang="en-IN" b="1" dirty="0"/>
              <a:t>References</a:t>
            </a:r>
            <a:br>
              <a:rPr lang="en-IN" dirty="0"/>
            </a:br>
            <a:endParaRPr lang="en-US" dirty="0"/>
          </a:p>
        </p:txBody>
      </p:sp>
      <p:sp>
        <p:nvSpPr>
          <p:cNvPr id="3" name="Content Placeholder 2"/>
          <p:cNvSpPr>
            <a:spLocks noGrp="1"/>
          </p:cNvSpPr>
          <p:nvPr>
            <p:ph idx="1"/>
          </p:nvPr>
        </p:nvSpPr>
        <p:spPr>
          <a:xfrm>
            <a:off x="253181" y="1250950"/>
            <a:ext cx="8890819" cy="5105400"/>
          </a:xfrm>
        </p:spPr>
        <p:txBody>
          <a:bodyPr/>
          <a:lstStyle/>
          <a:p>
            <a:pPr>
              <a:buNone/>
            </a:pPr>
            <a:r>
              <a:rPr lang="en-IN" sz="1800" b="1" dirty="0"/>
              <a:t>Recommended Books</a:t>
            </a:r>
            <a:r>
              <a:rPr lang="en-IN" sz="1800" dirty="0"/>
              <a:t>:</a:t>
            </a:r>
          </a:p>
          <a:p>
            <a:pPr lvl="0"/>
            <a:r>
              <a:rPr lang="en-US" sz="1600" dirty="0"/>
              <a:t>B01: Architecting the Cloud: Design Decisions for Cloud Computing Service Models by Michael J. Kavis, 2014.</a:t>
            </a:r>
          </a:p>
          <a:p>
            <a:pPr lvl="0"/>
            <a:r>
              <a:rPr lang="en-US" sz="1600" dirty="0"/>
              <a:t>BO2: AWS The Ultimate Guide to Amazon Web Services Step-by-step Guide from Beginners to Advanced! by Stephen Springwell, Amplitude Ltd., Feb-2021.</a:t>
            </a:r>
          </a:p>
          <a:p>
            <a:pPr lvl="0"/>
            <a:r>
              <a:rPr lang="en-US" sz="1600" dirty="0"/>
              <a:t>BO3: Learning Amazon Web Services (AWS): A Hands-On Guide to the Fundamentals of AWS Cloud, First Edition by Pearson (Mark Wilkins), Nov-2019.</a:t>
            </a:r>
          </a:p>
          <a:p>
            <a:pPr lvl="0"/>
            <a:endParaRPr lang="en-US" sz="1600" b="1" dirty="0"/>
          </a:p>
          <a:p>
            <a:pPr lvl="0"/>
            <a:r>
              <a:rPr lang="en-US" sz="1800" b="1" dirty="0"/>
              <a:t>Link for Online Resource:</a:t>
            </a:r>
            <a:endParaRPr lang="en-IN" sz="1800" dirty="0"/>
          </a:p>
          <a:p>
            <a:pPr lvl="0"/>
            <a:r>
              <a:rPr lang="en-US" sz="1800" dirty="0">
                <a:hlinkClick r:id="rId2"/>
              </a:rPr>
              <a:t>https://www.coursera.org/specializations/cloud-computing</a:t>
            </a:r>
            <a:endParaRPr lang="en-US" sz="1800" dirty="0"/>
          </a:p>
          <a:p>
            <a:pPr lvl="0"/>
            <a:r>
              <a:rPr lang="en-US" sz="1800" dirty="0">
                <a:hlinkClick r:id="rId3"/>
              </a:rPr>
              <a:t>https://aws.amazon.com/training/</a:t>
            </a:r>
            <a:endParaRPr lang="en-US" sz="1800" dirty="0"/>
          </a:p>
          <a:p>
            <a:pPr lvl="0"/>
            <a:r>
              <a:rPr lang="en-US" sz="1800" dirty="0">
                <a:hlinkClick r:id="rId4"/>
              </a:rPr>
              <a:t>https://onlinecourses.nptel.ac.in/noc21_cs14/preview</a:t>
            </a:r>
            <a:endParaRPr lang="en-US" sz="1800" dirty="0"/>
          </a:p>
          <a:p>
            <a:pPr lvl="0"/>
            <a:r>
              <a:rPr lang="en-US" sz="1800" dirty="0">
                <a:hlinkClick r:id="rId5"/>
              </a:rPr>
              <a:t>https://www.udemy.com/course/introduction-to-cloud-computing-on-amazon-aws-for-beginners/</a:t>
            </a:r>
            <a:endParaRPr lang="en-US" sz="1800" dirty="0"/>
          </a:p>
        </p:txBody>
      </p:sp>
      <p:sp>
        <p:nvSpPr>
          <p:cNvPr id="6" name="Slide Number Placeholder 5"/>
          <p:cNvSpPr>
            <a:spLocks noGrp="1"/>
          </p:cNvSpPr>
          <p:nvPr>
            <p:ph type="sldNum" sz="quarter" idx="12"/>
          </p:nvPr>
        </p:nvSpPr>
        <p:spPr/>
        <p:txBody>
          <a:bodyPr/>
          <a:lstStyle/>
          <a:p>
            <a:fld id="{8BD8F058-9003-4658-AA47-7D4800AF7EA2}" type="slidenum">
              <a:rPr lang="en-US" smtClean="0"/>
              <a:pPr/>
              <a:t>20</a:t>
            </a:fld>
            <a:endParaRPr lang="en-US" dirty="0"/>
          </a:p>
        </p:txBody>
      </p:sp>
      <p:sp>
        <p:nvSpPr>
          <p:cNvPr id="10" name="Date Placeholder 1">
            <a:extLst>
              <a:ext uri="{FF2B5EF4-FFF2-40B4-BE49-F238E27FC236}">
                <a16:creationId xmlns:a16="http://schemas.microsoft.com/office/drawing/2014/main" id="{56EB2F12-529F-9D06-8C90-1A4C2C420B9C}"/>
              </a:ext>
            </a:extLst>
          </p:cNvPr>
          <p:cNvSpPr>
            <a:spLocks noGrp="1"/>
          </p:cNvSpPr>
          <p:nvPr>
            <p:ph type="dt" sz="half" idx="10"/>
          </p:nvPr>
        </p:nvSpPr>
        <p:spPr>
          <a:xfrm>
            <a:off x="457200" y="6356350"/>
            <a:ext cx="2133600" cy="365125"/>
          </a:xfrm>
        </p:spPr>
        <p:txBody>
          <a:bodyPr/>
          <a:lstStyle/>
          <a:p>
            <a:r>
              <a:rPr lang="en-US" dirty="0"/>
              <a:t>Applied Soft Computing</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8BD8F058-9003-4658-AA47-7D4800AF7EA2}" type="slidenum">
              <a:rPr lang="en-US" smtClean="0"/>
              <a:pPr/>
              <a:t>21</a:t>
            </a:fld>
            <a:endParaRPr lang="en-US"/>
          </a:p>
        </p:txBody>
      </p:sp>
      <p:sp>
        <p:nvSpPr>
          <p:cNvPr id="8" name="Rectangle 7">
            <a:extLst>
              <a:ext uri="{FF2B5EF4-FFF2-40B4-BE49-F238E27FC236}">
                <a16:creationId xmlns:a16="http://schemas.microsoft.com/office/drawing/2014/main" id="{2C813A83-4CF3-4942-8C24-169E11C40466}"/>
              </a:ext>
            </a:extLst>
          </p:cNvPr>
          <p:cNvSpPr/>
          <p:nvPr/>
        </p:nvSpPr>
        <p:spPr>
          <a:xfrm>
            <a:off x="0" y="857250"/>
            <a:ext cx="9144000" cy="3515189"/>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algn="ctr" defTabSz="685800">
              <a:defRPr/>
            </a:pPr>
            <a:r>
              <a:rPr lang="en-US" sz="1350" dirty="0">
                <a:solidFill>
                  <a:prstClr val="white"/>
                </a:solidFill>
                <a:latin typeface="Calibri Light"/>
              </a:rPr>
              <a:t> </a:t>
            </a:r>
          </a:p>
        </p:txBody>
      </p:sp>
      <p:sp>
        <p:nvSpPr>
          <p:cNvPr id="9" name="Title 1"/>
          <p:cNvSpPr txBox="1">
            <a:spLocks/>
          </p:cNvSpPr>
          <p:nvPr/>
        </p:nvSpPr>
        <p:spPr>
          <a:xfrm>
            <a:off x="609600" y="2362200"/>
            <a:ext cx="8043861" cy="923330"/>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defTabSz="685800">
              <a:lnSpc>
                <a:spcPct val="100000"/>
              </a:lnSpc>
              <a:defRPr/>
            </a:pPr>
            <a:r>
              <a:rPr lang="en-US" sz="6000" dirty="0">
                <a:solidFill>
                  <a:prstClr val="white"/>
                </a:solidFill>
                <a:latin typeface="Casper" panose="02000506000000020004" pitchFamily="2" charset="0"/>
                <a:ea typeface="Segoe UI" panose="020B0502040204020203" pitchFamily="34" charset="0"/>
                <a:cs typeface="Segoe UI" panose="020B0502040204020203" pitchFamily="34" charset="0"/>
              </a:rPr>
              <a:t>THANK YOU</a:t>
            </a:r>
          </a:p>
        </p:txBody>
      </p:sp>
      <p:sp>
        <p:nvSpPr>
          <p:cNvPr id="10" name="Diamond 6">
            <a:extLst>
              <a:ext uri="{FF2B5EF4-FFF2-40B4-BE49-F238E27FC236}">
                <a16:creationId xmlns:a16="http://schemas.microsoft.com/office/drawing/2014/main" id="{AFBA4B1A-59E0-42F9-8062-FE9B4E00A99F}"/>
              </a:ext>
            </a:extLst>
          </p:cNvPr>
          <p:cNvSpPr/>
          <p:nvPr/>
        </p:nvSpPr>
        <p:spPr>
          <a:xfrm>
            <a:off x="1981200" y="1767959"/>
            <a:ext cx="1822847" cy="241935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algn="ctr" defTabSz="685800">
              <a:defRPr/>
            </a:pPr>
            <a:endParaRPr lang="en-US" sz="1350">
              <a:solidFill>
                <a:prstClr val="white"/>
              </a:solidFill>
              <a:latin typeface="Calibri Light"/>
            </a:endParaRPr>
          </a:p>
        </p:txBody>
      </p:sp>
      <p:sp>
        <p:nvSpPr>
          <p:cNvPr id="4" name="Date Placeholder 1">
            <a:extLst>
              <a:ext uri="{FF2B5EF4-FFF2-40B4-BE49-F238E27FC236}">
                <a16:creationId xmlns:a16="http://schemas.microsoft.com/office/drawing/2014/main" id="{68E0D309-8925-3C99-2BAE-D9049D6B8D82}"/>
              </a:ext>
            </a:extLst>
          </p:cNvPr>
          <p:cNvSpPr txBox="1">
            <a:spLocks/>
          </p:cNvSpPr>
          <p:nvPr/>
        </p:nvSpPr>
        <p:spPr>
          <a:xfrm>
            <a:off x="609600" y="6508750"/>
            <a:ext cx="2133600" cy="365125"/>
          </a:xfrm>
          <a:prstGeom prst="rect">
            <a:avLst/>
          </a:prstGeom>
        </p:spPr>
        <p:txBody>
          <a:bodyPr vert="horz" wrap="square" lIns="91440" tIns="45720" rIns="91440" bIns="45720" numCol="1" anchor="ctr" anchorCtr="0" compatLnSpc="1"/>
          <a:lstStyle>
            <a:defPPr>
              <a:defRPr lang="en-US"/>
            </a:defPPr>
            <a:lvl1pPr algn="l" rtl="0" fontAlgn="base">
              <a:spcBef>
                <a:spcPct val="0"/>
              </a:spcBef>
              <a:spcAft>
                <a:spcPct val="0"/>
              </a:spcAft>
              <a:defRPr sz="1200" b="1" kern="1200">
                <a:solidFill>
                  <a:srgbClr val="0070C0"/>
                </a:solidFill>
                <a:latin typeface="Times New Roman" panose="02020603050405020304" pitchFamily="18" charset="0"/>
                <a:ea typeface="MS PGothic" panose="020B0600070205080204" pitchFamily="34" charset="-128"/>
                <a:cs typeface="Times New Roman" panose="02020603050405020304" pitchFamily="18" charset="0"/>
              </a:defRPr>
            </a:lvl1pPr>
            <a:lvl2pPr marL="4572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2pPr>
            <a:lvl3pPr marL="9144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3pPr>
            <a:lvl4pPr marL="13716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4pPr>
            <a:lvl5pPr marL="18288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9pPr>
          </a:lstStyle>
          <a:p>
            <a:endParaRPr lang="en-US" dirty="0"/>
          </a:p>
        </p:txBody>
      </p:sp>
      <p:sp>
        <p:nvSpPr>
          <p:cNvPr id="5" name="Date Placeholder 1">
            <a:extLst>
              <a:ext uri="{FF2B5EF4-FFF2-40B4-BE49-F238E27FC236}">
                <a16:creationId xmlns:a16="http://schemas.microsoft.com/office/drawing/2014/main" id="{836A3E40-6FA9-0DF0-1DB1-246A5B82C919}"/>
              </a:ext>
            </a:extLst>
          </p:cNvPr>
          <p:cNvSpPr txBox="1">
            <a:spLocks/>
          </p:cNvSpPr>
          <p:nvPr/>
        </p:nvSpPr>
        <p:spPr>
          <a:xfrm>
            <a:off x="598714" y="6372225"/>
            <a:ext cx="2133600" cy="365125"/>
          </a:xfrm>
          <a:prstGeom prst="rect">
            <a:avLst/>
          </a:prstGeom>
        </p:spPr>
        <p:txBody>
          <a:bodyPr vert="horz" wrap="square" lIns="91440" tIns="45720" rIns="91440" bIns="45720" numCol="1" anchor="ctr" anchorCtr="0" compatLnSpc="1"/>
          <a:lstStyle>
            <a:defPPr>
              <a:defRPr lang="en-US"/>
            </a:defPPr>
            <a:lvl1pPr algn="l" rtl="0" fontAlgn="base">
              <a:spcBef>
                <a:spcPct val="0"/>
              </a:spcBef>
              <a:spcAft>
                <a:spcPct val="0"/>
              </a:spcAft>
              <a:defRPr sz="1200" b="1" kern="1200">
                <a:solidFill>
                  <a:srgbClr val="0070C0"/>
                </a:solidFill>
                <a:latin typeface="Times New Roman" panose="02020603050405020304" pitchFamily="18" charset="0"/>
                <a:ea typeface="MS PGothic" panose="020B0600070205080204" pitchFamily="34" charset="-128"/>
                <a:cs typeface="Times New Roman" panose="02020603050405020304" pitchFamily="18" charset="0"/>
              </a:defRPr>
            </a:lvl1pPr>
            <a:lvl2pPr marL="4572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2pPr>
            <a:lvl3pPr marL="9144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3pPr>
            <a:lvl4pPr marL="13716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4pPr>
            <a:lvl5pPr marL="18288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9pPr>
          </a:lstStyle>
          <a:p>
            <a:r>
              <a:rPr lang="en-US" dirty="0"/>
              <a:t>Cloud Computing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8093</TotalTime>
  <Words>1473</Words>
  <Application>Microsoft Office PowerPoint</Application>
  <PresentationFormat>On-screen Show (4:3)</PresentationFormat>
  <Paragraphs>190</Paragraphs>
  <Slides>21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Arial</vt:lpstr>
      <vt:lpstr>Calibri</vt:lpstr>
      <vt:lpstr>Calibri Light</vt:lpstr>
      <vt:lpstr>Cambria</vt:lpstr>
      <vt:lpstr>Casper</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References </vt:lpstr>
      <vt:lpstr>PowerPoint Presentation</vt:lpstr>
    </vt:vector>
  </TitlesOfParts>
  <Company>CCC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ABC</dc:creator>
  <cp:lastModifiedBy>Prabhnoor Bachhal</cp:lastModifiedBy>
  <cp:revision>1578</cp:revision>
  <dcterms:created xsi:type="dcterms:W3CDTF">2021-07-05T10:09:00Z</dcterms:created>
  <dcterms:modified xsi:type="dcterms:W3CDTF">2025-11-01T09:47:35Z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1033-11.2.0.10463</vt:lpwstr>
  </property>
  <property fmtid="{D5CDD505-2E9C-101B-9397-08002B2CF9AE}" pid="3" name="ICV">
    <vt:lpwstr>C66E8A929365439D9183C5235316B3C9</vt:lpwstr>
  </property>
</Properties>
</file>