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7"/>
  </p:notesMasterIdLst>
  <p:sldIdLst>
    <p:sldId id="654" r:id="rId2"/>
    <p:sldId id="682" r:id="rId3"/>
    <p:sldId id="652" r:id="rId4"/>
    <p:sldId id="653" r:id="rId5"/>
    <p:sldId id="655" r:id="rId6"/>
    <p:sldId id="656" r:id="rId7"/>
    <p:sldId id="673" r:id="rId8"/>
    <p:sldId id="674" r:id="rId9"/>
    <p:sldId id="675" r:id="rId10"/>
    <p:sldId id="676" r:id="rId11"/>
    <p:sldId id="677" r:id="rId12"/>
    <p:sldId id="684" r:id="rId13"/>
    <p:sldId id="685" r:id="rId14"/>
    <p:sldId id="659" r:id="rId15"/>
    <p:sldId id="657" r:id="rId16"/>
    <p:sldId id="678" r:id="rId17"/>
    <p:sldId id="658" r:id="rId18"/>
    <p:sldId id="660" r:id="rId19"/>
    <p:sldId id="679" r:id="rId20"/>
    <p:sldId id="683" r:id="rId21"/>
    <p:sldId id="661" r:id="rId22"/>
    <p:sldId id="662" r:id="rId23"/>
    <p:sldId id="680" r:id="rId24"/>
    <p:sldId id="663" r:id="rId25"/>
    <p:sldId id="664" r:id="rId26"/>
    <p:sldId id="665" r:id="rId27"/>
    <p:sldId id="666" r:id="rId28"/>
    <p:sldId id="667" r:id="rId29"/>
    <p:sldId id="681" r:id="rId30"/>
    <p:sldId id="668" r:id="rId31"/>
    <p:sldId id="669" r:id="rId32"/>
    <p:sldId id="671" r:id="rId33"/>
    <p:sldId id="672" r:id="rId34"/>
    <p:sldId id="670" r:id="rId35"/>
    <p:sldId id="624" r:id="rId36"/>
  </p:sldIdLst>
  <p:sldSz cx="9144000" cy="6858000" type="screen4x3"/>
  <p:notesSz cx="6858000" cy="9947275"/>
  <p:defaultTextStyle>
    <a:defPPr>
      <a:defRPr lang="en-US"/>
    </a:defPPr>
    <a:lvl1pPr algn="l" rtl="0" fontAlgn="base">
      <a:spcBef>
        <a:spcPct val="0"/>
      </a:spcBef>
      <a:spcAft>
        <a:spcPct val="0"/>
      </a:spcAft>
      <a:defRPr kern="1200">
        <a:solidFill>
          <a:schemeClr val="tx1"/>
        </a:solidFill>
        <a:latin typeface="Arial" pitchFamily="34" charset="0"/>
        <a:ea typeface="MS PGothic" pitchFamily="34" charset="-128"/>
        <a:cs typeface="+mn-cs"/>
      </a:defRPr>
    </a:lvl1pPr>
    <a:lvl2pPr marL="457200" algn="l" rtl="0" fontAlgn="base">
      <a:spcBef>
        <a:spcPct val="0"/>
      </a:spcBef>
      <a:spcAft>
        <a:spcPct val="0"/>
      </a:spcAft>
      <a:defRPr kern="1200">
        <a:solidFill>
          <a:schemeClr val="tx1"/>
        </a:solidFill>
        <a:latin typeface="Arial" pitchFamily="34" charset="0"/>
        <a:ea typeface="MS PGothic" pitchFamily="34" charset="-128"/>
        <a:cs typeface="+mn-cs"/>
      </a:defRPr>
    </a:lvl2pPr>
    <a:lvl3pPr marL="914400" algn="l" rtl="0" fontAlgn="base">
      <a:spcBef>
        <a:spcPct val="0"/>
      </a:spcBef>
      <a:spcAft>
        <a:spcPct val="0"/>
      </a:spcAft>
      <a:defRPr kern="1200">
        <a:solidFill>
          <a:schemeClr val="tx1"/>
        </a:solidFill>
        <a:latin typeface="Arial" pitchFamily="34" charset="0"/>
        <a:ea typeface="MS PGothic" pitchFamily="34" charset="-128"/>
        <a:cs typeface="+mn-cs"/>
      </a:defRPr>
    </a:lvl3pPr>
    <a:lvl4pPr marL="1371600" algn="l" rtl="0" fontAlgn="base">
      <a:spcBef>
        <a:spcPct val="0"/>
      </a:spcBef>
      <a:spcAft>
        <a:spcPct val="0"/>
      </a:spcAft>
      <a:defRPr kern="1200">
        <a:solidFill>
          <a:schemeClr val="tx1"/>
        </a:solidFill>
        <a:latin typeface="Arial" pitchFamily="34" charset="0"/>
        <a:ea typeface="MS PGothic" pitchFamily="34" charset="-128"/>
        <a:cs typeface="+mn-cs"/>
      </a:defRPr>
    </a:lvl4pPr>
    <a:lvl5pPr marL="1828800" algn="l" rtl="0" fontAlgn="base">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A30FA"/>
    <a:srgbClr val="FF6600"/>
    <a:srgbClr val="F139E4"/>
    <a:srgbClr val="B85250"/>
    <a:srgbClr val="FF3300"/>
    <a:srgbClr val="96969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72" autoAdjust="0"/>
    <p:restoredTop sz="88398" autoAdjust="0"/>
  </p:normalViewPr>
  <p:slideViewPr>
    <p:cSldViewPr>
      <p:cViewPr varScale="1">
        <p:scale>
          <a:sx n="73" d="100"/>
          <a:sy n="73" d="100"/>
        </p:scale>
        <p:origin x="874" y="43"/>
      </p:cViewPr>
      <p:guideLst>
        <p:guide orient="horz" pos="2160"/>
        <p:guide pos="2880"/>
      </p:guideLst>
    </p:cSldViewPr>
  </p:slideViewPr>
  <p:notesTextViewPr>
    <p:cViewPr>
      <p:scale>
        <a:sx n="300" d="100"/>
        <a:sy n="300" d="100"/>
      </p:scale>
      <p:origin x="0" y="0"/>
    </p:cViewPr>
  </p:notesTextViewPr>
  <p:sorterViewPr>
    <p:cViewPr>
      <p:scale>
        <a:sx n="100" d="100"/>
        <a:sy n="100" d="100"/>
      </p:scale>
      <p:origin x="0" y="1031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7364"/>
          </a:xfrm>
          <a:prstGeom prst="rect">
            <a:avLst/>
          </a:prstGeom>
        </p:spPr>
        <p:txBody>
          <a:bodyPr vert="horz" wrap="square" lIns="91440" tIns="45720" rIns="91440" bIns="45720" numCol="1" anchor="t" anchorCtr="0" compatLnSpc="1">
            <a:prstTxWarp prst="textNoShape">
              <a:avLst/>
            </a:prstTxWarp>
          </a:bodyPr>
          <a:lstStyle>
            <a:lvl1pPr>
              <a:defRPr sz="1200">
                <a:latin typeface="Calibri" charset="0"/>
                <a:ea typeface="ＭＳ Ｐゴシック" charset="-128"/>
                <a:cs typeface="+mn-cs"/>
              </a:defRPr>
            </a:lvl1pPr>
          </a:lstStyle>
          <a:p>
            <a:pPr>
              <a:defRPr/>
            </a:pPr>
            <a:endParaRPr lang="en-US" dirty="0"/>
          </a:p>
        </p:txBody>
      </p:sp>
      <p:sp>
        <p:nvSpPr>
          <p:cNvPr id="3" name="Date Placeholder 2"/>
          <p:cNvSpPr>
            <a:spLocks noGrp="1"/>
          </p:cNvSpPr>
          <p:nvPr>
            <p:ph type="dt" idx="1"/>
          </p:nvPr>
        </p:nvSpPr>
        <p:spPr>
          <a:xfrm>
            <a:off x="3884613" y="0"/>
            <a:ext cx="2971800" cy="497364"/>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fld id="{88709C98-B80A-4F28-AF74-CF08CF81A715}" type="datetime1">
              <a:rPr lang="en-US"/>
              <a:pPr/>
              <a:t>7/29/2025</a:t>
            </a:fld>
            <a:endParaRPr lang="en-US" dirty="0"/>
          </a:p>
        </p:txBody>
      </p:sp>
      <p:sp>
        <p:nvSpPr>
          <p:cNvPr id="4" name="Slide Image Placeholder 3"/>
          <p:cNvSpPr>
            <a:spLocks noGrp="1" noRot="1" noChangeAspect="1"/>
          </p:cNvSpPr>
          <p:nvPr>
            <p:ph type="sldImg" idx="2"/>
          </p:nvPr>
        </p:nvSpPr>
        <p:spPr>
          <a:xfrm>
            <a:off x="942975" y="746125"/>
            <a:ext cx="4972050" cy="3730625"/>
          </a:xfrm>
          <a:prstGeom prst="rect">
            <a:avLst/>
          </a:prstGeom>
          <a:noFill/>
          <a:ln w="12700">
            <a:solidFill>
              <a:prstClr val="black"/>
            </a:solidFill>
          </a:ln>
        </p:spPr>
        <p:txBody>
          <a:bodyPr vert="horz" wrap="square" lIns="91440" tIns="45720" rIns="91440" bIns="45720" numCol="1" anchor="ctr" anchorCtr="0" compatLnSpc="1">
            <a:prstTxWarp prst="textNoShape">
              <a:avLst/>
            </a:prstTxWarp>
          </a:bodyPr>
          <a:lstStyle/>
          <a:p>
            <a:pPr lvl="0"/>
            <a:endParaRPr lang="en-US" noProof="0" dirty="0"/>
          </a:p>
        </p:txBody>
      </p:sp>
      <p:sp>
        <p:nvSpPr>
          <p:cNvPr id="5" name="Notes Placeholder 4"/>
          <p:cNvSpPr>
            <a:spLocks noGrp="1"/>
          </p:cNvSpPr>
          <p:nvPr>
            <p:ph type="body" sz="quarter" idx="3"/>
          </p:nvPr>
        </p:nvSpPr>
        <p:spPr>
          <a:xfrm>
            <a:off x="685800" y="4724956"/>
            <a:ext cx="5486400" cy="4476274"/>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48185"/>
            <a:ext cx="2971800" cy="497364"/>
          </a:xfrm>
          <a:prstGeom prst="rect">
            <a:avLst/>
          </a:prstGeom>
        </p:spPr>
        <p:txBody>
          <a:bodyPr vert="horz" wrap="square" lIns="91440" tIns="45720" rIns="91440" bIns="45720" numCol="1" anchor="b" anchorCtr="0" compatLnSpc="1">
            <a:prstTxWarp prst="textNoShape">
              <a:avLst/>
            </a:prstTxWarp>
          </a:bodyPr>
          <a:lstStyle>
            <a:lvl1pPr>
              <a:defRPr sz="1200">
                <a:latin typeface="Calibri" charset="0"/>
                <a:ea typeface="ＭＳ Ｐゴシック" charset="-128"/>
                <a:cs typeface="+mn-cs"/>
              </a:defRPr>
            </a:lvl1pPr>
          </a:lstStyle>
          <a:p>
            <a:pPr>
              <a:defRPr/>
            </a:pPr>
            <a:endParaRPr lang="en-US" dirty="0"/>
          </a:p>
        </p:txBody>
      </p:sp>
      <p:sp>
        <p:nvSpPr>
          <p:cNvPr id="7" name="Slide Number Placeholder 6"/>
          <p:cNvSpPr>
            <a:spLocks noGrp="1"/>
          </p:cNvSpPr>
          <p:nvPr>
            <p:ph type="sldNum" sz="quarter" idx="5"/>
          </p:nvPr>
        </p:nvSpPr>
        <p:spPr>
          <a:xfrm>
            <a:off x="3884613" y="9448185"/>
            <a:ext cx="2971800" cy="497364"/>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defRPr>
            </a:lvl1pPr>
          </a:lstStyle>
          <a:p>
            <a:fld id="{4D112868-65FD-4572-A383-97DC0EC9B913}" type="slidenum">
              <a:rPr lang="en-US"/>
              <a:pPr/>
              <a:t>‹#›</a:t>
            </a:fld>
            <a:endParaRPr lang="en-US" dirty="0"/>
          </a:p>
        </p:txBody>
      </p:sp>
    </p:spTree>
    <p:extLst>
      <p:ext uri="{BB962C8B-B14F-4D97-AF65-F5344CB8AC3E}">
        <p14:creationId xmlns:p14="http://schemas.microsoft.com/office/powerpoint/2010/main" val="1998775028"/>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MS PGothic"/>
        <a:cs typeface="MS PGothic"/>
      </a:defRPr>
    </a:lvl1pPr>
    <a:lvl2pPr marL="457200" algn="l" defTabSz="457200" rtl="0" eaLnBrk="0" fontAlgn="base" hangingPunct="0">
      <a:spcBef>
        <a:spcPct val="30000"/>
      </a:spcBef>
      <a:spcAft>
        <a:spcPct val="0"/>
      </a:spcAft>
      <a:defRPr sz="1200" kern="1200">
        <a:solidFill>
          <a:schemeClr val="tx1"/>
        </a:solidFill>
        <a:latin typeface="+mn-lt"/>
        <a:ea typeface="MS PGothic"/>
        <a:cs typeface="MS PGothic"/>
      </a:defRPr>
    </a:lvl2pPr>
    <a:lvl3pPr marL="914400" algn="l" defTabSz="457200" rtl="0" eaLnBrk="0" fontAlgn="base" hangingPunct="0">
      <a:spcBef>
        <a:spcPct val="30000"/>
      </a:spcBef>
      <a:spcAft>
        <a:spcPct val="0"/>
      </a:spcAft>
      <a:defRPr sz="1200" kern="1200">
        <a:solidFill>
          <a:schemeClr val="tx1"/>
        </a:solidFill>
        <a:latin typeface="+mn-lt"/>
        <a:ea typeface="MS PGothic"/>
        <a:cs typeface="MS PGothic"/>
      </a:defRPr>
    </a:lvl3pPr>
    <a:lvl4pPr marL="1371600" algn="l" defTabSz="457200" rtl="0" eaLnBrk="0" fontAlgn="base" hangingPunct="0">
      <a:spcBef>
        <a:spcPct val="30000"/>
      </a:spcBef>
      <a:spcAft>
        <a:spcPct val="0"/>
      </a:spcAft>
      <a:defRPr sz="1200" kern="1200">
        <a:solidFill>
          <a:schemeClr val="tx1"/>
        </a:solidFill>
        <a:latin typeface="+mn-lt"/>
        <a:ea typeface="MS PGothic"/>
        <a:cs typeface="MS PGothic"/>
      </a:defRPr>
    </a:lvl4pPr>
    <a:lvl5pPr marL="1828800" algn="l" defTabSz="457200" rtl="0" eaLnBrk="0" fontAlgn="base" hangingPunct="0">
      <a:spcBef>
        <a:spcPct val="30000"/>
      </a:spcBef>
      <a:spcAft>
        <a:spcPct val="0"/>
      </a:spcAft>
      <a:defRPr sz="1200" kern="1200">
        <a:solidFill>
          <a:schemeClr val="tx1"/>
        </a:solidFill>
        <a:latin typeface="+mn-lt"/>
        <a:ea typeface="MS PGothic"/>
        <a:cs typeface="MS PGothic"/>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D112868-65FD-4572-A383-97DC0EC9B913}" type="slidenum">
              <a:rPr lang="en-US" smtClean="0"/>
              <a:pPr/>
              <a:t>13</a:t>
            </a:fld>
            <a:endParaRPr lang="en-US" dirty="0"/>
          </a:p>
        </p:txBody>
      </p:sp>
    </p:spTree>
    <p:extLst>
      <p:ext uri="{BB962C8B-B14F-4D97-AF65-F5344CB8AC3E}">
        <p14:creationId xmlns:p14="http://schemas.microsoft.com/office/powerpoint/2010/main" val="30046276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5486400" cy="914400"/>
          </a:xfrm>
        </p:spPr>
        <p:txBody>
          <a:bodyPr/>
          <a:lstStyle/>
          <a:p>
            <a:r>
              <a:rPr lang="en-US" dirty="0"/>
              <a:t>Click to edit Master title style</a:t>
            </a:r>
          </a:p>
        </p:txBody>
      </p:sp>
      <p:sp>
        <p:nvSpPr>
          <p:cNvPr id="3" name="Subtitle 2"/>
          <p:cNvSpPr>
            <a:spLocks noGrp="1"/>
          </p:cNvSpPr>
          <p:nvPr>
            <p:ph type="subTitle" idx="1"/>
          </p:nvPr>
        </p:nvSpPr>
        <p:spPr>
          <a:xfrm>
            <a:off x="533400" y="1371600"/>
            <a:ext cx="8153400" cy="47244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vl1pPr>
          </a:lstStyle>
          <a:p>
            <a:fld id="{47B14152-1DF9-4836-BE06-024E97E7E1A8}" type="datetime1">
              <a:rPr lang="en-US" smtClean="0"/>
              <a:t>7/29/2025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fld id="{FFC4ABB8-5B0F-4AA4-B6A6-7C7E2BD089D3}" type="slidenum">
              <a:rPr lang="en-US"/>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4" name="Picture 10" descr="LOGO.gif"/>
          <p:cNvPicPr>
            <a:picLocks noChangeAspect="1"/>
          </p:cNvPicPr>
          <p:nvPr userDrawn="1"/>
        </p:nvPicPr>
        <p:blipFill>
          <a:blip r:embed="rId2"/>
          <a:srcRect b="10713"/>
          <a:stretch>
            <a:fillRect/>
          </a:stretch>
        </p:blipFill>
        <p:spPr bwMode="auto">
          <a:xfrm>
            <a:off x="6553200" y="228600"/>
            <a:ext cx="2057400" cy="635000"/>
          </a:xfrm>
          <a:prstGeom prst="rect">
            <a:avLst/>
          </a:prstGeom>
          <a:noFill/>
          <a:ln w="9525">
            <a:noFill/>
            <a:miter lim="800000"/>
            <a:headEnd/>
            <a:tailEnd/>
          </a:ln>
        </p:spPr>
      </p:pic>
      <p:grpSp>
        <p:nvGrpSpPr>
          <p:cNvPr id="5" name="Group 7"/>
          <p:cNvGrpSpPr>
            <a:grpSpLocks/>
          </p:cNvGrpSpPr>
          <p:nvPr userDrawn="1"/>
        </p:nvGrpSpPr>
        <p:grpSpPr bwMode="auto">
          <a:xfrm>
            <a:off x="6146800" y="0"/>
            <a:ext cx="2997200" cy="876300"/>
            <a:chOff x="6096000" y="3924300"/>
            <a:chExt cx="2997200" cy="876300"/>
          </a:xfrm>
        </p:grpSpPr>
        <p:sp>
          <p:nvSpPr>
            <p:cNvPr id="6"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dirty="0">
                <a:latin typeface="Calibri" pitchFamily="34" charset="0"/>
              </a:endParaRPr>
            </a:p>
          </p:txBody>
        </p:sp>
        <p:pic>
          <p:nvPicPr>
            <p:cNvPr id="7" name="Picture 9" descr="LOGO.gif"/>
            <p:cNvPicPr>
              <a:picLocks noChangeAspect="1"/>
            </p:cNvPicPr>
            <p:nvPr/>
          </p:nvPicPr>
          <p:blipFill>
            <a:blip r:embed="rId2"/>
            <a:srcRect b="10713"/>
            <a:stretch>
              <a:fillRect/>
            </a:stretch>
          </p:blipFill>
          <p:spPr bwMode="auto">
            <a:xfrm>
              <a:off x="6502400" y="4152900"/>
              <a:ext cx="2057400" cy="635000"/>
            </a:xfrm>
            <a:prstGeom prst="rect">
              <a:avLst/>
            </a:prstGeom>
            <a:noFill/>
            <a:ln w="9525">
              <a:noFill/>
              <a:miter lim="800000"/>
              <a:headEnd/>
              <a:tailEnd/>
            </a:ln>
          </p:spPr>
        </p:pic>
        <p:sp>
          <p:nvSpPr>
            <p:cNvPr id="8" name="Rectangle 7"/>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pic>
        <p:nvPicPr>
          <p:cNvPr id="9" name="Picture 15" descr="logo.jpg"/>
          <p:cNvPicPr>
            <a:picLocks noChangeAspect="1"/>
          </p:cNvPicPr>
          <p:nvPr userDrawn="1"/>
        </p:nvPicPr>
        <p:blipFill>
          <a:blip r:embed="rId3"/>
          <a:srcRect/>
          <a:stretch>
            <a:fillRect/>
          </a:stretch>
        </p:blipFill>
        <p:spPr bwMode="auto">
          <a:xfrm>
            <a:off x="6553200" y="228600"/>
            <a:ext cx="1920875" cy="609600"/>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3"/>
          <p:cNvSpPr>
            <a:spLocks noGrp="1"/>
          </p:cNvSpPr>
          <p:nvPr>
            <p:ph type="dt" sz="half" idx="10"/>
          </p:nvPr>
        </p:nvSpPr>
        <p:spPr/>
        <p:txBody>
          <a:bodyPr/>
          <a:lstStyle>
            <a:lvl1pPr>
              <a:defRPr/>
            </a:lvl1pPr>
          </a:lstStyle>
          <a:p>
            <a:fld id="{92B8EF97-0748-43F5-8F49-A9B91DA96F82}" type="datetime1">
              <a:rPr lang="en-US" smtClean="0"/>
              <a:t>7/29/2025</a:t>
            </a:fld>
            <a:endParaRPr lang="en-US" dirty="0"/>
          </a:p>
        </p:txBody>
      </p:sp>
      <p:sp>
        <p:nvSpPr>
          <p:cNvPr id="11" name="Footer Placeholder 4"/>
          <p:cNvSpPr>
            <a:spLocks noGrp="1"/>
          </p:cNvSpPr>
          <p:nvPr>
            <p:ph type="ftr" sz="quarter" idx="11"/>
          </p:nvPr>
        </p:nvSpPr>
        <p:spPr/>
        <p:txBody>
          <a:bodyPr/>
          <a:lstStyle>
            <a:lvl1pPr>
              <a:defRPr/>
            </a:lvl1pPr>
          </a:lstStyle>
          <a:p>
            <a:pPr>
              <a:defRPr/>
            </a:pPr>
            <a:endParaRPr lang="en-US" dirty="0"/>
          </a:p>
        </p:txBody>
      </p:sp>
      <p:sp>
        <p:nvSpPr>
          <p:cNvPr id="12" name="Slide Number Placeholder 5"/>
          <p:cNvSpPr>
            <a:spLocks noGrp="1"/>
          </p:cNvSpPr>
          <p:nvPr>
            <p:ph type="sldNum" sz="quarter" idx="12"/>
          </p:nvPr>
        </p:nvSpPr>
        <p:spPr/>
        <p:txBody>
          <a:bodyPr/>
          <a:lstStyle>
            <a:lvl1pPr>
              <a:defRPr/>
            </a:lvl1pPr>
          </a:lstStyle>
          <a:p>
            <a:fld id="{8BD8F058-9003-4658-AA47-7D4800AF7EA2}" type="slidenum">
              <a:rPr lang="en-US"/>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jpe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0" y="0"/>
            <a:ext cx="6477000" cy="8382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3716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Calibri" pitchFamily="34" charset="0"/>
              </a:defRPr>
            </a:lvl1pPr>
          </a:lstStyle>
          <a:p>
            <a:fld id="{FA62B7F5-82F8-482C-8771-2D9909944613}" type="datetime1">
              <a:rPr lang="en-US" smtClean="0"/>
              <a:t>7/29/2025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200">
                <a:solidFill>
                  <a:srgbClr val="898989"/>
                </a:solidFill>
                <a:latin typeface="Calibri" charset="0"/>
                <a:ea typeface="ＭＳ Ｐゴシック" charset="-128"/>
                <a:cs typeface="+mn-cs"/>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itchFamily="34" charset="0"/>
              </a:defRPr>
            </a:lvl1pPr>
          </a:lstStyle>
          <a:p>
            <a:fld id="{775DC763-8AAC-4A07-A453-38B55A3783BD}" type="slidenum">
              <a:rPr lang="en-US"/>
              <a:pPr/>
              <a:t>‹#›</a:t>
            </a:fld>
            <a:endParaRPr lang="en-US" dirty="0"/>
          </a:p>
        </p:txBody>
      </p:sp>
      <p:sp>
        <p:nvSpPr>
          <p:cNvPr id="1031" name="Rectangle 11"/>
          <p:cNvSpPr>
            <a:spLocks noChangeArrowheads="1"/>
          </p:cNvSpPr>
          <p:nvPr/>
        </p:nvSpPr>
        <p:spPr bwMode="auto">
          <a:xfrm>
            <a:off x="0" y="0"/>
            <a:ext cx="9144000" cy="838200"/>
          </a:xfrm>
          <a:prstGeom prst="rect">
            <a:avLst/>
          </a:prstGeom>
          <a:solidFill>
            <a:srgbClr val="FF3300"/>
          </a:solidFill>
          <a:ln w="9525">
            <a:noFill/>
            <a:miter lim="800000"/>
            <a:headEnd/>
            <a:tailEnd/>
          </a:ln>
        </p:spPr>
        <p:txBody>
          <a:bodyPr wrap="none" anchor="ctr"/>
          <a:lstStyle/>
          <a:p>
            <a:endParaRPr lang="en-US" dirty="0">
              <a:latin typeface="Calibri" pitchFamily="34" charset="0"/>
            </a:endParaRPr>
          </a:p>
        </p:txBody>
      </p:sp>
      <p:sp>
        <p:nvSpPr>
          <p:cNvPr id="8" name="Rectangle 11"/>
          <p:cNvSpPr>
            <a:spLocks noChangeArrowheads="1"/>
          </p:cNvSpPr>
          <p:nvPr/>
        </p:nvSpPr>
        <p:spPr bwMode="auto">
          <a:xfrm flipV="1">
            <a:off x="0" y="6705600"/>
            <a:ext cx="9144000" cy="198116"/>
          </a:xfrm>
          <a:prstGeom prst="rect">
            <a:avLst/>
          </a:prstGeom>
          <a:solidFill>
            <a:srgbClr val="FF0000"/>
          </a:solidFill>
          <a:ln w="9525">
            <a:noFill/>
            <a:miter lim="800000"/>
            <a:headEnd/>
            <a:tailEnd/>
          </a:ln>
          <a:effectLst/>
          <a:scene3d>
            <a:camera prst="orthographicFront"/>
            <a:lightRig rig="threePt" dir="t"/>
          </a:scene3d>
          <a:sp3d>
            <a:bevelB/>
          </a:sp3d>
        </p:spPr>
        <p:txBody>
          <a:bodyPr wrap="none" anchor="ctr"/>
          <a:lstStyle/>
          <a:p>
            <a:pPr>
              <a:defRPr/>
            </a:pPr>
            <a:endParaRPr lang="en-US" dirty="0">
              <a:latin typeface="Calibri" charset="0"/>
              <a:ea typeface="ＭＳ Ｐゴシック" charset="-128"/>
            </a:endParaRPr>
          </a:p>
        </p:txBody>
      </p:sp>
      <p:pic>
        <p:nvPicPr>
          <p:cNvPr id="1035" name="Picture 10" descr="LOGO.gif"/>
          <p:cNvPicPr>
            <a:picLocks noChangeAspect="1"/>
          </p:cNvPicPr>
          <p:nvPr/>
        </p:nvPicPr>
        <p:blipFill>
          <a:blip r:embed="rId4"/>
          <a:srcRect b="10713"/>
          <a:stretch>
            <a:fillRect/>
          </a:stretch>
        </p:blipFill>
        <p:spPr bwMode="auto">
          <a:xfrm>
            <a:off x="6553200" y="228600"/>
            <a:ext cx="2057400" cy="635000"/>
          </a:xfrm>
          <a:prstGeom prst="rect">
            <a:avLst/>
          </a:prstGeom>
          <a:noFill/>
          <a:ln w="9525">
            <a:noFill/>
            <a:miter lim="800000"/>
            <a:headEnd/>
            <a:tailEnd/>
          </a:ln>
        </p:spPr>
      </p:pic>
      <p:pic>
        <p:nvPicPr>
          <p:cNvPr id="1036" name="Picture 10" descr="LOGO.gif"/>
          <p:cNvPicPr>
            <a:picLocks noChangeAspect="1"/>
          </p:cNvPicPr>
          <p:nvPr/>
        </p:nvPicPr>
        <p:blipFill>
          <a:blip r:embed="rId4"/>
          <a:srcRect b="10713"/>
          <a:stretch>
            <a:fillRect/>
          </a:stretch>
        </p:blipFill>
        <p:spPr bwMode="auto">
          <a:xfrm>
            <a:off x="6553200" y="228600"/>
            <a:ext cx="2057400" cy="635000"/>
          </a:xfrm>
          <a:prstGeom prst="rect">
            <a:avLst/>
          </a:prstGeom>
          <a:noFill/>
          <a:ln w="9525">
            <a:noFill/>
            <a:miter lim="800000"/>
            <a:headEnd/>
            <a:tailEnd/>
          </a:ln>
        </p:spPr>
      </p:pic>
      <p:grpSp>
        <p:nvGrpSpPr>
          <p:cNvPr id="1037" name="Group 7"/>
          <p:cNvGrpSpPr>
            <a:grpSpLocks/>
          </p:cNvGrpSpPr>
          <p:nvPr/>
        </p:nvGrpSpPr>
        <p:grpSpPr bwMode="auto">
          <a:xfrm>
            <a:off x="6146800" y="0"/>
            <a:ext cx="2997200" cy="876300"/>
            <a:chOff x="6096000" y="3924300"/>
            <a:chExt cx="2997200" cy="876300"/>
          </a:xfrm>
        </p:grpSpPr>
        <p:sp>
          <p:nvSpPr>
            <p:cNvPr id="1039" name="Rectangle 11"/>
            <p:cNvSpPr>
              <a:spLocks noChangeArrowheads="1"/>
            </p:cNvSpPr>
            <p:nvPr/>
          </p:nvSpPr>
          <p:spPr bwMode="auto">
            <a:xfrm>
              <a:off x="6096000" y="3924300"/>
              <a:ext cx="2997200" cy="838200"/>
            </a:xfrm>
            <a:prstGeom prst="rect">
              <a:avLst/>
            </a:prstGeom>
            <a:solidFill>
              <a:srgbClr val="FF3300"/>
            </a:solidFill>
            <a:ln w="9525">
              <a:noFill/>
              <a:miter lim="800000"/>
              <a:headEnd/>
              <a:tailEnd/>
            </a:ln>
          </p:spPr>
          <p:txBody>
            <a:bodyPr wrap="none" anchor="ctr"/>
            <a:lstStyle/>
            <a:p>
              <a:endParaRPr lang="en-US" dirty="0">
                <a:latin typeface="Calibri" pitchFamily="34" charset="0"/>
              </a:endParaRPr>
            </a:p>
          </p:txBody>
        </p:sp>
        <p:pic>
          <p:nvPicPr>
            <p:cNvPr id="1040" name="Picture 9" descr="LOGO.gif"/>
            <p:cNvPicPr>
              <a:picLocks noChangeAspect="1"/>
            </p:cNvPicPr>
            <p:nvPr/>
          </p:nvPicPr>
          <p:blipFill>
            <a:blip r:embed="rId4"/>
            <a:srcRect b="10713"/>
            <a:stretch>
              <a:fillRect/>
            </a:stretch>
          </p:blipFill>
          <p:spPr bwMode="auto">
            <a:xfrm>
              <a:off x="6502400" y="4152900"/>
              <a:ext cx="2057400" cy="635000"/>
            </a:xfrm>
            <a:prstGeom prst="rect">
              <a:avLst/>
            </a:prstGeom>
            <a:noFill/>
            <a:ln w="9525">
              <a:noFill/>
              <a:miter lim="800000"/>
              <a:headEnd/>
              <a:tailEnd/>
            </a:ln>
          </p:spPr>
        </p:pic>
        <p:sp>
          <p:nvSpPr>
            <p:cNvPr id="19" name="Rectangle 18"/>
            <p:cNvSpPr/>
            <p:nvPr/>
          </p:nvSpPr>
          <p:spPr>
            <a:xfrm>
              <a:off x="6477000" y="4114800"/>
              <a:ext cx="2076450" cy="685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pSp>
      <p:pic>
        <p:nvPicPr>
          <p:cNvPr id="1038" name="Picture 15" descr="logo.jpg"/>
          <p:cNvPicPr>
            <a:picLocks noChangeAspect="1"/>
          </p:cNvPicPr>
          <p:nvPr/>
        </p:nvPicPr>
        <p:blipFill>
          <a:blip r:embed="rId5"/>
          <a:srcRect/>
          <a:stretch>
            <a:fillRect/>
          </a:stretch>
        </p:blipFill>
        <p:spPr bwMode="auto">
          <a:xfrm>
            <a:off x="6553200" y="228600"/>
            <a:ext cx="1920875" cy="609600"/>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4504" r:id="rId1"/>
    <p:sldLayoutId id="2147484505" r:id="rId2"/>
  </p:sldLayoutIdLst>
  <p:hf hdr="0" ftr="0" dt="0"/>
  <p:txStyles>
    <p:titleStyle>
      <a:lvl1pPr algn="ctr" rtl="0" eaLnBrk="0" fontAlgn="base" hangingPunct="0">
        <a:spcBef>
          <a:spcPct val="0"/>
        </a:spcBef>
        <a:spcAft>
          <a:spcPct val="0"/>
        </a:spcAft>
        <a:defRPr sz="3000" kern="1200">
          <a:solidFill>
            <a:schemeClr val="tx1"/>
          </a:solidFill>
          <a:latin typeface="+mj-lt"/>
          <a:ea typeface="MS PGothic"/>
          <a:cs typeface="MS PGothic"/>
        </a:defRPr>
      </a:lvl1pPr>
      <a:lvl2pPr algn="ctr" rtl="0" eaLnBrk="0" fontAlgn="base" hangingPunct="0">
        <a:spcBef>
          <a:spcPct val="0"/>
        </a:spcBef>
        <a:spcAft>
          <a:spcPct val="0"/>
        </a:spcAft>
        <a:defRPr sz="3000">
          <a:solidFill>
            <a:schemeClr val="tx1"/>
          </a:solidFill>
          <a:latin typeface="Calibri" charset="0"/>
          <a:ea typeface="MS PGothic"/>
          <a:cs typeface="MS PGothic"/>
        </a:defRPr>
      </a:lvl2pPr>
      <a:lvl3pPr algn="ctr" rtl="0" eaLnBrk="0" fontAlgn="base" hangingPunct="0">
        <a:spcBef>
          <a:spcPct val="0"/>
        </a:spcBef>
        <a:spcAft>
          <a:spcPct val="0"/>
        </a:spcAft>
        <a:defRPr sz="3000">
          <a:solidFill>
            <a:schemeClr val="tx1"/>
          </a:solidFill>
          <a:latin typeface="Calibri" charset="0"/>
          <a:ea typeface="MS PGothic"/>
          <a:cs typeface="MS PGothic"/>
        </a:defRPr>
      </a:lvl3pPr>
      <a:lvl4pPr algn="ctr" rtl="0" eaLnBrk="0" fontAlgn="base" hangingPunct="0">
        <a:spcBef>
          <a:spcPct val="0"/>
        </a:spcBef>
        <a:spcAft>
          <a:spcPct val="0"/>
        </a:spcAft>
        <a:defRPr sz="3000">
          <a:solidFill>
            <a:schemeClr val="tx1"/>
          </a:solidFill>
          <a:latin typeface="Calibri" charset="0"/>
          <a:ea typeface="MS PGothic"/>
          <a:cs typeface="MS PGothic"/>
        </a:defRPr>
      </a:lvl4pPr>
      <a:lvl5pPr algn="ctr" rtl="0" eaLnBrk="0" fontAlgn="base" hangingPunct="0">
        <a:spcBef>
          <a:spcPct val="0"/>
        </a:spcBef>
        <a:spcAft>
          <a:spcPct val="0"/>
        </a:spcAft>
        <a:defRPr sz="3000">
          <a:solidFill>
            <a:schemeClr val="tx1"/>
          </a:solidFill>
          <a:latin typeface="Calibri" charset="0"/>
          <a:ea typeface="MS PGothic"/>
          <a:cs typeface="MS PGothic"/>
        </a:defRPr>
      </a:lvl5pPr>
      <a:lvl6pPr marL="457200" algn="ctr" rtl="0" fontAlgn="base">
        <a:spcBef>
          <a:spcPct val="0"/>
        </a:spcBef>
        <a:spcAft>
          <a:spcPct val="0"/>
        </a:spcAft>
        <a:defRPr sz="3000">
          <a:solidFill>
            <a:schemeClr val="tx1"/>
          </a:solidFill>
          <a:latin typeface="Calibri" charset="0"/>
          <a:ea typeface="ＭＳ Ｐゴシック" charset="-128"/>
        </a:defRPr>
      </a:lvl6pPr>
      <a:lvl7pPr marL="914400" algn="ctr" rtl="0" fontAlgn="base">
        <a:spcBef>
          <a:spcPct val="0"/>
        </a:spcBef>
        <a:spcAft>
          <a:spcPct val="0"/>
        </a:spcAft>
        <a:defRPr sz="3000">
          <a:solidFill>
            <a:schemeClr val="tx1"/>
          </a:solidFill>
          <a:latin typeface="Calibri" charset="0"/>
          <a:ea typeface="ＭＳ Ｐゴシック" charset="-128"/>
        </a:defRPr>
      </a:lvl7pPr>
      <a:lvl8pPr marL="1371600" algn="ctr" rtl="0" fontAlgn="base">
        <a:spcBef>
          <a:spcPct val="0"/>
        </a:spcBef>
        <a:spcAft>
          <a:spcPct val="0"/>
        </a:spcAft>
        <a:defRPr sz="3000">
          <a:solidFill>
            <a:schemeClr val="tx1"/>
          </a:solidFill>
          <a:latin typeface="Calibri" charset="0"/>
          <a:ea typeface="ＭＳ Ｐゴシック" charset="-128"/>
        </a:defRPr>
      </a:lvl8pPr>
      <a:lvl9pPr marL="1828800" algn="ctr" rtl="0" fontAlgn="base">
        <a:spcBef>
          <a:spcPct val="0"/>
        </a:spcBef>
        <a:spcAft>
          <a:spcPct val="0"/>
        </a:spcAft>
        <a:defRPr sz="3000">
          <a:solidFill>
            <a:schemeClr val="tx1"/>
          </a:solidFill>
          <a:latin typeface="Calibri" charset="0"/>
          <a:ea typeface="ＭＳ Ｐゴシック" charset="-128"/>
        </a:defRPr>
      </a:lvl9pPr>
    </p:titleStyle>
    <p:bodyStyle>
      <a:lvl1pPr marL="342900" indent="-342900" algn="l" rtl="0" eaLnBrk="0" fontAlgn="base" hangingPunct="0">
        <a:spcBef>
          <a:spcPct val="20000"/>
        </a:spcBef>
        <a:spcAft>
          <a:spcPct val="0"/>
        </a:spcAft>
        <a:buFont typeface="Arial" pitchFamily="34" charset="0"/>
        <a:buChar char="•"/>
        <a:defRPr sz="3200" kern="1200">
          <a:solidFill>
            <a:schemeClr val="tx1"/>
          </a:solidFill>
          <a:latin typeface="+mn-lt"/>
          <a:ea typeface="MS PGothic"/>
          <a:cs typeface="MS PGothic"/>
        </a:defRPr>
      </a:lvl1pPr>
      <a:lvl2pPr marL="742950" indent="-285750" algn="l" rtl="0" eaLnBrk="0" fontAlgn="base" hangingPunct="0">
        <a:spcBef>
          <a:spcPct val="20000"/>
        </a:spcBef>
        <a:spcAft>
          <a:spcPct val="0"/>
        </a:spcAft>
        <a:buFont typeface="Arial" pitchFamily="34" charset="0"/>
        <a:buChar char="–"/>
        <a:defRPr sz="2800" kern="1200">
          <a:solidFill>
            <a:schemeClr val="tx1"/>
          </a:solidFill>
          <a:latin typeface="+mn-lt"/>
          <a:ea typeface="MS PGothic"/>
          <a:cs typeface="MS PGothic"/>
        </a:defRPr>
      </a:lvl2pPr>
      <a:lvl3pPr marL="1143000" indent="-228600" algn="l" rtl="0" eaLnBrk="0" fontAlgn="base" hangingPunct="0">
        <a:spcBef>
          <a:spcPct val="20000"/>
        </a:spcBef>
        <a:spcAft>
          <a:spcPct val="0"/>
        </a:spcAft>
        <a:buFont typeface="Arial" pitchFamily="34" charset="0"/>
        <a:buChar char="•"/>
        <a:defRPr sz="2400" kern="1200">
          <a:solidFill>
            <a:schemeClr val="tx1"/>
          </a:solidFill>
          <a:latin typeface="+mn-lt"/>
          <a:ea typeface="MS PGothic"/>
          <a:cs typeface="MS PGothic"/>
        </a:defRPr>
      </a:lvl3pPr>
      <a:lvl4pPr marL="16002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a:cs typeface="MS PGothic"/>
        </a:defRPr>
      </a:lvl4pPr>
      <a:lvl5pPr marL="2057400" indent="-228600" algn="l" rtl="0" eaLnBrk="0" fontAlgn="base" hangingPunct="0">
        <a:spcBef>
          <a:spcPct val="20000"/>
        </a:spcBef>
        <a:spcAft>
          <a:spcPct val="0"/>
        </a:spcAft>
        <a:buFont typeface="Arial" pitchFamily="34" charset="0"/>
        <a:buChar char="»"/>
        <a:defRPr sz="2000" kern="1200">
          <a:solidFill>
            <a:schemeClr val="tx1"/>
          </a:solidFill>
          <a:latin typeface="+mn-lt"/>
          <a:ea typeface="MS PGothic"/>
          <a:cs typeface="MS PGothic"/>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upgrad.com/tutorials/software-engineering/dbms-tutorial/super-keys-in-dbms/"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upgrad.com/blog/primary-key-in-sql-databas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upgrad.com/tutorials/software-engineering/dbms-tutorial/candidate-key-in-dbms/"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www.upgrad.com/tutorials/software-engineering/dbms-tutorial/foreign-key-in-dbms/"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upgrad.com/tutorials/software-engineering/dbms-tutorial/composite-key-in-dbms/"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575BA-27F5-E0BF-4965-14E8955DE2E9}"/>
              </a:ext>
            </a:extLst>
          </p:cNvPr>
          <p:cNvSpPr>
            <a:spLocks noGrp="1"/>
          </p:cNvSpPr>
          <p:nvPr>
            <p:ph type="ctrTitle"/>
          </p:nvPr>
        </p:nvSpPr>
        <p:spPr/>
        <p:txBody>
          <a:bodyPr/>
          <a:lstStyle/>
          <a:p>
            <a:r>
              <a:rPr lang="en-IN" b="1" dirty="0"/>
              <a:t>Keys in DBMS</a:t>
            </a:r>
          </a:p>
        </p:txBody>
      </p:sp>
      <p:pic>
        <p:nvPicPr>
          <p:cNvPr id="5" name="Picture 4">
            <a:extLst>
              <a:ext uri="{FF2B5EF4-FFF2-40B4-BE49-F238E27FC236}">
                <a16:creationId xmlns:a16="http://schemas.microsoft.com/office/drawing/2014/main" id="{597FD695-3FA1-82AB-36C6-4A3FF374BBD9}"/>
              </a:ext>
            </a:extLst>
          </p:cNvPr>
          <p:cNvPicPr>
            <a:picLocks noChangeAspect="1"/>
          </p:cNvPicPr>
          <p:nvPr/>
        </p:nvPicPr>
        <p:blipFill>
          <a:blip r:embed="rId2"/>
          <a:stretch>
            <a:fillRect/>
          </a:stretch>
        </p:blipFill>
        <p:spPr>
          <a:xfrm>
            <a:off x="4419600" y="1066800"/>
            <a:ext cx="4572000" cy="4876800"/>
          </a:xfrm>
          <a:prstGeom prst="rect">
            <a:avLst/>
          </a:prstGeom>
        </p:spPr>
      </p:pic>
      <p:sp>
        <p:nvSpPr>
          <p:cNvPr id="4" name="AutoShape 2" descr="Lightbox">
            <a:extLst>
              <a:ext uri="{FF2B5EF4-FFF2-40B4-BE49-F238E27FC236}">
                <a16:creationId xmlns:a16="http://schemas.microsoft.com/office/drawing/2014/main" id="{1870BF0E-A777-8AAB-BAD1-A481BAF0FE08}"/>
              </a:ext>
            </a:extLst>
          </p:cNvPr>
          <p:cNvSpPr>
            <a:spLocks noGrp="1" noChangeAspect="1" noChangeArrowheads="1"/>
          </p:cNvSpPr>
          <p:nvPr>
            <p:ph type="subTitle" idx="1"/>
          </p:nvPr>
        </p:nvSpPr>
        <p:spPr bwMode="auto">
          <a:xfrm>
            <a:off x="76200" y="914400"/>
            <a:ext cx="8915400" cy="57150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r>
              <a:rPr lang="en-IN" dirty="0"/>
              <a:t>  </a:t>
            </a:r>
          </a:p>
        </p:txBody>
      </p:sp>
      <p:sp>
        <p:nvSpPr>
          <p:cNvPr id="7" name="TextBox 6">
            <a:extLst>
              <a:ext uri="{FF2B5EF4-FFF2-40B4-BE49-F238E27FC236}">
                <a16:creationId xmlns:a16="http://schemas.microsoft.com/office/drawing/2014/main" id="{4D474B21-BE8E-006A-3E44-9FA6DA75F238}"/>
              </a:ext>
            </a:extLst>
          </p:cNvPr>
          <p:cNvSpPr txBox="1"/>
          <p:nvPr/>
        </p:nvSpPr>
        <p:spPr>
          <a:xfrm>
            <a:off x="105103" y="1174725"/>
            <a:ext cx="4238297" cy="3968779"/>
          </a:xfrm>
          <a:prstGeom prst="rect">
            <a:avLst/>
          </a:prstGeom>
          <a:noFill/>
        </p:spPr>
        <p:txBody>
          <a:bodyPr wrap="square">
            <a:spAutoFit/>
          </a:bodyPr>
          <a:lstStyle/>
          <a:p>
            <a:pPr marL="342900" indent="-342900" algn="just" fontAlgn="base">
              <a:lnSpc>
                <a:spcPct val="150000"/>
              </a:lnSpc>
              <a:spcAft>
                <a:spcPts val="1800"/>
              </a:spcAft>
              <a:buFont typeface="Arial" panose="020B0604020202020204" pitchFamily="34" charset="0"/>
              <a:buChar char="•"/>
            </a:pPr>
            <a:r>
              <a:rPr lang="en-IN" sz="2000" b="0" i="0" dirty="0">
                <a:solidFill>
                  <a:srgbClr val="273239"/>
                </a:solidFill>
                <a:effectLst/>
                <a:latin typeface="+mn-lt"/>
              </a:rPr>
              <a:t>Keys are fundamental components that ensure data integrity, uniqueness and efficient access. It is widely used to identify the tuples(rows) uniquely in the table.</a:t>
            </a:r>
          </a:p>
          <a:p>
            <a:pPr marL="342900" indent="-342900" algn="just" fontAlgn="base">
              <a:lnSpc>
                <a:spcPct val="150000"/>
              </a:lnSpc>
              <a:spcAft>
                <a:spcPts val="1800"/>
              </a:spcAft>
              <a:buFont typeface="Arial" panose="020B0604020202020204" pitchFamily="34" charset="0"/>
              <a:buChar char="•"/>
            </a:pPr>
            <a:r>
              <a:rPr lang="en-IN" sz="2000" b="0" i="0" dirty="0">
                <a:solidFill>
                  <a:srgbClr val="273239"/>
                </a:solidFill>
                <a:effectLst/>
                <a:latin typeface="+mn-lt"/>
              </a:rPr>
              <a:t>We also use keys to set up relations amongst various columns and tables of a relational database.</a:t>
            </a:r>
          </a:p>
        </p:txBody>
      </p:sp>
    </p:spTree>
    <p:extLst>
      <p:ext uri="{BB962C8B-B14F-4D97-AF65-F5344CB8AC3E}">
        <p14:creationId xmlns:p14="http://schemas.microsoft.com/office/powerpoint/2010/main" val="7682626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F2EA8-5D20-61AF-EFA1-6419F0686D64}"/>
              </a:ext>
            </a:extLst>
          </p:cNvPr>
          <p:cNvSpPr>
            <a:spLocks noGrp="1"/>
          </p:cNvSpPr>
          <p:nvPr>
            <p:ph type="title"/>
          </p:nvPr>
        </p:nvSpPr>
        <p:spPr/>
        <p:txBody>
          <a:bodyPr/>
          <a:lstStyle/>
          <a:p>
            <a:br>
              <a:rPr lang="en-IN" b="1" dirty="0"/>
            </a:br>
            <a:r>
              <a:rPr lang="en-IN" b="1" dirty="0"/>
              <a:t>What’s the Need for Keys in DBMS?</a:t>
            </a:r>
            <a:br>
              <a:rPr lang="en-IN" b="1" dirty="0"/>
            </a:br>
            <a:endParaRPr lang="en-IN" dirty="0"/>
          </a:p>
        </p:txBody>
      </p:sp>
      <p:sp>
        <p:nvSpPr>
          <p:cNvPr id="3" name="Content Placeholder 2">
            <a:extLst>
              <a:ext uri="{FF2B5EF4-FFF2-40B4-BE49-F238E27FC236}">
                <a16:creationId xmlns:a16="http://schemas.microsoft.com/office/drawing/2014/main" id="{37C30508-FF3D-2F69-29FC-4402A720B1B6}"/>
              </a:ext>
            </a:extLst>
          </p:cNvPr>
          <p:cNvSpPr>
            <a:spLocks noGrp="1"/>
          </p:cNvSpPr>
          <p:nvPr>
            <p:ph idx="1"/>
          </p:nvPr>
        </p:nvSpPr>
        <p:spPr>
          <a:xfrm>
            <a:off x="114300" y="861848"/>
            <a:ext cx="8915400" cy="5730875"/>
          </a:xfrm>
        </p:spPr>
        <p:txBody>
          <a:bodyPr/>
          <a:lstStyle/>
          <a:p>
            <a:pPr algn="just">
              <a:lnSpc>
                <a:spcPct val="150000"/>
              </a:lnSpc>
            </a:pPr>
            <a:r>
              <a:rPr lang="en-IN" sz="2000" b="1" dirty="0"/>
              <a:t>Unique identification</a:t>
            </a:r>
            <a:r>
              <a:rPr lang="en-IN" sz="2000" dirty="0"/>
              <a:t>: A key ensures you don’t mix up two rows or treat them as the same entry.</a:t>
            </a:r>
          </a:p>
          <a:p>
            <a:pPr algn="just">
              <a:lnSpc>
                <a:spcPct val="150000"/>
              </a:lnSpc>
            </a:pPr>
            <a:r>
              <a:rPr lang="en-IN" sz="2000" b="1" dirty="0"/>
              <a:t>Accurate relationships</a:t>
            </a:r>
            <a:r>
              <a:rPr lang="en-IN" sz="2000" dirty="0"/>
              <a:t>: Different tables can connect in an orderly way, preventing stray links or mismatched data.</a:t>
            </a:r>
          </a:p>
          <a:p>
            <a:pPr algn="just">
              <a:lnSpc>
                <a:spcPct val="150000"/>
              </a:lnSpc>
            </a:pPr>
            <a:r>
              <a:rPr lang="en-IN" sz="2000" b="1" dirty="0"/>
              <a:t>Quicker searches</a:t>
            </a:r>
            <a:r>
              <a:rPr lang="en-IN" sz="2000" dirty="0"/>
              <a:t>: You can find specific rows more easily, which means less scrolling and more precision.</a:t>
            </a:r>
          </a:p>
          <a:p>
            <a:pPr algn="just">
              <a:lnSpc>
                <a:spcPct val="150000"/>
              </a:lnSpc>
            </a:pPr>
            <a:r>
              <a:rPr lang="en-IN" sz="2000" b="1" dirty="0"/>
              <a:t>Fewer duplicates</a:t>
            </a:r>
            <a:r>
              <a:rPr lang="en-IN" sz="2000" dirty="0"/>
              <a:t>: A unique marker keeps the table from piling on identical rows that only add clutter.</a:t>
            </a:r>
          </a:p>
          <a:p>
            <a:pPr algn="just">
              <a:lnSpc>
                <a:spcPct val="150000"/>
              </a:lnSpc>
            </a:pPr>
            <a:r>
              <a:rPr lang="en-IN" sz="2000" b="1" dirty="0"/>
              <a:t>Reliable integrity</a:t>
            </a:r>
            <a:r>
              <a:rPr lang="en-IN" sz="2000" dirty="0"/>
              <a:t>: If you rely on correct data for projects or queries, a key makes each record trustworthy and consistent.</a:t>
            </a:r>
          </a:p>
          <a:p>
            <a:endParaRPr lang="en-IN" dirty="0"/>
          </a:p>
        </p:txBody>
      </p:sp>
      <p:sp>
        <p:nvSpPr>
          <p:cNvPr id="4" name="Slide Number Placeholder 3">
            <a:extLst>
              <a:ext uri="{FF2B5EF4-FFF2-40B4-BE49-F238E27FC236}">
                <a16:creationId xmlns:a16="http://schemas.microsoft.com/office/drawing/2014/main" id="{E286ACDF-62DF-E675-9E0A-ADFEB6D3567F}"/>
              </a:ext>
            </a:extLst>
          </p:cNvPr>
          <p:cNvSpPr>
            <a:spLocks noGrp="1"/>
          </p:cNvSpPr>
          <p:nvPr>
            <p:ph type="sldNum" sz="quarter" idx="12"/>
          </p:nvPr>
        </p:nvSpPr>
        <p:spPr/>
        <p:txBody>
          <a:bodyPr/>
          <a:lstStyle/>
          <a:p>
            <a:fld id="{8BD8F058-9003-4658-AA47-7D4800AF7EA2}" type="slidenum">
              <a:rPr lang="en-US" smtClean="0"/>
              <a:pPr/>
              <a:t>2</a:t>
            </a:fld>
            <a:endParaRPr lang="en-US" dirty="0"/>
          </a:p>
        </p:txBody>
      </p:sp>
    </p:spTree>
    <p:extLst>
      <p:ext uri="{BB962C8B-B14F-4D97-AF65-F5344CB8AC3E}">
        <p14:creationId xmlns:p14="http://schemas.microsoft.com/office/powerpoint/2010/main" val="1047666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A79FBA-6889-BA50-6CE2-97FC8635E13F}"/>
              </a:ext>
            </a:extLst>
          </p:cNvPr>
          <p:cNvSpPr>
            <a:spLocks noGrp="1"/>
          </p:cNvSpPr>
          <p:nvPr>
            <p:ph type="ctrTitle"/>
          </p:nvPr>
        </p:nvSpPr>
        <p:spPr/>
        <p:txBody>
          <a:bodyPr/>
          <a:lstStyle/>
          <a:p>
            <a:r>
              <a:rPr lang="en-IN" dirty="0"/>
              <a:t>Keys in DBMS</a:t>
            </a:r>
          </a:p>
        </p:txBody>
      </p:sp>
      <p:sp>
        <p:nvSpPr>
          <p:cNvPr id="3" name="Subtitle 2">
            <a:extLst>
              <a:ext uri="{FF2B5EF4-FFF2-40B4-BE49-F238E27FC236}">
                <a16:creationId xmlns:a16="http://schemas.microsoft.com/office/drawing/2014/main" id="{3060C861-EA43-DEC7-3208-EC5252F6754A}"/>
              </a:ext>
            </a:extLst>
          </p:cNvPr>
          <p:cNvSpPr>
            <a:spLocks noGrp="1"/>
          </p:cNvSpPr>
          <p:nvPr>
            <p:ph type="subTitle" idx="1"/>
          </p:nvPr>
        </p:nvSpPr>
        <p:spPr>
          <a:xfrm>
            <a:off x="152400" y="1066800"/>
            <a:ext cx="8839200" cy="5562600"/>
          </a:xfrm>
        </p:spPr>
        <p:txBody>
          <a:bodyPr/>
          <a:lstStyle/>
          <a:p>
            <a:endParaRPr lang="en-IN" dirty="0"/>
          </a:p>
        </p:txBody>
      </p:sp>
      <p:graphicFrame>
        <p:nvGraphicFramePr>
          <p:cNvPr id="7" name="Table 6">
            <a:extLst>
              <a:ext uri="{FF2B5EF4-FFF2-40B4-BE49-F238E27FC236}">
                <a16:creationId xmlns:a16="http://schemas.microsoft.com/office/drawing/2014/main" id="{D88CC5E4-0766-DC63-719B-B3F5BE68C8A7}"/>
              </a:ext>
            </a:extLst>
          </p:cNvPr>
          <p:cNvGraphicFramePr>
            <a:graphicFrameLocks noGrp="1"/>
          </p:cNvGraphicFramePr>
          <p:nvPr>
            <p:extLst>
              <p:ext uri="{D42A27DB-BD31-4B8C-83A1-F6EECF244321}">
                <p14:modId xmlns:p14="http://schemas.microsoft.com/office/powerpoint/2010/main" val="3238604450"/>
              </p:ext>
            </p:extLst>
          </p:nvPr>
        </p:nvGraphicFramePr>
        <p:xfrm>
          <a:off x="457200" y="1192839"/>
          <a:ext cx="8534400" cy="5596257"/>
        </p:xfrm>
        <a:graphic>
          <a:graphicData uri="http://schemas.openxmlformats.org/drawingml/2006/table">
            <a:tbl>
              <a:tblPr/>
              <a:tblGrid>
                <a:gridCol w="1981200">
                  <a:extLst>
                    <a:ext uri="{9D8B030D-6E8A-4147-A177-3AD203B41FA5}">
                      <a16:colId xmlns:a16="http://schemas.microsoft.com/office/drawing/2014/main" val="1297427927"/>
                    </a:ext>
                  </a:extLst>
                </a:gridCol>
                <a:gridCol w="6553200">
                  <a:extLst>
                    <a:ext uri="{9D8B030D-6E8A-4147-A177-3AD203B41FA5}">
                      <a16:colId xmlns:a16="http://schemas.microsoft.com/office/drawing/2014/main" val="2394659401"/>
                    </a:ext>
                  </a:extLst>
                </a:gridCol>
              </a:tblGrid>
              <a:tr h="497379">
                <a:tc>
                  <a:txBody>
                    <a:bodyPr/>
                    <a:lstStyle/>
                    <a:p>
                      <a:pPr algn="ctr">
                        <a:lnSpc>
                          <a:spcPts val="1500"/>
                        </a:lnSpc>
                        <a:buNone/>
                      </a:pPr>
                      <a:r>
                        <a:rPr lang="en-IN" sz="2000" b="1" dirty="0">
                          <a:solidFill>
                            <a:srgbClr val="333333"/>
                          </a:solidFill>
                          <a:effectLst/>
                          <a:latin typeface="+mn-lt"/>
                        </a:rPr>
                        <a:t>Keys in DBMS</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sz="2000" b="1" dirty="0">
                          <a:solidFill>
                            <a:srgbClr val="333333"/>
                          </a:solidFill>
                          <a:effectLst/>
                          <a:latin typeface="+mn-lt"/>
                        </a:rPr>
                        <a:t>Description</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90908241"/>
                  </a:ext>
                </a:extLst>
              </a:tr>
              <a:tr h="1205382">
                <a:tc>
                  <a:txBody>
                    <a:bodyPr/>
                    <a:lstStyle/>
                    <a:p>
                      <a:pPr>
                        <a:lnSpc>
                          <a:spcPts val="1350"/>
                        </a:lnSpc>
                      </a:pPr>
                      <a:r>
                        <a:rPr lang="en-IN" sz="2000" b="0" dirty="0">
                          <a:solidFill>
                            <a:srgbClr val="333333"/>
                          </a:solidFill>
                          <a:effectLst/>
                          <a:latin typeface="+mn-lt"/>
                        </a:rPr>
                        <a:t>Super Key</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50000"/>
                        </a:lnSpc>
                      </a:pPr>
                      <a:r>
                        <a:rPr lang="en-IN" sz="2000" dirty="0">
                          <a:solidFill>
                            <a:srgbClr val="000000"/>
                          </a:solidFill>
                          <a:effectLst/>
                          <a:latin typeface="+mn-lt"/>
                        </a:rPr>
                        <a:t>One or more columns that can single out every row, even if they include extra attributes not strictly needed for uniqueness.</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75403231"/>
                  </a:ext>
                </a:extLst>
              </a:tr>
              <a:tr h="1234795">
                <a:tc>
                  <a:txBody>
                    <a:bodyPr/>
                    <a:lstStyle/>
                    <a:p>
                      <a:pPr>
                        <a:lnSpc>
                          <a:spcPts val="1350"/>
                        </a:lnSpc>
                      </a:pPr>
                      <a:r>
                        <a:rPr lang="en-IN" sz="2000" b="0" dirty="0">
                          <a:solidFill>
                            <a:srgbClr val="333333"/>
                          </a:solidFill>
                          <a:effectLst/>
                          <a:latin typeface="+mn-lt"/>
                        </a:rPr>
                        <a:t>Primary Key</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50000"/>
                        </a:lnSpc>
                      </a:pPr>
                      <a:r>
                        <a:rPr lang="en-IN" sz="2000" dirty="0">
                          <a:solidFill>
                            <a:srgbClr val="000000"/>
                          </a:solidFill>
                          <a:effectLst/>
                          <a:latin typeface="+mn-lt"/>
                        </a:rPr>
                        <a:t>The minimal set of attributes needed to identify a row without any duplicates or null values.</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867085317"/>
                  </a:ext>
                </a:extLst>
              </a:tr>
              <a:tr h="1043671">
                <a:tc>
                  <a:txBody>
                    <a:bodyPr/>
                    <a:lstStyle/>
                    <a:p>
                      <a:pPr>
                        <a:lnSpc>
                          <a:spcPts val="1350"/>
                        </a:lnSpc>
                      </a:pPr>
                      <a:r>
                        <a:rPr lang="en-IN" sz="2000" b="0" dirty="0">
                          <a:solidFill>
                            <a:srgbClr val="333333"/>
                          </a:solidFill>
                          <a:effectLst/>
                          <a:latin typeface="+mn-lt"/>
                        </a:rPr>
                        <a:t>Candidate Key</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50000"/>
                        </a:lnSpc>
                      </a:pPr>
                      <a:r>
                        <a:rPr lang="en-IN" sz="2000" dirty="0">
                          <a:solidFill>
                            <a:srgbClr val="000000"/>
                          </a:solidFill>
                          <a:effectLst/>
                          <a:latin typeface="+mn-lt"/>
                        </a:rPr>
                        <a:t>Any key that qualifies to become a primary key because it’s both unique and minimal.</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845830249"/>
                  </a:ext>
                </a:extLst>
              </a:tr>
              <a:tr h="1234795">
                <a:tc>
                  <a:txBody>
                    <a:bodyPr/>
                    <a:lstStyle/>
                    <a:p>
                      <a:pPr>
                        <a:lnSpc>
                          <a:spcPts val="1350"/>
                        </a:lnSpc>
                      </a:pPr>
                      <a:r>
                        <a:rPr lang="en-IN" sz="2000" b="0" dirty="0">
                          <a:solidFill>
                            <a:srgbClr val="333333"/>
                          </a:solidFill>
                          <a:effectLst/>
                          <a:latin typeface="+mn-lt"/>
                        </a:rPr>
                        <a:t>Alternate Key</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50000"/>
                        </a:lnSpc>
                      </a:pPr>
                      <a:r>
                        <a:rPr lang="en-IN" sz="2000" dirty="0">
                          <a:solidFill>
                            <a:srgbClr val="000000"/>
                          </a:solidFill>
                          <a:effectLst/>
                          <a:latin typeface="+mn-lt"/>
                        </a:rPr>
                        <a:t>A candidate key not used as the primary key. It still uniquely identifies rows, but it isn’t the main choice for the table.</a:t>
                      </a:r>
                      <a:endParaRPr lang="en-IN" sz="2000" dirty="0">
                        <a:solidFill>
                          <a:srgbClr val="333333"/>
                        </a:solidFill>
                        <a:effectLst/>
                        <a:latin typeface="+mn-lt"/>
                      </a:endParaRPr>
                    </a:p>
                  </a:txBody>
                  <a:tcPr marL="109444" marR="109444" marT="109444" marB="10944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560398511"/>
                  </a:ext>
                </a:extLst>
              </a:tr>
            </a:tbl>
          </a:graphicData>
        </a:graphic>
      </p:graphicFrame>
    </p:spTree>
    <p:extLst>
      <p:ext uri="{BB962C8B-B14F-4D97-AF65-F5344CB8AC3E}">
        <p14:creationId xmlns:p14="http://schemas.microsoft.com/office/powerpoint/2010/main" val="3389152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A10CB-6232-1643-5DD9-12CB01F41189}"/>
              </a:ext>
            </a:extLst>
          </p:cNvPr>
          <p:cNvSpPr>
            <a:spLocks noGrp="1"/>
          </p:cNvSpPr>
          <p:nvPr>
            <p:ph type="title"/>
          </p:nvPr>
        </p:nvSpPr>
        <p:spPr/>
        <p:txBody>
          <a:bodyPr/>
          <a:lstStyle/>
          <a:p>
            <a:endParaRPr lang="en-IN" dirty="0"/>
          </a:p>
        </p:txBody>
      </p:sp>
      <p:graphicFrame>
        <p:nvGraphicFramePr>
          <p:cNvPr id="5" name="Content Placeholder 4">
            <a:extLst>
              <a:ext uri="{FF2B5EF4-FFF2-40B4-BE49-F238E27FC236}">
                <a16:creationId xmlns:a16="http://schemas.microsoft.com/office/drawing/2014/main" id="{57E022E8-12FB-F0C2-8360-A2391911856A}"/>
              </a:ext>
            </a:extLst>
          </p:cNvPr>
          <p:cNvGraphicFramePr>
            <a:graphicFrameLocks noGrp="1"/>
          </p:cNvGraphicFramePr>
          <p:nvPr>
            <p:ph idx="1"/>
            <p:extLst>
              <p:ext uri="{D42A27DB-BD31-4B8C-83A1-F6EECF244321}">
                <p14:modId xmlns:p14="http://schemas.microsoft.com/office/powerpoint/2010/main" val="105401115"/>
              </p:ext>
            </p:extLst>
          </p:nvPr>
        </p:nvGraphicFramePr>
        <p:xfrm>
          <a:off x="228600" y="990600"/>
          <a:ext cx="8686800" cy="5439032"/>
        </p:xfrm>
        <a:graphic>
          <a:graphicData uri="http://schemas.openxmlformats.org/drawingml/2006/table">
            <a:tbl>
              <a:tblPr/>
              <a:tblGrid>
                <a:gridCol w="2057400">
                  <a:extLst>
                    <a:ext uri="{9D8B030D-6E8A-4147-A177-3AD203B41FA5}">
                      <a16:colId xmlns:a16="http://schemas.microsoft.com/office/drawing/2014/main" val="2479981314"/>
                    </a:ext>
                  </a:extLst>
                </a:gridCol>
                <a:gridCol w="6629400">
                  <a:extLst>
                    <a:ext uri="{9D8B030D-6E8A-4147-A177-3AD203B41FA5}">
                      <a16:colId xmlns:a16="http://schemas.microsoft.com/office/drawing/2014/main" val="1052607377"/>
                    </a:ext>
                  </a:extLst>
                </a:gridCol>
              </a:tblGrid>
              <a:tr h="1147117">
                <a:tc>
                  <a:txBody>
                    <a:bodyPr/>
                    <a:lstStyle/>
                    <a:p>
                      <a:pPr>
                        <a:lnSpc>
                          <a:spcPct val="150000"/>
                        </a:lnSpc>
                      </a:pPr>
                      <a:r>
                        <a:rPr lang="en-IN" sz="2000" b="0" dirty="0">
                          <a:solidFill>
                            <a:srgbClr val="333333"/>
                          </a:solidFill>
                          <a:effectLst/>
                          <a:latin typeface="+mn-lt"/>
                        </a:rPr>
                        <a:t>Foreign Key</a:t>
                      </a:r>
                      <a:endParaRPr lang="en-IN" sz="2000" dirty="0">
                        <a:solidFill>
                          <a:srgbClr val="333333"/>
                        </a:solidFill>
                        <a:effectLst/>
                        <a:latin typeface="+mn-lt"/>
                      </a:endParaRPr>
                    </a:p>
                  </a:txBody>
                  <a:tcPr marL="115618" marR="115618" marT="115618" marB="11561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50000"/>
                        </a:lnSpc>
                      </a:pPr>
                      <a:r>
                        <a:rPr lang="en-IN" sz="2000" dirty="0">
                          <a:solidFill>
                            <a:srgbClr val="000000"/>
                          </a:solidFill>
                          <a:effectLst/>
                          <a:latin typeface="+mn-lt"/>
                        </a:rPr>
                        <a:t>A column in one table that matches a primary key in another table to keep their data aligned.</a:t>
                      </a:r>
                      <a:endParaRPr lang="en-IN" sz="2000" dirty="0">
                        <a:solidFill>
                          <a:srgbClr val="333333"/>
                        </a:solidFill>
                        <a:effectLst/>
                        <a:latin typeface="+mn-lt"/>
                      </a:endParaRPr>
                    </a:p>
                  </a:txBody>
                  <a:tcPr marL="115618" marR="115618" marT="115618" marB="11561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658182327"/>
                  </a:ext>
                </a:extLst>
              </a:tr>
              <a:tr h="1367483">
                <a:tc>
                  <a:txBody>
                    <a:bodyPr/>
                    <a:lstStyle/>
                    <a:p>
                      <a:pPr>
                        <a:lnSpc>
                          <a:spcPct val="150000"/>
                        </a:lnSpc>
                      </a:pPr>
                      <a:r>
                        <a:rPr lang="en-IN" sz="2000" b="0" dirty="0">
                          <a:solidFill>
                            <a:srgbClr val="333333"/>
                          </a:solidFill>
                          <a:effectLst/>
                          <a:latin typeface="+mn-lt"/>
                        </a:rPr>
                        <a:t>Composite Key</a:t>
                      </a:r>
                      <a:endParaRPr lang="en-IN" sz="2000" dirty="0">
                        <a:solidFill>
                          <a:srgbClr val="333333"/>
                        </a:solidFill>
                        <a:effectLst/>
                        <a:latin typeface="+mn-lt"/>
                      </a:endParaRPr>
                    </a:p>
                  </a:txBody>
                  <a:tcPr marL="115618" marR="115618" marT="115618" marB="11561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50000"/>
                        </a:lnSpc>
                      </a:pPr>
                      <a:r>
                        <a:rPr lang="en-IN" sz="2000" dirty="0">
                          <a:solidFill>
                            <a:srgbClr val="000000"/>
                          </a:solidFill>
                          <a:effectLst/>
                          <a:latin typeface="+mn-lt"/>
                        </a:rPr>
                        <a:t>Two or more columns combined to form a unique identifier. Helpful when no single column can do the job on its own.</a:t>
                      </a:r>
                      <a:endParaRPr lang="en-IN" sz="2000" dirty="0">
                        <a:solidFill>
                          <a:srgbClr val="333333"/>
                        </a:solidFill>
                        <a:effectLst/>
                        <a:latin typeface="+mn-lt"/>
                      </a:endParaRPr>
                    </a:p>
                  </a:txBody>
                  <a:tcPr marL="115618" marR="115618" marT="115618" marB="11561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797923893"/>
                  </a:ext>
                </a:extLst>
              </a:tr>
              <a:tr h="1567250">
                <a:tc>
                  <a:txBody>
                    <a:bodyPr/>
                    <a:lstStyle/>
                    <a:p>
                      <a:pPr>
                        <a:lnSpc>
                          <a:spcPct val="150000"/>
                        </a:lnSpc>
                      </a:pPr>
                      <a:r>
                        <a:rPr lang="en-IN" sz="2000" b="0" dirty="0">
                          <a:solidFill>
                            <a:srgbClr val="333333"/>
                          </a:solidFill>
                          <a:effectLst/>
                          <a:latin typeface="+mn-lt"/>
                        </a:rPr>
                        <a:t>Unique Key</a:t>
                      </a:r>
                      <a:endParaRPr lang="en-IN" sz="2000" dirty="0">
                        <a:solidFill>
                          <a:srgbClr val="333333"/>
                        </a:solidFill>
                        <a:effectLst/>
                        <a:latin typeface="+mn-lt"/>
                      </a:endParaRPr>
                    </a:p>
                  </a:txBody>
                  <a:tcPr marL="115618" marR="115618" marT="115618" marB="11561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50000"/>
                        </a:lnSpc>
                      </a:pPr>
                      <a:r>
                        <a:rPr lang="en-IN" sz="2000" dirty="0">
                          <a:solidFill>
                            <a:srgbClr val="000000"/>
                          </a:solidFill>
                          <a:effectLst/>
                          <a:latin typeface="+mn-lt"/>
                        </a:rPr>
                        <a:t>Demands that all values differ within a column (or set of columns), though it typically allows one null. It prevents repeated entries.</a:t>
                      </a:r>
                      <a:endParaRPr lang="en-IN" sz="2000" dirty="0">
                        <a:solidFill>
                          <a:srgbClr val="333333"/>
                        </a:solidFill>
                        <a:effectLst/>
                        <a:latin typeface="+mn-lt"/>
                      </a:endParaRPr>
                    </a:p>
                  </a:txBody>
                  <a:tcPr marL="115618" marR="115618" marT="115618" marB="11561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587047980"/>
                  </a:ext>
                </a:extLst>
              </a:tr>
              <a:tr h="1357182">
                <a:tc>
                  <a:txBody>
                    <a:bodyPr/>
                    <a:lstStyle/>
                    <a:p>
                      <a:pPr>
                        <a:lnSpc>
                          <a:spcPct val="150000"/>
                        </a:lnSpc>
                      </a:pPr>
                      <a:r>
                        <a:rPr lang="en-IN" sz="2000" b="0" dirty="0">
                          <a:solidFill>
                            <a:srgbClr val="333333"/>
                          </a:solidFill>
                          <a:effectLst/>
                          <a:latin typeface="+mn-lt"/>
                        </a:rPr>
                        <a:t>Surrogate Key</a:t>
                      </a:r>
                      <a:endParaRPr lang="en-IN" sz="2000" dirty="0">
                        <a:solidFill>
                          <a:srgbClr val="333333"/>
                        </a:solidFill>
                        <a:effectLst/>
                        <a:latin typeface="+mn-lt"/>
                      </a:endParaRPr>
                    </a:p>
                  </a:txBody>
                  <a:tcPr marL="115618" marR="115618" marT="115618" marB="11561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50000"/>
                        </a:lnSpc>
                      </a:pPr>
                      <a:r>
                        <a:rPr lang="en-IN" sz="2000" dirty="0">
                          <a:solidFill>
                            <a:srgbClr val="000000"/>
                          </a:solidFill>
                          <a:effectLst/>
                          <a:latin typeface="+mn-lt"/>
                        </a:rPr>
                        <a:t>A system-generated key with no direct real-world meaning, often auto-incremented or assigned by the database itself.</a:t>
                      </a:r>
                      <a:endParaRPr lang="en-IN" sz="2000" dirty="0">
                        <a:solidFill>
                          <a:srgbClr val="333333"/>
                        </a:solidFill>
                        <a:effectLst/>
                        <a:latin typeface="+mn-lt"/>
                      </a:endParaRPr>
                    </a:p>
                  </a:txBody>
                  <a:tcPr marL="115618" marR="115618" marT="115618" marB="115618"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756195243"/>
                  </a:ext>
                </a:extLst>
              </a:tr>
            </a:tbl>
          </a:graphicData>
        </a:graphic>
      </p:graphicFrame>
      <p:sp>
        <p:nvSpPr>
          <p:cNvPr id="4" name="Slide Number Placeholder 3">
            <a:extLst>
              <a:ext uri="{FF2B5EF4-FFF2-40B4-BE49-F238E27FC236}">
                <a16:creationId xmlns:a16="http://schemas.microsoft.com/office/drawing/2014/main" id="{F768D49A-AB32-ED46-B719-7BC8C60A4F36}"/>
              </a:ext>
            </a:extLst>
          </p:cNvPr>
          <p:cNvSpPr>
            <a:spLocks noGrp="1"/>
          </p:cNvSpPr>
          <p:nvPr>
            <p:ph type="sldNum" sz="quarter" idx="12"/>
          </p:nvPr>
        </p:nvSpPr>
        <p:spPr/>
        <p:txBody>
          <a:bodyPr/>
          <a:lstStyle/>
          <a:p>
            <a:fld id="{8BD8F058-9003-4658-AA47-7D4800AF7EA2}" type="slidenum">
              <a:rPr lang="en-US" smtClean="0"/>
              <a:pPr/>
              <a:t>4</a:t>
            </a:fld>
            <a:endParaRPr lang="en-US" dirty="0"/>
          </a:p>
        </p:txBody>
      </p:sp>
    </p:spTree>
    <p:extLst>
      <p:ext uri="{BB962C8B-B14F-4D97-AF65-F5344CB8AC3E}">
        <p14:creationId xmlns:p14="http://schemas.microsoft.com/office/powerpoint/2010/main" val="8517406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EC034-319F-F5FF-8E8C-50F0FF1625EC}"/>
              </a:ext>
            </a:extLst>
          </p:cNvPr>
          <p:cNvSpPr>
            <a:spLocks noGrp="1"/>
          </p:cNvSpPr>
          <p:nvPr>
            <p:ph type="title"/>
          </p:nvPr>
        </p:nvSpPr>
        <p:spPr/>
        <p:txBody>
          <a:bodyPr/>
          <a:lstStyle/>
          <a:p>
            <a:r>
              <a:rPr lang="en-IN" dirty="0"/>
              <a:t>Super Key</a:t>
            </a:r>
          </a:p>
        </p:txBody>
      </p:sp>
      <p:pic>
        <p:nvPicPr>
          <p:cNvPr id="5" name="Content Placeholder 4">
            <a:extLst>
              <a:ext uri="{FF2B5EF4-FFF2-40B4-BE49-F238E27FC236}">
                <a16:creationId xmlns:a16="http://schemas.microsoft.com/office/drawing/2014/main" id="{12410D11-F5FB-24B1-42AC-D2BD6BF13EAB}"/>
              </a:ext>
            </a:extLst>
          </p:cNvPr>
          <p:cNvPicPr>
            <a:picLocks noGrp="1" noChangeAspect="1"/>
          </p:cNvPicPr>
          <p:nvPr>
            <p:ph idx="1"/>
          </p:nvPr>
        </p:nvPicPr>
        <p:blipFill>
          <a:blip r:embed="rId2"/>
          <a:stretch>
            <a:fillRect/>
          </a:stretch>
        </p:blipFill>
        <p:spPr>
          <a:xfrm>
            <a:off x="4419600" y="1143000"/>
            <a:ext cx="4419600" cy="4114800"/>
          </a:xfrm>
          <a:prstGeom prst="rect">
            <a:avLst/>
          </a:prstGeom>
        </p:spPr>
      </p:pic>
      <p:sp>
        <p:nvSpPr>
          <p:cNvPr id="4" name="Slide Number Placeholder 3">
            <a:extLst>
              <a:ext uri="{FF2B5EF4-FFF2-40B4-BE49-F238E27FC236}">
                <a16:creationId xmlns:a16="http://schemas.microsoft.com/office/drawing/2014/main" id="{304EDDF8-BF7D-DFEE-CF34-B60F483C590C}"/>
              </a:ext>
            </a:extLst>
          </p:cNvPr>
          <p:cNvSpPr>
            <a:spLocks noGrp="1"/>
          </p:cNvSpPr>
          <p:nvPr>
            <p:ph type="sldNum" sz="quarter" idx="12"/>
          </p:nvPr>
        </p:nvSpPr>
        <p:spPr/>
        <p:txBody>
          <a:bodyPr/>
          <a:lstStyle/>
          <a:p>
            <a:fld id="{8BD8F058-9003-4658-AA47-7D4800AF7EA2}" type="slidenum">
              <a:rPr lang="en-US" smtClean="0"/>
              <a:pPr/>
              <a:t>5</a:t>
            </a:fld>
            <a:endParaRPr lang="en-US" dirty="0"/>
          </a:p>
        </p:txBody>
      </p:sp>
      <p:sp>
        <p:nvSpPr>
          <p:cNvPr id="7" name="TextBox 6">
            <a:extLst>
              <a:ext uri="{FF2B5EF4-FFF2-40B4-BE49-F238E27FC236}">
                <a16:creationId xmlns:a16="http://schemas.microsoft.com/office/drawing/2014/main" id="{2264AB88-ED01-C4A5-E3E7-E074079F8572}"/>
              </a:ext>
            </a:extLst>
          </p:cNvPr>
          <p:cNvSpPr txBox="1"/>
          <p:nvPr/>
        </p:nvSpPr>
        <p:spPr>
          <a:xfrm>
            <a:off x="533400" y="1219200"/>
            <a:ext cx="3886200" cy="4199611"/>
          </a:xfrm>
          <a:prstGeom prst="rect">
            <a:avLst/>
          </a:prstGeom>
          <a:noFill/>
        </p:spPr>
        <p:txBody>
          <a:bodyPr wrap="square">
            <a:spAutoFit/>
          </a:bodyPr>
          <a:lstStyle/>
          <a:p>
            <a:pPr algn="just">
              <a:lnSpc>
                <a:spcPct val="150000"/>
              </a:lnSpc>
            </a:pPr>
            <a:r>
              <a:rPr lang="en-IN" sz="2000" b="0" i="0" u="sng" dirty="0">
                <a:solidFill>
                  <a:srgbClr val="1155CC"/>
                </a:solidFill>
                <a:effectLst/>
                <a:latin typeface="+mn-lt"/>
                <a:hlinkClick r:id="rId3"/>
              </a:rPr>
              <a:t>A super key</a:t>
            </a:r>
            <a:r>
              <a:rPr lang="en-IN" sz="2000" b="0" i="0" dirty="0">
                <a:solidFill>
                  <a:srgbClr val="000000"/>
                </a:solidFill>
                <a:effectLst/>
                <a:latin typeface="+mn-lt"/>
              </a:rPr>
              <a:t> is a collection of one or more columns that can identify every row in a table without confusion. It may include extra columns that are not strictly necessary for uniqueness, but any row that matches all the columns in the super key is guaranteed to be one of a kind. </a:t>
            </a:r>
            <a:endParaRPr lang="en-IN" sz="2000" dirty="0">
              <a:latin typeface="+mn-lt"/>
            </a:endParaRPr>
          </a:p>
        </p:txBody>
      </p:sp>
    </p:spTree>
    <p:extLst>
      <p:ext uri="{BB962C8B-B14F-4D97-AF65-F5344CB8AC3E}">
        <p14:creationId xmlns:p14="http://schemas.microsoft.com/office/powerpoint/2010/main" val="5777130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56340-5AC0-4878-DB26-3903BCD17EAC}"/>
              </a:ext>
            </a:extLst>
          </p:cNvPr>
          <p:cNvSpPr>
            <a:spLocks noGrp="1"/>
          </p:cNvSpPr>
          <p:nvPr>
            <p:ph type="title"/>
          </p:nvPr>
        </p:nvSpPr>
        <p:spPr/>
        <p:txBody>
          <a:bodyPr/>
          <a:lstStyle/>
          <a:p>
            <a:r>
              <a:rPr lang="en-IN" dirty="0"/>
              <a:t>Example : Super key</a:t>
            </a:r>
          </a:p>
        </p:txBody>
      </p:sp>
      <p:graphicFrame>
        <p:nvGraphicFramePr>
          <p:cNvPr id="5" name="Content Placeholder 4">
            <a:extLst>
              <a:ext uri="{FF2B5EF4-FFF2-40B4-BE49-F238E27FC236}">
                <a16:creationId xmlns:a16="http://schemas.microsoft.com/office/drawing/2014/main" id="{56911548-ADC5-D988-FCBC-252A8FBB98D9}"/>
              </a:ext>
            </a:extLst>
          </p:cNvPr>
          <p:cNvGraphicFramePr>
            <a:graphicFrameLocks noGrp="1"/>
          </p:cNvGraphicFramePr>
          <p:nvPr>
            <p:ph idx="1"/>
            <p:extLst>
              <p:ext uri="{D42A27DB-BD31-4B8C-83A1-F6EECF244321}">
                <p14:modId xmlns:p14="http://schemas.microsoft.com/office/powerpoint/2010/main" val="1310233483"/>
              </p:ext>
            </p:extLst>
          </p:nvPr>
        </p:nvGraphicFramePr>
        <p:xfrm>
          <a:off x="488731" y="4041751"/>
          <a:ext cx="8001000" cy="2435249"/>
        </p:xfrm>
        <a:graphic>
          <a:graphicData uri="http://schemas.openxmlformats.org/drawingml/2006/table">
            <a:tbl>
              <a:tblPr/>
              <a:tblGrid>
                <a:gridCol w="1676400">
                  <a:extLst>
                    <a:ext uri="{9D8B030D-6E8A-4147-A177-3AD203B41FA5}">
                      <a16:colId xmlns:a16="http://schemas.microsoft.com/office/drawing/2014/main" val="796378212"/>
                    </a:ext>
                  </a:extLst>
                </a:gridCol>
                <a:gridCol w="1981200">
                  <a:extLst>
                    <a:ext uri="{9D8B030D-6E8A-4147-A177-3AD203B41FA5}">
                      <a16:colId xmlns:a16="http://schemas.microsoft.com/office/drawing/2014/main" val="2756943139"/>
                    </a:ext>
                  </a:extLst>
                </a:gridCol>
                <a:gridCol w="2057400">
                  <a:extLst>
                    <a:ext uri="{9D8B030D-6E8A-4147-A177-3AD203B41FA5}">
                      <a16:colId xmlns:a16="http://schemas.microsoft.com/office/drawing/2014/main" val="4042749166"/>
                    </a:ext>
                  </a:extLst>
                </a:gridCol>
                <a:gridCol w="2286000">
                  <a:extLst>
                    <a:ext uri="{9D8B030D-6E8A-4147-A177-3AD203B41FA5}">
                      <a16:colId xmlns:a16="http://schemas.microsoft.com/office/drawing/2014/main" val="2379124708"/>
                    </a:ext>
                  </a:extLst>
                </a:gridCol>
              </a:tblGrid>
              <a:tr h="497048">
                <a:tc>
                  <a:txBody>
                    <a:bodyPr/>
                    <a:lstStyle/>
                    <a:p>
                      <a:pPr algn="ctr">
                        <a:lnSpc>
                          <a:spcPts val="1500"/>
                        </a:lnSpc>
                        <a:buNone/>
                      </a:pPr>
                      <a:r>
                        <a:rPr lang="en-IN" b="1" dirty="0" err="1">
                          <a:solidFill>
                            <a:srgbClr val="333333"/>
                          </a:solidFill>
                          <a:effectLst/>
                          <a:latin typeface="__CircularFontRegular_2948a7"/>
                        </a:rPr>
                        <a:t>StudentID</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dirty="0" err="1">
                          <a:solidFill>
                            <a:srgbClr val="333333"/>
                          </a:solidFill>
                          <a:effectLst/>
                          <a:latin typeface="__CircularFontRegular_2948a7"/>
                        </a:rPr>
                        <a:t>StudentName</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ContactNumber</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Email</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643630514"/>
                  </a:ext>
                </a:extLst>
              </a:tr>
              <a:tr h="562076">
                <a:tc>
                  <a:txBody>
                    <a:bodyPr/>
                    <a:lstStyle/>
                    <a:p>
                      <a:pPr>
                        <a:lnSpc>
                          <a:spcPts val="1350"/>
                        </a:lnSpc>
                      </a:pPr>
                      <a:r>
                        <a:rPr lang="en-IN" dirty="0">
                          <a:solidFill>
                            <a:srgbClr val="000000"/>
                          </a:solidFill>
                          <a:effectLst/>
                          <a:latin typeface="__CircularFontRegular_2948a7"/>
                        </a:rPr>
                        <a:t>1</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Arun</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98765XXXXX</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arun@example.com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4240337148"/>
                  </a:ext>
                </a:extLst>
              </a:tr>
              <a:tr h="580786">
                <a:tc>
                  <a:txBody>
                    <a:bodyPr/>
                    <a:lstStyle/>
                    <a:p>
                      <a:pPr>
                        <a:lnSpc>
                          <a:spcPts val="1350"/>
                        </a:lnSpc>
                      </a:pPr>
                      <a:r>
                        <a:rPr lang="en-IN">
                          <a:solidFill>
                            <a:srgbClr val="000000"/>
                          </a:solidFill>
                          <a:effectLst/>
                          <a:latin typeface="__CircularFontRegular_2948a7"/>
                        </a:rPr>
                        <a:t>2</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Meera</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99887XXXXX</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meera@example.com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521932877"/>
                  </a:ext>
                </a:extLst>
              </a:tr>
              <a:tr h="795339">
                <a:tc>
                  <a:txBody>
                    <a:bodyPr/>
                    <a:lstStyle/>
                    <a:p>
                      <a:pPr>
                        <a:lnSpc>
                          <a:spcPts val="1350"/>
                        </a:lnSpc>
                      </a:pPr>
                      <a:r>
                        <a:rPr lang="en-IN">
                          <a:solidFill>
                            <a:srgbClr val="000000"/>
                          </a:solidFill>
                          <a:effectLst/>
                          <a:latin typeface="__CircularFontRegular_2948a7"/>
                        </a:rPr>
                        <a:t>3</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Kirti</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98767XXXXX</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dirty="0">
                          <a:solidFill>
                            <a:srgbClr val="000000"/>
                          </a:solidFill>
                          <a:effectLst/>
                          <a:latin typeface="__CircularFontRegular_2948a7"/>
                        </a:rPr>
                        <a:t>kirti@example.com</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565604302"/>
                  </a:ext>
                </a:extLst>
              </a:tr>
            </a:tbl>
          </a:graphicData>
        </a:graphic>
      </p:graphicFrame>
      <p:sp>
        <p:nvSpPr>
          <p:cNvPr id="4" name="Slide Number Placeholder 3">
            <a:extLst>
              <a:ext uri="{FF2B5EF4-FFF2-40B4-BE49-F238E27FC236}">
                <a16:creationId xmlns:a16="http://schemas.microsoft.com/office/drawing/2014/main" id="{9B6D47F8-495E-DA26-FB16-FA6249C992B2}"/>
              </a:ext>
            </a:extLst>
          </p:cNvPr>
          <p:cNvSpPr>
            <a:spLocks noGrp="1"/>
          </p:cNvSpPr>
          <p:nvPr>
            <p:ph type="sldNum" sz="quarter" idx="12"/>
          </p:nvPr>
        </p:nvSpPr>
        <p:spPr/>
        <p:txBody>
          <a:bodyPr/>
          <a:lstStyle/>
          <a:p>
            <a:fld id="{8BD8F058-9003-4658-AA47-7D4800AF7EA2}" type="slidenum">
              <a:rPr lang="en-US" smtClean="0"/>
              <a:pPr/>
              <a:t>6</a:t>
            </a:fld>
            <a:endParaRPr lang="en-US"/>
          </a:p>
        </p:txBody>
      </p:sp>
      <p:sp>
        <p:nvSpPr>
          <p:cNvPr id="6" name="TextBox 5">
            <a:extLst>
              <a:ext uri="{FF2B5EF4-FFF2-40B4-BE49-F238E27FC236}">
                <a16:creationId xmlns:a16="http://schemas.microsoft.com/office/drawing/2014/main" id="{7F7AF8CF-3F16-0559-39FE-ED2E21691DF3}"/>
              </a:ext>
            </a:extLst>
          </p:cNvPr>
          <p:cNvSpPr txBox="1"/>
          <p:nvPr/>
        </p:nvSpPr>
        <p:spPr>
          <a:xfrm>
            <a:off x="0" y="973164"/>
            <a:ext cx="8991599" cy="3050194"/>
          </a:xfrm>
          <a:prstGeom prst="rect">
            <a:avLst/>
          </a:prstGeom>
          <a:noFill/>
        </p:spPr>
        <p:txBody>
          <a:bodyPr wrap="square">
            <a:spAutoFit/>
          </a:bodyPr>
          <a:lstStyle/>
          <a:p>
            <a:pPr algn="just">
              <a:lnSpc>
                <a:spcPct val="150000"/>
              </a:lnSpc>
              <a:spcBef>
                <a:spcPts val="1800"/>
              </a:spcBef>
              <a:spcAft>
                <a:spcPts val="1800"/>
              </a:spcAft>
              <a:buFont typeface="Arial" panose="020B0604020202020204" pitchFamily="34" charset="0"/>
              <a:buChar char="•"/>
            </a:pPr>
            <a:r>
              <a:rPr lang="en-IN" b="0" i="0" dirty="0">
                <a:solidFill>
                  <a:srgbClr val="000000"/>
                </a:solidFill>
                <a:effectLst/>
                <a:latin typeface="+mn-lt"/>
              </a:rPr>
              <a:t>Assume there is a ‘</a:t>
            </a:r>
            <a:r>
              <a:rPr lang="en-IN" b="1" i="0" dirty="0">
                <a:solidFill>
                  <a:srgbClr val="333333"/>
                </a:solidFill>
                <a:effectLst/>
                <a:latin typeface="+mn-lt"/>
              </a:rPr>
              <a:t>Students table’</a:t>
            </a:r>
            <a:r>
              <a:rPr lang="en-IN" b="0" i="0" dirty="0">
                <a:solidFill>
                  <a:srgbClr val="000000"/>
                </a:solidFill>
                <a:effectLst/>
                <a:latin typeface="+mn-lt"/>
              </a:rPr>
              <a:t> that stores registration data.</a:t>
            </a:r>
            <a:endParaRPr lang="en-IN" b="0" i="0" dirty="0">
              <a:solidFill>
                <a:srgbClr val="333333"/>
              </a:solidFill>
              <a:effectLst/>
              <a:latin typeface="+mn-lt"/>
            </a:endParaRPr>
          </a:p>
          <a:p>
            <a:pPr algn="just">
              <a:lnSpc>
                <a:spcPct val="150000"/>
              </a:lnSpc>
              <a:spcBef>
                <a:spcPts val="1800"/>
              </a:spcBef>
              <a:spcAft>
                <a:spcPts val="1800"/>
              </a:spcAft>
              <a:buFont typeface="Arial" panose="020B0604020202020204" pitchFamily="34" charset="0"/>
              <a:buChar char="•"/>
            </a:pPr>
            <a:r>
              <a:rPr lang="en-IN" b="0" i="0" dirty="0">
                <a:solidFill>
                  <a:srgbClr val="000000"/>
                </a:solidFill>
                <a:effectLst/>
                <a:latin typeface="+mn-lt"/>
              </a:rPr>
              <a:t>A single column like </a:t>
            </a:r>
            <a:r>
              <a:rPr lang="en-IN" b="0" i="0" dirty="0" err="1">
                <a:solidFill>
                  <a:srgbClr val="000000"/>
                </a:solidFill>
                <a:effectLst/>
                <a:latin typeface="+mn-lt"/>
              </a:rPr>
              <a:t>StudentID</a:t>
            </a:r>
            <a:r>
              <a:rPr lang="en-IN" b="0" i="0" dirty="0">
                <a:solidFill>
                  <a:srgbClr val="000000"/>
                </a:solidFill>
                <a:effectLst/>
                <a:latin typeface="+mn-lt"/>
              </a:rPr>
              <a:t> can uniquely identify rows, and combining </a:t>
            </a:r>
            <a:r>
              <a:rPr lang="en-IN" b="0" i="0" dirty="0" err="1">
                <a:solidFill>
                  <a:srgbClr val="000000"/>
                </a:solidFill>
                <a:effectLst/>
                <a:latin typeface="+mn-lt"/>
              </a:rPr>
              <a:t>StudentID</a:t>
            </a:r>
            <a:r>
              <a:rPr lang="en-IN" b="0" i="0" dirty="0">
                <a:solidFill>
                  <a:srgbClr val="000000"/>
                </a:solidFill>
                <a:effectLst/>
                <a:latin typeface="+mn-lt"/>
              </a:rPr>
              <a:t> with other columns (such as Email or </a:t>
            </a:r>
            <a:r>
              <a:rPr lang="en-IN" b="0" i="0" dirty="0" err="1">
                <a:solidFill>
                  <a:srgbClr val="000000"/>
                </a:solidFill>
                <a:effectLst/>
                <a:latin typeface="+mn-lt"/>
              </a:rPr>
              <a:t>ContactNumber</a:t>
            </a:r>
            <a:r>
              <a:rPr lang="en-IN" b="0" i="0" dirty="0">
                <a:solidFill>
                  <a:srgbClr val="000000"/>
                </a:solidFill>
                <a:effectLst/>
                <a:latin typeface="+mn-lt"/>
              </a:rPr>
              <a:t>) also forms a super key.</a:t>
            </a:r>
            <a:endParaRPr lang="en-IN" b="0" i="0" dirty="0">
              <a:solidFill>
                <a:srgbClr val="333333"/>
              </a:solidFill>
              <a:effectLst/>
              <a:latin typeface="+mn-lt"/>
            </a:endParaRPr>
          </a:p>
          <a:p>
            <a:pPr algn="just">
              <a:lnSpc>
                <a:spcPct val="150000"/>
              </a:lnSpc>
              <a:spcBef>
                <a:spcPts val="1800"/>
              </a:spcBef>
              <a:spcAft>
                <a:spcPts val="1800"/>
              </a:spcAft>
              <a:buFont typeface="Arial" panose="020B0604020202020204" pitchFamily="34" charset="0"/>
              <a:buChar char="•"/>
            </a:pPr>
            <a:r>
              <a:rPr lang="en-IN" b="0" i="0" dirty="0">
                <a:solidFill>
                  <a:srgbClr val="000000"/>
                </a:solidFill>
                <a:effectLst/>
                <a:latin typeface="+mn-lt"/>
              </a:rPr>
              <a:t>A super key does not have to be minimal. </a:t>
            </a:r>
            <a:r>
              <a:rPr lang="en-IN" b="0" i="0" dirty="0">
                <a:solidFill>
                  <a:srgbClr val="0E101A"/>
                </a:solidFill>
                <a:effectLst/>
                <a:latin typeface="+mn-lt"/>
              </a:rPr>
              <a:t>That is why </a:t>
            </a:r>
            <a:r>
              <a:rPr lang="en-IN" b="0" i="0" dirty="0" err="1">
                <a:solidFill>
                  <a:srgbClr val="0E101A"/>
                </a:solidFill>
                <a:effectLst/>
                <a:latin typeface="+mn-lt"/>
              </a:rPr>
              <a:t>StudentID</a:t>
            </a:r>
            <a:r>
              <a:rPr lang="en-IN" b="0" i="0" dirty="0">
                <a:solidFill>
                  <a:srgbClr val="0E101A"/>
                </a:solidFill>
                <a:effectLst/>
                <a:latin typeface="+mn-lt"/>
              </a:rPr>
              <a:t> + Email is still a valid super key, even if </a:t>
            </a:r>
            <a:r>
              <a:rPr lang="en-IN" b="0" i="0" dirty="0" err="1">
                <a:solidFill>
                  <a:srgbClr val="0E101A"/>
                </a:solidFill>
                <a:effectLst/>
                <a:latin typeface="+mn-lt"/>
              </a:rPr>
              <a:t>StudentID</a:t>
            </a:r>
            <a:r>
              <a:rPr lang="en-IN" b="0" i="0" dirty="0">
                <a:solidFill>
                  <a:srgbClr val="0E101A"/>
                </a:solidFill>
                <a:effectLst/>
                <a:latin typeface="+mn-lt"/>
              </a:rPr>
              <a:t> already does the job by itself.</a:t>
            </a:r>
            <a:endParaRPr lang="en-IN" b="0" i="0" dirty="0">
              <a:solidFill>
                <a:srgbClr val="333333"/>
              </a:solidFill>
              <a:effectLst/>
              <a:latin typeface="+mn-lt"/>
            </a:endParaRPr>
          </a:p>
        </p:txBody>
      </p:sp>
    </p:spTree>
    <p:extLst>
      <p:ext uri="{BB962C8B-B14F-4D97-AF65-F5344CB8AC3E}">
        <p14:creationId xmlns:p14="http://schemas.microsoft.com/office/powerpoint/2010/main" val="3163279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2A9E5-A74A-F8C3-AC7E-4E1322C029CC}"/>
              </a:ext>
            </a:extLst>
          </p:cNvPr>
          <p:cNvSpPr>
            <a:spLocks noGrp="1"/>
          </p:cNvSpPr>
          <p:nvPr>
            <p:ph type="title"/>
          </p:nvPr>
        </p:nvSpPr>
        <p:spPr/>
        <p:txBody>
          <a:bodyPr/>
          <a:lstStyle/>
          <a:p>
            <a:r>
              <a:rPr lang="en-IN" b="1" dirty="0"/>
              <a:t>Examples of Super Key</a:t>
            </a:r>
            <a:endParaRPr lang="en-IN" dirty="0"/>
          </a:p>
        </p:txBody>
      </p:sp>
      <p:sp>
        <p:nvSpPr>
          <p:cNvPr id="3" name="Content Placeholder 2">
            <a:extLst>
              <a:ext uri="{FF2B5EF4-FFF2-40B4-BE49-F238E27FC236}">
                <a16:creationId xmlns:a16="http://schemas.microsoft.com/office/drawing/2014/main" id="{A1AB8607-F964-ABA2-98E3-8CE72D23D36E}"/>
              </a:ext>
            </a:extLst>
          </p:cNvPr>
          <p:cNvSpPr>
            <a:spLocks noGrp="1"/>
          </p:cNvSpPr>
          <p:nvPr>
            <p:ph idx="1"/>
          </p:nvPr>
        </p:nvSpPr>
        <p:spPr>
          <a:xfrm>
            <a:off x="304800" y="1166018"/>
            <a:ext cx="8229600" cy="4525963"/>
          </a:xfrm>
        </p:spPr>
        <p:txBody>
          <a:bodyPr/>
          <a:lstStyle/>
          <a:p>
            <a:pPr algn="just">
              <a:lnSpc>
                <a:spcPct val="150000"/>
              </a:lnSpc>
            </a:pPr>
            <a:r>
              <a:rPr lang="en-IN" sz="2000" b="1" dirty="0"/>
              <a:t>(</a:t>
            </a:r>
            <a:r>
              <a:rPr lang="en-IN" sz="2000" b="1" dirty="0" err="1"/>
              <a:t>StudentID</a:t>
            </a:r>
            <a:r>
              <a:rPr lang="en-IN" sz="2000" b="1" dirty="0"/>
              <a:t> + Email)</a:t>
            </a:r>
            <a:r>
              <a:rPr lang="en-IN" sz="2000" dirty="0"/>
              <a:t> in a Students table, where </a:t>
            </a:r>
            <a:r>
              <a:rPr lang="en-IN" sz="2000" dirty="0" err="1"/>
              <a:t>StudentID</a:t>
            </a:r>
            <a:r>
              <a:rPr lang="en-IN" sz="2000" dirty="0"/>
              <a:t> is already unique, but including Email still maintains uniqueness.</a:t>
            </a:r>
          </a:p>
          <a:p>
            <a:pPr algn="just">
              <a:lnSpc>
                <a:spcPct val="150000"/>
              </a:lnSpc>
            </a:pPr>
            <a:r>
              <a:rPr lang="en-IN" sz="2000" b="1" dirty="0"/>
              <a:t>(</a:t>
            </a:r>
            <a:r>
              <a:rPr lang="en-IN" sz="2000" b="1" dirty="0" err="1"/>
              <a:t>EmployeeID</a:t>
            </a:r>
            <a:r>
              <a:rPr lang="en-IN" sz="2000" b="1" dirty="0"/>
              <a:t> + </a:t>
            </a:r>
            <a:r>
              <a:rPr lang="en-IN" sz="2000" b="1" dirty="0" err="1"/>
              <a:t>DepartmentID</a:t>
            </a:r>
            <a:r>
              <a:rPr lang="en-IN" sz="2000" b="1" dirty="0"/>
              <a:t>)</a:t>
            </a:r>
            <a:r>
              <a:rPr lang="en-IN" sz="2000" dirty="0"/>
              <a:t> in an Employees table, even if </a:t>
            </a:r>
            <a:r>
              <a:rPr lang="en-IN" sz="2000" dirty="0" err="1"/>
              <a:t>EmployeeID</a:t>
            </a:r>
            <a:r>
              <a:rPr lang="en-IN" sz="2000" dirty="0"/>
              <a:t> alone identifies rows, that extra department column does not break uniqueness.</a:t>
            </a:r>
          </a:p>
          <a:p>
            <a:pPr algn="just">
              <a:lnSpc>
                <a:spcPct val="150000"/>
              </a:lnSpc>
            </a:pPr>
            <a:r>
              <a:rPr lang="en-IN" sz="2000" b="1" dirty="0"/>
              <a:t>(</a:t>
            </a:r>
            <a:r>
              <a:rPr lang="en-IN" sz="2000" b="1" dirty="0" err="1"/>
              <a:t>ProductCode</a:t>
            </a:r>
            <a:r>
              <a:rPr lang="en-IN" sz="2000" b="1" dirty="0"/>
              <a:t> + </a:t>
            </a:r>
            <a:r>
              <a:rPr lang="en-IN" sz="2000" b="1" dirty="0" err="1"/>
              <a:t>BatchNumber</a:t>
            </a:r>
            <a:r>
              <a:rPr lang="en-IN" sz="2000" b="1" dirty="0"/>
              <a:t>)</a:t>
            </a:r>
            <a:r>
              <a:rPr lang="en-IN" sz="2000" dirty="0"/>
              <a:t> in an Inventory table, which ensures each product-batch pair is distinct.</a:t>
            </a:r>
          </a:p>
          <a:p>
            <a:endParaRPr lang="en-IN" dirty="0"/>
          </a:p>
        </p:txBody>
      </p:sp>
      <p:sp>
        <p:nvSpPr>
          <p:cNvPr id="4" name="Slide Number Placeholder 3">
            <a:extLst>
              <a:ext uri="{FF2B5EF4-FFF2-40B4-BE49-F238E27FC236}">
                <a16:creationId xmlns:a16="http://schemas.microsoft.com/office/drawing/2014/main" id="{48F5B307-51E0-4B31-625E-5ECAF79F1C0D}"/>
              </a:ext>
            </a:extLst>
          </p:cNvPr>
          <p:cNvSpPr>
            <a:spLocks noGrp="1"/>
          </p:cNvSpPr>
          <p:nvPr>
            <p:ph type="sldNum" sz="quarter" idx="12"/>
          </p:nvPr>
        </p:nvSpPr>
        <p:spPr/>
        <p:txBody>
          <a:bodyPr/>
          <a:lstStyle/>
          <a:p>
            <a:fld id="{8BD8F058-9003-4658-AA47-7D4800AF7EA2}" type="slidenum">
              <a:rPr lang="en-US" smtClean="0"/>
              <a:pPr/>
              <a:t>7</a:t>
            </a:fld>
            <a:endParaRPr lang="en-US" dirty="0"/>
          </a:p>
        </p:txBody>
      </p:sp>
    </p:spTree>
    <p:extLst>
      <p:ext uri="{BB962C8B-B14F-4D97-AF65-F5344CB8AC3E}">
        <p14:creationId xmlns:p14="http://schemas.microsoft.com/office/powerpoint/2010/main" val="1588249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1CFB7-2557-C5E0-7201-DCB50663A231}"/>
              </a:ext>
            </a:extLst>
          </p:cNvPr>
          <p:cNvSpPr>
            <a:spLocks noGrp="1"/>
          </p:cNvSpPr>
          <p:nvPr>
            <p:ph type="title"/>
          </p:nvPr>
        </p:nvSpPr>
        <p:spPr/>
        <p:txBody>
          <a:bodyPr/>
          <a:lstStyle/>
          <a:p>
            <a:br>
              <a:rPr lang="en-IN" b="1" dirty="0"/>
            </a:br>
            <a:r>
              <a:rPr lang="en-IN" b="1" dirty="0"/>
              <a:t>Importance of Super Key</a:t>
            </a:r>
            <a:br>
              <a:rPr lang="en-IN" b="1" dirty="0"/>
            </a:br>
            <a:endParaRPr lang="en-IN" dirty="0"/>
          </a:p>
        </p:txBody>
      </p:sp>
      <p:sp>
        <p:nvSpPr>
          <p:cNvPr id="3" name="Content Placeholder 2">
            <a:extLst>
              <a:ext uri="{FF2B5EF4-FFF2-40B4-BE49-F238E27FC236}">
                <a16:creationId xmlns:a16="http://schemas.microsoft.com/office/drawing/2014/main" id="{71EF9A5E-6509-770B-5C48-A3BE2E28EC2A}"/>
              </a:ext>
            </a:extLst>
          </p:cNvPr>
          <p:cNvSpPr>
            <a:spLocks noGrp="1"/>
          </p:cNvSpPr>
          <p:nvPr>
            <p:ph idx="1"/>
          </p:nvPr>
        </p:nvSpPr>
        <p:spPr>
          <a:xfrm>
            <a:off x="457200" y="1166018"/>
            <a:ext cx="8229600" cy="4525963"/>
          </a:xfrm>
        </p:spPr>
        <p:txBody>
          <a:bodyPr/>
          <a:lstStyle/>
          <a:p>
            <a:pPr algn="just">
              <a:lnSpc>
                <a:spcPct val="150000"/>
              </a:lnSpc>
            </a:pPr>
            <a:r>
              <a:rPr lang="en-IN" sz="2000" b="1" dirty="0"/>
              <a:t>Guarantees Uniqueness</a:t>
            </a:r>
            <a:r>
              <a:rPr lang="en-IN" sz="2000" dirty="0"/>
              <a:t>: Every row is always distinct as long as it matches the super key attributes.</a:t>
            </a:r>
          </a:p>
          <a:p>
            <a:pPr algn="just">
              <a:lnSpc>
                <a:spcPct val="150000"/>
              </a:lnSpc>
            </a:pPr>
            <a:r>
              <a:rPr lang="en-IN" sz="2000" b="1" dirty="0"/>
              <a:t>Supports Flexible Design</a:t>
            </a:r>
            <a:r>
              <a:rPr lang="en-IN" sz="2000" dirty="0"/>
              <a:t>: Extra columns in the key allow more detailed queries, even if only one column was needed for uniqueness.</a:t>
            </a:r>
          </a:p>
          <a:p>
            <a:pPr algn="just">
              <a:lnSpc>
                <a:spcPct val="150000"/>
              </a:lnSpc>
            </a:pPr>
            <a:r>
              <a:rPr lang="en-IN" sz="2000" b="1" dirty="0"/>
              <a:t>Eases Data Validation</a:t>
            </a:r>
            <a:r>
              <a:rPr lang="en-IN" sz="2000" dirty="0"/>
              <a:t>: Insertion of a record by duplicating every super key column is not allowed, which helps maintain clean data.</a:t>
            </a:r>
          </a:p>
          <a:p>
            <a:pPr algn="just">
              <a:lnSpc>
                <a:spcPct val="150000"/>
              </a:lnSpc>
            </a:pPr>
            <a:r>
              <a:rPr lang="en-IN" sz="2000" b="1" dirty="0"/>
              <a:t>Forms a Base for Candidate Keys</a:t>
            </a:r>
            <a:r>
              <a:rPr lang="en-IN" sz="2000" dirty="0"/>
              <a:t>: A candidate key comes from a super key once any unnecessary attributes are removed.</a:t>
            </a:r>
          </a:p>
          <a:p>
            <a:pPr marL="0" indent="0">
              <a:buNone/>
            </a:pPr>
            <a:endParaRPr lang="en-IN" dirty="0"/>
          </a:p>
        </p:txBody>
      </p:sp>
      <p:sp>
        <p:nvSpPr>
          <p:cNvPr id="4" name="Slide Number Placeholder 3">
            <a:extLst>
              <a:ext uri="{FF2B5EF4-FFF2-40B4-BE49-F238E27FC236}">
                <a16:creationId xmlns:a16="http://schemas.microsoft.com/office/drawing/2014/main" id="{2488A3A6-B9AD-A062-81BD-E458677EF50B}"/>
              </a:ext>
            </a:extLst>
          </p:cNvPr>
          <p:cNvSpPr>
            <a:spLocks noGrp="1"/>
          </p:cNvSpPr>
          <p:nvPr>
            <p:ph type="sldNum" sz="quarter" idx="12"/>
          </p:nvPr>
        </p:nvSpPr>
        <p:spPr/>
        <p:txBody>
          <a:bodyPr/>
          <a:lstStyle/>
          <a:p>
            <a:fld id="{8BD8F058-9003-4658-AA47-7D4800AF7EA2}" type="slidenum">
              <a:rPr lang="en-US" smtClean="0"/>
              <a:pPr/>
              <a:t>8</a:t>
            </a:fld>
            <a:endParaRPr lang="en-US" dirty="0"/>
          </a:p>
        </p:txBody>
      </p:sp>
    </p:spTree>
    <p:extLst>
      <p:ext uri="{BB962C8B-B14F-4D97-AF65-F5344CB8AC3E}">
        <p14:creationId xmlns:p14="http://schemas.microsoft.com/office/powerpoint/2010/main" val="2899973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D4593-6C2A-1CEB-1F5B-5869428A0547}"/>
              </a:ext>
            </a:extLst>
          </p:cNvPr>
          <p:cNvSpPr>
            <a:spLocks noGrp="1"/>
          </p:cNvSpPr>
          <p:nvPr>
            <p:ph type="title"/>
          </p:nvPr>
        </p:nvSpPr>
        <p:spPr/>
        <p:txBody>
          <a:bodyPr/>
          <a:lstStyle/>
          <a:p>
            <a:r>
              <a:rPr lang="en-IN" b="1" dirty="0"/>
              <a:t>Primary key</a:t>
            </a:r>
          </a:p>
        </p:txBody>
      </p:sp>
      <p:sp>
        <p:nvSpPr>
          <p:cNvPr id="3" name="Content Placeholder 2">
            <a:extLst>
              <a:ext uri="{FF2B5EF4-FFF2-40B4-BE49-F238E27FC236}">
                <a16:creationId xmlns:a16="http://schemas.microsoft.com/office/drawing/2014/main" id="{6524D43C-67D1-0D8E-01E5-47B38DDD4D7C}"/>
              </a:ext>
            </a:extLst>
          </p:cNvPr>
          <p:cNvSpPr>
            <a:spLocks noGrp="1"/>
          </p:cNvSpPr>
          <p:nvPr>
            <p:ph idx="1"/>
          </p:nvPr>
        </p:nvSpPr>
        <p:spPr>
          <a:xfrm>
            <a:off x="457200" y="1066800"/>
            <a:ext cx="8229600" cy="4525963"/>
          </a:xfrm>
        </p:spPr>
        <p:txBody>
          <a:bodyPr/>
          <a:lstStyle/>
          <a:p>
            <a:pPr algn="just">
              <a:lnSpc>
                <a:spcPct val="150000"/>
              </a:lnSpc>
            </a:pPr>
            <a:r>
              <a:rPr lang="en-IN" sz="2000" u="sng" dirty="0">
                <a:hlinkClick r:id="rId2"/>
              </a:rPr>
              <a:t>A primary key</a:t>
            </a:r>
            <a:r>
              <a:rPr lang="en-IN" sz="2000" dirty="0"/>
              <a:t> is the minimal set of columns that pinpoint a row in a table. It does not allow duplicates or empty values, which makes it the firmest boundary, preventing confusion between records. This key is the preferred choice for queries that count on accurate and immediate results.</a:t>
            </a:r>
          </a:p>
        </p:txBody>
      </p:sp>
      <p:sp>
        <p:nvSpPr>
          <p:cNvPr id="4" name="Slide Number Placeholder 3">
            <a:extLst>
              <a:ext uri="{FF2B5EF4-FFF2-40B4-BE49-F238E27FC236}">
                <a16:creationId xmlns:a16="http://schemas.microsoft.com/office/drawing/2014/main" id="{CD247369-F1DA-BD27-290F-2E2CCD79E00F}"/>
              </a:ext>
            </a:extLst>
          </p:cNvPr>
          <p:cNvSpPr>
            <a:spLocks noGrp="1"/>
          </p:cNvSpPr>
          <p:nvPr>
            <p:ph type="sldNum" sz="quarter" idx="12"/>
          </p:nvPr>
        </p:nvSpPr>
        <p:spPr/>
        <p:txBody>
          <a:bodyPr/>
          <a:lstStyle/>
          <a:p>
            <a:fld id="{8BD8F058-9003-4658-AA47-7D4800AF7EA2}" type="slidenum">
              <a:rPr lang="en-US" smtClean="0"/>
              <a:pPr/>
              <a:t>9</a:t>
            </a:fld>
            <a:endParaRPr lang="en-US" dirty="0"/>
          </a:p>
        </p:txBody>
      </p:sp>
    </p:spTree>
    <p:extLst>
      <p:ext uri="{BB962C8B-B14F-4D97-AF65-F5344CB8AC3E}">
        <p14:creationId xmlns:p14="http://schemas.microsoft.com/office/powerpoint/2010/main" val="1267370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DDA4F-3151-FD82-23D8-47D349B17CBB}"/>
              </a:ext>
            </a:extLst>
          </p:cNvPr>
          <p:cNvSpPr>
            <a:spLocks noGrp="1"/>
          </p:cNvSpPr>
          <p:nvPr>
            <p:ph type="title"/>
          </p:nvPr>
        </p:nvSpPr>
        <p:spPr/>
        <p:txBody>
          <a:bodyPr/>
          <a:lstStyle/>
          <a:p>
            <a:r>
              <a:rPr lang="en-IN" b="1" dirty="0"/>
              <a:t>Example : Primary key </a:t>
            </a:r>
          </a:p>
        </p:txBody>
      </p:sp>
      <p:sp>
        <p:nvSpPr>
          <p:cNvPr id="3" name="Content Placeholder 2">
            <a:extLst>
              <a:ext uri="{FF2B5EF4-FFF2-40B4-BE49-F238E27FC236}">
                <a16:creationId xmlns:a16="http://schemas.microsoft.com/office/drawing/2014/main" id="{B3AA1A6C-D7D9-7843-6984-5FA1DA212BC3}"/>
              </a:ext>
            </a:extLst>
          </p:cNvPr>
          <p:cNvSpPr>
            <a:spLocks noGrp="1"/>
          </p:cNvSpPr>
          <p:nvPr>
            <p:ph idx="1"/>
          </p:nvPr>
        </p:nvSpPr>
        <p:spPr>
          <a:xfrm>
            <a:off x="228600" y="990600"/>
            <a:ext cx="8686800" cy="4906963"/>
          </a:xfrm>
        </p:spPr>
        <p:txBody>
          <a:bodyPr/>
          <a:lstStyle/>
          <a:p>
            <a:pPr algn="just">
              <a:lnSpc>
                <a:spcPct val="150000"/>
              </a:lnSpc>
            </a:pPr>
            <a:r>
              <a:rPr lang="en-IN" sz="2000" dirty="0"/>
              <a:t>‘</a:t>
            </a:r>
            <a:r>
              <a:rPr lang="en-IN" sz="2000" b="1" dirty="0"/>
              <a:t>Books table</a:t>
            </a:r>
            <a:r>
              <a:rPr lang="en-IN" sz="2000" dirty="0"/>
              <a:t>’ holding details such as </a:t>
            </a:r>
            <a:r>
              <a:rPr lang="en-IN" sz="2000" dirty="0" err="1"/>
              <a:t>BookID</a:t>
            </a:r>
            <a:r>
              <a:rPr lang="en-IN" sz="2000" dirty="0"/>
              <a:t>, Title, Author, and Price.</a:t>
            </a:r>
          </a:p>
          <a:p>
            <a:pPr algn="just">
              <a:lnSpc>
                <a:spcPct val="150000"/>
              </a:lnSpc>
            </a:pPr>
            <a:r>
              <a:rPr lang="en-IN" sz="2000" dirty="0"/>
              <a:t>You can assign </a:t>
            </a:r>
            <a:r>
              <a:rPr lang="en-IN" sz="2000" dirty="0" err="1"/>
              <a:t>BookID</a:t>
            </a:r>
            <a:r>
              <a:rPr lang="en-IN" sz="2000" dirty="0"/>
              <a:t> as the primary key.</a:t>
            </a:r>
          </a:p>
          <a:p>
            <a:pPr algn="just">
              <a:lnSpc>
                <a:spcPct val="150000"/>
              </a:lnSpc>
            </a:pPr>
            <a:r>
              <a:rPr lang="en-IN" sz="2000" dirty="0"/>
              <a:t>When you insert or update entries, </a:t>
            </a:r>
            <a:r>
              <a:rPr lang="en-IN" sz="2000" dirty="0" err="1"/>
              <a:t>BookID</a:t>
            </a:r>
            <a:r>
              <a:rPr lang="en-IN" sz="2000" dirty="0"/>
              <a:t> guarantees each book is distinct, avoiding any messy overlaps.</a:t>
            </a:r>
          </a:p>
          <a:p>
            <a:endParaRPr lang="en-IN" dirty="0"/>
          </a:p>
        </p:txBody>
      </p:sp>
      <p:sp>
        <p:nvSpPr>
          <p:cNvPr id="4" name="Slide Number Placeholder 3">
            <a:extLst>
              <a:ext uri="{FF2B5EF4-FFF2-40B4-BE49-F238E27FC236}">
                <a16:creationId xmlns:a16="http://schemas.microsoft.com/office/drawing/2014/main" id="{353F79C9-1444-7F1C-EFC6-41CD750D3AAE}"/>
              </a:ext>
            </a:extLst>
          </p:cNvPr>
          <p:cNvSpPr>
            <a:spLocks noGrp="1"/>
          </p:cNvSpPr>
          <p:nvPr>
            <p:ph type="sldNum" sz="quarter" idx="12"/>
          </p:nvPr>
        </p:nvSpPr>
        <p:spPr/>
        <p:txBody>
          <a:bodyPr/>
          <a:lstStyle/>
          <a:p>
            <a:fld id="{8BD8F058-9003-4658-AA47-7D4800AF7EA2}" type="slidenum">
              <a:rPr lang="en-US" smtClean="0"/>
              <a:pPr/>
              <a:t>10</a:t>
            </a:fld>
            <a:endParaRPr lang="en-US" dirty="0"/>
          </a:p>
        </p:txBody>
      </p:sp>
      <p:sp>
        <p:nvSpPr>
          <p:cNvPr id="6" name="Rectangle 1">
            <a:extLst>
              <a:ext uri="{FF2B5EF4-FFF2-40B4-BE49-F238E27FC236}">
                <a16:creationId xmlns:a16="http://schemas.microsoft.com/office/drawing/2014/main" id="{4DB36E1E-7D2B-ACE1-C697-AAD873488802}"/>
              </a:ext>
            </a:extLst>
          </p:cNvPr>
          <p:cNvSpPr>
            <a:spLocks noChangeArrowheads="1"/>
          </p:cNvSpPr>
          <p:nvPr/>
        </p:nvSpPr>
        <p:spPr bwMode="auto">
          <a:xfrm>
            <a:off x="1524000" y="3591824"/>
            <a:ext cx="662952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26852E10-0EBA-C1BA-FAEC-AD63D020A7A6}"/>
              </a:ext>
            </a:extLst>
          </p:cNvPr>
          <p:cNvGraphicFramePr>
            <a:graphicFrameLocks noGrp="1"/>
          </p:cNvGraphicFramePr>
          <p:nvPr>
            <p:extLst>
              <p:ext uri="{D42A27DB-BD31-4B8C-83A1-F6EECF244321}">
                <p14:modId xmlns:p14="http://schemas.microsoft.com/office/powerpoint/2010/main" val="3569562034"/>
              </p:ext>
            </p:extLst>
          </p:nvPr>
        </p:nvGraphicFramePr>
        <p:xfrm>
          <a:off x="381000" y="3245155"/>
          <a:ext cx="8305800" cy="1759585"/>
        </p:xfrm>
        <a:graphic>
          <a:graphicData uri="http://schemas.openxmlformats.org/drawingml/2006/table">
            <a:tbl>
              <a:tblPr/>
              <a:tblGrid>
                <a:gridCol w="1447800">
                  <a:extLst>
                    <a:ext uri="{9D8B030D-6E8A-4147-A177-3AD203B41FA5}">
                      <a16:colId xmlns:a16="http://schemas.microsoft.com/office/drawing/2014/main" val="4035133033"/>
                    </a:ext>
                  </a:extLst>
                </a:gridCol>
                <a:gridCol w="2362200">
                  <a:extLst>
                    <a:ext uri="{9D8B030D-6E8A-4147-A177-3AD203B41FA5}">
                      <a16:colId xmlns:a16="http://schemas.microsoft.com/office/drawing/2014/main" val="548396986"/>
                    </a:ext>
                  </a:extLst>
                </a:gridCol>
                <a:gridCol w="2819400">
                  <a:extLst>
                    <a:ext uri="{9D8B030D-6E8A-4147-A177-3AD203B41FA5}">
                      <a16:colId xmlns:a16="http://schemas.microsoft.com/office/drawing/2014/main" val="2623554615"/>
                    </a:ext>
                  </a:extLst>
                </a:gridCol>
                <a:gridCol w="1676400">
                  <a:extLst>
                    <a:ext uri="{9D8B030D-6E8A-4147-A177-3AD203B41FA5}">
                      <a16:colId xmlns:a16="http://schemas.microsoft.com/office/drawing/2014/main" val="1610382063"/>
                    </a:ext>
                  </a:extLst>
                </a:gridCol>
              </a:tblGrid>
              <a:tr h="0">
                <a:tc>
                  <a:txBody>
                    <a:bodyPr/>
                    <a:lstStyle/>
                    <a:p>
                      <a:pPr algn="ctr">
                        <a:lnSpc>
                          <a:spcPts val="1500"/>
                        </a:lnSpc>
                        <a:buNone/>
                      </a:pPr>
                      <a:r>
                        <a:rPr lang="en-IN" b="1">
                          <a:solidFill>
                            <a:srgbClr val="333333"/>
                          </a:solidFill>
                          <a:effectLst/>
                          <a:latin typeface="__CircularFontRegular_2948a7"/>
                        </a:rPr>
                        <a:t>BookID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Title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Author</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Price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496672495"/>
                  </a:ext>
                </a:extLst>
              </a:tr>
              <a:tr h="0">
                <a:tc>
                  <a:txBody>
                    <a:bodyPr/>
                    <a:lstStyle/>
                    <a:p>
                      <a:pPr>
                        <a:lnSpc>
                          <a:spcPts val="1350"/>
                        </a:lnSpc>
                      </a:pPr>
                      <a:r>
                        <a:rPr lang="en-IN">
                          <a:solidFill>
                            <a:srgbClr val="000000"/>
                          </a:solidFill>
                          <a:effectLst/>
                          <a:latin typeface="__CircularFontRegular_2948a7"/>
                        </a:rPr>
                        <a:t>101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A Tale of Two Cities</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Charles Dickens</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INR 300</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430110969"/>
                  </a:ext>
                </a:extLst>
              </a:tr>
              <a:tr h="0">
                <a:tc>
                  <a:txBody>
                    <a:bodyPr/>
                    <a:lstStyle/>
                    <a:p>
                      <a:pPr>
                        <a:lnSpc>
                          <a:spcPts val="1350"/>
                        </a:lnSpc>
                      </a:pPr>
                      <a:r>
                        <a:rPr lang="en-IN">
                          <a:solidFill>
                            <a:srgbClr val="000000"/>
                          </a:solidFill>
                          <a:effectLst/>
                          <a:latin typeface="__CircularFontRegular_2948a7"/>
                        </a:rPr>
                        <a:t>102</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Pride and Prejudice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Jane Austen</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INR 280</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091579626"/>
                  </a:ext>
                </a:extLst>
              </a:tr>
              <a:tr h="0">
                <a:tc>
                  <a:txBody>
                    <a:bodyPr/>
                    <a:lstStyle/>
                    <a:p>
                      <a:pPr>
                        <a:lnSpc>
                          <a:spcPts val="1350"/>
                        </a:lnSpc>
                      </a:pPr>
                      <a:r>
                        <a:rPr lang="en-IN">
                          <a:solidFill>
                            <a:srgbClr val="000000"/>
                          </a:solidFill>
                          <a:effectLst/>
                          <a:latin typeface="__CircularFontRegular_2948a7"/>
                        </a:rPr>
                        <a:t>103</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The Great Gatsby</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F. Scott Fitzgerald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dirty="0">
                          <a:solidFill>
                            <a:srgbClr val="000000"/>
                          </a:solidFill>
                          <a:effectLst/>
                          <a:latin typeface="__CircularFontRegular_2948a7"/>
                        </a:rPr>
                        <a:t>INR 350</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416956548"/>
                  </a:ext>
                </a:extLst>
              </a:tr>
            </a:tbl>
          </a:graphicData>
        </a:graphic>
      </p:graphicFrame>
    </p:spTree>
    <p:extLst>
      <p:ext uri="{BB962C8B-B14F-4D97-AF65-F5344CB8AC3E}">
        <p14:creationId xmlns:p14="http://schemas.microsoft.com/office/powerpoint/2010/main" val="33343402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931C2-8B40-5C68-F45F-316F8963BD0D}"/>
              </a:ext>
            </a:extLst>
          </p:cNvPr>
          <p:cNvSpPr>
            <a:spLocks noGrp="1"/>
          </p:cNvSpPr>
          <p:nvPr>
            <p:ph type="title"/>
          </p:nvPr>
        </p:nvSpPr>
        <p:spPr/>
        <p:txBody>
          <a:bodyPr/>
          <a:lstStyle/>
          <a:p>
            <a:r>
              <a:rPr lang="en-IN" b="1" dirty="0"/>
              <a:t>Example &amp; Rules of Primary Keys</a:t>
            </a:r>
          </a:p>
        </p:txBody>
      </p:sp>
      <p:sp>
        <p:nvSpPr>
          <p:cNvPr id="3" name="Content Placeholder 2">
            <a:extLst>
              <a:ext uri="{FF2B5EF4-FFF2-40B4-BE49-F238E27FC236}">
                <a16:creationId xmlns:a16="http://schemas.microsoft.com/office/drawing/2014/main" id="{CA0D2ADC-D5D6-4F50-9C7F-6485DFEF7401}"/>
              </a:ext>
            </a:extLst>
          </p:cNvPr>
          <p:cNvSpPr>
            <a:spLocks noGrp="1"/>
          </p:cNvSpPr>
          <p:nvPr>
            <p:ph idx="1"/>
          </p:nvPr>
        </p:nvSpPr>
        <p:spPr>
          <a:xfrm>
            <a:off x="228600" y="1066800"/>
            <a:ext cx="8763000" cy="5562600"/>
          </a:xfrm>
        </p:spPr>
        <p:txBody>
          <a:bodyPr/>
          <a:lstStyle/>
          <a:p>
            <a:pPr algn="just">
              <a:lnSpc>
                <a:spcPct val="150000"/>
              </a:lnSpc>
            </a:pPr>
            <a:r>
              <a:rPr lang="en-IN" sz="2000" b="1" dirty="0" err="1"/>
              <a:t>StudentID</a:t>
            </a:r>
            <a:r>
              <a:rPr lang="en-IN" sz="2000" dirty="0"/>
              <a:t> in a Students table</a:t>
            </a:r>
          </a:p>
          <a:p>
            <a:pPr algn="just">
              <a:lnSpc>
                <a:spcPct val="150000"/>
              </a:lnSpc>
            </a:pPr>
            <a:r>
              <a:rPr lang="en-IN" sz="2000" b="1" dirty="0" err="1"/>
              <a:t>EmployeeNumber</a:t>
            </a:r>
            <a:r>
              <a:rPr lang="en-IN" sz="2000" dirty="0"/>
              <a:t> in an Employees table</a:t>
            </a:r>
          </a:p>
          <a:p>
            <a:pPr algn="just">
              <a:lnSpc>
                <a:spcPct val="150000"/>
              </a:lnSpc>
            </a:pPr>
            <a:r>
              <a:rPr lang="en-IN" sz="2000" b="1" dirty="0" err="1"/>
              <a:t>OrderID</a:t>
            </a:r>
            <a:r>
              <a:rPr lang="en-IN" sz="2000" dirty="0"/>
              <a:t> in an Orders table</a:t>
            </a:r>
          </a:p>
          <a:p>
            <a:pPr marL="0" indent="0" algn="just">
              <a:lnSpc>
                <a:spcPct val="150000"/>
              </a:lnSpc>
              <a:buNone/>
            </a:pPr>
            <a:r>
              <a:rPr lang="en-IN" sz="2000" b="1" dirty="0"/>
              <a:t>Rules for Primary Keys in DBMS</a:t>
            </a:r>
          </a:p>
          <a:p>
            <a:pPr algn="just">
              <a:lnSpc>
                <a:spcPct val="150000"/>
              </a:lnSpc>
            </a:pPr>
            <a:r>
              <a:rPr lang="en-IN" sz="2000" b="1" dirty="0"/>
              <a:t>No duplicates</a:t>
            </a:r>
            <a:r>
              <a:rPr lang="en-IN" sz="2000" dirty="0"/>
              <a:t>: You cannot repeat the same primary key value across rows.</a:t>
            </a:r>
          </a:p>
          <a:p>
            <a:pPr algn="just">
              <a:lnSpc>
                <a:spcPct val="150000"/>
              </a:lnSpc>
            </a:pPr>
            <a:r>
              <a:rPr lang="en-IN" sz="2000" b="1" dirty="0"/>
              <a:t>No null values</a:t>
            </a:r>
            <a:r>
              <a:rPr lang="en-IN" sz="2000" dirty="0"/>
              <a:t>: A primary key field must always contain data.</a:t>
            </a:r>
          </a:p>
          <a:p>
            <a:pPr algn="just">
              <a:lnSpc>
                <a:spcPct val="150000"/>
              </a:lnSpc>
            </a:pPr>
            <a:r>
              <a:rPr lang="en-IN" sz="2000" b="1" dirty="0"/>
              <a:t>Minimal attributes</a:t>
            </a:r>
            <a:r>
              <a:rPr lang="en-IN" sz="2000" dirty="0"/>
              <a:t>: It should include only the columns you need for unique identification.</a:t>
            </a:r>
          </a:p>
          <a:p>
            <a:pPr algn="just">
              <a:lnSpc>
                <a:spcPct val="150000"/>
              </a:lnSpc>
            </a:pPr>
            <a:r>
              <a:rPr lang="en-IN" sz="2000" b="1" dirty="0"/>
              <a:t>One per table</a:t>
            </a:r>
            <a:r>
              <a:rPr lang="en-IN" sz="2000" dirty="0"/>
              <a:t>: You cannot define two primary keys in the same table.</a:t>
            </a:r>
          </a:p>
          <a:p>
            <a:endParaRPr lang="en-IN" dirty="0"/>
          </a:p>
        </p:txBody>
      </p:sp>
      <p:sp>
        <p:nvSpPr>
          <p:cNvPr id="4" name="Slide Number Placeholder 3">
            <a:extLst>
              <a:ext uri="{FF2B5EF4-FFF2-40B4-BE49-F238E27FC236}">
                <a16:creationId xmlns:a16="http://schemas.microsoft.com/office/drawing/2014/main" id="{217683D9-4E94-799C-E4EB-8F82172BC1E4}"/>
              </a:ext>
            </a:extLst>
          </p:cNvPr>
          <p:cNvSpPr>
            <a:spLocks noGrp="1"/>
          </p:cNvSpPr>
          <p:nvPr>
            <p:ph type="sldNum" sz="quarter" idx="12"/>
          </p:nvPr>
        </p:nvSpPr>
        <p:spPr/>
        <p:txBody>
          <a:bodyPr/>
          <a:lstStyle/>
          <a:p>
            <a:fld id="{8BD8F058-9003-4658-AA47-7D4800AF7EA2}" type="slidenum">
              <a:rPr lang="en-US" smtClean="0"/>
              <a:pPr/>
              <a:t>11</a:t>
            </a:fld>
            <a:endParaRPr lang="en-US" dirty="0"/>
          </a:p>
        </p:txBody>
      </p:sp>
    </p:spTree>
    <p:extLst>
      <p:ext uri="{BB962C8B-B14F-4D97-AF65-F5344CB8AC3E}">
        <p14:creationId xmlns:p14="http://schemas.microsoft.com/office/powerpoint/2010/main" val="36376943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99F0C-AE49-E2A9-C1E2-544CB446DEFE}"/>
              </a:ext>
            </a:extLst>
          </p:cNvPr>
          <p:cNvSpPr>
            <a:spLocks noGrp="1"/>
          </p:cNvSpPr>
          <p:nvPr>
            <p:ph type="title"/>
          </p:nvPr>
        </p:nvSpPr>
        <p:spPr/>
        <p:txBody>
          <a:bodyPr/>
          <a:lstStyle/>
          <a:p>
            <a:r>
              <a:rPr lang="en-IN" b="1" dirty="0"/>
              <a:t>Primary Key vs Unique Key</a:t>
            </a:r>
            <a:endParaRPr lang="en-IN" dirty="0"/>
          </a:p>
        </p:txBody>
      </p:sp>
      <p:sp>
        <p:nvSpPr>
          <p:cNvPr id="3" name="Content Placeholder 2">
            <a:extLst>
              <a:ext uri="{FF2B5EF4-FFF2-40B4-BE49-F238E27FC236}">
                <a16:creationId xmlns:a16="http://schemas.microsoft.com/office/drawing/2014/main" id="{F7E92CA2-F729-5300-982B-EAFC4A810933}"/>
              </a:ext>
            </a:extLst>
          </p:cNvPr>
          <p:cNvSpPr>
            <a:spLocks noGrp="1"/>
          </p:cNvSpPr>
          <p:nvPr>
            <p:ph idx="1"/>
          </p:nvPr>
        </p:nvSpPr>
        <p:spPr/>
        <p:txBody>
          <a:bodyPr/>
          <a:lstStyle/>
          <a:p>
            <a:pPr algn="just">
              <a:lnSpc>
                <a:spcPct val="150000"/>
              </a:lnSpc>
            </a:pPr>
            <a:r>
              <a:rPr lang="en-IN" sz="2000" dirty="0"/>
              <a:t>Primary keys and unique keys both keep duplicate data out of your table. They do so in slightly different ways, especially when you consider their rules on null values and how they fit into the bigger design. Understanding these differences can make your database structure more efficient and flexible.</a:t>
            </a:r>
          </a:p>
          <a:p>
            <a:endParaRPr lang="en-IN" dirty="0"/>
          </a:p>
        </p:txBody>
      </p:sp>
      <p:sp>
        <p:nvSpPr>
          <p:cNvPr id="4" name="Slide Number Placeholder 3">
            <a:extLst>
              <a:ext uri="{FF2B5EF4-FFF2-40B4-BE49-F238E27FC236}">
                <a16:creationId xmlns:a16="http://schemas.microsoft.com/office/drawing/2014/main" id="{0BE947C8-5608-5A68-9F5D-5180D6395A00}"/>
              </a:ext>
            </a:extLst>
          </p:cNvPr>
          <p:cNvSpPr>
            <a:spLocks noGrp="1"/>
          </p:cNvSpPr>
          <p:nvPr>
            <p:ph type="sldNum" sz="quarter" idx="12"/>
          </p:nvPr>
        </p:nvSpPr>
        <p:spPr/>
        <p:txBody>
          <a:bodyPr/>
          <a:lstStyle/>
          <a:p>
            <a:fld id="{8BD8F058-9003-4658-AA47-7D4800AF7EA2}" type="slidenum">
              <a:rPr lang="en-US" smtClean="0"/>
              <a:pPr/>
              <a:t>12</a:t>
            </a:fld>
            <a:endParaRPr lang="en-US" dirty="0"/>
          </a:p>
        </p:txBody>
      </p:sp>
    </p:spTree>
    <p:extLst>
      <p:ext uri="{BB962C8B-B14F-4D97-AF65-F5344CB8AC3E}">
        <p14:creationId xmlns:p14="http://schemas.microsoft.com/office/powerpoint/2010/main" val="52960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968C5-BC68-1647-8721-28555B834DDE}"/>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4D9EFD5C-4616-ECB3-5499-6121AEE60A07}"/>
              </a:ext>
            </a:extLst>
          </p:cNvPr>
          <p:cNvSpPr>
            <a:spLocks noGrp="1"/>
          </p:cNvSpPr>
          <p:nvPr>
            <p:ph type="sldNum" sz="quarter" idx="12"/>
          </p:nvPr>
        </p:nvSpPr>
        <p:spPr/>
        <p:txBody>
          <a:bodyPr/>
          <a:lstStyle/>
          <a:p>
            <a:fld id="{8BD8F058-9003-4658-AA47-7D4800AF7EA2}" type="slidenum">
              <a:rPr lang="en-US" smtClean="0"/>
              <a:pPr/>
              <a:t>13</a:t>
            </a:fld>
            <a:endParaRPr lang="en-US" dirty="0"/>
          </a:p>
        </p:txBody>
      </p:sp>
      <p:graphicFrame>
        <p:nvGraphicFramePr>
          <p:cNvPr id="8" name="Content Placeholder 7">
            <a:extLst>
              <a:ext uri="{FF2B5EF4-FFF2-40B4-BE49-F238E27FC236}">
                <a16:creationId xmlns:a16="http://schemas.microsoft.com/office/drawing/2014/main" id="{F9B285C3-2DF9-34F2-64B0-FDBEAD84DB1D}"/>
              </a:ext>
            </a:extLst>
          </p:cNvPr>
          <p:cNvGraphicFramePr>
            <a:graphicFrameLocks noGrp="1"/>
          </p:cNvGraphicFramePr>
          <p:nvPr>
            <p:ph idx="1"/>
            <p:extLst>
              <p:ext uri="{D42A27DB-BD31-4B8C-83A1-F6EECF244321}">
                <p14:modId xmlns:p14="http://schemas.microsoft.com/office/powerpoint/2010/main" val="2888380225"/>
              </p:ext>
            </p:extLst>
          </p:nvPr>
        </p:nvGraphicFramePr>
        <p:xfrm>
          <a:off x="152400" y="914400"/>
          <a:ext cx="8763000" cy="5878066"/>
        </p:xfrm>
        <a:graphic>
          <a:graphicData uri="http://schemas.openxmlformats.org/drawingml/2006/table">
            <a:tbl>
              <a:tblPr/>
              <a:tblGrid>
                <a:gridCol w="1905000">
                  <a:extLst>
                    <a:ext uri="{9D8B030D-6E8A-4147-A177-3AD203B41FA5}">
                      <a16:colId xmlns:a16="http://schemas.microsoft.com/office/drawing/2014/main" val="3955818049"/>
                    </a:ext>
                  </a:extLst>
                </a:gridCol>
                <a:gridCol w="3048000">
                  <a:extLst>
                    <a:ext uri="{9D8B030D-6E8A-4147-A177-3AD203B41FA5}">
                      <a16:colId xmlns:a16="http://schemas.microsoft.com/office/drawing/2014/main" val="691611946"/>
                    </a:ext>
                  </a:extLst>
                </a:gridCol>
                <a:gridCol w="3810000">
                  <a:extLst>
                    <a:ext uri="{9D8B030D-6E8A-4147-A177-3AD203B41FA5}">
                      <a16:colId xmlns:a16="http://schemas.microsoft.com/office/drawing/2014/main" val="2366785134"/>
                    </a:ext>
                  </a:extLst>
                </a:gridCol>
              </a:tblGrid>
              <a:tr h="459136">
                <a:tc>
                  <a:txBody>
                    <a:bodyPr/>
                    <a:lstStyle/>
                    <a:p>
                      <a:pPr algn="ctr">
                        <a:lnSpc>
                          <a:spcPts val="1500"/>
                        </a:lnSpc>
                        <a:buNone/>
                      </a:pPr>
                      <a:r>
                        <a:rPr lang="en-IN" sz="2000" b="1">
                          <a:solidFill>
                            <a:srgbClr val="333333"/>
                          </a:solidFill>
                          <a:effectLst/>
                          <a:latin typeface="+mn-lt"/>
                        </a:rPr>
                        <a:t>Aspect</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sz="2000" b="1">
                          <a:solidFill>
                            <a:srgbClr val="333333"/>
                          </a:solidFill>
                          <a:effectLst/>
                          <a:latin typeface="+mn-lt"/>
                        </a:rPr>
                        <a:t>Primary Key</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sz="2000" b="1">
                          <a:solidFill>
                            <a:srgbClr val="333333"/>
                          </a:solidFill>
                          <a:effectLst/>
                          <a:latin typeface="+mn-lt"/>
                        </a:rPr>
                        <a:t>Unique Key</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931938136"/>
                  </a:ext>
                </a:extLst>
              </a:tr>
              <a:tr h="1261574">
                <a:tc>
                  <a:txBody>
                    <a:bodyPr/>
                    <a:lstStyle/>
                    <a:p>
                      <a:pPr>
                        <a:lnSpc>
                          <a:spcPct val="100000"/>
                        </a:lnSpc>
                      </a:pPr>
                      <a:r>
                        <a:rPr lang="en-IN" sz="2000">
                          <a:solidFill>
                            <a:srgbClr val="000000"/>
                          </a:solidFill>
                          <a:effectLst/>
                          <a:latin typeface="+mn-lt"/>
                        </a:rPr>
                        <a:t>Definition</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a:solidFill>
                            <a:srgbClr val="000000"/>
                          </a:solidFill>
                          <a:effectLst/>
                          <a:latin typeface="+mn-lt"/>
                        </a:rPr>
                        <a:t>Identifies rows by disallowing duplicates and nulls.</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a:solidFill>
                            <a:srgbClr val="000000"/>
                          </a:solidFill>
                          <a:effectLst/>
                          <a:latin typeface="+mn-lt"/>
                        </a:rPr>
                        <a:t>Demands distinct values in a column but can allow one null (depending on the database system).</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646102211"/>
                  </a:ext>
                </a:extLst>
              </a:tr>
              <a:tr h="878917">
                <a:tc>
                  <a:txBody>
                    <a:bodyPr/>
                    <a:lstStyle/>
                    <a:p>
                      <a:pPr>
                        <a:lnSpc>
                          <a:spcPct val="100000"/>
                        </a:lnSpc>
                      </a:pPr>
                      <a:r>
                        <a:rPr lang="en-IN" sz="2000">
                          <a:solidFill>
                            <a:srgbClr val="000000"/>
                          </a:solidFill>
                          <a:effectLst/>
                          <a:latin typeface="+mn-lt"/>
                        </a:rPr>
                        <a:t>Number Allowed</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a:solidFill>
                            <a:srgbClr val="000000"/>
                          </a:solidFill>
                          <a:effectLst/>
                          <a:latin typeface="+mn-lt"/>
                        </a:rPr>
                        <a:t>Only one per table</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a:solidFill>
                            <a:srgbClr val="000000"/>
                          </a:solidFill>
                          <a:effectLst/>
                          <a:latin typeface="+mn-lt"/>
                        </a:rPr>
                        <a:t>You can create multiple unique keys in the same table.</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098300973"/>
                  </a:ext>
                </a:extLst>
              </a:tr>
              <a:tr h="1112463">
                <a:tc>
                  <a:txBody>
                    <a:bodyPr/>
                    <a:lstStyle/>
                    <a:p>
                      <a:pPr>
                        <a:lnSpc>
                          <a:spcPct val="100000"/>
                        </a:lnSpc>
                      </a:pPr>
                      <a:r>
                        <a:rPr lang="en-IN" sz="2000">
                          <a:solidFill>
                            <a:srgbClr val="000000"/>
                          </a:solidFill>
                          <a:effectLst/>
                          <a:latin typeface="+mn-lt"/>
                        </a:rPr>
                        <a:t>Handling Nulls</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a:solidFill>
                            <a:srgbClr val="000000"/>
                          </a:solidFill>
                          <a:effectLst/>
                          <a:latin typeface="+mn-lt"/>
                        </a:rPr>
                        <a:t>Never permits null values</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a:solidFill>
                            <a:srgbClr val="000000"/>
                          </a:solidFill>
                          <a:effectLst/>
                          <a:latin typeface="+mn-lt"/>
                        </a:rPr>
                        <a:t>Typically allows one null, but disallows duplicates among non-null entries.</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855137922"/>
                  </a:ext>
                </a:extLst>
              </a:tr>
              <a:tr h="1261574">
                <a:tc>
                  <a:txBody>
                    <a:bodyPr/>
                    <a:lstStyle/>
                    <a:p>
                      <a:pPr>
                        <a:lnSpc>
                          <a:spcPct val="100000"/>
                        </a:lnSpc>
                      </a:pPr>
                      <a:r>
                        <a:rPr lang="en-IN" sz="2000">
                          <a:solidFill>
                            <a:srgbClr val="000000"/>
                          </a:solidFill>
                          <a:effectLst/>
                          <a:latin typeface="+mn-lt"/>
                        </a:rPr>
                        <a:t>Role</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a:solidFill>
                            <a:srgbClr val="000000"/>
                          </a:solidFill>
                          <a:effectLst/>
                          <a:latin typeface="+mn-lt"/>
                        </a:rPr>
                        <a:t>Serves as the main reference for relationships in other tables.</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a:solidFill>
                            <a:srgbClr val="000000"/>
                          </a:solidFill>
                          <a:effectLst/>
                          <a:latin typeface="+mn-lt"/>
                        </a:rPr>
                        <a:t>Provides an extra layer of uniqueness without being the table’s primary reference.</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781714232"/>
                  </a:ext>
                </a:extLst>
              </a:tr>
              <a:tr h="665136">
                <a:tc>
                  <a:txBody>
                    <a:bodyPr/>
                    <a:lstStyle/>
                    <a:p>
                      <a:pPr>
                        <a:lnSpc>
                          <a:spcPct val="100000"/>
                        </a:lnSpc>
                      </a:pPr>
                      <a:r>
                        <a:rPr lang="en-IN" sz="2000">
                          <a:solidFill>
                            <a:srgbClr val="000000"/>
                          </a:solidFill>
                          <a:effectLst/>
                          <a:latin typeface="+mn-lt"/>
                        </a:rPr>
                        <a:t>Enforcement Method</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a:solidFill>
                            <a:srgbClr val="000000"/>
                          </a:solidFill>
                          <a:effectLst/>
                          <a:latin typeface="+mn-lt"/>
                        </a:rPr>
                        <a:t>Declared with the PRIMARY KEY constraint</a:t>
                      </a:r>
                      <a:endParaRPr lang="en-IN" sz="200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ct val="100000"/>
                        </a:lnSpc>
                      </a:pPr>
                      <a:r>
                        <a:rPr lang="en-IN" sz="2000" dirty="0">
                          <a:solidFill>
                            <a:srgbClr val="000000"/>
                          </a:solidFill>
                          <a:effectLst/>
                          <a:latin typeface="+mn-lt"/>
                        </a:rPr>
                        <a:t>Enforced via the UNIQUE constraint</a:t>
                      </a:r>
                      <a:endParaRPr lang="en-IN" sz="2000" dirty="0">
                        <a:solidFill>
                          <a:srgbClr val="333333"/>
                        </a:solidFill>
                        <a:effectLst/>
                        <a:latin typeface="+mn-lt"/>
                      </a:endParaRPr>
                    </a:p>
                  </a:txBody>
                  <a:tcPr marL="84294" marR="84294" marT="84294" marB="84294"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809567061"/>
                  </a:ext>
                </a:extLst>
              </a:tr>
            </a:tbl>
          </a:graphicData>
        </a:graphic>
      </p:graphicFrame>
    </p:spTree>
    <p:extLst>
      <p:ext uri="{BB962C8B-B14F-4D97-AF65-F5344CB8AC3E}">
        <p14:creationId xmlns:p14="http://schemas.microsoft.com/office/powerpoint/2010/main" val="1360076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F6BC9-6A52-9897-7911-3238EF1022BE}"/>
              </a:ext>
            </a:extLst>
          </p:cNvPr>
          <p:cNvSpPr>
            <a:spLocks noGrp="1"/>
          </p:cNvSpPr>
          <p:nvPr>
            <p:ph type="title"/>
          </p:nvPr>
        </p:nvSpPr>
        <p:spPr/>
        <p:txBody>
          <a:bodyPr/>
          <a:lstStyle/>
          <a:p>
            <a:r>
              <a:rPr lang="en-IN" b="1" dirty="0"/>
              <a:t>Candidate Key</a:t>
            </a:r>
          </a:p>
        </p:txBody>
      </p:sp>
      <p:sp>
        <p:nvSpPr>
          <p:cNvPr id="3" name="Content Placeholder 2">
            <a:extLst>
              <a:ext uri="{FF2B5EF4-FFF2-40B4-BE49-F238E27FC236}">
                <a16:creationId xmlns:a16="http://schemas.microsoft.com/office/drawing/2014/main" id="{F189562C-5B25-AE3C-D152-0C17CB72B253}"/>
              </a:ext>
            </a:extLst>
          </p:cNvPr>
          <p:cNvSpPr>
            <a:spLocks noGrp="1"/>
          </p:cNvSpPr>
          <p:nvPr>
            <p:ph idx="1"/>
          </p:nvPr>
        </p:nvSpPr>
        <p:spPr>
          <a:xfrm>
            <a:off x="304800" y="1066800"/>
            <a:ext cx="8229600" cy="4525963"/>
          </a:xfrm>
        </p:spPr>
        <p:txBody>
          <a:bodyPr/>
          <a:lstStyle/>
          <a:p>
            <a:pPr algn="just">
              <a:lnSpc>
                <a:spcPct val="150000"/>
              </a:lnSpc>
            </a:pPr>
            <a:r>
              <a:rPr lang="en-IN" sz="2000" u="sng" dirty="0">
                <a:hlinkClick r:id="rId2"/>
              </a:rPr>
              <a:t>A candidate key</a:t>
            </a:r>
            <a:r>
              <a:rPr lang="en-IN" sz="2000" dirty="0"/>
              <a:t> is a minimal group of columns that guarantee a row’s uniqueness in a table. Unlike a super key, which can hold extra columns that aren’t required for uniqueness, a candidate key includes only what’s strictly necessary.</a:t>
            </a:r>
          </a:p>
          <a:p>
            <a:pPr algn="just">
              <a:lnSpc>
                <a:spcPct val="150000"/>
              </a:lnSpc>
            </a:pPr>
            <a:r>
              <a:rPr lang="en-IN" sz="2000" dirty="0"/>
              <a:t>You may find several candidate keys in a single table, but each one meets the same standard: no duplicates and no extra fields that could be removed without losing uniqueness.</a:t>
            </a:r>
          </a:p>
        </p:txBody>
      </p:sp>
      <p:sp>
        <p:nvSpPr>
          <p:cNvPr id="4" name="Slide Number Placeholder 3">
            <a:extLst>
              <a:ext uri="{FF2B5EF4-FFF2-40B4-BE49-F238E27FC236}">
                <a16:creationId xmlns:a16="http://schemas.microsoft.com/office/drawing/2014/main" id="{0FE050C0-F2E6-B4B3-9689-744284A2EF82}"/>
              </a:ext>
            </a:extLst>
          </p:cNvPr>
          <p:cNvSpPr>
            <a:spLocks noGrp="1"/>
          </p:cNvSpPr>
          <p:nvPr>
            <p:ph type="sldNum" sz="quarter" idx="12"/>
          </p:nvPr>
        </p:nvSpPr>
        <p:spPr/>
        <p:txBody>
          <a:bodyPr/>
          <a:lstStyle/>
          <a:p>
            <a:fld id="{8BD8F058-9003-4658-AA47-7D4800AF7EA2}" type="slidenum">
              <a:rPr lang="en-US" smtClean="0"/>
              <a:pPr/>
              <a:t>14</a:t>
            </a:fld>
            <a:endParaRPr lang="en-US"/>
          </a:p>
        </p:txBody>
      </p:sp>
    </p:spTree>
    <p:extLst>
      <p:ext uri="{BB962C8B-B14F-4D97-AF65-F5344CB8AC3E}">
        <p14:creationId xmlns:p14="http://schemas.microsoft.com/office/powerpoint/2010/main" val="1751061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F6864-6962-30FF-CCC4-67922707DA60}"/>
              </a:ext>
            </a:extLst>
          </p:cNvPr>
          <p:cNvSpPr>
            <a:spLocks noGrp="1"/>
          </p:cNvSpPr>
          <p:nvPr>
            <p:ph type="title"/>
          </p:nvPr>
        </p:nvSpPr>
        <p:spPr/>
        <p:txBody>
          <a:bodyPr/>
          <a:lstStyle/>
          <a:p>
            <a:r>
              <a:rPr lang="en-IN" dirty="0"/>
              <a:t>Candidate key</a:t>
            </a:r>
          </a:p>
        </p:txBody>
      </p:sp>
      <p:graphicFrame>
        <p:nvGraphicFramePr>
          <p:cNvPr id="5" name="Content Placeholder 4">
            <a:extLst>
              <a:ext uri="{FF2B5EF4-FFF2-40B4-BE49-F238E27FC236}">
                <a16:creationId xmlns:a16="http://schemas.microsoft.com/office/drawing/2014/main" id="{A9F296D3-9A0D-757C-1E0D-0A08D04A5374}"/>
              </a:ext>
            </a:extLst>
          </p:cNvPr>
          <p:cNvGraphicFramePr>
            <a:graphicFrameLocks noGrp="1"/>
          </p:cNvGraphicFramePr>
          <p:nvPr>
            <p:ph idx="1"/>
            <p:extLst>
              <p:ext uri="{D42A27DB-BD31-4B8C-83A1-F6EECF244321}">
                <p14:modId xmlns:p14="http://schemas.microsoft.com/office/powerpoint/2010/main" val="2575763914"/>
              </p:ext>
            </p:extLst>
          </p:nvPr>
        </p:nvGraphicFramePr>
        <p:xfrm>
          <a:off x="296917" y="1447800"/>
          <a:ext cx="8542284" cy="1759585"/>
        </p:xfrm>
        <a:graphic>
          <a:graphicData uri="http://schemas.openxmlformats.org/drawingml/2006/table">
            <a:tbl>
              <a:tblPr/>
              <a:tblGrid>
                <a:gridCol w="1369088">
                  <a:extLst>
                    <a:ext uri="{9D8B030D-6E8A-4147-A177-3AD203B41FA5}">
                      <a16:colId xmlns:a16="http://schemas.microsoft.com/office/drawing/2014/main" val="2964847449"/>
                    </a:ext>
                  </a:extLst>
                </a:gridCol>
                <a:gridCol w="1723808">
                  <a:extLst>
                    <a:ext uri="{9D8B030D-6E8A-4147-A177-3AD203B41FA5}">
                      <a16:colId xmlns:a16="http://schemas.microsoft.com/office/drawing/2014/main" val="3928227868"/>
                    </a:ext>
                  </a:extLst>
                </a:gridCol>
                <a:gridCol w="1767369">
                  <a:extLst>
                    <a:ext uri="{9D8B030D-6E8A-4147-A177-3AD203B41FA5}">
                      <a16:colId xmlns:a16="http://schemas.microsoft.com/office/drawing/2014/main" val="3191060942"/>
                    </a:ext>
                  </a:extLst>
                </a:gridCol>
                <a:gridCol w="1620088">
                  <a:extLst>
                    <a:ext uri="{9D8B030D-6E8A-4147-A177-3AD203B41FA5}">
                      <a16:colId xmlns:a16="http://schemas.microsoft.com/office/drawing/2014/main" val="4017005861"/>
                    </a:ext>
                  </a:extLst>
                </a:gridCol>
                <a:gridCol w="2061931">
                  <a:extLst>
                    <a:ext uri="{9D8B030D-6E8A-4147-A177-3AD203B41FA5}">
                      <a16:colId xmlns:a16="http://schemas.microsoft.com/office/drawing/2014/main" val="3571341326"/>
                    </a:ext>
                  </a:extLst>
                </a:gridCol>
              </a:tblGrid>
              <a:tr h="0">
                <a:tc>
                  <a:txBody>
                    <a:bodyPr/>
                    <a:lstStyle/>
                    <a:p>
                      <a:pPr algn="ctr">
                        <a:lnSpc>
                          <a:spcPts val="1500"/>
                        </a:lnSpc>
                        <a:buNone/>
                      </a:pPr>
                      <a:r>
                        <a:rPr lang="en-IN" b="1">
                          <a:solidFill>
                            <a:srgbClr val="333333"/>
                          </a:solidFill>
                          <a:effectLst/>
                          <a:latin typeface="__CircularFontRegular_2948a7"/>
                        </a:rPr>
                        <a:t>FlightID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FlightNumber</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dirty="0" err="1">
                          <a:solidFill>
                            <a:srgbClr val="333333"/>
                          </a:solidFill>
                          <a:effectLst/>
                          <a:latin typeface="__CircularFontRegular_2948a7"/>
                        </a:rPr>
                        <a:t>DepartureTime</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ArrivalTime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GateNumber</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982436886"/>
                  </a:ext>
                </a:extLst>
              </a:tr>
              <a:tr h="0">
                <a:tc>
                  <a:txBody>
                    <a:bodyPr/>
                    <a:lstStyle/>
                    <a:p>
                      <a:pPr>
                        <a:lnSpc>
                          <a:spcPts val="1350"/>
                        </a:lnSpc>
                      </a:pPr>
                      <a:r>
                        <a:rPr lang="en-IN" dirty="0">
                          <a:solidFill>
                            <a:srgbClr val="000000"/>
                          </a:solidFill>
                          <a:effectLst/>
                          <a:latin typeface="__CircularFontRegular_2948a7"/>
                        </a:rPr>
                        <a:t>1</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AI-203</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8:30 AM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10:45 AM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B5</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885244348"/>
                  </a:ext>
                </a:extLst>
              </a:tr>
              <a:tr h="0">
                <a:tc>
                  <a:txBody>
                    <a:bodyPr/>
                    <a:lstStyle/>
                    <a:p>
                      <a:pPr>
                        <a:lnSpc>
                          <a:spcPts val="1350"/>
                        </a:lnSpc>
                      </a:pPr>
                      <a:r>
                        <a:rPr lang="en-IN">
                          <a:solidFill>
                            <a:srgbClr val="000000"/>
                          </a:solidFill>
                          <a:effectLst/>
                          <a:latin typeface="__CircularFontRegular_2948a7"/>
                        </a:rPr>
                        <a:t>2</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AI-204</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9:00 PM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11:15 PM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dirty="0">
                          <a:solidFill>
                            <a:srgbClr val="000000"/>
                          </a:solidFill>
                          <a:effectLst/>
                          <a:latin typeface="__CircularFontRegular_2948a7"/>
                        </a:rPr>
                        <a:t>B7</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741161099"/>
                  </a:ext>
                </a:extLst>
              </a:tr>
              <a:tr h="0">
                <a:tc>
                  <a:txBody>
                    <a:bodyPr/>
                    <a:lstStyle/>
                    <a:p>
                      <a:pPr>
                        <a:lnSpc>
                          <a:spcPts val="1350"/>
                        </a:lnSpc>
                      </a:pPr>
                      <a:r>
                        <a:rPr lang="en-IN">
                          <a:solidFill>
                            <a:srgbClr val="000000"/>
                          </a:solidFill>
                          <a:effectLst/>
                          <a:latin typeface="__CircularFontRegular_2948a7"/>
                        </a:rPr>
                        <a:t>3</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AI-205</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10:00 AM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12:20 AM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dirty="0">
                          <a:solidFill>
                            <a:srgbClr val="000000"/>
                          </a:solidFill>
                          <a:effectLst/>
                          <a:latin typeface="__CircularFontRegular_2948a7"/>
                        </a:rPr>
                        <a:t>C1</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510239090"/>
                  </a:ext>
                </a:extLst>
              </a:tr>
            </a:tbl>
          </a:graphicData>
        </a:graphic>
      </p:graphicFrame>
      <p:sp>
        <p:nvSpPr>
          <p:cNvPr id="4" name="Slide Number Placeholder 3">
            <a:extLst>
              <a:ext uri="{FF2B5EF4-FFF2-40B4-BE49-F238E27FC236}">
                <a16:creationId xmlns:a16="http://schemas.microsoft.com/office/drawing/2014/main" id="{E011C079-CE02-205A-CEE7-D0DAF510C056}"/>
              </a:ext>
            </a:extLst>
          </p:cNvPr>
          <p:cNvSpPr>
            <a:spLocks noGrp="1"/>
          </p:cNvSpPr>
          <p:nvPr>
            <p:ph type="sldNum" sz="quarter" idx="12"/>
          </p:nvPr>
        </p:nvSpPr>
        <p:spPr/>
        <p:txBody>
          <a:bodyPr/>
          <a:lstStyle/>
          <a:p>
            <a:fld id="{8BD8F058-9003-4658-AA47-7D4800AF7EA2}" type="slidenum">
              <a:rPr lang="en-US" smtClean="0"/>
              <a:pPr/>
              <a:t>15</a:t>
            </a:fld>
            <a:endParaRPr lang="en-US"/>
          </a:p>
        </p:txBody>
      </p:sp>
      <p:sp>
        <p:nvSpPr>
          <p:cNvPr id="7" name="TextBox 6">
            <a:extLst>
              <a:ext uri="{FF2B5EF4-FFF2-40B4-BE49-F238E27FC236}">
                <a16:creationId xmlns:a16="http://schemas.microsoft.com/office/drawing/2014/main" id="{60B4896A-D463-DACA-EF75-353B4DB35191}"/>
              </a:ext>
            </a:extLst>
          </p:cNvPr>
          <p:cNvSpPr txBox="1"/>
          <p:nvPr/>
        </p:nvSpPr>
        <p:spPr>
          <a:xfrm>
            <a:off x="491359" y="3694387"/>
            <a:ext cx="8153400" cy="2564163"/>
          </a:xfrm>
          <a:prstGeom prst="rect">
            <a:avLst/>
          </a:prstGeom>
          <a:noFill/>
        </p:spPr>
        <p:txBody>
          <a:bodyPr wrap="square">
            <a:spAutoFit/>
          </a:bodyPr>
          <a:lstStyle/>
          <a:p>
            <a:pPr algn="l">
              <a:lnSpc>
                <a:spcPts val="2400"/>
              </a:lnSpc>
              <a:spcAft>
                <a:spcPts val="750"/>
              </a:spcAft>
              <a:buNone/>
            </a:pPr>
            <a:r>
              <a:rPr lang="en-IN" b="1" i="0" dirty="0">
                <a:solidFill>
                  <a:srgbClr val="000000"/>
                </a:solidFill>
                <a:effectLst/>
                <a:latin typeface="__CircularFontRegular_2948a7"/>
              </a:rPr>
              <a:t>Examples of Candidate Key in Relational Database</a:t>
            </a:r>
            <a:endParaRPr lang="en-IN" b="1" i="0" dirty="0">
              <a:solidFill>
                <a:srgbClr val="000000"/>
              </a:solidFill>
              <a:effectLst/>
              <a:latin typeface="__CircularFontMedium_e876ec"/>
            </a:endParaRPr>
          </a:p>
          <a:p>
            <a:pPr algn="l">
              <a:lnSpc>
                <a:spcPts val="2400"/>
              </a:lnSpc>
              <a:spcBef>
                <a:spcPts val="1800"/>
              </a:spcBef>
              <a:spcAft>
                <a:spcPts val="1800"/>
              </a:spcAft>
              <a:buFont typeface="Arial" panose="020B0604020202020204" pitchFamily="34" charset="0"/>
              <a:buChar char="•"/>
            </a:pPr>
            <a:r>
              <a:rPr lang="en-IN" b="1" i="0" dirty="0">
                <a:solidFill>
                  <a:srgbClr val="333333"/>
                </a:solidFill>
                <a:effectLst/>
                <a:latin typeface="__CircularFontRegular_2948a7"/>
              </a:rPr>
              <a:t>(Email)</a:t>
            </a:r>
            <a:r>
              <a:rPr lang="en-IN" b="0" i="0" dirty="0">
                <a:solidFill>
                  <a:srgbClr val="000000"/>
                </a:solidFill>
                <a:effectLst/>
                <a:latin typeface="__CircularFontRegular_2948a7"/>
              </a:rPr>
              <a:t> in a Users table, assuming no one shares the same email</a:t>
            </a:r>
            <a:endParaRPr lang="en-IN" b="0" i="0" dirty="0">
              <a:solidFill>
                <a:srgbClr val="333333"/>
              </a:solidFill>
              <a:effectLst/>
              <a:latin typeface="__CircularFontRegular_2948a7"/>
            </a:endParaRPr>
          </a:p>
          <a:p>
            <a:pPr algn="l">
              <a:lnSpc>
                <a:spcPts val="2400"/>
              </a:lnSpc>
              <a:spcBef>
                <a:spcPts val="1800"/>
              </a:spcBef>
              <a:spcAft>
                <a:spcPts val="1800"/>
              </a:spcAft>
              <a:buFont typeface="Arial" panose="020B0604020202020204" pitchFamily="34" charset="0"/>
              <a:buChar char="•"/>
            </a:pPr>
            <a:r>
              <a:rPr lang="en-IN" b="1" i="0" dirty="0">
                <a:solidFill>
                  <a:srgbClr val="333333"/>
                </a:solidFill>
                <a:effectLst/>
                <a:latin typeface="__CircularFontRegular_2948a7"/>
              </a:rPr>
              <a:t>(</a:t>
            </a:r>
            <a:r>
              <a:rPr lang="en-IN" b="1" i="0" dirty="0" err="1">
                <a:solidFill>
                  <a:srgbClr val="333333"/>
                </a:solidFill>
                <a:effectLst/>
                <a:latin typeface="__CircularFontRegular_2948a7"/>
              </a:rPr>
              <a:t>PhoneNumber</a:t>
            </a:r>
            <a:r>
              <a:rPr lang="en-IN" b="1" i="0" dirty="0">
                <a:solidFill>
                  <a:srgbClr val="333333"/>
                </a:solidFill>
                <a:effectLst/>
                <a:latin typeface="__CircularFontRegular_2948a7"/>
              </a:rPr>
              <a:t>)</a:t>
            </a:r>
            <a:r>
              <a:rPr lang="en-IN" b="0" i="0" dirty="0">
                <a:solidFill>
                  <a:srgbClr val="000000"/>
                </a:solidFill>
                <a:effectLst/>
                <a:latin typeface="__CircularFontRegular_2948a7"/>
              </a:rPr>
              <a:t> in a Contacts table, if it remains unique for each row</a:t>
            </a:r>
            <a:endParaRPr lang="en-IN" b="0" i="0" dirty="0">
              <a:solidFill>
                <a:srgbClr val="333333"/>
              </a:solidFill>
              <a:effectLst/>
              <a:latin typeface="__CircularFontRegular_2948a7"/>
            </a:endParaRPr>
          </a:p>
          <a:p>
            <a:pPr algn="l">
              <a:lnSpc>
                <a:spcPts val="2400"/>
              </a:lnSpc>
              <a:spcBef>
                <a:spcPts val="1800"/>
              </a:spcBef>
              <a:spcAft>
                <a:spcPts val="1800"/>
              </a:spcAft>
              <a:buFont typeface="Arial" panose="020B0604020202020204" pitchFamily="34" charset="0"/>
              <a:buChar char="•"/>
            </a:pPr>
            <a:r>
              <a:rPr lang="en-IN" b="1" i="0" dirty="0">
                <a:solidFill>
                  <a:srgbClr val="333333"/>
                </a:solidFill>
                <a:effectLst/>
                <a:latin typeface="__CircularFontRegular_2948a7"/>
              </a:rPr>
              <a:t>(</a:t>
            </a:r>
            <a:r>
              <a:rPr lang="en-IN" b="1" i="0" dirty="0" err="1">
                <a:solidFill>
                  <a:srgbClr val="333333"/>
                </a:solidFill>
                <a:effectLst/>
                <a:latin typeface="__CircularFontRegular_2948a7"/>
              </a:rPr>
              <a:t>FlightID</a:t>
            </a:r>
            <a:r>
              <a:rPr lang="en-IN" b="1" i="0" dirty="0">
                <a:solidFill>
                  <a:srgbClr val="333333"/>
                </a:solidFill>
                <a:effectLst/>
                <a:latin typeface="__CircularFontRegular_2948a7"/>
              </a:rPr>
              <a:t>)</a:t>
            </a:r>
            <a:r>
              <a:rPr lang="en-IN" b="0" i="0" dirty="0">
                <a:solidFill>
                  <a:srgbClr val="000000"/>
                </a:solidFill>
                <a:effectLst/>
                <a:latin typeface="__CircularFontRegular_2948a7"/>
              </a:rPr>
              <a:t> in an airline’s flight details table</a:t>
            </a:r>
            <a:endParaRPr lang="en-IN" b="0" i="0" dirty="0">
              <a:solidFill>
                <a:srgbClr val="333333"/>
              </a:solidFill>
              <a:effectLst/>
              <a:latin typeface="__CircularFontRegular_2948a7"/>
            </a:endParaRPr>
          </a:p>
        </p:txBody>
      </p:sp>
    </p:spTree>
    <p:extLst>
      <p:ext uri="{BB962C8B-B14F-4D97-AF65-F5344CB8AC3E}">
        <p14:creationId xmlns:p14="http://schemas.microsoft.com/office/powerpoint/2010/main" val="588536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12E7D-4A41-BEC1-5F88-AA3F08DE73A3}"/>
              </a:ext>
            </a:extLst>
          </p:cNvPr>
          <p:cNvSpPr>
            <a:spLocks noGrp="1"/>
          </p:cNvSpPr>
          <p:nvPr>
            <p:ph type="title"/>
          </p:nvPr>
        </p:nvSpPr>
        <p:spPr/>
        <p:txBody>
          <a:bodyPr/>
          <a:lstStyle/>
          <a:p>
            <a:br>
              <a:rPr lang="en-IN" b="1" dirty="0"/>
            </a:br>
            <a:r>
              <a:rPr lang="en-IN" b="1" dirty="0"/>
              <a:t>Rules for Candidate Keys in DBMS</a:t>
            </a:r>
            <a:br>
              <a:rPr lang="en-IN" b="1" dirty="0"/>
            </a:br>
            <a:endParaRPr lang="en-IN" dirty="0"/>
          </a:p>
        </p:txBody>
      </p:sp>
      <p:sp>
        <p:nvSpPr>
          <p:cNvPr id="3" name="Content Placeholder 2">
            <a:extLst>
              <a:ext uri="{FF2B5EF4-FFF2-40B4-BE49-F238E27FC236}">
                <a16:creationId xmlns:a16="http://schemas.microsoft.com/office/drawing/2014/main" id="{6435B4DC-65FE-AAA1-8F67-300ACCB9124C}"/>
              </a:ext>
            </a:extLst>
          </p:cNvPr>
          <p:cNvSpPr>
            <a:spLocks noGrp="1"/>
          </p:cNvSpPr>
          <p:nvPr>
            <p:ph idx="1"/>
          </p:nvPr>
        </p:nvSpPr>
        <p:spPr>
          <a:xfrm>
            <a:off x="457200" y="1066800"/>
            <a:ext cx="8229600" cy="4525963"/>
          </a:xfrm>
        </p:spPr>
        <p:txBody>
          <a:bodyPr/>
          <a:lstStyle/>
          <a:p>
            <a:pPr algn="just">
              <a:lnSpc>
                <a:spcPct val="150000"/>
              </a:lnSpc>
            </a:pPr>
            <a:r>
              <a:rPr lang="en-IN" sz="2000" b="1" dirty="0"/>
              <a:t>Minimal attributes</a:t>
            </a:r>
            <a:r>
              <a:rPr lang="en-IN" sz="2000" dirty="0"/>
              <a:t>: Only the columns needed for uniqueness should be part of the candidate key</a:t>
            </a:r>
          </a:p>
          <a:p>
            <a:pPr algn="just">
              <a:lnSpc>
                <a:spcPct val="150000"/>
              </a:lnSpc>
            </a:pPr>
            <a:r>
              <a:rPr lang="en-IN" sz="2000" b="1" dirty="0"/>
              <a:t>No duplicates</a:t>
            </a:r>
            <a:r>
              <a:rPr lang="en-IN" sz="2000" dirty="0"/>
              <a:t>: Every candidate key combination must be distinct in each row</a:t>
            </a:r>
          </a:p>
          <a:p>
            <a:pPr algn="just">
              <a:lnSpc>
                <a:spcPct val="150000"/>
              </a:lnSpc>
            </a:pPr>
            <a:r>
              <a:rPr lang="en-IN" sz="2000" b="1" dirty="0"/>
              <a:t>No nulls</a:t>
            </a:r>
            <a:r>
              <a:rPr lang="en-IN" sz="2000" dirty="0"/>
              <a:t>: Usually, these columns should be filled so they can keep each record separate</a:t>
            </a:r>
          </a:p>
          <a:p>
            <a:pPr algn="just">
              <a:lnSpc>
                <a:spcPct val="150000"/>
              </a:lnSpc>
            </a:pPr>
            <a:r>
              <a:rPr lang="en-IN" sz="2000" b="1" dirty="0"/>
              <a:t>Multiple possibilities</a:t>
            </a:r>
            <a:r>
              <a:rPr lang="en-IN" sz="2000" dirty="0"/>
              <a:t>: A table can hold more than one candidate key</a:t>
            </a:r>
          </a:p>
          <a:p>
            <a:endParaRPr lang="en-IN" dirty="0"/>
          </a:p>
        </p:txBody>
      </p:sp>
      <p:sp>
        <p:nvSpPr>
          <p:cNvPr id="4" name="Slide Number Placeholder 3">
            <a:extLst>
              <a:ext uri="{FF2B5EF4-FFF2-40B4-BE49-F238E27FC236}">
                <a16:creationId xmlns:a16="http://schemas.microsoft.com/office/drawing/2014/main" id="{95D348CF-0891-76EE-5DB1-0A37838CAE7A}"/>
              </a:ext>
            </a:extLst>
          </p:cNvPr>
          <p:cNvSpPr>
            <a:spLocks noGrp="1"/>
          </p:cNvSpPr>
          <p:nvPr>
            <p:ph type="sldNum" sz="quarter" idx="12"/>
          </p:nvPr>
        </p:nvSpPr>
        <p:spPr/>
        <p:txBody>
          <a:bodyPr/>
          <a:lstStyle/>
          <a:p>
            <a:fld id="{8BD8F058-9003-4658-AA47-7D4800AF7EA2}" type="slidenum">
              <a:rPr lang="en-US" smtClean="0"/>
              <a:pPr/>
              <a:t>16</a:t>
            </a:fld>
            <a:endParaRPr lang="en-US" dirty="0"/>
          </a:p>
        </p:txBody>
      </p:sp>
    </p:spTree>
    <p:extLst>
      <p:ext uri="{BB962C8B-B14F-4D97-AF65-F5344CB8AC3E}">
        <p14:creationId xmlns:p14="http://schemas.microsoft.com/office/powerpoint/2010/main" val="714044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32387-3124-38C5-7A28-F35F890F74A3}"/>
              </a:ext>
            </a:extLst>
          </p:cNvPr>
          <p:cNvSpPr>
            <a:spLocks noGrp="1"/>
          </p:cNvSpPr>
          <p:nvPr>
            <p:ph type="title"/>
          </p:nvPr>
        </p:nvSpPr>
        <p:spPr/>
        <p:txBody>
          <a:bodyPr/>
          <a:lstStyle/>
          <a:p>
            <a:r>
              <a:rPr lang="en-IN" b="1" dirty="0"/>
              <a:t>Alternate Key</a:t>
            </a:r>
          </a:p>
        </p:txBody>
      </p:sp>
      <p:sp>
        <p:nvSpPr>
          <p:cNvPr id="3" name="Content Placeholder 2">
            <a:extLst>
              <a:ext uri="{FF2B5EF4-FFF2-40B4-BE49-F238E27FC236}">
                <a16:creationId xmlns:a16="http://schemas.microsoft.com/office/drawing/2014/main" id="{08A14EB1-CCD6-D391-2A42-5C2206A5D70F}"/>
              </a:ext>
            </a:extLst>
          </p:cNvPr>
          <p:cNvSpPr>
            <a:spLocks noGrp="1"/>
          </p:cNvSpPr>
          <p:nvPr>
            <p:ph idx="1"/>
          </p:nvPr>
        </p:nvSpPr>
        <p:spPr>
          <a:xfrm>
            <a:off x="76200" y="1066800"/>
            <a:ext cx="8915400" cy="5562600"/>
          </a:xfrm>
        </p:spPr>
        <p:txBody>
          <a:bodyPr/>
          <a:lstStyle/>
          <a:p>
            <a:pPr algn="just">
              <a:lnSpc>
                <a:spcPct val="150000"/>
              </a:lnSpc>
            </a:pPr>
            <a:r>
              <a:rPr lang="en-IN" sz="2000" dirty="0"/>
              <a:t>An alternate key is any candidate key that did not become the primary key. It still uniquely identifies a row in a table but isn’t chosen as the main identifier. That means a table can have multiple candidate keys (like Email and </a:t>
            </a:r>
            <a:r>
              <a:rPr lang="en-IN" sz="2000" dirty="0" err="1"/>
              <a:t>PhoneNumber</a:t>
            </a:r>
            <a:r>
              <a:rPr lang="en-IN" sz="2000" dirty="0"/>
              <a:t>), but only one of them serves as the primary key. The remaining candidate keys are known as alternate keys.</a:t>
            </a:r>
          </a:p>
          <a:p>
            <a:pPr algn="just">
              <a:lnSpc>
                <a:spcPct val="150000"/>
              </a:lnSpc>
            </a:pPr>
            <a:r>
              <a:rPr lang="en-IN" sz="2000" b="1" dirty="0"/>
              <a:t>Examples of an Alternate Key in Relational Database</a:t>
            </a:r>
          </a:p>
          <a:p>
            <a:pPr algn="just">
              <a:lnSpc>
                <a:spcPct val="150000"/>
              </a:lnSpc>
            </a:pPr>
            <a:r>
              <a:rPr lang="en-IN" sz="2000" b="1" dirty="0"/>
              <a:t>Email</a:t>
            </a:r>
            <a:r>
              <a:rPr lang="en-IN" sz="2000" dirty="0"/>
              <a:t> in a Users table when </a:t>
            </a:r>
            <a:r>
              <a:rPr lang="en-IN" sz="2000" dirty="0" err="1"/>
              <a:t>UserID</a:t>
            </a:r>
            <a:r>
              <a:rPr lang="en-IN" sz="2000" dirty="0"/>
              <a:t> is chosen as primary</a:t>
            </a:r>
          </a:p>
          <a:p>
            <a:pPr algn="just">
              <a:lnSpc>
                <a:spcPct val="150000"/>
              </a:lnSpc>
            </a:pPr>
            <a:r>
              <a:rPr lang="en-IN" sz="2000" b="1" dirty="0" err="1"/>
              <a:t>LicenseNumber</a:t>
            </a:r>
            <a:r>
              <a:rPr lang="en-IN" sz="2000" dirty="0"/>
              <a:t> in a Drivers’ table when </a:t>
            </a:r>
            <a:r>
              <a:rPr lang="en-IN" sz="2000" dirty="0" err="1"/>
              <a:t>DriverID</a:t>
            </a:r>
            <a:r>
              <a:rPr lang="en-IN" sz="2000" dirty="0"/>
              <a:t> serves as primary</a:t>
            </a:r>
          </a:p>
          <a:p>
            <a:pPr algn="just">
              <a:lnSpc>
                <a:spcPct val="150000"/>
              </a:lnSpc>
            </a:pPr>
            <a:r>
              <a:rPr lang="en-IN" sz="2000" b="1" dirty="0" err="1"/>
              <a:t>RollNumber</a:t>
            </a:r>
            <a:r>
              <a:rPr lang="en-IN" sz="2000" dirty="0"/>
              <a:t> in a Students table when </a:t>
            </a:r>
            <a:r>
              <a:rPr lang="en-IN" sz="2000" dirty="0" err="1"/>
              <a:t>StudentID</a:t>
            </a:r>
            <a:r>
              <a:rPr lang="en-IN" sz="2000" dirty="0"/>
              <a:t> is primary</a:t>
            </a:r>
          </a:p>
          <a:p>
            <a:pPr algn="just">
              <a:lnSpc>
                <a:spcPct val="150000"/>
              </a:lnSpc>
            </a:pPr>
            <a:endParaRPr lang="en-IN" sz="2000" dirty="0"/>
          </a:p>
          <a:p>
            <a:pPr algn="just">
              <a:lnSpc>
                <a:spcPct val="150000"/>
              </a:lnSpc>
            </a:pPr>
            <a:endParaRPr lang="en-IN" sz="2000" dirty="0"/>
          </a:p>
        </p:txBody>
      </p:sp>
      <p:sp>
        <p:nvSpPr>
          <p:cNvPr id="4" name="Slide Number Placeholder 3">
            <a:extLst>
              <a:ext uri="{FF2B5EF4-FFF2-40B4-BE49-F238E27FC236}">
                <a16:creationId xmlns:a16="http://schemas.microsoft.com/office/drawing/2014/main" id="{89872174-01F6-368E-2638-82248163B750}"/>
              </a:ext>
            </a:extLst>
          </p:cNvPr>
          <p:cNvSpPr>
            <a:spLocks noGrp="1"/>
          </p:cNvSpPr>
          <p:nvPr>
            <p:ph type="sldNum" sz="quarter" idx="12"/>
          </p:nvPr>
        </p:nvSpPr>
        <p:spPr/>
        <p:txBody>
          <a:bodyPr/>
          <a:lstStyle/>
          <a:p>
            <a:fld id="{8BD8F058-9003-4658-AA47-7D4800AF7EA2}" type="slidenum">
              <a:rPr lang="en-US" smtClean="0"/>
              <a:pPr/>
              <a:t>17</a:t>
            </a:fld>
            <a:endParaRPr lang="en-US"/>
          </a:p>
        </p:txBody>
      </p:sp>
    </p:spTree>
    <p:extLst>
      <p:ext uri="{BB962C8B-B14F-4D97-AF65-F5344CB8AC3E}">
        <p14:creationId xmlns:p14="http://schemas.microsoft.com/office/powerpoint/2010/main" val="127656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2643E-FAEE-4DCC-3D26-7044FF891EF6}"/>
              </a:ext>
            </a:extLst>
          </p:cNvPr>
          <p:cNvSpPr>
            <a:spLocks noGrp="1"/>
          </p:cNvSpPr>
          <p:nvPr>
            <p:ph type="title"/>
          </p:nvPr>
        </p:nvSpPr>
        <p:spPr/>
        <p:txBody>
          <a:bodyPr/>
          <a:lstStyle/>
          <a:p>
            <a:r>
              <a:rPr lang="en-IN" dirty="0"/>
              <a:t>Example : Alternate Key</a:t>
            </a:r>
          </a:p>
        </p:txBody>
      </p:sp>
      <p:graphicFrame>
        <p:nvGraphicFramePr>
          <p:cNvPr id="5" name="Content Placeholder 4">
            <a:extLst>
              <a:ext uri="{FF2B5EF4-FFF2-40B4-BE49-F238E27FC236}">
                <a16:creationId xmlns:a16="http://schemas.microsoft.com/office/drawing/2014/main" id="{A636B750-FE1A-2E0A-E8EA-1C61A743C5F4}"/>
              </a:ext>
            </a:extLst>
          </p:cNvPr>
          <p:cNvGraphicFramePr>
            <a:graphicFrameLocks noGrp="1"/>
          </p:cNvGraphicFramePr>
          <p:nvPr>
            <p:ph idx="1"/>
            <p:extLst>
              <p:ext uri="{D42A27DB-BD31-4B8C-83A1-F6EECF244321}">
                <p14:modId xmlns:p14="http://schemas.microsoft.com/office/powerpoint/2010/main" val="1807700806"/>
              </p:ext>
            </p:extLst>
          </p:nvPr>
        </p:nvGraphicFramePr>
        <p:xfrm>
          <a:off x="990600" y="1295400"/>
          <a:ext cx="7010400" cy="1759585"/>
        </p:xfrm>
        <a:graphic>
          <a:graphicData uri="http://schemas.openxmlformats.org/drawingml/2006/table">
            <a:tbl>
              <a:tblPr/>
              <a:tblGrid>
                <a:gridCol w="1752600">
                  <a:extLst>
                    <a:ext uri="{9D8B030D-6E8A-4147-A177-3AD203B41FA5}">
                      <a16:colId xmlns:a16="http://schemas.microsoft.com/office/drawing/2014/main" val="2621336367"/>
                    </a:ext>
                  </a:extLst>
                </a:gridCol>
                <a:gridCol w="1752600">
                  <a:extLst>
                    <a:ext uri="{9D8B030D-6E8A-4147-A177-3AD203B41FA5}">
                      <a16:colId xmlns:a16="http://schemas.microsoft.com/office/drawing/2014/main" val="2335708070"/>
                    </a:ext>
                  </a:extLst>
                </a:gridCol>
                <a:gridCol w="1752600">
                  <a:extLst>
                    <a:ext uri="{9D8B030D-6E8A-4147-A177-3AD203B41FA5}">
                      <a16:colId xmlns:a16="http://schemas.microsoft.com/office/drawing/2014/main" val="2813664909"/>
                    </a:ext>
                  </a:extLst>
                </a:gridCol>
                <a:gridCol w="1752600">
                  <a:extLst>
                    <a:ext uri="{9D8B030D-6E8A-4147-A177-3AD203B41FA5}">
                      <a16:colId xmlns:a16="http://schemas.microsoft.com/office/drawing/2014/main" val="1417838050"/>
                    </a:ext>
                  </a:extLst>
                </a:gridCol>
              </a:tblGrid>
              <a:tr h="0">
                <a:tc>
                  <a:txBody>
                    <a:bodyPr/>
                    <a:lstStyle/>
                    <a:p>
                      <a:pPr algn="ctr">
                        <a:lnSpc>
                          <a:spcPts val="1500"/>
                        </a:lnSpc>
                        <a:buNone/>
                      </a:pPr>
                      <a:r>
                        <a:rPr lang="en-IN" b="1">
                          <a:solidFill>
                            <a:srgbClr val="333333"/>
                          </a:solidFill>
                          <a:effectLst/>
                          <a:latin typeface="__CircularFontRegular_2948a7"/>
                        </a:rPr>
                        <a:t>PatientID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PatientName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PhoneNumber</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HealthCardID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523227318"/>
                  </a:ext>
                </a:extLst>
              </a:tr>
              <a:tr h="0">
                <a:tc>
                  <a:txBody>
                    <a:bodyPr/>
                    <a:lstStyle/>
                    <a:p>
                      <a:pPr>
                        <a:lnSpc>
                          <a:spcPts val="1350"/>
                        </a:lnSpc>
                      </a:pPr>
                      <a:r>
                        <a:rPr lang="en-IN">
                          <a:solidFill>
                            <a:srgbClr val="000000"/>
                          </a:solidFill>
                          <a:effectLst/>
                          <a:latin typeface="__CircularFontRegular_2948a7"/>
                        </a:rPr>
                        <a:t>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Rakesh</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98765XXXXX</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HCI-654321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399171618"/>
                  </a:ext>
                </a:extLst>
              </a:tr>
              <a:tr h="0">
                <a:tc>
                  <a:txBody>
                    <a:bodyPr/>
                    <a:lstStyle/>
                    <a:p>
                      <a:pPr>
                        <a:lnSpc>
                          <a:spcPts val="1350"/>
                        </a:lnSpc>
                      </a:pPr>
                      <a:r>
                        <a:rPr lang="en-IN">
                          <a:solidFill>
                            <a:srgbClr val="000000"/>
                          </a:solidFill>
                          <a:effectLst/>
                          <a:latin typeface="__CircularFontRegular_2948a7"/>
                        </a:rPr>
                        <a:t>2</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Kavya</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99000XXXXX</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HCI-987654</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964901172"/>
                  </a:ext>
                </a:extLst>
              </a:tr>
              <a:tr h="0">
                <a:tc>
                  <a:txBody>
                    <a:bodyPr/>
                    <a:lstStyle/>
                    <a:p>
                      <a:pPr>
                        <a:lnSpc>
                          <a:spcPts val="1350"/>
                        </a:lnSpc>
                      </a:pPr>
                      <a:r>
                        <a:rPr lang="en-IN">
                          <a:solidFill>
                            <a:srgbClr val="000000"/>
                          </a:solidFill>
                          <a:effectLst/>
                          <a:latin typeface="__CircularFontRegular_2948a7"/>
                        </a:rPr>
                        <a:t>3</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Rohit</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98877XXXXX</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dirty="0">
                          <a:solidFill>
                            <a:srgbClr val="000000"/>
                          </a:solidFill>
                          <a:effectLst/>
                          <a:latin typeface="__CircularFontRegular_2948a7"/>
                        </a:rPr>
                        <a:t>HCI-112233</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241665672"/>
                  </a:ext>
                </a:extLst>
              </a:tr>
            </a:tbl>
          </a:graphicData>
        </a:graphic>
      </p:graphicFrame>
      <p:sp>
        <p:nvSpPr>
          <p:cNvPr id="4" name="Slide Number Placeholder 3">
            <a:extLst>
              <a:ext uri="{FF2B5EF4-FFF2-40B4-BE49-F238E27FC236}">
                <a16:creationId xmlns:a16="http://schemas.microsoft.com/office/drawing/2014/main" id="{2B426174-AA2F-2D76-A698-6A6E02749771}"/>
              </a:ext>
            </a:extLst>
          </p:cNvPr>
          <p:cNvSpPr>
            <a:spLocks noGrp="1"/>
          </p:cNvSpPr>
          <p:nvPr>
            <p:ph type="sldNum" sz="quarter" idx="12"/>
          </p:nvPr>
        </p:nvSpPr>
        <p:spPr/>
        <p:txBody>
          <a:bodyPr/>
          <a:lstStyle/>
          <a:p>
            <a:fld id="{8BD8F058-9003-4658-AA47-7D4800AF7EA2}" type="slidenum">
              <a:rPr lang="en-US" smtClean="0"/>
              <a:pPr/>
              <a:t>18</a:t>
            </a:fld>
            <a:endParaRPr lang="en-US"/>
          </a:p>
        </p:txBody>
      </p:sp>
      <p:sp>
        <p:nvSpPr>
          <p:cNvPr id="7" name="TextBox 6">
            <a:extLst>
              <a:ext uri="{FF2B5EF4-FFF2-40B4-BE49-F238E27FC236}">
                <a16:creationId xmlns:a16="http://schemas.microsoft.com/office/drawing/2014/main" id="{89163865-7FF8-3341-70C1-F9CDEF3DC1D2}"/>
              </a:ext>
            </a:extLst>
          </p:cNvPr>
          <p:cNvSpPr txBox="1"/>
          <p:nvPr/>
        </p:nvSpPr>
        <p:spPr>
          <a:xfrm>
            <a:off x="114300" y="3340140"/>
            <a:ext cx="8915400" cy="3016210"/>
          </a:xfrm>
          <a:prstGeom prst="rect">
            <a:avLst/>
          </a:prstGeom>
          <a:noFill/>
        </p:spPr>
        <p:txBody>
          <a:bodyPr wrap="square">
            <a:spAutoFit/>
          </a:bodyPr>
          <a:lstStyle/>
          <a:p>
            <a:pPr algn="just">
              <a:spcBef>
                <a:spcPts val="1800"/>
              </a:spcBef>
              <a:spcAft>
                <a:spcPts val="1800"/>
              </a:spcAft>
              <a:buFont typeface="Arial" panose="020B0604020202020204" pitchFamily="34" charset="0"/>
              <a:buChar char="•"/>
            </a:pPr>
            <a:r>
              <a:rPr lang="en-IN" sz="2000" dirty="0" err="1">
                <a:latin typeface="+mn-lt"/>
              </a:rPr>
              <a:t>PatientID</a:t>
            </a:r>
            <a:r>
              <a:rPr lang="en-IN" sz="2000" dirty="0">
                <a:latin typeface="+mn-lt"/>
              </a:rPr>
              <a:t> is primary, and you can treat </a:t>
            </a:r>
            <a:r>
              <a:rPr lang="en-IN" sz="2000" dirty="0" err="1">
                <a:latin typeface="+mn-lt"/>
              </a:rPr>
              <a:t>HealthCardID</a:t>
            </a:r>
            <a:r>
              <a:rPr lang="en-IN" sz="2000" dirty="0">
                <a:latin typeface="+mn-lt"/>
              </a:rPr>
              <a:t> or </a:t>
            </a:r>
            <a:r>
              <a:rPr lang="en-IN" sz="2000" dirty="0" err="1">
                <a:latin typeface="+mn-lt"/>
              </a:rPr>
              <a:t>PhoneNumber</a:t>
            </a:r>
            <a:r>
              <a:rPr lang="en-IN" sz="2000" dirty="0">
                <a:latin typeface="+mn-lt"/>
              </a:rPr>
              <a:t> as alternate keys.</a:t>
            </a:r>
            <a:endParaRPr lang="en-IN" sz="2000" b="1" dirty="0">
              <a:solidFill>
                <a:srgbClr val="333333"/>
              </a:solidFill>
              <a:latin typeface="+mn-lt"/>
            </a:endParaRPr>
          </a:p>
          <a:p>
            <a:pPr algn="just">
              <a:spcBef>
                <a:spcPts val="1800"/>
              </a:spcBef>
              <a:spcAft>
                <a:spcPts val="1800"/>
              </a:spcAft>
              <a:buFont typeface="Arial" panose="020B0604020202020204" pitchFamily="34" charset="0"/>
              <a:buChar char="•"/>
            </a:pPr>
            <a:r>
              <a:rPr lang="en-IN" sz="2000" b="1" i="0" dirty="0">
                <a:solidFill>
                  <a:srgbClr val="333333"/>
                </a:solidFill>
                <a:effectLst/>
                <a:latin typeface="+mn-lt"/>
              </a:rPr>
              <a:t>Email</a:t>
            </a:r>
            <a:r>
              <a:rPr lang="en-IN" sz="2000" b="0" i="0" dirty="0">
                <a:solidFill>
                  <a:srgbClr val="000000"/>
                </a:solidFill>
                <a:effectLst/>
                <a:latin typeface="+mn-lt"/>
              </a:rPr>
              <a:t> in a Users table when </a:t>
            </a:r>
            <a:r>
              <a:rPr lang="en-IN" sz="2000" b="0" i="0" dirty="0" err="1">
                <a:solidFill>
                  <a:srgbClr val="000000"/>
                </a:solidFill>
                <a:effectLst/>
                <a:latin typeface="+mn-lt"/>
              </a:rPr>
              <a:t>UserID</a:t>
            </a:r>
            <a:r>
              <a:rPr lang="en-IN" sz="2000" b="0" i="0" dirty="0">
                <a:solidFill>
                  <a:srgbClr val="000000"/>
                </a:solidFill>
                <a:effectLst/>
                <a:latin typeface="+mn-lt"/>
              </a:rPr>
              <a:t> is chosen as primary</a:t>
            </a:r>
            <a:endParaRPr lang="en-IN" sz="2000" b="0" i="0" dirty="0">
              <a:solidFill>
                <a:srgbClr val="333333"/>
              </a:solidFill>
              <a:effectLst/>
              <a:latin typeface="+mn-lt"/>
            </a:endParaRPr>
          </a:p>
          <a:p>
            <a:pPr algn="just">
              <a:spcBef>
                <a:spcPts val="1800"/>
              </a:spcBef>
              <a:spcAft>
                <a:spcPts val="1800"/>
              </a:spcAft>
              <a:buFont typeface="Arial" panose="020B0604020202020204" pitchFamily="34" charset="0"/>
              <a:buChar char="•"/>
            </a:pPr>
            <a:r>
              <a:rPr lang="en-IN" sz="2000" b="1" i="0" dirty="0" err="1">
                <a:solidFill>
                  <a:srgbClr val="333333"/>
                </a:solidFill>
                <a:effectLst/>
                <a:latin typeface="+mn-lt"/>
              </a:rPr>
              <a:t>LicenseNumber</a:t>
            </a:r>
            <a:r>
              <a:rPr lang="en-IN" sz="2000" b="0" i="0" dirty="0">
                <a:solidFill>
                  <a:srgbClr val="000000"/>
                </a:solidFill>
                <a:effectLst/>
                <a:latin typeface="+mn-lt"/>
              </a:rPr>
              <a:t> in a Drivers’ table when </a:t>
            </a:r>
            <a:r>
              <a:rPr lang="en-IN" sz="2000" b="0" i="0" dirty="0" err="1">
                <a:solidFill>
                  <a:srgbClr val="000000"/>
                </a:solidFill>
                <a:effectLst/>
                <a:latin typeface="+mn-lt"/>
              </a:rPr>
              <a:t>DriverID</a:t>
            </a:r>
            <a:r>
              <a:rPr lang="en-IN" sz="2000" b="0" i="0" dirty="0">
                <a:solidFill>
                  <a:srgbClr val="000000"/>
                </a:solidFill>
                <a:effectLst/>
                <a:latin typeface="+mn-lt"/>
              </a:rPr>
              <a:t> serves as primary</a:t>
            </a:r>
            <a:endParaRPr lang="en-IN" sz="2000" b="0" i="0" dirty="0">
              <a:solidFill>
                <a:srgbClr val="333333"/>
              </a:solidFill>
              <a:effectLst/>
              <a:latin typeface="+mn-lt"/>
            </a:endParaRPr>
          </a:p>
          <a:p>
            <a:pPr algn="just">
              <a:spcBef>
                <a:spcPts val="1800"/>
              </a:spcBef>
              <a:spcAft>
                <a:spcPts val="1800"/>
              </a:spcAft>
              <a:buFont typeface="Arial" panose="020B0604020202020204" pitchFamily="34" charset="0"/>
              <a:buChar char="•"/>
            </a:pPr>
            <a:r>
              <a:rPr lang="en-IN" sz="2000" b="1" i="0" dirty="0" err="1">
                <a:solidFill>
                  <a:srgbClr val="333333"/>
                </a:solidFill>
                <a:effectLst/>
                <a:latin typeface="+mn-lt"/>
              </a:rPr>
              <a:t>RollNumber</a:t>
            </a:r>
            <a:r>
              <a:rPr lang="en-IN" sz="2000" b="0" i="0" dirty="0">
                <a:solidFill>
                  <a:srgbClr val="000000"/>
                </a:solidFill>
                <a:effectLst/>
                <a:latin typeface="+mn-lt"/>
              </a:rPr>
              <a:t> in a Students table when </a:t>
            </a:r>
            <a:r>
              <a:rPr lang="en-IN" sz="2000" b="0" i="0" dirty="0" err="1">
                <a:solidFill>
                  <a:srgbClr val="000000"/>
                </a:solidFill>
                <a:effectLst/>
                <a:latin typeface="+mn-lt"/>
              </a:rPr>
              <a:t>StudentID</a:t>
            </a:r>
            <a:r>
              <a:rPr lang="en-IN" sz="2000" b="0" i="0" dirty="0">
                <a:solidFill>
                  <a:srgbClr val="000000"/>
                </a:solidFill>
                <a:effectLst/>
                <a:latin typeface="+mn-lt"/>
              </a:rPr>
              <a:t> is primary</a:t>
            </a:r>
            <a:endParaRPr lang="en-IN" sz="2000" b="0" i="0" dirty="0">
              <a:solidFill>
                <a:srgbClr val="333333"/>
              </a:solidFill>
              <a:effectLst/>
              <a:latin typeface="+mn-lt"/>
            </a:endParaRPr>
          </a:p>
        </p:txBody>
      </p:sp>
    </p:spTree>
    <p:extLst>
      <p:ext uri="{BB962C8B-B14F-4D97-AF65-F5344CB8AC3E}">
        <p14:creationId xmlns:p14="http://schemas.microsoft.com/office/powerpoint/2010/main" val="4163397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501D1-CEC7-5E0F-4B16-306EE46A2DF8}"/>
              </a:ext>
            </a:extLst>
          </p:cNvPr>
          <p:cNvSpPr>
            <a:spLocks noGrp="1"/>
          </p:cNvSpPr>
          <p:nvPr>
            <p:ph type="title"/>
          </p:nvPr>
        </p:nvSpPr>
        <p:spPr/>
        <p:txBody>
          <a:bodyPr/>
          <a:lstStyle/>
          <a:p>
            <a:br>
              <a:rPr lang="en-IN" b="1" dirty="0"/>
            </a:br>
            <a:r>
              <a:rPr lang="en-IN" b="1" dirty="0"/>
              <a:t>Rules for Alternate Keys in DBMS</a:t>
            </a:r>
            <a:br>
              <a:rPr lang="en-IN" b="1" dirty="0"/>
            </a:br>
            <a:endParaRPr lang="en-IN" dirty="0"/>
          </a:p>
        </p:txBody>
      </p:sp>
      <p:sp>
        <p:nvSpPr>
          <p:cNvPr id="3" name="Content Placeholder 2">
            <a:extLst>
              <a:ext uri="{FF2B5EF4-FFF2-40B4-BE49-F238E27FC236}">
                <a16:creationId xmlns:a16="http://schemas.microsoft.com/office/drawing/2014/main" id="{58AC0ADA-0053-E016-E759-354835319F23}"/>
              </a:ext>
            </a:extLst>
          </p:cNvPr>
          <p:cNvSpPr>
            <a:spLocks noGrp="1"/>
          </p:cNvSpPr>
          <p:nvPr>
            <p:ph idx="1"/>
          </p:nvPr>
        </p:nvSpPr>
        <p:spPr>
          <a:xfrm>
            <a:off x="457200" y="1166018"/>
            <a:ext cx="8229600" cy="4525963"/>
          </a:xfrm>
        </p:spPr>
        <p:txBody>
          <a:bodyPr/>
          <a:lstStyle/>
          <a:p>
            <a:pPr algn="just">
              <a:lnSpc>
                <a:spcPct val="150000"/>
              </a:lnSpc>
            </a:pPr>
            <a:r>
              <a:rPr lang="en-IN" sz="2000" b="1" dirty="0"/>
              <a:t>Must be unique</a:t>
            </a:r>
            <a:r>
              <a:rPr lang="en-IN" sz="2000" dirty="0"/>
              <a:t>: They satisfy the same uniqueness requirement as the primary key.</a:t>
            </a:r>
          </a:p>
          <a:p>
            <a:pPr algn="just">
              <a:lnSpc>
                <a:spcPct val="150000"/>
              </a:lnSpc>
            </a:pPr>
            <a:r>
              <a:rPr lang="en-IN" sz="2000" b="1" dirty="0"/>
              <a:t>Part of candidate keys</a:t>
            </a:r>
            <a:r>
              <a:rPr lang="en-IN" sz="2000" dirty="0"/>
              <a:t>: An alternate key has the potential to be primary but isn’t selected.</a:t>
            </a:r>
          </a:p>
          <a:p>
            <a:pPr algn="just">
              <a:lnSpc>
                <a:spcPct val="150000"/>
              </a:lnSpc>
            </a:pPr>
            <a:r>
              <a:rPr lang="en-IN" sz="2000" b="1" dirty="0"/>
              <a:t>No duplication</a:t>
            </a:r>
            <a:r>
              <a:rPr lang="en-IN" sz="2000" dirty="0"/>
              <a:t>: Rows that share the same alternate key combination cause a conflict.</a:t>
            </a:r>
          </a:p>
          <a:p>
            <a:pPr algn="just">
              <a:lnSpc>
                <a:spcPct val="150000"/>
              </a:lnSpc>
            </a:pPr>
            <a:r>
              <a:rPr lang="en-IN" sz="2000" b="1" dirty="0"/>
              <a:t>Cannot be null</a:t>
            </a:r>
            <a:r>
              <a:rPr lang="en-IN" sz="2000" dirty="0"/>
              <a:t>: Typically, these fields shouldn’t have null entries.</a:t>
            </a:r>
          </a:p>
          <a:p>
            <a:pPr marL="0" indent="0">
              <a:buNone/>
            </a:pPr>
            <a:endParaRPr lang="en-IN" dirty="0"/>
          </a:p>
        </p:txBody>
      </p:sp>
      <p:sp>
        <p:nvSpPr>
          <p:cNvPr id="4" name="Slide Number Placeholder 3">
            <a:extLst>
              <a:ext uri="{FF2B5EF4-FFF2-40B4-BE49-F238E27FC236}">
                <a16:creationId xmlns:a16="http://schemas.microsoft.com/office/drawing/2014/main" id="{40E849FD-2412-AE1A-3782-0AFB965AE43D}"/>
              </a:ext>
            </a:extLst>
          </p:cNvPr>
          <p:cNvSpPr>
            <a:spLocks noGrp="1"/>
          </p:cNvSpPr>
          <p:nvPr>
            <p:ph type="sldNum" sz="quarter" idx="12"/>
          </p:nvPr>
        </p:nvSpPr>
        <p:spPr/>
        <p:txBody>
          <a:bodyPr/>
          <a:lstStyle/>
          <a:p>
            <a:fld id="{8BD8F058-9003-4658-AA47-7D4800AF7EA2}" type="slidenum">
              <a:rPr lang="en-US" smtClean="0"/>
              <a:pPr/>
              <a:t>19</a:t>
            </a:fld>
            <a:endParaRPr lang="en-US" dirty="0"/>
          </a:p>
        </p:txBody>
      </p:sp>
    </p:spTree>
    <p:extLst>
      <p:ext uri="{BB962C8B-B14F-4D97-AF65-F5344CB8AC3E}">
        <p14:creationId xmlns:p14="http://schemas.microsoft.com/office/powerpoint/2010/main" val="37724652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A73A-F45C-26C2-E445-D7F16DC77631}"/>
              </a:ext>
            </a:extLst>
          </p:cNvPr>
          <p:cNvSpPr>
            <a:spLocks noGrp="1"/>
          </p:cNvSpPr>
          <p:nvPr>
            <p:ph type="title"/>
          </p:nvPr>
        </p:nvSpPr>
        <p:spPr/>
        <p:txBody>
          <a:bodyPr/>
          <a:lstStyle/>
          <a:p>
            <a:endParaRPr lang="en-IN"/>
          </a:p>
        </p:txBody>
      </p:sp>
      <p:sp>
        <p:nvSpPr>
          <p:cNvPr id="4" name="Slide Number Placeholder 3">
            <a:extLst>
              <a:ext uri="{FF2B5EF4-FFF2-40B4-BE49-F238E27FC236}">
                <a16:creationId xmlns:a16="http://schemas.microsoft.com/office/drawing/2014/main" id="{68313DDB-C435-6B5B-405E-506D28FE855D}"/>
              </a:ext>
            </a:extLst>
          </p:cNvPr>
          <p:cNvSpPr>
            <a:spLocks noGrp="1"/>
          </p:cNvSpPr>
          <p:nvPr>
            <p:ph type="sldNum" sz="quarter" idx="12"/>
          </p:nvPr>
        </p:nvSpPr>
        <p:spPr/>
        <p:txBody>
          <a:bodyPr/>
          <a:lstStyle/>
          <a:p>
            <a:fld id="{8BD8F058-9003-4658-AA47-7D4800AF7EA2}" type="slidenum">
              <a:rPr lang="en-US" smtClean="0"/>
              <a:pPr/>
              <a:t>20</a:t>
            </a:fld>
            <a:endParaRPr lang="en-US" dirty="0"/>
          </a:p>
        </p:txBody>
      </p:sp>
      <p:pic>
        <p:nvPicPr>
          <p:cNvPr id="5122" name="Picture 2" descr="Primary Key, Candidate Key and Alternate Key">
            <a:extLst>
              <a:ext uri="{FF2B5EF4-FFF2-40B4-BE49-F238E27FC236}">
                <a16:creationId xmlns:a16="http://schemas.microsoft.com/office/drawing/2014/main" id="{26E32F73-4455-D4C6-D33C-426F7964526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143000"/>
            <a:ext cx="8382000" cy="4548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2292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82A200-CACA-D7A6-17CB-310220700E43}"/>
              </a:ext>
            </a:extLst>
          </p:cNvPr>
          <p:cNvSpPr>
            <a:spLocks noGrp="1"/>
          </p:cNvSpPr>
          <p:nvPr>
            <p:ph type="title"/>
          </p:nvPr>
        </p:nvSpPr>
        <p:spPr/>
        <p:txBody>
          <a:bodyPr/>
          <a:lstStyle/>
          <a:p>
            <a:r>
              <a:rPr lang="en-IN" b="1" dirty="0"/>
              <a:t>Foreign key</a:t>
            </a:r>
          </a:p>
        </p:txBody>
      </p:sp>
      <p:sp>
        <p:nvSpPr>
          <p:cNvPr id="3" name="Content Placeholder 2">
            <a:extLst>
              <a:ext uri="{FF2B5EF4-FFF2-40B4-BE49-F238E27FC236}">
                <a16:creationId xmlns:a16="http://schemas.microsoft.com/office/drawing/2014/main" id="{66C1CD9C-2ED4-51F1-A2FB-8090CEF1A7A3}"/>
              </a:ext>
            </a:extLst>
          </p:cNvPr>
          <p:cNvSpPr>
            <a:spLocks noGrp="1"/>
          </p:cNvSpPr>
          <p:nvPr>
            <p:ph idx="1"/>
          </p:nvPr>
        </p:nvSpPr>
        <p:spPr>
          <a:xfrm>
            <a:off x="76200" y="1143000"/>
            <a:ext cx="8839200" cy="5578475"/>
          </a:xfrm>
        </p:spPr>
        <p:txBody>
          <a:bodyPr/>
          <a:lstStyle/>
          <a:p>
            <a:pPr algn="just">
              <a:lnSpc>
                <a:spcPct val="150000"/>
              </a:lnSpc>
            </a:pPr>
            <a:r>
              <a:rPr lang="en-IN" sz="2000" u="sng" dirty="0">
                <a:hlinkClick r:id="rId2"/>
              </a:rPr>
              <a:t>A foreign key</a:t>
            </a:r>
            <a:r>
              <a:rPr lang="en-IN" sz="2000" dirty="0"/>
              <a:t> is a column in one table that points to a primary key in another table. Its main purpose is to link two tables so that they share information in a consistent way. When you reference a foreign key, you ensure that the data in both tables stays synchronized, and entries only appear if there’s a valid match in the primary key column.</a:t>
            </a:r>
          </a:p>
          <a:p>
            <a:pPr marL="0" indent="0" algn="just">
              <a:lnSpc>
                <a:spcPct val="150000"/>
              </a:lnSpc>
              <a:buNone/>
            </a:pPr>
            <a:r>
              <a:rPr lang="en-IN" sz="2000" b="1" dirty="0"/>
              <a:t>Examples of a Foreign Key in Relational Database</a:t>
            </a:r>
          </a:p>
          <a:p>
            <a:pPr algn="just">
              <a:lnSpc>
                <a:spcPct val="150000"/>
              </a:lnSpc>
            </a:pPr>
            <a:r>
              <a:rPr lang="en-IN" sz="2000" b="1" dirty="0" err="1"/>
              <a:t>StudentID</a:t>
            </a:r>
            <a:r>
              <a:rPr lang="en-IN" sz="2000" dirty="0"/>
              <a:t> in an </a:t>
            </a:r>
            <a:r>
              <a:rPr lang="en-IN" sz="2000" dirty="0" err="1"/>
              <a:t>Enrollment</a:t>
            </a:r>
            <a:r>
              <a:rPr lang="en-IN" sz="2000" dirty="0"/>
              <a:t> table referencing the Students table</a:t>
            </a:r>
          </a:p>
          <a:p>
            <a:pPr algn="just">
              <a:lnSpc>
                <a:spcPct val="150000"/>
              </a:lnSpc>
            </a:pPr>
            <a:r>
              <a:rPr lang="en-IN" sz="2000" b="1" dirty="0" err="1"/>
              <a:t>BookID</a:t>
            </a:r>
            <a:r>
              <a:rPr lang="en-IN" sz="2000" dirty="0"/>
              <a:t> in a </a:t>
            </a:r>
            <a:r>
              <a:rPr lang="en-IN" sz="2000" dirty="0" err="1"/>
              <a:t>BorrowedBooks</a:t>
            </a:r>
            <a:r>
              <a:rPr lang="en-IN" sz="2000" dirty="0"/>
              <a:t> table referencing the Books table</a:t>
            </a:r>
          </a:p>
          <a:p>
            <a:pPr algn="just">
              <a:lnSpc>
                <a:spcPct val="150000"/>
              </a:lnSpc>
            </a:pPr>
            <a:r>
              <a:rPr lang="en-IN" sz="2000" b="1" dirty="0" err="1"/>
              <a:t>EmployeeID</a:t>
            </a:r>
            <a:r>
              <a:rPr lang="en-IN" sz="2000" dirty="0"/>
              <a:t> in a Timesheet table referencing the Employees table</a:t>
            </a:r>
          </a:p>
          <a:p>
            <a:pPr algn="just">
              <a:lnSpc>
                <a:spcPct val="150000"/>
              </a:lnSpc>
            </a:pPr>
            <a:endParaRPr lang="en-IN" sz="2000" dirty="0"/>
          </a:p>
        </p:txBody>
      </p:sp>
      <p:sp>
        <p:nvSpPr>
          <p:cNvPr id="4" name="Slide Number Placeholder 3">
            <a:extLst>
              <a:ext uri="{FF2B5EF4-FFF2-40B4-BE49-F238E27FC236}">
                <a16:creationId xmlns:a16="http://schemas.microsoft.com/office/drawing/2014/main" id="{B3F6588A-1071-A640-1F72-9B92177EF843}"/>
              </a:ext>
            </a:extLst>
          </p:cNvPr>
          <p:cNvSpPr>
            <a:spLocks noGrp="1"/>
          </p:cNvSpPr>
          <p:nvPr>
            <p:ph type="sldNum" sz="quarter" idx="12"/>
          </p:nvPr>
        </p:nvSpPr>
        <p:spPr/>
        <p:txBody>
          <a:bodyPr/>
          <a:lstStyle/>
          <a:p>
            <a:fld id="{8BD8F058-9003-4658-AA47-7D4800AF7EA2}" type="slidenum">
              <a:rPr lang="en-US" smtClean="0"/>
              <a:pPr/>
              <a:t>21</a:t>
            </a:fld>
            <a:endParaRPr lang="en-US"/>
          </a:p>
        </p:txBody>
      </p:sp>
    </p:spTree>
    <p:extLst>
      <p:ext uri="{BB962C8B-B14F-4D97-AF65-F5344CB8AC3E}">
        <p14:creationId xmlns:p14="http://schemas.microsoft.com/office/powerpoint/2010/main" val="7225152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C468E-50C8-F7E2-04C3-0F048B734AE8}"/>
              </a:ext>
            </a:extLst>
          </p:cNvPr>
          <p:cNvSpPr>
            <a:spLocks noGrp="1"/>
          </p:cNvSpPr>
          <p:nvPr>
            <p:ph type="title"/>
          </p:nvPr>
        </p:nvSpPr>
        <p:spPr/>
        <p:txBody>
          <a:bodyPr/>
          <a:lstStyle/>
          <a:p>
            <a:r>
              <a:rPr lang="en-IN" dirty="0"/>
              <a:t>Example : </a:t>
            </a:r>
            <a:r>
              <a:rPr lang="en-IN" dirty="0" err="1"/>
              <a:t>Foriegn</a:t>
            </a:r>
            <a:r>
              <a:rPr lang="en-IN" dirty="0"/>
              <a:t> key</a:t>
            </a:r>
          </a:p>
        </p:txBody>
      </p:sp>
      <p:graphicFrame>
        <p:nvGraphicFramePr>
          <p:cNvPr id="5" name="Content Placeholder 4">
            <a:extLst>
              <a:ext uri="{FF2B5EF4-FFF2-40B4-BE49-F238E27FC236}">
                <a16:creationId xmlns:a16="http://schemas.microsoft.com/office/drawing/2014/main" id="{6825F105-0F9D-D6BF-DC56-178C09CE116D}"/>
              </a:ext>
            </a:extLst>
          </p:cNvPr>
          <p:cNvGraphicFramePr>
            <a:graphicFrameLocks noGrp="1"/>
          </p:cNvGraphicFramePr>
          <p:nvPr>
            <p:ph idx="1"/>
            <p:extLst>
              <p:ext uri="{D42A27DB-BD31-4B8C-83A1-F6EECF244321}">
                <p14:modId xmlns:p14="http://schemas.microsoft.com/office/powerpoint/2010/main" val="2290216012"/>
              </p:ext>
            </p:extLst>
          </p:nvPr>
        </p:nvGraphicFramePr>
        <p:xfrm>
          <a:off x="571500" y="1178387"/>
          <a:ext cx="8001000" cy="1759585"/>
        </p:xfrm>
        <a:graphic>
          <a:graphicData uri="http://schemas.openxmlformats.org/drawingml/2006/table">
            <a:tbl>
              <a:tblPr/>
              <a:tblGrid>
                <a:gridCol w="2000250">
                  <a:extLst>
                    <a:ext uri="{9D8B030D-6E8A-4147-A177-3AD203B41FA5}">
                      <a16:colId xmlns:a16="http://schemas.microsoft.com/office/drawing/2014/main" val="716459072"/>
                    </a:ext>
                  </a:extLst>
                </a:gridCol>
                <a:gridCol w="2000250">
                  <a:extLst>
                    <a:ext uri="{9D8B030D-6E8A-4147-A177-3AD203B41FA5}">
                      <a16:colId xmlns:a16="http://schemas.microsoft.com/office/drawing/2014/main" val="2338140106"/>
                    </a:ext>
                  </a:extLst>
                </a:gridCol>
                <a:gridCol w="2000250">
                  <a:extLst>
                    <a:ext uri="{9D8B030D-6E8A-4147-A177-3AD203B41FA5}">
                      <a16:colId xmlns:a16="http://schemas.microsoft.com/office/drawing/2014/main" val="1860506297"/>
                    </a:ext>
                  </a:extLst>
                </a:gridCol>
                <a:gridCol w="2000250">
                  <a:extLst>
                    <a:ext uri="{9D8B030D-6E8A-4147-A177-3AD203B41FA5}">
                      <a16:colId xmlns:a16="http://schemas.microsoft.com/office/drawing/2014/main" val="2282948205"/>
                    </a:ext>
                  </a:extLst>
                </a:gridCol>
              </a:tblGrid>
              <a:tr h="0">
                <a:tc>
                  <a:txBody>
                    <a:bodyPr/>
                    <a:lstStyle/>
                    <a:p>
                      <a:pPr algn="ctr">
                        <a:lnSpc>
                          <a:spcPts val="1500"/>
                        </a:lnSpc>
                        <a:buNone/>
                      </a:pPr>
                      <a:r>
                        <a:rPr lang="en-IN" b="1">
                          <a:solidFill>
                            <a:srgbClr val="333333"/>
                          </a:solidFill>
                          <a:effectLst/>
                          <a:latin typeface="__CircularFontRegular_2948a7"/>
                        </a:rPr>
                        <a:t>OrderID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CustomerID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ProductName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OrderDate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713241076"/>
                  </a:ext>
                </a:extLst>
              </a:tr>
              <a:tr h="0">
                <a:tc>
                  <a:txBody>
                    <a:bodyPr/>
                    <a:lstStyle/>
                    <a:p>
                      <a:pPr>
                        <a:lnSpc>
                          <a:spcPts val="1350"/>
                        </a:lnSpc>
                      </a:pPr>
                      <a:r>
                        <a:rPr lang="en-IN">
                          <a:solidFill>
                            <a:srgbClr val="000000"/>
                          </a:solidFill>
                          <a:effectLst/>
                          <a:latin typeface="__CircularFontRegular_2948a7"/>
                        </a:rPr>
                        <a:t>5001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101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Wireless Mouse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2025-01-12</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449757062"/>
                  </a:ext>
                </a:extLst>
              </a:tr>
              <a:tr h="0">
                <a:tc>
                  <a:txBody>
                    <a:bodyPr/>
                    <a:lstStyle/>
                    <a:p>
                      <a:pPr>
                        <a:lnSpc>
                          <a:spcPts val="1350"/>
                        </a:lnSpc>
                      </a:pPr>
                      <a:r>
                        <a:rPr lang="en-IN">
                          <a:solidFill>
                            <a:srgbClr val="000000"/>
                          </a:solidFill>
                          <a:effectLst/>
                          <a:latin typeface="__CircularFontRegular_2948a7"/>
                        </a:rPr>
                        <a:t>5002</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102</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Keyboard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2025-01-13</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684337758"/>
                  </a:ext>
                </a:extLst>
              </a:tr>
              <a:tr h="0">
                <a:tc>
                  <a:txBody>
                    <a:bodyPr/>
                    <a:lstStyle/>
                    <a:p>
                      <a:pPr>
                        <a:lnSpc>
                          <a:spcPts val="1350"/>
                        </a:lnSpc>
                      </a:pPr>
                      <a:r>
                        <a:rPr lang="en-IN">
                          <a:solidFill>
                            <a:srgbClr val="000000"/>
                          </a:solidFill>
                          <a:effectLst/>
                          <a:latin typeface="__CircularFontRegular_2948a7"/>
                        </a:rPr>
                        <a:t>5003</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101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Laptop Stand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dirty="0">
                          <a:solidFill>
                            <a:srgbClr val="000000"/>
                          </a:solidFill>
                          <a:effectLst/>
                          <a:latin typeface="__CircularFontRegular_2948a7"/>
                        </a:rPr>
                        <a:t>2025-01-14</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615399659"/>
                  </a:ext>
                </a:extLst>
              </a:tr>
            </a:tbl>
          </a:graphicData>
        </a:graphic>
      </p:graphicFrame>
      <p:sp>
        <p:nvSpPr>
          <p:cNvPr id="4" name="Slide Number Placeholder 3">
            <a:extLst>
              <a:ext uri="{FF2B5EF4-FFF2-40B4-BE49-F238E27FC236}">
                <a16:creationId xmlns:a16="http://schemas.microsoft.com/office/drawing/2014/main" id="{032AB3A4-8B79-AB73-7EF5-6EFBE8FDA0AC}"/>
              </a:ext>
            </a:extLst>
          </p:cNvPr>
          <p:cNvSpPr>
            <a:spLocks noGrp="1"/>
          </p:cNvSpPr>
          <p:nvPr>
            <p:ph type="sldNum" sz="quarter" idx="12"/>
          </p:nvPr>
        </p:nvSpPr>
        <p:spPr/>
        <p:txBody>
          <a:bodyPr/>
          <a:lstStyle/>
          <a:p>
            <a:fld id="{8BD8F058-9003-4658-AA47-7D4800AF7EA2}" type="slidenum">
              <a:rPr lang="en-US" smtClean="0"/>
              <a:pPr/>
              <a:t>22</a:t>
            </a:fld>
            <a:endParaRPr lang="en-US"/>
          </a:p>
        </p:txBody>
      </p:sp>
      <p:sp>
        <p:nvSpPr>
          <p:cNvPr id="9" name="TextBox 8">
            <a:extLst>
              <a:ext uri="{FF2B5EF4-FFF2-40B4-BE49-F238E27FC236}">
                <a16:creationId xmlns:a16="http://schemas.microsoft.com/office/drawing/2014/main" id="{3F85F5DA-16BC-45A3-DD6B-A0C274F96A53}"/>
              </a:ext>
            </a:extLst>
          </p:cNvPr>
          <p:cNvSpPr txBox="1"/>
          <p:nvPr/>
        </p:nvSpPr>
        <p:spPr>
          <a:xfrm>
            <a:off x="228600" y="3306156"/>
            <a:ext cx="8686800" cy="3050194"/>
          </a:xfrm>
          <a:prstGeom prst="rect">
            <a:avLst/>
          </a:prstGeom>
          <a:noFill/>
        </p:spPr>
        <p:txBody>
          <a:bodyPr wrap="square">
            <a:spAutoFit/>
          </a:bodyPr>
          <a:lstStyle/>
          <a:p>
            <a:pPr algn="just">
              <a:lnSpc>
                <a:spcPct val="150000"/>
              </a:lnSpc>
              <a:spcBef>
                <a:spcPts val="1800"/>
              </a:spcBef>
              <a:spcAft>
                <a:spcPts val="1800"/>
              </a:spcAft>
              <a:buFont typeface="Arial" panose="020B0604020202020204" pitchFamily="34" charset="0"/>
              <a:buChar char="•"/>
            </a:pPr>
            <a:r>
              <a:rPr lang="en-IN" b="0" i="0" dirty="0">
                <a:solidFill>
                  <a:srgbClr val="000000"/>
                </a:solidFill>
                <a:effectLst/>
                <a:latin typeface="__CircularFontRegular_2948a7"/>
              </a:rPr>
              <a:t>Consider a ‘</a:t>
            </a:r>
            <a:r>
              <a:rPr lang="en-IN" b="1" i="0" dirty="0">
                <a:solidFill>
                  <a:srgbClr val="333333"/>
                </a:solidFill>
                <a:effectLst/>
                <a:latin typeface="__CircularFontRegular_2948a7"/>
              </a:rPr>
              <a:t>Customers table</a:t>
            </a:r>
            <a:r>
              <a:rPr lang="en-IN" b="0" i="0" dirty="0">
                <a:solidFill>
                  <a:srgbClr val="000000"/>
                </a:solidFill>
                <a:effectLst/>
                <a:latin typeface="__CircularFontRegular_2948a7"/>
              </a:rPr>
              <a:t>’ that holds </a:t>
            </a:r>
            <a:r>
              <a:rPr lang="en-IN" b="0" i="0" dirty="0" err="1">
                <a:solidFill>
                  <a:srgbClr val="000000"/>
                </a:solidFill>
                <a:effectLst/>
                <a:latin typeface="__CircularFontRegular_2948a7"/>
              </a:rPr>
              <a:t>CustomerID</a:t>
            </a:r>
            <a:r>
              <a:rPr lang="en-IN" b="0" i="0" dirty="0">
                <a:solidFill>
                  <a:srgbClr val="000000"/>
                </a:solidFill>
                <a:effectLst/>
                <a:latin typeface="__CircularFontRegular_2948a7"/>
              </a:rPr>
              <a:t> as the primary key.</a:t>
            </a:r>
            <a:endParaRPr lang="en-IN" b="0" i="0" dirty="0">
              <a:solidFill>
                <a:srgbClr val="333333"/>
              </a:solidFill>
              <a:effectLst/>
              <a:latin typeface="__CircularFontRegular_2948a7"/>
            </a:endParaRPr>
          </a:p>
          <a:p>
            <a:pPr algn="just">
              <a:lnSpc>
                <a:spcPct val="150000"/>
              </a:lnSpc>
              <a:spcBef>
                <a:spcPts val="1800"/>
              </a:spcBef>
              <a:spcAft>
                <a:spcPts val="1800"/>
              </a:spcAft>
              <a:buFont typeface="Arial" panose="020B0604020202020204" pitchFamily="34" charset="0"/>
              <a:buChar char="•"/>
            </a:pPr>
            <a:r>
              <a:rPr lang="en-IN" b="0" i="0" dirty="0">
                <a:solidFill>
                  <a:srgbClr val="000000"/>
                </a:solidFill>
                <a:effectLst/>
                <a:latin typeface="__CircularFontRegular_2948a7"/>
              </a:rPr>
              <a:t>There’s another table named ‘</a:t>
            </a:r>
            <a:r>
              <a:rPr lang="en-IN" b="1" i="0" dirty="0">
                <a:solidFill>
                  <a:srgbClr val="333333"/>
                </a:solidFill>
                <a:effectLst/>
                <a:latin typeface="__CircularFontRegular_2948a7"/>
              </a:rPr>
              <a:t>Orders’</a:t>
            </a:r>
            <a:r>
              <a:rPr lang="en-IN" b="0" i="0" dirty="0">
                <a:solidFill>
                  <a:srgbClr val="000000"/>
                </a:solidFill>
                <a:effectLst/>
                <a:latin typeface="__CircularFontRegular_2948a7"/>
              </a:rPr>
              <a:t>, which has </a:t>
            </a:r>
            <a:r>
              <a:rPr lang="en-IN" b="0" i="0" dirty="0" err="1">
                <a:solidFill>
                  <a:srgbClr val="000000"/>
                </a:solidFill>
                <a:effectLst/>
                <a:latin typeface="__CircularFontRegular_2948a7"/>
              </a:rPr>
              <a:t>OrderID</a:t>
            </a:r>
            <a:r>
              <a:rPr lang="en-IN" b="0" i="0" dirty="0">
                <a:solidFill>
                  <a:srgbClr val="000000"/>
                </a:solidFill>
                <a:effectLst/>
                <a:latin typeface="__CircularFontRegular_2948a7"/>
              </a:rPr>
              <a:t>, </a:t>
            </a:r>
            <a:r>
              <a:rPr lang="en-IN" b="0" i="0" dirty="0" err="1">
                <a:solidFill>
                  <a:srgbClr val="000000"/>
                </a:solidFill>
                <a:effectLst/>
                <a:latin typeface="__CircularFontRegular_2948a7"/>
              </a:rPr>
              <a:t>CustomerID</a:t>
            </a:r>
            <a:r>
              <a:rPr lang="en-IN" b="0" i="0" dirty="0">
                <a:solidFill>
                  <a:srgbClr val="000000"/>
                </a:solidFill>
                <a:effectLst/>
                <a:latin typeface="__CircularFontRegular_2948a7"/>
              </a:rPr>
              <a:t>, and details about purchased products.</a:t>
            </a:r>
            <a:endParaRPr lang="en-IN" b="0" i="0" dirty="0">
              <a:solidFill>
                <a:srgbClr val="333333"/>
              </a:solidFill>
              <a:effectLst/>
              <a:latin typeface="__CircularFontRegular_2948a7"/>
            </a:endParaRPr>
          </a:p>
          <a:p>
            <a:pPr algn="just">
              <a:lnSpc>
                <a:spcPct val="150000"/>
              </a:lnSpc>
              <a:spcBef>
                <a:spcPts val="1800"/>
              </a:spcBef>
              <a:spcAft>
                <a:spcPts val="1800"/>
              </a:spcAft>
              <a:buFont typeface="Arial" panose="020B0604020202020204" pitchFamily="34" charset="0"/>
              <a:buChar char="•"/>
            </a:pPr>
            <a:r>
              <a:rPr lang="en-IN" b="0" i="0" dirty="0">
                <a:solidFill>
                  <a:srgbClr val="000000"/>
                </a:solidFill>
                <a:effectLst/>
                <a:latin typeface="__CircularFontRegular_2948a7"/>
              </a:rPr>
              <a:t>The </a:t>
            </a:r>
            <a:r>
              <a:rPr lang="en-IN" b="0" i="0" dirty="0" err="1">
                <a:solidFill>
                  <a:srgbClr val="000000"/>
                </a:solidFill>
                <a:effectLst/>
                <a:latin typeface="__CircularFontRegular_2948a7"/>
              </a:rPr>
              <a:t>CustomerID</a:t>
            </a:r>
            <a:r>
              <a:rPr lang="en-IN" b="0" i="0" dirty="0">
                <a:solidFill>
                  <a:srgbClr val="000000"/>
                </a:solidFill>
                <a:effectLst/>
                <a:latin typeface="__CircularFontRegular_2948a7"/>
              </a:rPr>
              <a:t> column in the Orders table becomes the foreign key, allowing you to see which customer placed a specific order.</a:t>
            </a:r>
            <a:endParaRPr lang="en-IN" b="0" i="0" dirty="0">
              <a:solidFill>
                <a:srgbClr val="333333"/>
              </a:solidFill>
              <a:effectLst/>
              <a:latin typeface="__CircularFontRegular_2948a7"/>
            </a:endParaRPr>
          </a:p>
        </p:txBody>
      </p:sp>
    </p:spTree>
    <p:extLst>
      <p:ext uri="{BB962C8B-B14F-4D97-AF65-F5344CB8AC3E}">
        <p14:creationId xmlns:p14="http://schemas.microsoft.com/office/powerpoint/2010/main" val="1974256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270E2-CB1B-49F3-D5DE-E23988093E0E}"/>
              </a:ext>
            </a:extLst>
          </p:cNvPr>
          <p:cNvSpPr>
            <a:spLocks noGrp="1"/>
          </p:cNvSpPr>
          <p:nvPr>
            <p:ph type="title"/>
          </p:nvPr>
        </p:nvSpPr>
        <p:spPr/>
        <p:txBody>
          <a:bodyPr/>
          <a:lstStyle/>
          <a:p>
            <a:br>
              <a:rPr lang="en-IN" b="1" dirty="0"/>
            </a:br>
            <a:r>
              <a:rPr lang="en-IN" b="1" dirty="0"/>
              <a:t>Rules for Foreign Keys in DBMS</a:t>
            </a:r>
            <a:br>
              <a:rPr lang="en-IN" b="1" dirty="0"/>
            </a:br>
            <a:endParaRPr lang="en-IN" dirty="0"/>
          </a:p>
        </p:txBody>
      </p:sp>
      <p:sp>
        <p:nvSpPr>
          <p:cNvPr id="3" name="Content Placeholder 2">
            <a:extLst>
              <a:ext uri="{FF2B5EF4-FFF2-40B4-BE49-F238E27FC236}">
                <a16:creationId xmlns:a16="http://schemas.microsoft.com/office/drawing/2014/main" id="{C2C57049-2B81-C19B-1938-EE367823F7BD}"/>
              </a:ext>
            </a:extLst>
          </p:cNvPr>
          <p:cNvSpPr>
            <a:spLocks noGrp="1"/>
          </p:cNvSpPr>
          <p:nvPr>
            <p:ph idx="1"/>
          </p:nvPr>
        </p:nvSpPr>
        <p:spPr/>
        <p:txBody>
          <a:bodyPr/>
          <a:lstStyle/>
          <a:p>
            <a:pPr algn="just">
              <a:lnSpc>
                <a:spcPct val="150000"/>
              </a:lnSpc>
            </a:pPr>
            <a:r>
              <a:rPr lang="en-IN" sz="2000" b="1" dirty="0"/>
              <a:t>Valid reference</a:t>
            </a:r>
            <a:r>
              <a:rPr lang="en-IN" sz="2000" dirty="0"/>
              <a:t>: A foreign key must point to an existing primary key (or unique key) in another table.</a:t>
            </a:r>
          </a:p>
          <a:p>
            <a:pPr algn="just">
              <a:lnSpc>
                <a:spcPct val="150000"/>
              </a:lnSpc>
            </a:pPr>
            <a:r>
              <a:rPr lang="en-IN" sz="2000" b="1" dirty="0"/>
              <a:t>No mismatch</a:t>
            </a:r>
            <a:r>
              <a:rPr lang="en-IN" sz="2000" dirty="0"/>
              <a:t>: If the parent key changes or is removed, the matching child entries need to follow the specified delete or update actions.</a:t>
            </a:r>
          </a:p>
          <a:p>
            <a:pPr algn="just">
              <a:lnSpc>
                <a:spcPct val="150000"/>
              </a:lnSpc>
            </a:pPr>
            <a:r>
              <a:rPr lang="en-IN" sz="2000" b="1" dirty="0"/>
              <a:t>Possible null</a:t>
            </a:r>
            <a:r>
              <a:rPr lang="en-IN" sz="2000" dirty="0"/>
              <a:t>: If the relationship is optional, you can leave a foreign key column empty.</a:t>
            </a:r>
          </a:p>
          <a:p>
            <a:pPr algn="just">
              <a:lnSpc>
                <a:spcPct val="150000"/>
              </a:lnSpc>
            </a:pPr>
            <a:r>
              <a:rPr lang="en-IN" sz="2000" b="1" dirty="0"/>
              <a:t>Multiple child entries</a:t>
            </a:r>
            <a:r>
              <a:rPr lang="en-IN" sz="2000" dirty="0"/>
              <a:t>: One key in the parent table can link to many rows in the child table.</a:t>
            </a:r>
          </a:p>
          <a:p>
            <a:endParaRPr lang="en-IN" dirty="0"/>
          </a:p>
        </p:txBody>
      </p:sp>
      <p:sp>
        <p:nvSpPr>
          <p:cNvPr id="4" name="Slide Number Placeholder 3">
            <a:extLst>
              <a:ext uri="{FF2B5EF4-FFF2-40B4-BE49-F238E27FC236}">
                <a16:creationId xmlns:a16="http://schemas.microsoft.com/office/drawing/2014/main" id="{608C9250-F2FA-D2CB-53D9-DA9B4334732F}"/>
              </a:ext>
            </a:extLst>
          </p:cNvPr>
          <p:cNvSpPr>
            <a:spLocks noGrp="1"/>
          </p:cNvSpPr>
          <p:nvPr>
            <p:ph type="sldNum" sz="quarter" idx="12"/>
          </p:nvPr>
        </p:nvSpPr>
        <p:spPr/>
        <p:txBody>
          <a:bodyPr/>
          <a:lstStyle/>
          <a:p>
            <a:fld id="{8BD8F058-9003-4658-AA47-7D4800AF7EA2}" type="slidenum">
              <a:rPr lang="en-US" smtClean="0"/>
              <a:pPr/>
              <a:t>23</a:t>
            </a:fld>
            <a:endParaRPr lang="en-US" dirty="0"/>
          </a:p>
        </p:txBody>
      </p:sp>
    </p:spTree>
    <p:extLst>
      <p:ext uri="{BB962C8B-B14F-4D97-AF65-F5344CB8AC3E}">
        <p14:creationId xmlns:p14="http://schemas.microsoft.com/office/powerpoint/2010/main" val="21463870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8AE22-0773-CFEE-1E03-0884171A0248}"/>
              </a:ext>
            </a:extLst>
          </p:cNvPr>
          <p:cNvSpPr>
            <a:spLocks noGrp="1"/>
          </p:cNvSpPr>
          <p:nvPr>
            <p:ph type="title"/>
          </p:nvPr>
        </p:nvSpPr>
        <p:spPr/>
        <p:txBody>
          <a:bodyPr/>
          <a:lstStyle/>
          <a:p>
            <a:r>
              <a:rPr lang="en-IN" b="1" dirty="0"/>
              <a:t>Composite Key</a:t>
            </a:r>
          </a:p>
        </p:txBody>
      </p:sp>
      <p:sp>
        <p:nvSpPr>
          <p:cNvPr id="3" name="Content Placeholder 2">
            <a:extLst>
              <a:ext uri="{FF2B5EF4-FFF2-40B4-BE49-F238E27FC236}">
                <a16:creationId xmlns:a16="http://schemas.microsoft.com/office/drawing/2014/main" id="{2EBFE06E-5296-199A-37BB-B287FF85F692}"/>
              </a:ext>
            </a:extLst>
          </p:cNvPr>
          <p:cNvSpPr>
            <a:spLocks noGrp="1"/>
          </p:cNvSpPr>
          <p:nvPr>
            <p:ph idx="1"/>
          </p:nvPr>
        </p:nvSpPr>
        <p:spPr>
          <a:xfrm>
            <a:off x="228600" y="990600"/>
            <a:ext cx="8458200" cy="4906963"/>
          </a:xfrm>
        </p:spPr>
        <p:txBody>
          <a:bodyPr/>
          <a:lstStyle/>
          <a:p>
            <a:pPr algn="just">
              <a:lnSpc>
                <a:spcPct val="150000"/>
              </a:lnSpc>
            </a:pPr>
            <a:r>
              <a:rPr lang="en-IN" sz="2000" u="sng" dirty="0">
                <a:hlinkClick r:id="rId2"/>
              </a:rPr>
              <a:t>A composite key</a:t>
            </a:r>
            <a:r>
              <a:rPr lang="en-IN" sz="2000" dirty="0"/>
              <a:t> is a combination of two or more columns that together make each row in a table unique. None of those columns alone can serve as the complete identifier, but merging them guarantees one-of-a-kind rows. </a:t>
            </a:r>
          </a:p>
          <a:p>
            <a:pPr algn="just">
              <a:lnSpc>
                <a:spcPct val="150000"/>
              </a:lnSpc>
            </a:pPr>
            <a:r>
              <a:rPr lang="en-IN" sz="2000" dirty="0"/>
              <a:t>Composite keys often appear in many-to-many relationships, where individual columns can repeat themselves, but their pairing remains distinct.</a:t>
            </a:r>
          </a:p>
          <a:p>
            <a:endParaRPr lang="en-IN" dirty="0"/>
          </a:p>
        </p:txBody>
      </p:sp>
      <p:sp>
        <p:nvSpPr>
          <p:cNvPr id="4" name="Slide Number Placeholder 3">
            <a:extLst>
              <a:ext uri="{FF2B5EF4-FFF2-40B4-BE49-F238E27FC236}">
                <a16:creationId xmlns:a16="http://schemas.microsoft.com/office/drawing/2014/main" id="{E4989277-AE1F-FCAF-8A46-DC832254777B}"/>
              </a:ext>
            </a:extLst>
          </p:cNvPr>
          <p:cNvSpPr>
            <a:spLocks noGrp="1"/>
          </p:cNvSpPr>
          <p:nvPr>
            <p:ph type="sldNum" sz="quarter" idx="12"/>
          </p:nvPr>
        </p:nvSpPr>
        <p:spPr/>
        <p:txBody>
          <a:bodyPr/>
          <a:lstStyle/>
          <a:p>
            <a:fld id="{8BD8F058-9003-4658-AA47-7D4800AF7EA2}" type="slidenum">
              <a:rPr lang="en-US" smtClean="0"/>
              <a:pPr/>
              <a:t>24</a:t>
            </a:fld>
            <a:endParaRPr lang="en-US"/>
          </a:p>
        </p:txBody>
      </p:sp>
    </p:spTree>
    <p:extLst>
      <p:ext uri="{BB962C8B-B14F-4D97-AF65-F5344CB8AC3E}">
        <p14:creationId xmlns:p14="http://schemas.microsoft.com/office/powerpoint/2010/main" val="333439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3F701-B105-1D27-6FC3-F94B01D85E03}"/>
              </a:ext>
            </a:extLst>
          </p:cNvPr>
          <p:cNvSpPr>
            <a:spLocks noGrp="1"/>
          </p:cNvSpPr>
          <p:nvPr>
            <p:ph type="title"/>
          </p:nvPr>
        </p:nvSpPr>
        <p:spPr/>
        <p:txBody>
          <a:bodyPr/>
          <a:lstStyle/>
          <a:p>
            <a:endParaRPr lang="en-IN"/>
          </a:p>
        </p:txBody>
      </p:sp>
      <p:graphicFrame>
        <p:nvGraphicFramePr>
          <p:cNvPr id="5" name="Content Placeholder 4">
            <a:extLst>
              <a:ext uri="{FF2B5EF4-FFF2-40B4-BE49-F238E27FC236}">
                <a16:creationId xmlns:a16="http://schemas.microsoft.com/office/drawing/2014/main" id="{FC7B88CA-1727-A7C4-41E5-007AA0409B75}"/>
              </a:ext>
            </a:extLst>
          </p:cNvPr>
          <p:cNvGraphicFramePr>
            <a:graphicFrameLocks noGrp="1"/>
          </p:cNvGraphicFramePr>
          <p:nvPr>
            <p:ph idx="1"/>
            <p:extLst>
              <p:ext uri="{D42A27DB-BD31-4B8C-83A1-F6EECF244321}">
                <p14:modId xmlns:p14="http://schemas.microsoft.com/office/powerpoint/2010/main" val="394119621"/>
              </p:ext>
            </p:extLst>
          </p:nvPr>
        </p:nvGraphicFramePr>
        <p:xfrm>
          <a:off x="1676400" y="1143000"/>
          <a:ext cx="5295900" cy="1759585"/>
        </p:xfrm>
        <a:graphic>
          <a:graphicData uri="http://schemas.openxmlformats.org/drawingml/2006/table">
            <a:tbl>
              <a:tblPr/>
              <a:tblGrid>
                <a:gridCol w="1765300">
                  <a:extLst>
                    <a:ext uri="{9D8B030D-6E8A-4147-A177-3AD203B41FA5}">
                      <a16:colId xmlns:a16="http://schemas.microsoft.com/office/drawing/2014/main" val="1703600114"/>
                    </a:ext>
                  </a:extLst>
                </a:gridCol>
                <a:gridCol w="1765300">
                  <a:extLst>
                    <a:ext uri="{9D8B030D-6E8A-4147-A177-3AD203B41FA5}">
                      <a16:colId xmlns:a16="http://schemas.microsoft.com/office/drawing/2014/main" val="2717215732"/>
                    </a:ext>
                  </a:extLst>
                </a:gridCol>
                <a:gridCol w="1765300">
                  <a:extLst>
                    <a:ext uri="{9D8B030D-6E8A-4147-A177-3AD203B41FA5}">
                      <a16:colId xmlns:a16="http://schemas.microsoft.com/office/drawing/2014/main" val="495450622"/>
                    </a:ext>
                  </a:extLst>
                </a:gridCol>
              </a:tblGrid>
              <a:tr h="0">
                <a:tc>
                  <a:txBody>
                    <a:bodyPr/>
                    <a:lstStyle/>
                    <a:p>
                      <a:pPr algn="ctr">
                        <a:lnSpc>
                          <a:spcPts val="1500"/>
                        </a:lnSpc>
                        <a:buNone/>
                      </a:pPr>
                      <a:r>
                        <a:rPr lang="en-IN" b="1">
                          <a:solidFill>
                            <a:srgbClr val="333333"/>
                          </a:solidFill>
                          <a:effectLst/>
                          <a:latin typeface="__CircularFontRegular_2948a7"/>
                        </a:rPr>
                        <a:t>StudentID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CourseID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EnrollmentDate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897981047"/>
                  </a:ext>
                </a:extLst>
              </a:tr>
              <a:tr h="0">
                <a:tc>
                  <a:txBody>
                    <a:bodyPr/>
                    <a:lstStyle/>
                    <a:p>
                      <a:pPr>
                        <a:lnSpc>
                          <a:spcPts val="1350"/>
                        </a:lnSpc>
                      </a:pPr>
                      <a:r>
                        <a:rPr lang="en-IN">
                          <a:solidFill>
                            <a:srgbClr val="000000"/>
                          </a:solidFill>
                          <a:effectLst/>
                          <a:latin typeface="__CircularFontRegular_2948a7"/>
                        </a:rPr>
                        <a:t>101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C001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2025-02-08</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828979000"/>
                  </a:ext>
                </a:extLst>
              </a:tr>
              <a:tr h="0">
                <a:tc>
                  <a:txBody>
                    <a:bodyPr/>
                    <a:lstStyle/>
                    <a:p>
                      <a:pPr>
                        <a:lnSpc>
                          <a:spcPts val="1350"/>
                        </a:lnSpc>
                      </a:pPr>
                      <a:r>
                        <a:rPr lang="en-IN">
                          <a:solidFill>
                            <a:srgbClr val="000000"/>
                          </a:solidFill>
                          <a:effectLst/>
                          <a:latin typeface="__CircularFontRegular_2948a7"/>
                        </a:rPr>
                        <a:t>101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C002</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2025-02-09</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694010219"/>
                  </a:ext>
                </a:extLst>
              </a:tr>
              <a:tr h="0">
                <a:tc>
                  <a:txBody>
                    <a:bodyPr/>
                    <a:lstStyle/>
                    <a:p>
                      <a:pPr>
                        <a:lnSpc>
                          <a:spcPts val="1350"/>
                        </a:lnSpc>
                      </a:pPr>
                      <a:r>
                        <a:rPr lang="en-IN">
                          <a:solidFill>
                            <a:srgbClr val="000000"/>
                          </a:solidFill>
                          <a:effectLst/>
                          <a:latin typeface="__CircularFontRegular_2948a7"/>
                        </a:rPr>
                        <a:t>102</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C001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dirty="0">
                          <a:solidFill>
                            <a:srgbClr val="000000"/>
                          </a:solidFill>
                          <a:effectLst/>
                          <a:latin typeface="__CircularFontRegular_2948a7"/>
                        </a:rPr>
                        <a:t>2025-02-10</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4201282052"/>
                  </a:ext>
                </a:extLst>
              </a:tr>
            </a:tbl>
          </a:graphicData>
        </a:graphic>
      </p:graphicFrame>
      <p:sp>
        <p:nvSpPr>
          <p:cNvPr id="4" name="Slide Number Placeholder 3">
            <a:extLst>
              <a:ext uri="{FF2B5EF4-FFF2-40B4-BE49-F238E27FC236}">
                <a16:creationId xmlns:a16="http://schemas.microsoft.com/office/drawing/2014/main" id="{A167F6B0-C450-DE3E-D7BC-18B93228CBFB}"/>
              </a:ext>
            </a:extLst>
          </p:cNvPr>
          <p:cNvSpPr>
            <a:spLocks noGrp="1"/>
          </p:cNvSpPr>
          <p:nvPr>
            <p:ph type="sldNum" sz="quarter" idx="12"/>
          </p:nvPr>
        </p:nvSpPr>
        <p:spPr/>
        <p:txBody>
          <a:bodyPr/>
          <a:lstStyle/>
          <a:p>
            <a:fld id="{8BD8F058-9003-4658-AA47-7D4800AF7EA2}" type="slidenum">
              <a:rPr lang="en-US" smtClean="0"/>
              <a:pPr/>
              <a:t>25</a:t>
            </a:fld>
            <a:endParaRPr lang="en-US"/>
          </a:p>
        </p:txBody>
      </p:sp>
      <p:sp>
        <p:nvSpPr>
          <p:cNvPr id="7" name="TextBox 6">
            <a:extLst>
              <a:ext uri="{FF2B5EF4-FFF2-40B4-BE49-F238E27FC236}">
                <a16:creationId xmlns:a16="http://schemas.microsoft.com/office/drawing/2014/main" id="{CAC75EB0-7BF2-6E80-42C1-AE9A2C80801C}"/>
              </a:ext>
            </a:extLst>
          </p:cNvPr>
          <p:cNvSpPr txBox="1"/>
          <p:nvPr/>
        </p:nvSpPr>
        <p:spPr>
          <a:xfrm>
            <a:off x="152400" y="3178482"/>
            <a:ext cx="8572500" cy="2862322"/>
          </a:xfrm>
          <a:prstGeom prst="rect">
            <a:avLst/>
          </a:prstGeom>
          <a:noFill/>
        </p:spPr>
        <p:txBody>
          <a:bodyPr wrap="square">
            <a:spAutoFit/>
          </a:bodyPr>
          <a:lstStyle/>
          <a:p>
            <a:pPr algn="just">
              <a:spcBef>
                <a:spcPts val="1800"/>
              </a:spcBef>
              <a:spcAft>
                <a:spcPts val="1800"/>
              </a:spcAft>
              <a:buFont typeface="Arial" panose="020B0604020202020204" pitchFamily="34" charset="0"/>
              <a:buChar char="•"/>
            </a:pPr>
            <a:r>
              <a:rPr lang="en-IN" b="0" i="0" dirty="0">
                <a:solidFill>
                  <a:srgbClr val="000000"/>
                </a:solidFill>
                <a:effectLst/>
                <a:latin typeface="__CircularFontRegular_2948a7"/>
              </a:rPr>
              <a:t>‘</a:t>
            </a:r>
            <a:r>
              <a:rPr lang="en-IN" b="1" i="0" dirty="0" err="1">
                <a:solidFill>
                  <a:srgbClr val="333333"/>
                </a:solidFill>
                <a:effectLst/>
                <a:latin typeface="__CircularFontRegular_2948a7"/>
              </a:rPr>
              <a:t>StudentCourse</a:t>
            </a:r>
            <a:r>
              <a:rPr lang="en-IN" b="1" i="0" dirty="0">
                <a:solidFill>
                  <a:srgbClr val="333333"/>
                </a:solidFill>
                <a:effectLst/>
                <a:latin typeface="__CircularFontRegular_2948a7"/>
              </a:rPr>
              <a:t> table</a:t>
            </a:r>
            <a:r>
              <a:rPr lang="en-IN" b="0" i="0" dirty="0">
                <a:solidFill>
                  <a:srgbClr val="000000"/>
                </a:solidFill>
                <a:effectLst/>
                <a:latin typeface="__CircularFontRegular_2948a7"/>
              </a:rPr>
              <a:t>’ that records which students sign up for which courses.</a:t>
            </a:r>
            <a:endParaRPr lang="en-IN" b="0" i="0" dirty="0">
              <a:solidFill>
                <a:srgbClr val="333333"/>
              </a:solidFill>
              <a:effectLst/>
              <a:latin typeface="__CircularFontRegular_2948a7"/>
            </a:endParaRPr>
          </a:p>
          <a:p>
            <a:pPr algn="just">
              <a:spcBef>
                <a:spcPts val="1800"/>
              </a:spcBef>
              <a:spcAft>
                <a:spcPts val="1800"/>
              </a:spcAft>
              <a:buFont typeface="Arial" panose="020B0604020202020204" pitchFamily="34" charset="0"/>
              <a:buChar char="•"/>
            </a:pPr>
            <a:r>
              <a:rPr lang="en-IN" b="0" i="0" dirty="0">
                <a:solidFill>
                  <a:srgbClr val="000000"/>
                </a:solidFill>
                <a:effectLst/>
                <a:latin typeface="__CircularFontRegular_2948a7"/>
              </a:rPr>
              <a:t>A single </a:t>
            </a:r>
            <a:r>
              <a:rPr lang="en-IN" b="0" i="0" dirty="0" err="1">
                <a:solidFill>
                  <a:srgbClr val="000000"/>
                </a:solidFill>
                <a:effectLst/>
                <a:latin typeface="__CircularFontRegular_2948a7"/>
              </a:rPr>
              <a:t>StudentID</a:t>
            </a:r>
            <a:r>
              <a:rPr lang="en-IN" b="0" i="0" dirty="0">
                <a:solidFill>
                  <a:srgbClr val="000000"/>
                </a:solidFill>
                <a:effectLst/>
                <a:latin typeface="__CircularFontRegular_2948a7"/>
              </a:rPr>
              <a:t> can appear many times if the same student takes multiple courses.</a:t>
            </a:r>
            <a:endParaRPr lang="en-IN" b="0" i="0" dirty="0">
              <a:solidFill>
                <a:srgbClr val="333333"/>
              </a:solidFill>
              <a:effectLst/>
              <a:latin typeface="__CircularFontRegular_2948a7"/>
            </a:endParaRPr>
          </a:p>
          <a:p>
            <a:pPr algn="just">
              <a:spcBef>
                <a:spcPts val="1800"/>
              </a:spcBef>
              <a:spcAft>
                <a:spcPts val="1800"/>
              </a:spcAft>
              <a:buFont typeface="Arial" panose="020B0604020202020204" pitchFamily="34" charset="0"/>
              <a:buChar char="•"/>
            </a:pPr>
            <a:r>
              <a:rPr lang="en-IN" b="0" i="0" dirty="0">
                <a:solidFill>
                  <a:srgbClr val="000000"/>
                </a:solidFill>
                <a:effectLst/>
                <a:latin typeface="__CircularFontRegular_2948a7"/>
              </a:rPr>
              <a:t>A single </a:t>
            </a:r>
            <a:r>
              <a:rPr lang="en-IN" b="0" i="0" dirty="0" err="1">
                <a:solidFill>
                  <a:srgbClr val="000000"/>
                </a:solidFill>
                <a:effectLst/>
                <a:latin typeface="__CircularFontRegular_2948a7"/>
              </a:rPr>
              <a:t>CourseID</a:t>
            </a:r>
            <a:r>
              <a:rPr lang="en-IN" b="0" i="0" dirty="0">
                <a:solidFill>
                  <a:srgbClr val="000000"/>
                </a:solidFill>
                <a:effectLst/>
                <a:latin typeface="__CircularFontRegular_2948a7"/>
              </a:rPr>
              <a:t> can also appear many times because multiple students may </a:t>
            </a:r>
            <a:r>
              <a:rPr lang="en-IN" b="0" i="0" dirty="0" err="1">
                <a:solidFill>
                  <a:srgbClr val="000000"/>
                </a:solidFill>
                <a:effectLst/>
                <a:latin typeface="__CircularFontRegular_2948a7"/>
              </a:rPr>
              <a:t>enroll</a:t>
            </a:r>
            <a:r>
              <a:rPr lang="en-IN" b="0" i="0" dirty="0">
                <a:solidFill>
                  <a:srgbClr val="000000"/>
                </a:solidFill>
                <a:effectLst/>
                <a:latin typeface="__CircularFontRegular_2948a7"/>
              </a:rPr>
              <a:t> in the same course.</a:t>
            </a:r>
            <a:endParaRPr lang="en-IN" b="0" i="0" dirty="0">
              <a:solidFill>
                <a:srgbClr val="333333"/>
              </a:solidFill>
              <a:effectLst/>
              <a:latin typeface="__CircularFontRegular_2948a7"/>
            </a:endParaRPr>
          </a:p>
          <a:p>
            <a:pPr algn="just">
              <a:spcBef>
                <a:spcPts val="1800"/>
              </a:spcBef>
              <a:spcAft>
                <a:spcPts val="1800"/>
              </a:spcAft>
              <a:buFont typeface="Arial" panose="020B0604020202020204" pitchFamily="34" charset="0"/>
              <a:buChar char="•"/>
            </a:pPr>
            <a:r>
              <a:rPr lang="en-IN" b="0" i="0" dirty="0">
                <a:solidFill>
                  <a:srgbClr val="000000"/>
                </a:solidFill>
                <a:effectLst/>
                <a:latin typeface="__CircularFontRegular_2948a7"/>
              </a:rPr>
              <a:t>By merging </a:t>
            </a:r>
            <a:r>
              <a:rPr lang="en-IN" b="0" i="0" dirty="0" err="1">
                <a:solidFill>
                  <a:srgbClr val="000000"/>
                </a:solidFill>
                <a:effectLst/>
                <a:latin typeface="__CircularFontRegular_2948a7"/>
              </a:rPr>
              <a:t>StudentID</a:t>
            </a:r>
            <a:r>
              <a:rPr lang="en-IN" b="0" i="0" dirty="0">
                <a:solidFill>
                  <a:srgbClr val="000000"/>
                </a:solidFill>
                <a:effectLst/>
                <a:latin typeface="__CircularFontRegular_2948a7"/>
              </a:rPr>
              <a:t> and </a:t>
            </a:r>
            <a:r>
              <a:rPr lang="en-IN" b="0" i="0" dirty="0" err="1">
                <a:solidFill>
                  <a:srgbClr val="000000"/>
                </a:solidFill>
                <a:effectLst/>
                <a:latin typeface="__CircularFontRegular_2948a7"/>
              </a:rPr>
              <a:t>CourseID</a:t>
            </a:r>
            <a:r>
              <a:rPr lang="en-IN" b="0" i="0" dirty="0">
                <a:solidFill>
                  <a:srgbClr val="000000"/>
                </a:solidFill>
                <a:effectLst/>
                <a:latin typeface="__CircularFontRegular_2948a7"/>
              </a:rPr>
              <a:t>, you get a unique composite key.</a:t>
            </a:r>
            <a:endParaRPr lang="en-IN" b="0" i="0" dirty="0">
              <a:solidFill>
                <a:srgbClr val="333333"/>
              </a:solidFill>
              <a:effectLst/>
              <a:latin typeface="__CircularFontRegular_2948a7"/>
            </a:endParaRPr>
          </a:p>
        </p:txBody>
      </p:sp>
    </p:spTree>
    <p:extLst>
      <p:ext uri="{BB962C8B-B14F-4D97-AF65-F5344CB8AC3E}">
        <p14:creationId xmlns:p14="http://schemas.microsoft.com/office/powerpoint/2010/main" val="1866693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A00AE-D8AA-387B-3A34-E9A176057E61}"/>
              </a:ext>
            </a:extLst>
          </p:cNvPr>
          <p:cNvSpPr>
            <a:spLocks noGrp="1"/>
          </p:cNvSpPr>
          <p:nvPr>
            <p:ph type="title"/>
          </p:nvPr>
        </p:nvSpPr>
        <p:spPr/>
        <p:txBody>
          <a:bodyPr/>
          <a:lstStyle/>
          <a:p>
            <a:br>
              <a:rPr lang="en-IN" b="1" dirty="0"/>
            </a:br>
            <a:r>
              <a:rPr lang="en-IN" b="1" dirty="0"/>
              <a:t>Examples of a Composite Key </a:t>
            </a:r>
            <a:br>
              <a:rPr lang="en-IN" b="1" dirty="0"/>
            </a:br>
            <a:endParaRPr lang="en-IN" dirty="0"/>
          </a:p>
        </p:txBody>
      </p:sp>
      <p:sp>
        <p:nvSpPr>
          <p:cNvPr id="3" name="Content Placeholder 2">
            <a:extLst>
              <a:ext uri="{FF2B5EF4-FFF2-40B4-BE49-F238E27FC236}">
                <a16:creationId xmlns:a16="http://schemas.microsoft.com/office/drawing/2014/main" id="{175CA15A-9060-57F2-F42D-3318510E736B}"/>
              </a:ext>
            </a:extLst>
          </p:cNvPr>
          <p:cNvSpPr>
            <a:spLocks noGrp="1"/>
          </p:cNvSpPr>
          <p:nvPr>
            <p:ph idx="1"/>
          </p:nvPr>
        </p:nvSpPr>
        <p:spPr/>
        <p:txBody>
          <a:bodyPr/>
          <a:lstStyle/>
          <a:p>
            <a:pPr algn="just">
              <a:lnSpc>
                <a:spcPct val="150000"/>
              </a:lnSpc>
            </a:pPr>
            <a:r>
              <a:rPr lang="en-IN" sz="2000" b="1" dirty="0"/>
              <a:t>(</a:t>
            </a:r>
            <a:r>
              <a:rPr lang="en-IN" sz="2000" b="1" dirty="0" err="1"/>
              <a:t>OrderID</a:t>
            </a:r>
            <a:r>
              <a:rPr lang="en-IN" sz="2000" b="1" dirty="0"/>
              <a:t> + </a:t>
            </a:r>
            <a:r>
              <a:rPr lang="en-IN" sz="2000" b="1" dirty="0" err="1"/>
              <a:t>ProductID</a:t>
            </a:r>
            <a:r>
              <a:rPr lang="en-IN" sz="2000" b="1" dirty="0"/>
              <a:t>)</a:t>
            </a:r>
            <a:r>
              <a:rPr lang="en-IN" sz="2000" dirty="0"/>
              <a:t> in an </a:t>
            </a:r>
            <a:r>
              <a:rPr lang="en-IN" sz="2000" dirty="0" err="1"/>
              <a:t>OrderDetails</a:t>
            </a:r>
            <a:r>
              <a:rPr lang="en-IN" sz="2000" dirty="0"/>
              <a:t> table, which prevents duplicates of the same product line in one order</a:t>
            </a:r>
          </a:p>
          <a:p>
            <a:pPr algn="just">
              <a:lnSpc>
                <a:spcPct val="150000"/>
              </a:lnSpc>
            </a:pPr>
            <a:r>
              <a:rPr lang="en-IN" sz="2000" b="1" dirty="0"/>
              <a:t>(</a:t>
            </a:r>
            <a:r>
              <a:rPr lang="en-IN" sz="2000" b="1" dirty="0" err="1"/>
              <a:t>StudentID</a:t>
            </a:r>
            <a:r>
              <a:rPr lang="en-IN" sz="2000" b="1" dirty="0"/>
              <a:t> + </a:t>
            </a:r>
            <a:r>
              <a:rPr lang="en-IN" sz="2000" b="1" dirty="0" err="1"/>
              <a:t>CourseID</a:t>
            </a:r>
            <a:r>
              <a:rPr lang="en-IN" sz="2000" b="1" dirty="0"/>
              <a:t>)</a:t>
            </a:r>
            <a:r>
              <a:rPr lang="en-IN" sz="2000" dirty="0"/>
              <a:t> in a </a:t>
            </a:r>
            <a:r>
              <a:rPr lang="en-IN" sz="2000" dirty="0" err="1"/>
              <a:t>StudentCourse</a:t>
            </a:r>
            <a:r>
              <a:rPr lang="en-IN" sz="2000" dirty="0"/>
              <a:t> table, as shown above</a:t>
            </a:r>
          </a:p>
          <a:p>
            <a:pPr algn="just">
              <a:lnSpc>
                <a:spcPct val="150000"/>
              </a:lnSpc>
            </a:pPr>
            <a:r>
              <a:rPr lang="en-IN" sz="2000" b="1" dirty="0"/>
              <a:t>(</a:t>
            </a:r>
            <a:r>
              <a:rPr lang="en-IN" sz="2000" b="1" dirty="0" err="1"/>
              <a:t>FlightNumber</a:t>
            </a:r>
            <a:r>
              <a:rPr lang="en-IN" sz="2000" b="1" dirty="0"/>
              <a:t> + </a:t>
            </a:r>
            <a:r>
              <a:rPr lang="en-IN" sz="2000" b="1" dirty="0" err="1"/>
              <a:t>FlightDate</a:t>
            </a:r>
            <a:r>
              <a:rPr lang="en-IN" sz="2000" b="1" dirty="0"/>
              <a:t>)</a:t>
            </a:r>
            <a:r>
              <a:rPr lang="en-IN" sz="2000" dirty="0"/>
              <a:t> in an airline schedule table, ensuring each flight on a particular date stays unique</a:t>
            </a:r>
          </a:p>
          <a:p>
            <a:pPr marL="0" indent="0">
              <a:buNone/>
            </a:pPr>
            <a:endParaRPr lang="en-IN" dirty="0"/>
          </a:p>
        </p:txBody>
      </p:sp>
      <p:sp>
        <p:nvSpPr>
          <p:cNvPr id="4" name="Slide Number Placeholder 3">
            <a:extLst>
              <a:ext uri="{FF2B5EF4-FFF2-40B4-BE49-F238E27FC236}">
                <a16:creationId xmlns:a16="http://schemas.microsoft.com/office/drawing/2014/main" id="{1976A087-B75A-DF94-8B81-62B8CD4700F0}"/>
              </a:ext>
            </a:extLst>
          </p:cNvPr>
          <p:cNvSpPr>
            <a:spLocks noGrp="1"/>
          </p:cNvSpPr>
          <p:nvPr>
            <p:ph type="sldNum" sz="quarter" idx="12"/>
          </p:nvPr>
        </p:nvSpPr>
        <p:spPr/>
        <p:txBody>
          <a:bodyPr/>
          <a:lstStyle/>
          <a:p>
            <a:fld id="{8BD8F058-9003-4658-AA47-7D4800AF7EA2}" type="slidenum">
              <a:rPr lang="en-US" smtClean="0"/>
              <a:pPr/>
              <a:t>26</a:t>
            </a:fld>
            <a:endParaRPr lang="en-US"/>
          </a:p>
        </p:txBody>
      </p:sp>
    </p:spTree>
    <p:extLst>
      <p:ext uri="{BB962C8B-B14F-4D97-AF65-F5344CB8AC3E}">
        <p14:creationId xmlns:p14="http://schemas.microsoft.com/office/powerpoint/2010/main" val="29080114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D9096-F7DF-5BB7-7442-E02A1207A7FA}"/>
              </a:ext>
            </a:extLst>
          </p:cNvPr>
          <p:cNvSpPr>
            <a:spLocks noGrp="1"/>
          </p:cNvSpPr>
          <p:nvPr>
            <p:ph type="title"/>
          </p:nvPr>
        </p:nvSpPr>
        <p:spPr/>
        <p:txBody>
          <a:bodyPr/>
          <a:lstStyle/>
          <a:p>
            <a:r>
              <a:rPr lang="en-IN" b="1" dirty="0"/>
              <a:t>Surrogate Key</a:t>
            </a:r>
          </a:p>
        </p:txBody>
      </p:sp>
      <p:sp>
        <p:nvSpPr>
          <p:cNvPr id="3" name="Content Placeholder 2">
            <a:extLst>
              <a:ext uri="{FF2B5EF4-FFF2-40B4-BE49-F238E27FC236}">
                <a16:creationId xmlns:a16="http://schemas.microsoft.com/office/drawing/2014/main" id="{86B380D3-A771-6402-353A-EF8F985C27D1}"/>
              </a:ext>
            </a:extLst>
          </p:cNvPr>
          <p:cNvSpPr>
            <a:spLocks noGrp="1"/>
          </p:cNvSpPr>
          <p:nvPr>
            <p:ph idx="1"/>
          </p:nvPr>
        </p:nvSpPr>
        <p:spPr/>
        <p:txBody>
          <a:bodyPr/>
          <a:lstStyle/>
          <a:p>
            <a:pPr algn="just">
              <a:lnSpc>
                <a:spcPct val="150000"/>
              </a:lnSpc>
            </a:pPr>
            <a:r>
              <a:rPr lang="en-IN" sz="2000" dirty="0"/>
              <a:t>A surrogate key is a system-generated column that identifies each row in a table but has no direct connection to real-world data. Many databases assign an automatically incrementing number as the surrogate key, and this approach offers a stable way to keep records distinct. It won't change over time and doesn't depend on user-provided values or business rules.</a:t>
            </a:r>
          </a:p>
        </p:txBody>
      </p:sp>
      <p:sp>
        <p:nvSpPr>
          <p:cNvPr id="4" name="Slide Number Placeholder 3">
            <a:extLst>
              <a:ext uri="{FF2B5EF4-FFF2-40B4-BE49-F238E27FC236}">
                <a16:creationId xmlns:a16="http://schemas.microsoft.com/office/drawing/2014/main" id="{DEA788F5-1054-E268-90B4-6EAC0E558E26}"/>
              </a:ext>
            </a:extLst>
          </p:cNvPr>
          <p:cNvSpPr>
            <a:spLocks noGrp="1"/>
          </p:cNvSpPr>
          <p:nvPr>
            <p:ph type="sldNum" sz="quarter" idx="12"/>
          </p:nvPr>
        </p:nvSpPr>
        <p:spPr/>
        <p:txBody>
          <a:bodyPr/>
          <a:lstStyle/>
          <a:p>
            <a:fld id="{8BD8F058-9003-4658-AA47-7D4800AF7EA2}" type="slidenum">
              <a:rPr lang="en-US" smtClean="0"/>
              <a:pPr/>
              <a:t>27</a:t>
            </a:fld>
            <a:endParaRPr lang="en-US"/>
          </a:p>
        </p:txBody>
      </p:sp>
    </p:spTree>
    <p:extLst>
      <p:ext uri="{BB962C8B-B14F-4D97-AF65-F5344CB8AC3E}">
        <p14:creationId xmlns:p14="http://schemas.microsoft.com/office/powerpoint/2010/main" val="2055203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6EB47-19BF-BAFB-DB4E-FC03EAE41F7D}"/>
              </a:ext>
            </a:extLst>
          </p:cNvPr>
          <p:cNvSpPr>
            <a:spLocks noGrp="1"/>
          </p:cNvSpPr>
          <p:nvPr>
            <p:ph type="title"/>
          </p:nvPr>
        </p:nvSpPr>
        <p:spPr/>
        <p:txBody>
          <a:bodyPr/>
          <a:lstStyle/>
          <a:p>
            <a:r>
              <a:rPr lang="en-IN" b="1" dirty="0"/>
              <a:t>Example: Surrogate Key</a:t>
            </a:r>
          </a:p>
        </p:txBody>
      </p:sp>
      <p:sp>
        <p:nvSpPr>
          <p:cNvPr id="3" name="Content Placeholder 2">
            <a:extLst>
              <a:ext uri="{FF2B5EF4-FFF2-40B4-BE49-F238E27FC236}">
                <a16:creationId xmlns:a16="http://schemas.microsoft.com/office/drawing/2014/main" id="{A670B6D9-702C-F35F-EB8C-C0BEE1896E0A}"/>
              </a:ext>
            </a:extLst>
          </p:cNvPr>
          <p:cNvSpPr>
            <a:spLocks noGrp="1"/>
          </p:cNvSpPr>
          <p:nvPr>
            <p:ph idx="1"/>
          </p:nvPr>
        </p:nvSpPr>
        <p:spPr>
          <a:xfrm>
            <a:off x="228600" y="990600"/>
            <a:ext cx="8686800" cy="5638800"/>
          </a:xfrm>
        </p:spPr>
        <p:txBody>
          <a:bodyPr/>
          <a:lstStyle/>
          <a:p>
            <a:pPr algn="just">
              <a:lnSpc>
                <a:spcPct val="150000"/>
              </a:lnSpc>
            </a:pPr>
            <a:r>
              <a:rPr lang="en-IN" sz="2000" dirty="0"/>
              <a:t>In a Users table, the column </a:t>
            </a:r>
            <a:r>
              <a:rPr lang="en-IN" sz="2000" dirty="0" err="1"/>
              <a:t>UserID</a:t>
            </a:r>
            <a:r>
              <a:rPr lang="en-IN" sz="2000" dirty="0"/>
              <a:t> can be auto-incremented by the system.</a:t>
            </a:r>
          </a:p>
          <a:p>
            <a:pPr algn="just">
              <a:lnSpc>
                <a:spcPct val="150000"/>
              </a:lnSpc>
            </a:pPr>
            <a:r>
              <a:rPr lang="en-IN" sz="2000" dirty="0"/>
              <a:t>That means every time a new user is inserted, the </a:t>
            </a:r>
            <a:r>
              <a:rPr lang="en-IN" sz="2000" dirty="0" err="1"/>
              <a:t>UserID</a:t>
            </a:r>
            <a:r>
              <a:rPr lang="en-IN" sz="2000" dirty="0"/>
              <a:t> automatically increases by one and becomes the new record's surrogate key.</a:t>
            </a:r>
          </a:p>
          <a:p>
            <a:pPr algn="just">
              <a:lnSpc>
                <a:spcPct val="150000"/>
              </a:lnSpc>
            </a:pPr>
            <a:r>
              <a:rPr lang="en-IN" sz="2000" dirty="0"/>
              <a:t>This makes sure each user has a unique identifier that’s never based on any personal details.</a:t>
            </a:r>
          </a:p>
          <a:p>
            <a:endParaRPr lang="en-IN" dirty="0"/>
          </a:p>
        </p:txBody>
      </p:sp>
      <p:sp>
        <p:nvSpPr>
          <p:cNvPr id="4" name="Slide Number Placeholder 3">
            <a:extLst>
              <a:ext uri="{FF2B5EF4-FFF2-40B4-BE49-F238E27FC236}">
                <a16:creationId xmlns:a16="http://schemas.microsoft.com/office/drawing/2014/main" id="{DD86BE8E-7613-CC0A-66C0-B34C656ED339}"/>
              </a:ext>
            </a:extLst>
          </p:cNvPr>
          <p:cNvSpPr>
            <a:spLocks noGrp="1"/>
          </p:cNvSpPr>
          <p:nvPr>
            <p:ph type="sldNum" sz="quarter" idx="12"/>
          </p:nvPr>
        </p:nvSpPr>
        <p:spPr/>
        <p:txBody>
          <a:bodyPr/>
          <a:lstStyle/>
          <a:p>
            <a:fld id="{8BD8F058-9003-4658-AA47-7D4800AF7EA2}" type="slidenum">
              <a:rPr lang="en-US" smtClean="0"/>
              <a:pPr/>
              <a:t>28</a:t>
            </a:fld>
            <a:endParaRPr lang="en-US"/>
          </a:p>
        </p:txBody>
      </p:sp>
      <p:graphicFrame>
        <p:nvGraphicFramePr>
          <p:cNvPr id="5" name="Table 4">
            <a:extLst>
              <a:ext uri="{FF2B5EF4-FFF2-40B4-BE49-F238E27FC236}">
                <a16:creationId xmlns:a16="http://schemas.microsoft.com/office/drawing/2014/main" id="{ACE69317-5774-03E9-AF9B-D96F0DE23918}"/>
              </a:ext>
            </a:extLst>
          </p:cNvPr>
          <p:cNvGraphicFramePr>
            <a:graphicFrameLocks noGrp="1"/>
          </p:cNvGraphicFramePr>
          <p:nvPr>
            <p:extLst>
              <p:ext uri="{D42A27DB-BD31-4B8C-83A1-F6EECF244321}">
                <p14:modId xmlns:p14="http://schemas.microsoft.com/office/powerpoint/2010/main" val="3623954732"/>
              </p:ext>
            </p:extLst>
          </p:nvPr>
        </p:nvGraphicFramePr>
        <p:xfrm>
          <a:off x="1066800" y="3778469"/>
          <a:ext cx="7620000" cy="1759585"/>
        </p:xfrm>
        <a:graphic>
          <a:graphicData uri="http://schemas.openxmlformats.org/drawingml/2006/table">
            <a:tbl>
              <a:tblPr/>
              <a:tblGrid>
                <a:gridCol w="1219200">
                  <a:extLst>
                    <a:ext uri="{9D8B030D-6E8A-4147-A177-3AD203B41FA5}">
                      <a16:colId xmlns:a16="http://schemas.microsoft.com/office/drawing/2014/main" val="1937538383"/>
                    </a:ext>
                  </a:extLst>
                </a:gridCol>
                <a:gridCol w="1600200">
                  <a:extLst>
                    <a:ext uri="{9D8B030D-6E8A-4147-A177-3AD203B41FA5}">
                      <a16:colId xmlns:a16="http://schemas.microsoft.com/office/drawing/2014/main" val="639577770"/>
                    </a:ext>
                  </a:extLst>
                </a:gridCol>
                <a:gridCol w="2895600">
                  <a:extLst>
                    <a:ext uri="{9D8B030D-6E8A-4147-A177-3AD203B41FA5}">
                      <a16:colId xmlns:a16="http://schemas.microsoft.com/office/drawing/2014/main" val="1545109486"/>
                    </a:ext>
                  </a:extLst>
                </a:gridCol>
                <a:gridCol w="1905000">
                  <a:extLst>
                    <a:ext uri="{9D8B030D-6E8A-4147-A177-3AD203B41FA5}">
                      <a16:colId xmlns:a16="http://schemas.microsoft.com/office/drawing/2014/main" val="2608516693"/>
                    </a:ext>
                  </a:extLst>
                </a:gridCol>
              </a:tblGrid>
              <a:tr h="0">
                <a:tc>
                  <a:txBody>
                    <a:bodyPr/>
                    <a:lstStyle/>
                    <a:p>
                      <a:pPr algn="ctr">
                        <a:lnSpc>
                          <a:spcPts val="1500"/>
                        </a:lnSpc>
                        <a:buNone/>
                      </a:pPr>
                      <a:r>
                        <a:rPr lang="en-IN" b="1">
                          <a:solidFill>
                            <a:srgbClr val="333333"/>
                          </a:solidFill>
                          <a:effectLst/>
                          <a:latin typeface="__CircularFontRegular_2948a7"/>
                        </a:rPr>
                        <a:t>UserID</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Username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Email</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gn="ctr">
                        <a:lnSpc>
                          <a:spcPts val="1500"/>
                        </a:lnSpc>
                        <a:buNone/>
                      </a:pPr>
                      <a:r>
                        <a:rPr lang="en-IN" b="1">
                          <a:solidFill>
                            <a:srgbClr val="333333"/>
                          </a:solidFill>
                          <a:effectLst/>
                          <a:latin typeface="__CircularFontRegular_2948a7"/>
                        </a:rPr>
                        <a:t>JoinDate</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173381053"/>
                  </a:ext>
                </a:extLst>
              </a:tr>
              <a:tr h="0">
                <a:tc>
                  <a:txBody>
                    <a:bodyPr/>
                    <a:lstStyle/>
                    <a:p>
                      <a:pPr>
                        <a:lnSpc>
                          <a:spcPts val="1350"/>
                        </a:lnSpc>
                      </a:pPr>
                      <a:r>
                        <a:rPr lang="en-IN">
                          <a:solidFill>
                            <a:srgbClr val="000000"/>
                          </a:solidFill>
                          <a:effectLst/>
                          <a:latin typeface="__CircularFontRegular_2948a7"/>
                        </a:rPr>
                        <a:t>1</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coder123</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coder123@example.com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2025-01-09</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3237123583"/>
                  </a:ext>
                </a:extLst>
              </a:tr>
              <a:tr h="0">
                <a:tc>
                  <a:txBody>
                    <a:bodyPr/>
                    <a:lstStyle/>
                    <a:p>
                      <a:pPr>
                        <a:lnSpc>
                          <a:spcPts val="1350"/>
                        </a:lnSpc>
                      </a:pPr>
                      <a:r>
                        <a:rPr lang="en-IN" dirty="0">
                          <a:solidFill>
                            <a:srgbClr val="000000"/>
                          </a:solidFill>
                          <a:effectLst/>
                          <a:latin typeface="__CircularFontRegular_2948a7"/>
                        </a:rPr>
                        <a:t>2</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devPro</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devPro@example.com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2025-01-10</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1062599607"/>
                  </a:ext>
                </a:extLst>
              </a:tr>
              <a:tr h="0">
                <a:tc>
                  <a:txBody>
                    <a:bodyPr/>
                    <a:lstStyle/>
                    <a:p>
                      <a:pPr>
                        <a:lnSpc>
                          <a:spcPts val="1350"/>
                        </a:lnSpc>
                      </a:pPr>
                      <a:r>
                        <a:rPr lang="en-IN">
                          <a:solidFill>
                            <a:srgbClr val="000000"/>
                          </a:solidFill>
                          <a:effectLst/>
                          <a:latin typeface="__CircularFontRegular_2948a7"/>
                        </a:rPr>
                        <a:t>3</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designGeek</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a:solidFill>
                            <a:srgbClr val="000000"/>
                          </a:solidFill>
                          <a:effectLst/>
                          <a:latin typeface="__CircularFontRegular_2948a7"/>
                        </a:rPr>
                        <a:t>designGeek@example.com</a:t>
                      </a:r>
                      <a:endParaRPr lang="en-IN">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tc>
                  <a:txBody>
                    <a:bodyPr/>
                    <a:lstStyle/>
                    <a:p>
                      <a:pPr>
                        <a:lnSpc>
                          <a:spcPts val="1350"/>
                        </a:lnSpc>
                      </a:pPr>
                      <a:r>
                        <a:rPr lang="en-IN" dirty="0">
                          <a:solidFill>
                            <a:srgbClr val="000000"/>
                          </a:solidFill>
                          <a:effectLst/>
                          <a:latin typeface="__CircularFontRegular_2948a7"/>
                        </a:rPr>
                        <a:t>2025-01-11</a:t>
                      </a:r>
                      <a:endParaRPr lang="en-IN" dirty="0">
                        <a:solidFill>
                          <a:srgbClr val="333333"/>
                        </a:solidFill>
                        <a:effectLst/>
                        <a:latin typeface="__CircularFontRegular_2948a7"/>
                      </a:endParaRPr>
                    </a:p>
                  </a:txBody>
                  <a:tcPr marL="121920" marR="121920" marT="121920" marB="121920" anchor="ctr">
                    <a:lnL w="7620" cap="flat" cmpd="sng" algn="ctr">
                      <a:solidFill>
                        <a:srgbClr val="E6E6E6"/>
                      </a:solidFill>
                      <a:prstDash val="solid"/>
                      <a:round/>
                      <a:headEnd type="none" w="med" len="med"/>
                      <a:tailEnd type="none" w="med" len="med"/>
                    </a:lnL>
                    <a:lnR w="7620" cap="flat" cmpd="sng" algn="ctr">
                      <a:solidFill>
                        <a:srgbClr val="E6E6E6"/>
                      </a:solidFill>
                      <a:prstDash val="solid"/>
                      <a:round/>
                      <a:headEnd type="none" w="med" len="med"/>
                      <a:tailEnd type="none" w="med" len="med"/>
                    </a:lnR>
                    <a:lnT w="7620" cap="flat" cmpd="sng" algn="ctr">
                      <a:solidFill>
                        <a:srgbClr val="E6E6E6"/>
                      </a:solidFill>
                      <a:prstDash val="solid"/>
                      <a:round/>
                      <a:headEnd type="none" w="med" len="med"/>
                      <a:tailEnd type="none" w="med" len="med"/>
                    </a:lnT>
                    <a:lnB w="7620" cap="flat" cmpd="sng" algn="ctr">
                      <a:solidFill>
                        <a:srgbClr val="E6E6E6"/>
                      </a:solidFill>
                      <a:prstDash val="solid"/>
                      <a:round/>
                      <a:headEnd type="none" w="med" len="med"/>
                      <a:tailEnd type="none" w="med" len="med"/>
                    </a:lnB>
                    <a:solidFill>
                      <a:srgbClr val="FFFFFF"/>
                    </a:solidFill>
                  </a:tcPr>
                </a:tc>
                <a:extLst>
                  <a:ext uri="{0D108BD9-81ED-4DB2-BD59-A6C34878D82A}">
                    <a16:rowId xmlns:a16="http://schemas.microsoft.com/office/drawing/2014/main" val="2407104505"/>
                  </a:ext>
                </a:extLst>
              </a:tr>
            </a:tbl>
          </a:graphicData>
        </a:graphic>
      </p:graphicFrame>
    </p:spTree>
    <p:extLst>
      <p:ext uri="{BB962C8B-B14F-4D97-AF65-F5344CB8AC3E}">
        <p14:creationId xmlns:p14="http://schemas.microsoft.com/office/powerpoint/2010/main" val="334546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4EDB9-DB6C-E44E-E84F-128917CD5C3B}"/>
              </a:ext>
            </a:extLst>
          </p:cNvPr>
          <p:cNvSpPr>
            <a:spLocks noGrp="1"/>
          </p:cNvSpPr>
          <p:nvPr>
            <p:ph type="title"/>
          </p:nvPr>
        </p:nvSpPr>
        <p:spPr/>
        <p:txBody>
          <a:bodyPr/>
          <a:lstStyle/>
          <a:p>
            <a:br>
              <a:rPr lang="en-IN" b="1" dirty="0"/>
            </a:br>
            <a:r>
              <a:rPr lang="en-IN" b="1" dirty="0"/>
              <a:t>Examples of a Surrogate Key in DBMS</a:t>
            </a:r>
            <a:br>
              <a:rPr lang="en-IN" b="1" dirty="0"/>
            </a:br>
            <a:endParaRPr lang="en-IN" dirty="0"/>
          </a:p>
        </p:txBody>
      </p:sp>
      <p:sp>
        <p:nvSpPr>
          <p:cNvPr id="3" name="Content Placeholder 2">
            <a:extLst>
              <a:ext uri="{FF2B5EF4-FFF2-40B4-BE49-F238E27FC236}">
                <a16:creationId xmlns:a16="http://schemas.microsoft.com/office/drawing/2014/main" id="{7A0C9DD0-4AF1-9EE0-D4A2-3756591E061D}"/>
              </a:ext>
            </a:extLst>
          </p:cNvPr>
          <p:cNvSpPr>
            <a:spLocks noGrp="1"/>
          </p:cNvSpPr>
          <p:nvPr>
            <p:ph idx="1"/>
          </p:nvPr>
        </p:nvSpPr>
        <p:spPr>
          <a:xfrm>
            <a:off x="304800" y="1066800"/>
            <a:ext cx="8534400" cy="4830763"/>
          </a:xfrm>
        </p:spPr>
        <p:txBody>
          <a:bodyPr/>
          <a:lstStyle/>
          <a:p>
            <a:pPr algn="just">
              <a:lnSpc>
                <a:spcPct val="150000"/>
              </a:lnSpc>
            </a:pPr>
            <a:r>
              <a:rPr lang="en-IN" sz="2000" b="1" dirty="0"/>
              <a:t>System-Generated Numeric IDs</a:t>
            </a:r>
            <a:r>
              <a:rPr lang="en-IN" sz="2000" dirty="0"/>
              <a:t>: The database auto-increments an integer each time you insert a row, giving each entry a distinct number.</a:t>
            </a:r>
          </a:p>
          <a:p>
            <a:pPr algn="just">
              <a:lnSpc>
                <a:spcPct val="150000"/>
              </a:lnSpc>
            </a:pPr>
            <a:r>
              <a:rPr lang="en-IN" sz="2000" b="1" dirty="0"/>
              <a:t>UUIDs (Universally Unique Identifiers)</a:t>
            </a:r>
            <a:r>
              <a:rPr lang="en-IN" sz="2000" dirty="0"/>
              <a:t>: An algorithm creates long, random strings that are highly unlikely to repeat, giving every row a unique code.</a:t>
            </a:r>
          </a:p>
          <a:p>
            <a:pPr algn="just">
              <a:lnSpc>
                <a:spcPct val="150000"/>
              </a:lnSpc>
            </a:pPr>
            <a:r>
              <a:rPr lang="en-IN" sz="2000" b="1" dirty="0"/>
              <a:t>Database-Assigned Tokens</a:t>
            </a:r>
            <a:r>
              <a:rPr lang="en-IN" sz="2000" dirty="0"/>
              <a:t>: Some systems issue tokens or session IDs on the fly to mark rows without relying on user data.</a:t>
            </a:r>
          </a:p>
          <a:p>
            <a:pPr algn="just">
              <a:lnSpc>
                <a:spcPct val="150000"/>
              </a:lnSpc>
            </a:pPr>
            <a:r>
              <a:rPr lang="en-IN" sz="2000" b="1" dirty="0"/>
              <a:t>Hybrid Surrogate Keys</a:t>
            </a:r>
            <a:r>
              <a:rPr lang="en-IN" sz="2000" dirty="0"/>
              <a:t>: A numeric prefix paired with an increment counter (like ORD-0001, ORD-0002) can simplify sorting while ensuring unique identifiers.</a:t>
            </a:r>
          </a:p>
          <a:p>
            <a:endParaRPr lang="en-IN" dirty="0"/>
          </a:p>
        </p:txBody>
      </p:sp>
      <p:sp>
        <p:nvSpPr>
          <p:cNvPr id="4" name="Slide Number Placeholder 3">
            <a:extLst>
              <a:ext uri="{FF2B5EF4-FFF2-40B4-BE49-F238E27FC236}">
                <a16:creationId xmlns:a16="http://schemas.microsoft.com/office/drawing/2014/main" id="{D3CEBF10-FAA9-19C6-5054-E94F01D29FB4}"/>
              </a:ext>
            </a:extLst>
          </p:cNvPr>
          <p:cNvSpPr>
            <a:spLocks noGrp="1"/>
          </p:cNvSpPr>
          <p:nvPr>
            <p:ph type="sldNum" sz="quarter" idx="12"/>
          </p:nvPr>
        </p:nvSpPr>
        <p:spPr/>
        <p:txBody>
          <a:bodyPr/>
          <a:lstStyle/>
          <a:p>
            <a:fld id="{8BD8F058-9003-4658-AA47-7D4800AF7EA2}" type="slidenum">
              <a:rPr lang="en-US" smtClean="0"/>
              <a:pPr/>
              <a:t>29</a:t>
            </a:fld>
            <a:endParaRPr lang="en-US" dirty="0"/>
          </a:p>
        </p:txBody>
      </p:sp>
    </p:spTree>
    <p:extLst>
      <p:ext uri="{BB962C8B-B14F-4D97-AF65-F5344CB8AC3E}">
        <p14:creationId xmlns:p14="http://schemas.microsoft.com/office/powerpoint/2010/main" val="32895092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B65D6-9DAE-D562-CBC4-F68E7C0CBBC7}"/>
              </a:ext>
            </a:extLst>
          </p:cNvPr>
          <p:cNvSpPr>
            <a:spLocks noGrp="1"/>
          </p:cNvSpPr>
          <p:nvPr>
            <p:ph type="title"/>
          </p:nvPr>
        </p:nvSpPr>
        <p:spPr/>
        <p:txBody>
          <a:bodyPr/>
          <a:lstStyle/>
          <a:p>
            <a:r>
              <a:rPr lang="en-IN" b="1" dirty="0"/>
              <a:t>Properties of SQL Keys</a:t>
            </a:r>
          </a:p>
        </p:txBody>
      </p:sp>
      <p:sp>
        <p:nvSpPr>
          <p:cNvPr id="4" name="Slide Number Placeholder 3">
            <a:extLst>
              <a:ext uri="{FF2B5EF4-FFF2-40B4-BE49-F238E27FC236}">
                <a16:creationId xmlns:a16="http://schemas.microsoft.com/office/drawing/2014/main" id="{8F2CEB58-6C23-EE2F-0842-8AE5897DA8B3}"/>
              </a:ext>
            </a:extLst>
          </p:cNvPr>
          <p:cNvSpPr>
            <a:spLocks noGrp="1"/>
          </p:cNvSpPr>
          <p:nvPr>
            <p:ph type="sldNum" sz="quarter" idx="12"/>
          </p:nvPr>
        </p:nvSpPr>
        <p:spPr/>
        <p:txBody>
          <a:bodyPr/>
          <a:lstStyle/>
          <a:p>
            <a:fld id="{8BD8F058-9003-4658-AA47-7D4800AF7EA2}" type="slidenum">
              <a:rPr lang="en-US" smtClean="0"/>
              <a:pPr/>
              <a:t>30</a:t>
            </a:fld>
            <a:endParaRPr lang="en-US"/>
          </a:p>
        </p:txBody>
      </p:sp>
      <p:pic>
        <p:nvPicPr>
          <p:cNvPr id="6" name="Content Placeholder 5">
            <a:extLst>
              <a:ext uri="{FF2B5EF4-FFF2-40B4-BE49-F238E27FC236}">
                <a16:creationId xmlns:a16="http://schemas.microsoft.com/office/drawing/2014/main" id="{D74B9C0F-4A19-D528-D5B0-B6A831104F31}"/>
              </a:ext>
            </a:extLst>
          </p:cNvPr>
          <p:cNvPicPr>
            <a:picLocks noGrp="1" noChangeAspect="1"/>
          </p:cNvPicPr>
          <p:nvPr>
            <p:ph idx="1"/>
          </p:nvPr>
        </p:nvPicPr>
        <p:blipFill>
          <a:blip r:embed="rId2"/>
          <a:stretch>
            <a:fillRect/>
          </a:stretch>
        </p:blipFill>
        <p:spPr>
          <a:xfrm>
            <a:off x="838200" y="1143001"/>
            <a:ext cx="7620000" cy="4687094"/>
          </a:xfrm>
          <a:prstGeom prst="rect">
            <a:avLst/>
          </a:prstGeom>
        </p:spPr>
      </p:pic>
    </p:spTree>
    <p:extLst>
      <p:ext uri="{BB962C8B-B14F-4D97-AF65-F5344CB8AC3E}">
        <p14:creationId xmlns:p14="http://schemas.microsoft.com/office/powerpoint/2010/main" val="34230526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F87C8-FFF1-9BB6-0741-1F3F14C7F9B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8E2A560-CE8E-20A3-AA60-D6185198B5B9}"/>
              </a:ext>
            </a:extLst>
          </p:cNvPr>
          <p:cNvSpPr>
            <a:spLocks noGrp="1"/>
          </p:cNvSpPr>
          <p:nvPr>
            <p:ph idx="1"/>
          </p:nvPr>
        </p:nvSpPr>
        <p:spPr>
          <a:xfrm>
            <a:off x="152400" y="838200"/>
            <a:ext cx="8839200" cy="5791200"/>
          </a:xfrm>
        </p:spPr>
        <p:txBody>
          <a:bodyPr/>
          <a:lstStyle/>
          <a:p>
            <a:pPr algn="just"/>
            <a:r>
              <a:rPr lang="en-IN" sz="2000" b="1" dirty="0"/>
              <a:t>Uniqueness</a:t>
            </a:r>
            <a:r>
              <a:rPr lang="en-IN" sz="2000" dirty="0"/>
              <a:t>: No two rows share the same key value, preventing duplicates.</a:t>
            </a:r>
          </a:p>
          <a:p>
            <a:pPr algn="just"/>
            <a:r>
              <a:rPr lang="en-IN" sz="2000" b="1" dirty="0"/>
              <a:t>Non-Null Constraint</a:t>
            </a:r>
            <a:r>
              <a:rPr lang="en-IN" sz="2000" dirty="0"/>
              <a:t>: Most keys do not allow empty fields, so each record can be fully identified.</a:t>
            </a:r>
          </a:p>
          <a:p>
            <a:pPr algn="just"/>
            <a:r>
              <a:rPr lang="en-IN" sz="2000" b="1" dirty="0"/>
              <a:t>Minimality</a:t>
            </a:r>
            <a:r>
              <a:rPr lang="en-IN" sz="2000" dirty="0"/>
              <a:t>: The key has no extra attributes; if any column is removed, the key no longer guarantees uniqueness.</a:t>
            </a:r>
          </a:p>
          <a:p>
            <a:pPr algn="just"/>
            <a:r>
              <a:rPr lang="en-IN" sz="2000" b="1" dirty="0"/>
              <a:t>Stability</a:t>
            </a:r>
            <a:r>
              <a:rPr lang="en-IN" sz="2000" dirty="0"/>
              <a:t>: Key values shouldn’t change often (or at all). When they do, references in other tables may break.</a:t>
            </a:r>
          </a:p>
          <a:p>
            <a:pPr algn="just"/>
            <a:r>
              <a:rPr lang="en-IN" sz="2000" b="1" dirty="0"/>
              <a:t>Entity Integrity</a:t>
            </a:r>
            <a:r>
              <a:rPr lang="en-IN" sz="2000" dirty="0"/>
              <a:t>: A valid key ensures each record is recognized as a distinct entity, reinforcing the table’s core structure.</a:t>
            </a:r>
          </a:p>
          <a:p>
            <a:pPr algn="just"/>
            <a:r>
              <a:rPr lang="en-IN" sz="2000" b="1" dirty="0"/>
              <a:t>Referential Integrity</a:t>
            </a:r>
            <a:r>
              <a:rPr lang="en-IN" sz="2000" dirty="0"/>
              <a:t>: Foreign keys must match existing primary key values or be null if the relationship is optional. This prevents broken links between tables.</a:t>
            </a:r>
          </a:p>
          <a:p>
            <a:pPr algn="just"/>
            <a:r>
              <a:rPr lang="en-IN" sz="2000" b="1" dirty="0"/>
              <a:t>Automatic Indexing</a:t>
            </a:r>
            <a:r>
              <a:rPr lang="en-IN" sz="2000" dirty="0"/>
              <a:t>: Most databases create indexes on key columns, speeding up searching and ensuring consistency checks.</a:t>
            </a:r>
          </a:p>
          <a:p>
            <a:pPr algn="just"/>
            <a:r>
              <a:rPr lang="en-IN" sz="2000" b="1" dirty="0"/>
              <a:t>No Redundancy</a:t>
            </a:r>
            <a:r>
              <a:rPr lang="en-IN" sz="2000" dirty="0"/>
              <a:t>: The key doesn’t include needless attributes. Each column in the key has a role in making rows distinct.</a:t>
            </a:r>
          </a:p>
          <a:p>
            <a:pPr marL="0" indent="0">
              <a:buNone/>
            </a:pPr>
            <a:endParaRPr lang="en-IN" dirty="0"/>
          </a:p>
        </p:txBody>
      </p:sp>
      <p:sp>
        <p:nvSpPr>
          <p:cNvPr id="4" name="Slide Number Placeholder 3">
            <a:extLst>
              <a:ext uri="{FF2B5EF4-FFF2-40B4-BE49-F238E27FC236}">
                <a16:creationId xmlns:a16="http://schemas.microsoft.com/office/drawing/2014/main" id="{E6E31C73-8CD4-98E8-D450-2C599F4F8862}"/>
              </a:ext>
            </a:extLst>
          </p:cNvPr>
          <p:cNvSpPr>
            <a:spLocks noGrp="1"/>
          </p:cNvSpPr>
          <p:nvPr>
            <p:ph type="sldNum" sz="quarter" idx="12"/>
          </p:nvPr>
        </p:nvSpPr>
        <p:spPr/>
        <p:txBody>
          <a:bodyPr/>
          <a:lstStyle/>
          <a:p>
            <a:fld id="{8BD8F058-9003-4658-AA47-7D4800AF7EA2}" type="slidenum">
              <a:rPr lang="en-US" smtClean="0"/>
              <a:pPr/>
              <a:t>31</a:t>
            </a:fld>
            <a:endParaRPr lang="en-US"/>
          </a:p>
        </p:txBody>
      </p:sp>
    </p:spTree>
    <p:extLst>
      <p:ext uri="{BB962C8B-B14F-4D97-AF65-F5344CB8AC3E}">
        <p14:creationId xmlns:p14="http://schemas.microsoft.com/office/powerpoint/2010/main" val="32875278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59637-760C-16A0-608E-B85A17C50FB9}"/>
              </a:ext>
            </a:extLst>
          </p:cNvPr>
          <p:cNvSpPr>
            <a:spLocks noGrp="1"/>
          </p:cNvSpPr>
          <p:nvPr>
            <p:ph type="title"/>
          </p:nvPr>
        </p:nvSpPr>
        <p:spPr/>
        <p:txBody>
          <a:bodyPr/>
          <a:lstStyle/>
          <a:p>
            <a:r>
              <a:rPr lang="en-IN" b="1" dirty="0"/>
              <a:t>Benefits of Using Different Types of Keys in DBMS</a:t>
            </a:r>
            <a:endParaRPr lang="en-IN" dirty="0"/>
          </a:p>
        </p:txBody>
      </p:sp>
      <p:sp>
        <p:nvSpPr>
          <p:cNvPr id="3" name="Content Placeholder 2">
            <a:extLst>
              <a:ext uri="{FF2B5EF4-FFF2-40B4-BE49-F238E27FC236}">
                <a16:creationId xmlns:a16="http://schemas.microsoft.com/office/drawing/2014/main" id="{C463F817-975A-E1EE-D4CA-714AF8C98704}"/>
              </a:ext>
            </a:extLst>
          </p:cNvPr>
          <p:cNvSpPr>
            <a:spLocks noGrp="1"/>
          </p:cNvSpPr>
          <p:nvPr>
            <p:ph idx="1"/>
          </p:nvPr>
        </p:nvSpPr>
        <p:spPr>
          <a:xfrm>
            <a:off x="457200" y="1166018"/>
            <a:ext cx="8229600" cy="4525963"/>
          </a:xfrm>
        </p:spPr>
        <p:txBody>
          <a:bodyPr/>
          <a:lstStyle/>
          <a:p>
            <a:pPr algn="just">
              <a:lnSpc>
                <a:spcPct val="150000"/>
              </a:lnSpc>
            </a:pPr>
            <a:r>
              <a:rPr lang="en-IN" sz="2000" dirty="0"/>
              <a:t>There is a definite advantage in defining more than one type of key. Each one focuses on a particular data issue, such as removing duplication or linking related records in separate tables. </a:t>
            </a:r>
          </a:p>
          <a:p>
            <a:pPr algn="just">
              <a:lnSpc>
                <a:spcPct val="150000"/>
              </a:lnSpc>
            </a:pPr>
            <a:r>
              <a:rPr lang="en-IN" sz="2000" dirty="0"/>
              <a:t>This arrangement keeps a database flexible and well-prepared to handle both routine data and complex scenarios.</a:t>
            </a:r>
          </a:p>
          <a:p>
            <a:endParaRPr lang="en-IN" dirty="0"/>
          </a:p>
        </p:txBody>
      </p:sp>
      <p:sp>
        <p:nvSpPr>
          <p:cNvPr id="4" name="Slide Number Placeholder 3">
            <a:extLst>
              <a:ext uri="{FF2B5EF4-FFF2-40B4-BE49-F238E27FC236}">
                <a16:creationId xmlns:a16="http://schemas.microsoft.com/office/drawing/2014/main" id="{4146B192-FC33-C2F9-96D7-0EEBFD831784}"/>
              </a:ext>
            </a:extLst>
          </p:cNvPr>
          <p:cNvSpPr>
            <a:spLocks noGrp="1"/>
          </p:cNvSpPr>
          <p:nvPr>
            <p:ph type="sldNum" sz="quarter" idx="12"/>
          </p:nvPr>
        </p:nvSpPr>
        <p:spPr/>
        <p:txBody>
          <a:bodyPr/>
          <a:lstStyle/>
          <a:p>
            <a:fld id="{8BD8F058-9003-4658-AA47-7D4800AF7EA2}" type="slidenum">
              <a:rPr lang="en-US" smtClean="0"/>
              <a:pPr/>
              <a:t>32</a:t>
            </a:fld>
            <a:endParaRPr lang="en-US" dirty="0"/>
          </a:p>
        </p:txBody>
      </p:sp>
    </p:spTree>
    <p:extLst>
      <p:ext uri="{BB962C8B-B14F-4D97-AF65-F5344CB8AC3E}">
        <p14:creationId xmlns:p14="http://schemas.microsoft.com/office/powerpoint/2010/main" val="2195016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C72B4-3BE4-E6E5-0560-F097EDA1C5D8}"/>
              </a:ext>
            </a:extLst>
          </p:cNvPr>
          <p:cNvSpPr>
            <a:spLocks noGrp="1"/>
          </p:cNvSpPr>
          <p:nvPr>
            <p:ph type="title"/>
          </p:nvPr>
        </p:nvSpPr>
        <p:spPr/>
        <p:txBody>
          <a:bodyPr/>
          <a:lstStyle/>
          <a:p>
            <a:r>
              <a:rPr lang="en-IN" b="1" dirty="0"/>
              <a:t>Benefits of Using Keys</a:t>
            </a:r>
          </a:p>
        </p:txBody>
      </p:sp>
      <p:sp>
        <p:nvSpPr>
          <p:cNvPr id="3" name="Content Placeholder 2">
            <a:extLst>
              <a:ext uri="{FF2B5EF4-FFF2-40B4-BE49-F238E27FC236}">
                <a16:creationId xmlns:a16="http://schemas.microsoft.com/office/drawing/2014/main" id="{F0EE4DA8-9AE5-AC12-1215-2DA64E917662}"/>
              </a:ext>
            </a:extLst>
          </p:cNvPr>
          <p:cNvSpPr>
            <a:spLocks noGrp="1"/>
          </p:cNvSpPr>
          <p:nvPr>
            <p:ph idx="1"/>
          </p:nvPr>
        </p:nvSpPr>
        <p:spPr>
          <a:xfrm>
            <a:off x="152400" y="990600"/>
            <a:ext cx="8915400" cy="5365750"/>
          </a:xfrm>
        </p:spPr>
        <p:txBody>
          <a:bodyPr/>
          <a:lstStyle/>
          <a:p>
            <a:pPr algn="just">
              <a:lnSpc>
                <a:spcPct val="150000"/>
              </a:lnSpc>
            </a:pPr>
            <a:r>
              <a:rPr lang="en-IN" sz="2000" b="1" dirty="0"/>
              <a:t>Data Accuracy</a:t>
            </a:r>
            <a:r>
              <a:rPr lang="en-IN" sz="2000" dirty="0"/>
              <a:t>: Columns dedicated to uniqueness block duplicate records and boost overall reliability.</a:t>
            </a:r>
          </a:p>
          <a:p>
            <a:pPr algn="just">
              <a:lnSpc>
                <a:spcPct val="150000"/>
              </a:lnSpc>
            </a:pPr>
            <a:r>
              <a:rPr lang="en-IN" sz="2000" b="1" dirty="0"/>
              <a:t>Smarter Queries</a:t>
            </a:r>
            <a:r>
              <a:rPr lang="en-IN" sz="2000" dirty="0"/>
              <a:t>: Well-chosen keys speed up lookups because the database quickly locates exact matches without sifting through unnecessary information.</a:t>
            </a:r>
          </a:p>
          <a:p>
            <a:pPr algn="just">
              <a:lnSpc>
                <a:spcPct val="150000"/>
              </a:lnSpc>
            </a:pPr>
            <a:r>
              <a:rPr lang="en-IN" sz="2000" b="1" dirty="0"/>
              <a:t>Clear Relationships</a:t>
            </a:r>
            <a:r>
              <a:rPr lang="en-IN" sz="2000" dirty="0"/>
              <a:t>: Foreign keys tie tables together in a logical way, making related records easier to update.</a:t>
            </a:r>
          </a:p>
          <a:p>
            <a:pPr algn="just">
              <a:lnSpc>
                <a:spcPct val="150000"/>
              </a:lnSpc>
            </a:pPr>
            <a:r>
              <a:rPr lang="en-IN" sz="2000" b="1" dirty="0"/>
              <a:t>Improved Maintenance</a:t>
            </a:r>
            <a:r>
              <a:rPr lang="en-IN" sz="2000" dirty="0"/>
              <a:t>: When each table follows its own key rules, you reduce mix-ups and spend less time fixing conflicts in linked entries.</a:t>
            </a:r>
          </a:p>
          <a:p>
            <a:pPr algn="just">
              <a:lnSpc>
                <a:spcPct val="150000"/>
              </a:lnSpc>
            </a:pPr>
            <a:r>
              <a:rPr lang="en-IN" sz="2000" b="1" dirty="0"/>
              <a:t>Room for Growth</a:t>
            </a:r>
            <a:r>
              <a:rPr lang="en-IN" sz="2000" dirty="0"/>
              <a:t>: Extra unique or alternate keys let you adapt the design later, ensuring your setup remains relevant even as data volume rises.</a:t>
            </a:r>
          </a:p>
          <a:p>
            <a:endParaRPr lang="en-IN" dirty="0"/>
          </a:p>
        </p:txBody>
      </p:sp>
      <p:sp>
        <p:nvSpPr>
          <p:cNvPr id="4" name="Slide Number Placeholder 3">
            <a:extLst>
              <a:ext uri="{FF2B5EF4-FFF2-40B4-BE49-F238E27FC236}">
                <a16:creationId xmlns:a16="http://schemas.microsoft.com/office/drawing/2014/main" id="{558155F9-39BB-CACF-003F-0404538C6FE3}"/>
              </a:ext>
            </a:extLst>
          </p:cNvPr>
          <p:cNvSpPr>
            <a:spLocks noGrp="1"/>
          </p:cNvSpPr>
          <p:nvPr>
            <p:ph type="sldNum" sz="quarter" idx="12"/>
          </p:nvPr>
        </p:nvSpPr>
        <p:spPr/>
        <p:txBody>
          <a:bodyPr/>
          <a:lstStyle/>
          <a:p>
            <a:fld id="{8BD8F058-9003-4658-AA47-7D4800AF7EA2}" type="slidenum">
              <a:rPr lang="en-US" smtClean="0"/>
              <a:pPr/>
              <a:t>33</a:t>
            </a:fld>
            <a:endParaRPr lang="en-US" dirty="0"/>
          </a:p>
        </p:txBody>
      </p:sp>
    </p:spTree>
    <p:extLst>
      <p:ext uri="{BB962C8B-B14F-4D97-AF65-F5344CB8AC3E}">
        <p14:creationId xmlns:p14="http://schemas.microsoft.com/office/powerpoint/2010/main" val="3440631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2509C-9BAE-D88F-D333-C36319863EE6}"/>
              </a:ext>
            </a:extLst>
          </p:cNvPr>
          <p:cNvSpPr>
            <a:spLocks noGrp="1"/>
          </p:cNvSpPr>
          <p:nvPr>
            <p:ph type="title"/>
          </p:nvPr>
        </p:nvSpPr>
        <p:spPr/>
        <p:txBody>
          <a:bodyPr/>
          <a:lstStyle/>
          <a:p>
            <a:r>
              <a:rPr lang="en-IN" dirty="0"/>
              <a:t>Pros. And Cons.</a:t>
            </a:r>
          </a:p>
        </p:txBody>
      </p:sp>
      <p:pic>
        <p:nvPicPr>
          <p:cNvPr id="5" name="Content Placeholder 4">
            <a:extLst>
              <a:ext uri="{FF2B5EF4-FFF2-40B4-BE49-F238E27FC236}">
                <a16:creationId xmlns:a16="http://schemas.microsoft.com/office/drawing/2014/main" id="{8630971E-AC05-3D4B-9925-796363D552C4}"/>
              </a:ext>
            </a:extLst>
          </p:cNvPr>
          <p:cNvPicPr>
            <a:picLocks noGrp="1" noChangeAspect="1"/>
          </p:cNvPicPr>
          <p:nvPr>
            <p:ph idx="1"/>
          </p:nvPr>
        </p:nvPicPr>
        <p:blipFill>
          <a:blip r:embed="rId2"/>
          <a:stretch>
            <a:fillRect/>
          </a:stretch>
        </p:blipFill>
        <p:spPr>
          <a:xfrm>
            <a:off x="1143000" y="1371600"/>
            <a:ext cx="6858000" cy="4467225"/>
          </a:xfrm>
          <a:prstGeom prst="rect">
            <a:avLst/>
          </a:prstGeom>
        </p:spPr>
      </p:pic>
      <p:sp>
        <p:nvSpPr>
          <p:cNvPr id="4" name="Slide Number Placeholder 3">
            <a:extLst>
              <a:ext uri="{FF2B5EF4-FFF2-40B4-BE49-F238E27FC236}">
                <a16:creationId xmlns:a16="http://schemas.microsoft.com/office/drawing/2014/main" id="{B373804A-F127-2487-08FE-807FFCB53767}"/>
              </a:ext>
            </a:extLst>
          </p:cNvPr>
          <p:cNvSpPr>
            <a:spLocks noGrp="1"/>
          </p:cNvSpPr>
          <p:nvPr>
            <p:ph type="sldNum" sz="quarter" idx="12"/>
          </p:nvPr>
        </p:nvSpPr>
        <p:spPr/>
        <p:txBody>
          <a:bodyPr/>
          <a:lstStyle/>
          <a:p>
            <a:fld id="{8BD8F058-9003-4658-AA47-7D4800AF7EA2}" type="slidenum">
              <a:rPr lang="en-US" smtClean="0"/>
              <a:pPr/>
              <a:t>34</a:t>
            </a:fld>
            <a:endParaRPr lang="en-US" dirty="0"/>
          </a:p>
        </p:txBody>
      </p:sp>
    </p:spTree>
    <p:extLst>
      <p:ext uri="{BB962C8B-B14F-4D97-AF65-F5344CB8AC3E}">
        <p14:creationId xmlns:p14="http://schemas.microsoft.com/office/powerpoint/2010/main" val="2434840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656EDA-7F57-4454-4FCD-73E1BBCB93E0}"/>
              </a:ext>
            </a:extLst>
          </p:cNvPr>
          <p:cNvSpPr>
            <a:spLocks noGrp="1"/>
          </p:cNvSpPr>
          <p:nvPr>
            <p:ph idx="1"/>
          </p:nvPr>
        </p:nvSpPr>
        <p:spPr/>
        <p:txBody>
          <a:bodyPr/>
          <a:lstStyle/>
          <a:p>
            <a:pPr marL="0" indent="0" algn="ctr">
              <a:buNone/>
            </a:pPr>
            <a:endParaRPr lang="en-IN" sz="7200" b="1" dirty="0">
              <a:latin typeface="Times New Roman" panose="02020603050405020304" pitchFamily="18" charset="0"/>
              <a:cs typeface="Times New Roman" panose="02020603050405020304" pitchFamily="18" charset="0"/>
            </a:endParaRPr>
          </a:p>
          <a:p>
            <a:pPr marL="0" indent="0" algn="ctr">
              <a:buNone/>
            </a:pPr>
            <a:r>
              <a:rPr lang="en-IN" sz="5400" b="1" dirty="0">
                <a:latin typeface="Times New Roman" panose="02020603050405020304" pitchFamily="18" charset="0"/>
                <a:cs typeface="Times New Roman" panose="02020603050405020304" pitchFamily="18" charset="0"/>
              </a:rPr>
              <a:t>THANK YOU</a:t>
            </a:r>
          </a:p>
        </p:txBody>
      </p:sp>
      <p:sp>
        <p:nvSpPr>
          <p:cNvPr id="4" name="Slide Number Placeholder 3">
            <a:extLst>
              <a:ext uri="{FF2B5EF4-FFF2-40B4-BE49-F238E27FC236}">
                <a16:creationId xmlns:a16="http://schemas.microsoft.com/office/drawing/2014/main" id="{7125C3C4-7D57-6BBC-DFF6-DD1EF4EE3D13}"/>
              </a:ext>
            </a:extLst>
          </p:cNvPr>
          <p:cNvSpPr>
            <a:spLocks noGrp="1"/>
          </p:cNvSpPr>
          <p:nvPr>
            <p:ph type="sldNum" sz="quarter" idx="12"/>
          </p:nvPr>
        </p:nvSpPr>
        <p:spPr/>
        <p:txBody>
          <a:bodyPr/>
          <a:lstStyle/>
          <a:p>
            <a:fld id="{8BD8F058-9003-4658-AA47-7D4800AF7EA2}" type="slidenum">
              <a:rPr lang="en-US" smtClean="0"/>
              <a:pPr/>
              <a:t>35</a:t>
            </a:fld>
            <a:endParaRPr lang="en-US" dirty="0"/>
          </a:p>
        </p:txBody>
      </p:sp>
    </p:spTree>
    <p:extLst>
      <p:ext uri="{BB962C8B-B14F-4D97-AF65-F5344CB8AC3E}">
        <p14:creationId xmlns:p14="http://schemas.microsoft.com/office/powerpoint/2010/main" val="36963791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60673</TotalTime>
  <Words>2652</Words>
  <Application>Microsoft Office PowerPoint</Application>
  <PresentationFormat>On-screen Show (4:3)</PresentationFormat>
  <Paragraphs>313</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__CircularFontMedium_e876ec</vt:lpstr>
      <vt:lpstr>__CircularFontRegular_2948a7</vt:lpstr>
      <vt:lpstr>Arial</vt:lpstr>
      <vt:lpstr>Calibri</vt:lpstr>
      <vt:lpstr>Times New Roman</vt:lpstr>
      <vt:lpstr>Office Theme</vt:lpstr>
      <vt:lpstr>Keys in DBMS</vt:lpstr>
      <vt:lpstr> What’s the Need for Keys in DBMS? </vt:lpstr>
      <vt:lpstr>Keys in DBMS</vt:lpstr>
      <vt:lpstr>PowerPoint Presentation</vt:lpstr>
      <vt:lpstr>Super Key</vt:lpstr>
      <vt:lpstr>Example : Super key</vt:lpstr>
      <vt:lpstr>Examples of Super Key</vt:lpstr>
      <vt:lpstr> Importance of Super Key </vt:lpstr>
      <vt:lpstr>Primary key</vt:lpstr>
      <vt:lpstr>Example : Primary key </vt:lpstr>
      <vt:lpstr>Example &amp; Rules of Primary Keys</vt:lpstr>
      <vt:lpstr>Primary Key vs Unique Key</vt:lpstr>
      <vt:lpstr>PowerPoint Presentation</vt:lpstr>
      <vt:lpstr>Candidate Key</vt:lpstr>
      <vt:lpstr>Candidate key</vt:lpstr>
      <vt:lpstr> Rules for Candidate Keys in DBMS </vt:lpstr>
      <vt:lpstr>Alternate Key</vt:lpstr>
      <vt:lpstr>Example : Alternate Key</vt:lpstr>
      <vt:lpstr> Rules for Alternate Keys in DBMS </vt:lpstr>
      <vt:lpstr>PowerPoint Presentation</vt:lpstr>
      <vt:lpstr>Foreign key</vt:lpstr>
      <vt:lpstr>Example : Foriegn key</vt:lpstr>
      <vt:lpstr> Rules for Foreign Keys in DBMS </vt:lpstr>
      <vt:lpstr>Composite Key</vt:lpstr>
      <vt:lpstr>PowerPoint Presentation</vt:lpstr>
      <vt:lpstr> Examples of a Composite Key  </vt:lpstr>
      <vt:lpstr>Surrogate Key</vt:lpstr>
      <vt:lpstr>Example: Surrogate Key</vt:lpstr>
      <vt:lpstr> Examples of a Surrogate Key in DBMS </vt:lpstr>
      <vt:lpstr>Properties of SQL Keys</vt:lpstr>
      <vt:lpstr>PowerPoint Presentation</vt:lpstr>
      <vt:lpstr>Benefits of Using Different Types of Keys in DBMS</vt:lpstr>
      <vt:lpstr>Benefits of Using Keys</vt:lpstr>
      <vt:lpstr>Pros. And Cons.</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Gaganpreet Kaur</cp:lastModifiedBy>
  <cp:revision>1979</cp:revision>
  <cp:lastPrinted>2023-08-27T18:54:37Z</cp:lastPrinted>
  <dcterms:created xsi:type="dcterms:W3CDTF">2010-04-09T07:36:15Z</dcterms:created>
  <dcterms:modified xsi:type="dcterms:W3CDTF">2025-07-29T10:42:06Z</dcterms:modified>
</cp:coreProperties>
</file>