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1" r:id="rId1"/>
  </p:sldMasterIdLst>
  <p:notesMasterIdLst>
    <p:notesMasterId r:id="rId16"/>
  </p:notesMasterIdLst>
  <p:sldIdLst>
    <p:sldId id="256" r:id="rId2"/>
    <p:sldId id="265" r:id="rId3"/>
    <p:sldId id="284" r:id="rId4"/>
    <p:sldId id="283" r:id="rId5"/>
    <p:sldId id="267" r:id="rId6"/>
    <p:sldId id="266" r:id="rId7"/>
    <p:sldId id="268" r:id="rId8"/>
    <p:sldId id="269" r:id="rId9"/>
    <p:sldId id="272" r:id="rId10"/>
    <p:sldId id="275" r:id="rId11"/>
    <p:sldId id="273" r:id="rId12"/>
    <p:sldId id="276" r:id="rId13"/>
    <p:sldId id="277" r:id="rId14"/>
    <p:sldId id="285" r:id="rId15"/>
  </p:sldIdLst>
  <p:sldSz cx="14330363" cy="823118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593">
          <p15:clr>
            <a:srgbClr val="A4A3A4"/>
          </p15:clr>
        </p15:guide>
        <p15:guide id="4" pos="4579">
          <p15:clr>
            <a:srgbClr val="A4A3A4"/>
          </p15:clr>
        </p15:guide>
        <p15:guide id="5" orient="horz" pos="2079">
          <p15:clr>
            <a:srgbClr val="A4A3A4"/>
          </p15:clr>
        </p15:guide>
        <p15:guide id="6" orient="horz" pos="2496">
          <p15:clr>
            <a:srgbClr val="A4A3A4"/>
          </p15:clr>
        </p15:guide>
        <p15:guide id="7" orient="horz" pos="2245">
          <p15:clr>
            <a:srgbClr val="A4A3A4"/>
          </p15:clr>
        </p15:guide>
        <p15:guide id="8" orient="horz" pos="2694">
          <p15:clr>
            <a:srgbClr val="A4A3A4"/>
          </p15:clr>
        </p15:guide>
        <p15:guide id="9" orient="horz" pos="2162">
          <p15:clr>
            <a:srgbClr val="A4A3A4"/>
          </p15:clr>
        </p15:guide>
        <p15:guide id="10" orient="horz" pos="2594">
          <p15:clr>
            <a:srgbClr val="A4A3A4"/>
          </p15:clr>
        </p15:guide>
        <p15:guide id="11" pos="3785">
          <p15:clr>
            <a:srgbClr val="A4A3A4"/>
          </p15:clr>
        </p15:guide>
        <p15:guide id="12" pos="451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182" autoAdjust="0"/>
  </p:normalViewPr>
  <p:slideViewPr>
    <p:cSldViewPr snapToGrid="0">
      <p:cViewPr varScale="1">
        <p:scale>
          <a:sx n="53" d="100"/>
          <a:sy n="53" d="100"/>
        </p:scale>
        <p:origin x="1044" y="72"/>
      </p:cViewPr>
      <p:guideLst>
        <p:guide orient="horz" pos="2160"/>
        <p:guide pos="3840"/>
        <p:guide orient="horz" pos="2593"/>
        <p:guide pos="4579"/>
        <p:guide orient="horz" pos="2079"/>
        <p:guide orient="horz" pos="2496"/>
        <p:guide orient="horz" pos="2245"/>
        <p:guide orient="horz" pos="2694"/>
        <p:guide orient="horz" pos="2162"/>
        <p:guide orient="horz" pos="2594"/>
        <p:guide pos="3785"/>
        <p:guide pos="4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44500" y="685800"/>
            <a:ext cx="596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685800"/>
            <a:ext cx="596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50" name="Google Shape;50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2160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685800"/>
            <a:ext cx="596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0506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F4E04-CA8A-A5A7-0F89-31F7E1AEB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28DD59-4D96-0608-8C07-9D2E5F39B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0886D1-3791-17E3-BB12-AB5C51AC4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B0C5A-A88F-DD1C-7A7A-42D0B29FBF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51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266AA-0ADB-40B8-29FB-1F0138662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F803B-1077-A33B-7CCA-CA16EDADD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A0F369-A973-1BA3-440C-B29B19BA8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F5AA0-E521-9B21-5B67-259ED54E01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8256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685800"/>
            <a:ext cx="596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8962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86782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dirty="0" smtClean="0">
                <a:solidFill>
                  <a:srgbClr val="273239"/>
                </a:solidFill>
                <a:latin typeface="Nunito"/>
              </a:rPr>
              <a:t>Requirements are often unclear, making it difficult to interpret what the system should do (functional) and how it should perform (non-functional).</a:t>
            </a:r>
          </a:p>
          <a:p>
            <a:pPr marL="457200" marR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dirty="0" smtClean="0">
                <a:solidFill>
                  <a:srgbClr val="273239"/>
                </a:solidFill>
                <a:latin typeface="Nunito"/>
              </a:rPr>
              <a:t>Changing Requirements: </a:t>
            </a:r>
            <a:r>
              <a:rPr lang="en-US" sz="1200" b="0" dirty="0" smtClean="0">
                <a:solidFill>
                  <a:srgbClr val="273239"/>
                </a:solidFill>
                <a:latin typeface="Nunito"/>
              </a:rPr>
              <a:t>As projects evolve, functional and non-functional requirements often change due to shifting business goals, market trends, or user needs.</a:t>
            </a:r>
          </a:p>
          <a:p>
            <a:pPr marL="457200" marR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1" dirty="0" smtClean="0">
                <a:solidFill>
                  <a:srgbClr val="273239"/>
                </a:solidFill>
                <a:latin typeface="Nunito"/>
              </a:rPr>
              <a:t>Difficulty in Prioritization: </a:t>
            </a:r>
            <a:r>
              <a:rPr lang="en-US" sz="1200" b="0" dirty="0" smtClean="0">
                <a:solidFill>
                  <a:srgbClr val="273239"/>
                </a:solidFill>
                <a:latin typeface="Nunito"/>
              </a:rPr>
              <a:t>Deciding which functional and non-functional requirements are most important is often difficult. Functional needs can overshadow non-functional ones, such as security or scalability.</a:t>
            </a:r>
          </a:p>
          <a:p>
            <a:pPr marL="457200" marR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b="0" dirty="0" smtClean="0">
                <a:solidFill>
                  <a:srgbClr val="273239"/>
                </a:solidFill>
                <a:latin typeface="Nunito"/>
              </a:rPr>
              <a:t>Overlapping or Conflicting Requirements: Sometimes, functional and non-functional requirements can overlap or conflict. </a:t>
            </a:r>
            <a:r>
              <a:rPr lang="en-US" sz="1200" b="0" i="0" u="none" strike="noStrike" cap="none" dirty="0" smtClean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adding complex security features (non-functional) might slow down the performance (another non-functional requirement).</a:t>
            </a:r>
            <a:endParaRPr lang="en-US" sz="1200" b="1" dirty="0" smtClean="0">
              <a:solidFill>
                <a:srgbClr val="273239"/>
              </a:solidFill>
              <a:latin typeface="Nunito"/>
            </a:endParaRPr>
          </a:p>
          <a:p>
            <a:pPr marL="457200" marR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200" b="1" dirty="0" smtClean="0">
              <a:solidFill>
                <a:srgbClr val="273239"/>
              </a:solidFill>
              <a:latin typeface="Nunito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1450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8794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2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2"/>
          <p:cNvGrpSpPr/>
          <p:nvPr/>
        </p:nvGrpSpPr>
        <p:grpSpPr>
          <a:xfrm>
            <a:off x="9633189" y="2"/>
            <a:ext cx="4697174" cy="1051763"/>
            <a:chOff x="6096000" y="3924300"/>
            <a:chExt cx="2997200" cy="876300"/>
          </a:xfrm>
        </p:grpSpPr>
        <p:sp>
          <p:nvSpPr>
            <p:cNvPr id="27" name="Google Shape;27;p2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2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2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" name="Google Shape;30;p2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70101" y="274378"/>
            <a:ext cx="3010371" cy="73166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 txBox="1">
            <a:spLocks noGrp="1"/>
          </p:cNvSpPr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body" idx="1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"/>
          <p:cNvSpPr txBox="1">
            <a:spLocks noGrp="1"/>
          </p:cNvSpPr>
          <p:nvPr>
            <p:ph type="dt" idx="10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"/>
          <p:cNvSpPr txBox="1">
            <a:spLocks noGrp="1"/>
          </p:cNvSpPr>
          <p:nvPr>
            <p:ph type="ftr" idx="11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 txBox="1">
            <a:spLocks noGrp="1"/>
          </p:cNvSpPr>
          <p:nvPr>
            <p:ph type="dt" idx="10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ftr" idx="11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 txBox="1">
            <a:spLocks noGrp="1"/>
          </p:cNvSpPr>
          <p:nvPr>
            <p:ph type="ctrTitle"/>
          </p:nvPr>
        </p:nvSpPr>
        <p:spPr>
          <a:xfrm>
            <a:off x="10" y="3"/>
            <a:ext cx="8598218" cy="109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subTitle" idx="1"/>
          </p:nvPr>
        </p:nvSpPr>
        <p:spPr>
          <a:xfrm>
            <a:off x="835942" y="1646241"/>
            <a:ext cx="12777907" cy="5670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dt" idx="10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ftr" idx="11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716522" y="1646250"/>
            <a:ext cx="12897326" cy="543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716518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896212" y="7629104"/>
            <a:ext cx="4537948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6" y="2"/>
            <a:ext cx="14330363" cy="1006034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 rot="10800000" flipH="1">
            <a:off x="6" y="8048276"/>
            <a:ext cx="14330363" cy="2377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1" descr="LOGO.gif"/>
          <p:cNvPicPr preferRelativeResize="0"/>
          <p:nvPr/>
        </p:nvPicPr>
        <p:blipFill rotWithShape="1">
          <a:blip r:embed="rId5">
            <a:alphaModFix/>
          </a:blip>
          <a:srcRect b="10713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 descr="LOGO.gif"/>
          <p:cNvPicPr preferRelativeResize="0"/>
          <p:nvPr/>
        </p:nvPicPr>
        <p:blipFill rotWithShape="1">
          <a:blip r:embed="rId5">
            <a:alphaModFix/>
          </a:blip>
          <a:srcRect b="10713"/>
          <a:stretch/>
        </p:blipFill>
        <p:spPr>
          <a:xfrm>
            <a:off x="10270103" y="274375"/>
            <a:ext cx="3224332" cy="7621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1"/>
          <p:cNvGrpSpPr/>
          <p:nvPr/>
        </p:nvGrpSpPr>
        <p:grpSpPr>
          <a:xfrm>
            <a:off x="9633189" y="2"/>
            <a:ext cx="4697174" cy="1051763"/>
            <a:chOff x="6096000" y="3924300"/>
            <a:chExt cx="2997200" cy="876300"/>
          </a:xfrm>
        </p:grpSpPr>
        <p:sp>
          <p:nvSpPr>
            <p:cNvPr id="20" name="Google Shape;20;p1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21;p1" descr="LOGO.gif"/>
            <p:cNvPicPr preferRelativeResize="0"/>
            <p:nvPr/>
          </p:nvPicPr>
          <p:blipFill rotWithShape="1">
            <a:blip r:embed="rId5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1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" name="Google Shape;23;p1" descr="logo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70101" y="274378"/>
            <a:ext cx="3010371" cy="7316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/>
        </p:nvSpPr>
        <p:spPr>
          <a:xfrm>
            <a:off x="3134773" y="7036631"/>
            <a:ext cx="815039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 Institute of Engineering and Technology,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Punjab, India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3205359" y="6477391"/>
            <a:ext cx="7830086" cy="5592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1247574" y="2518120"/>
            <a:ext cx="11293348" cy="148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4000" dirty="0">
                <a:sym typeface="Calibri"/>
              </a:rPr>
              <a:t>System Design</a:t>
            </a:r>
            <a:r>
              <a:rPr lang="en-US" sz="4000" i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N" sz="4000" dirty="0"/>
              <a:t>Functional and Non-Functional </a:t>
            </a:r>
            <a:r>
              <a:rPr lang="en-IN" sz="4000" dirty="0" smtClean="0"/>
              <a:t>Requirements</a:t>
            </a:r>
            <a:r>
              <a:rPr lang="en-IN" sz="4000" dirty="0"/>
              <a:t> </a:t>
            </a:r>
            <a:r>
              <a:rPr lang="en-IN" sz="4000" dirty="0" smtClean="0"/>
              <a:t>of System Design</a:t>
            </a:r>
            <a:endParaRPr lang="en-IN" sz="4000" dirty="0"/>
          </a:p>
          <a:p>
            <a:pPr lvl="0" algn="ctr"/>
            <a:endParaRPr sz="4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687925" y="5862182"/>
            <a:ext cx="8534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Bachelor of Engineering- Computer Science &amp; Engineering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997414" y="5477806"/>
            <a:ext cx="353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r>
              <a:rPr lang="en-US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SD</a:t>
            </a:r>
            <a:r>
              <a:rPr lang="en-US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)(22CS0</a:t>
            </a: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r>
              <a:rPr lang="en-US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031581" y="5631350"/>
            <a:ext cx="47954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51541E-E753-676E-1E16-6ACF87CCC7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5" name="Google Shape;67;p7">
            <a:extLst>
              <a:ext uri="{FF2B5EF4-FFF2-40B4-BE49-F238E27FC236}">
                <a16:creationId xmlns:a16="http://schemas.microsoft.com/office/drawing/2014/main" id="{4C40C2C6-038F-84A2-7BA6-830CB0BFD35F}"/>
              </a:ext>
            </a:extLst>
          </p:cNvPr>
          <p:cNvSpPr txBox="1">
            <a:spLocks/>
          </p:cNvSpPr>
          <p:nvPr/>
        </p:nvSpPr>
        <p:spPr>
          <a:xfrm>
            <a:off x="0" y="256032"/>
            <a:ext cx="6322979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200"/>
              <a:t>Requirements</a:t>
            </a:r>
            <a:endParaRPr lang="en-IN" sz="3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B00132-9756-598A-8A9F-7099AD4B7232}"/>
              </a:ext>
            </a:extLst>
          </p:cNvPr>
          <p:cNvSpPr txBox="1"/>
          <p:nvPr/>
        </p:nvSpPr>
        <p:spPr>
          <a:xfrm>
            <a:off x="437671" y="1035259"/>
            <a:ext cx="13258873" cy="4688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ctr">
              <a:lnSpc>
                <a:spcPct val="150000"/>
              </a:lnSpc>
              <a:spcBef>
                <a:spcPts val="750"/>
              </a:spcBef>
              <a:spcAft>
                <a:spcPts val="600"/>
              </a:spcAft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ctr">
              <a:lnSpc>
                <a:spcPct val="1500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smtClean="0"/>
              <a:t>Requirements </a:t>
            </a:r>
            <a:r>
              <a:rPr lang="en-US" sz="2800" dirty="0"/>
              <a:t>analysis is an essential process that enables the success of a system or software project to be assessed. </a:t>
            </a:r>
            <a:endParaRPr lang="en-US" sz="2800" dirty="0" smtClean="0"/>
          </a:p>
          <a:p>
            <a:pPr marL="457200" indent="-457200" fontAlgn="ctr">
              <a:lnSpc>
                <a:spcPct val="1500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smtClean="0"/>
              <a:t>Requirements </a:t>
            </a:r>
            <a:r>
              <a:rPr lang="en-US" sz="2800" dirty="0"/>
              <a:t>are generally split into two types</a:t>
            </a:r>
            <a:r>
              <a:rPr lang="en-US" sz="2800" dirty="0" smtClean="0"/>
              <a:t>:</a:t>
            </a:r>
          </a:p>
          <a:p>
            <a:pPr marL="457200" indent="-457200" fontAlgn="ctr">
              <a:lnSpc>
                <a:spcPct val="1500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Functional </a:t>
            </a:r>
          </a:p>
          <a:p>
            <a:pPr marL="457200" indent="-457200" fontAlgn="ctr">
              <a:lnSpc>
                <a:spcPct val="1500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FF0000"/>
                </a:solidFill>
              </a:rPr>
              <a:t>Non-functional </a:t>
            </a:r>
            <a:r>
              <a:rPr lang="en-US" sz="2800" dirty="0">
                <a:solidFill>
                  <a:srgbClr val="FF0000"/>
                </a:solidFill>
              </a:rPr>
              <a:t>requirements</a:t>
            </a:r>
            <a:r>
              <a:rPr lang="en-US" sz="2800" dirty="0"/>
              <a:t>. 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41182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15327" y="505838"/>
            <a:ext cx="54660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Types of requirements</a:t>
            </a:r>
            <a:endParaRPr lang="en-IN" sz="3200" b="1" dirty="0"/>
          </a:p>
        </p:txBody>
      </p:sp>
      <p:sp>
        <p:nvSpPr>
          <p:cNvPr id="4" name="Rectangle 3"/>
          <p:cNvSpPr/>
          <p:nvPr/>
        </p:nvSpPr>
        <p:spPr>
          <a:xfrm>
            <a:off x="1322961" y="1867712"/>
            <a:ext cx="11917551" cy="4226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 fontAlgn="ctr">
              <a:lnSpc>
                <a:spcPct val="1500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/>
              <a:t>functional </a:t>
            </a:r>
            <a:r>
              <a:rPr lang="en-US" sz="2800" b="1" dirty="0" smtClean="0"/>
              <a:t>requirements: </a:t>
            </a:r>
            <a:r>
              <a:rPr lang="en-US" sz="2800" dirty="0"/>
              <a:t>define the specific behavior or functions of a system. </a:t>
            </a:r>
          </a:p>
          <a:p>
            <a:pPr marL="457200" indent="-457200" algn="just" fontAlgn="ctr">
              <a:lnSpc>
                <a:spcPct val="1500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 smtClean="0"/>
              <a:t>non-functional requirements: </a:t>
            </a:r>
            <a:r>
              <a:rPr lang="en-US" sz="2800" dirty="0"/>
              <a:t>specify how the system performs its tasks, focusing on attributes like performance, security, scalability, and usability.</a:t>
            </a:r>
          </a:p>
          <a:p>
            <a:endParaRPr lang="en-US" b="1" dirty="0" smtClean="0">
              <a:solidFill>
                <a:srgbClr val="001D35"/>
              </a:solidFill>
              <a:latin typeface="Google Sans"/>
            </a:endParaRPr>
          </a:p>
          <a:p>
            <a:endParaRPr lang="en-US" b="1" dirty="0" smtClean="0">
              <a:solidFill>
                <a:srgbClr val="001D35"/>
              </a:solidFill>
              <a:latin typeface="Google San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3000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ACC97B-6963-0827-F8F8-77D2095E7495}"/>
              </a:ext>
            </a:extLst>
          </p:cNvPr>
          <p:cNvSpPr txBox="1"/>
          <p:nvPr/>
        </p:nvSpPr>
        <p:spPr>
          <a:xfrm>
            <a:off x="182880" y="1601946"/>
            <a:ext cx="13468139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Gathering </a:t>
            </a:r>
            <a:r>
              <a:rPr lang="en-US" sz="2800" dirty="0">
                <a:solidFill>
                  <a:schemeClr val="tx1"/>
                </a:solidFill>
              </a:rPr>
              <a:t>requirements involves multiple approaches and collaboration between the development team, stakeholders, and end-users</a:t>
            </a:r>
            <a:r>
              <a:rPr lang="en-US" sz="2800" dirty="0" smtClean="0">
                <a:solidFill>
                  <a:schemeClr val="tx1"/>
                </a:solidFill>
              </a:rPr>
              <a:t>:</a:t>
            </a:r>
            <a:endParaRPr lang="en-US" sz="2800" b="1" dirty="0">
              <a:solidFill>
                <a:schemeClr val="tx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1. Functional Requirements: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Interviews: </a:t>
            </a:r>
            <a:r>
              <a:rPr lang="en-US" sz="2800" dirty="0">
                <a:solidFill>
                  <a:schemeClr val="tx1"/>
                </a:solidFill>
              </a:rPr>
              <a:t>Talk to stakeholders or users to understand their needs.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Surveys: </a:t>
            </a:r>
            <a:r>
              <a:rPr lang="en-US" sz="2800" dirty="0">
                <a:solidFill>
                  <a:schemeClr val="tx1"/>
                </a:solidFill>
              </a:rPr>
              <a:t>Distribute questionnaires to gather input from a larger audience.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Workshops: </a:t>
            </a:r>
            <a:r>
              <a:rPr lang="en-US" sz="2800" dirty="0">
                <a:solidFill>
                  <a:schemeClr val="tx1"/>
                </a:solidFill>
              </a:rPr>
              <a:t>Host sessions to brainstorm features and gather feedback.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2. </a:t>
            </a:r>
            <a:r>
              <a:rPr lang="en-US" sz="2800" b="1" dirty="0">
                <a:solidFill>
                  <a:srgbClr val="FF0000"/>
                </a:solidFill>
              </a:rPr>
              <a:t>Non-functional Requirements: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Performance Benchmarks: </a:t>
            </a:r>
            <a:r>
              <a:rPr lang="en-US" sz="2800" dirty="0">
                <a:solidFill>
                  <a:schemeClr val="tx1"/>
                </a:solidFill>
              </a:rPr>
              <a:t>Consult with IT teams to set expectations for performance and load.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Security Standards: </a:t>
            </a:r>
            <a:r>
              <a:rPr lang="en-US" sz="2800" dirty="0">
                <a:solidFill>
                  <a:schemeClr val="tx1"/>
                </a:solidFill>
              </a:rPr>
              <a:t>Consult with security experts to define the best practices for data protection.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Usability Testing: </a:t>
            </a:r>
            <a:r>
              <a:rPr lang="en-US" sz="2800" dirty="0">
                <a:solidFill>
                  <a:schemeClr val="tx1"/>
                </a:solidFill>
              </a:rPr>
              <a:t>Test the system to find areas where users might struggle and refine the interface</a:t>
            </a:r>
            <a:r>
              <a:rPr lang="en-US" sz="2800" dirty="0" smtClean="0">
                <a:solidFill>
                  <a:schemeClr val="tx1"/>
                </a:solidFill>
              </a:rPr>
              <a:t>.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339888"/>
            <a:ext cx="999029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How to Gather Functional and Non-functional Requirements</a:t>
            </a:r>
          </a:p>
        </p:txBody>
      </p:sp>
    </p:spTree>
    <p:extLst>
      <p:ext uri="{BB962C8B-B14F-4D97-AF65-F5344CB8AC3E}">
        <p14:creationId xmlns:p14="http://schemas.microsoft.com/office/powerpoint/2010/main" val="2233667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C455FC-5864-0F33-E94A-98ACECEB0E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92B77D-D613-9CE2-D721-24BFB118B2A5}"/>
              </a:ext>
            </a:extLst>
          </p:cNvPr>
          <p:cNvSpPr txBox="1"/>
          <p:nvPr/>
        </p:nvSpPr>
        <p:spPr>
          <a:xfrm>
            <a:off x="319490" y="1143638"/>
            <a:ext cx="13782100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These </a:t>
            </a:r>
            <a:r>
              <a:rPr lang="en-US" sz="2800" dirty="0"/>
              <a:t>are the requirements that the end user specifically demands as basic facilities that the system should offer. </a:t>
            </a:r>
            <a:endParaRPr lang="en-US" sz="2800" dirty="0" smtClean="0"/>
          </a:p>
          <a:p>
            <a:pPr algn="just"/>
            <a:endParaRPr lang="en-US" sz="28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All </a:t>
            </a:r>
            <a:r>
              <a:rPr lang="en-US" sz="2800" dirty="0"/>
              <a:t>these functionalities need to be necessarily incorporated into the system as a part of the contract.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These are represented or stated in the form of input to be given to the system, the operation performed and the output expected</a:t>
            </a:r>
            <a:r>
              <a:rPr lang="en-US" sz="2800" dirty="0" smtClean="0"/>
              <a:t>.</a:t>
            </a:r>
          </a:p>
          <a:p>
            <a:pPr algn="just"/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They are the requirements stated by the user which one can see directly in the final product, unlike the non-functional </a:t>
            </a:r>
            <a:r>
              <a:rPr lang="en-US" sz="2800" dirty="0" smtClean="0"/>
              <a:t>requirements.</a:t>
            </a:r>
            <a:endParaRPr lang="en-US" sz="2800" dirty="0"/>
          </a:p>
          <a:p>
            <a:pPr algn="ctr"/>
            <a:r>
              <a:rPr lang="en-US" sz="2800" b="1" dirty="0"/>
              <a:t>Examples</a:t>
            </a:r>
            <a:r>
              <a:rPr lang="en-US" sz="2800" b="1" dirty="0" smtClean="0"/>
              <a:t>:</a:t>
            </a:r>
            <a:endParaRPr lang="en-US" sz="2800" b="1" dirty="0"/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What are the features that we need to design for this system?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What are the edge cases we need to consider, if any, in our design</a:t>
            </a:r>
            <a:r>
              <a:rPr lang="en-US" sz="2800" b="1" dirty="0" smtClean="0">
                <a:solidFill>
                  <a:srgbClr val="FF0000"/>
                </a:solidFill>
              </a:rPr>
              <a:t>?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A7382C-E691-0C0E-C785-4C37CE6FDC7C}"/>
              </a:ext>
            </a:extLst>
          </p:cNvPr>
          <p:cNvSpPr txBox="1"/>
          <p:nvPr/>
        </p:nvSpPr>
        <p:spPr>
          <a:xfrm>
            <a:off x="658368" y="0"/>
            <a:ext cx="7164976" cy="739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2250"/>
              </a:spcBef>
              <a:spcAft>
                <a:spcPts val="1500"/>
              </a:spcAft>
            </a:pPr>
            <a:r>
              <a:rPr lang="en-US" sz="3200" b="1" dirty="0"/>
              <a:t>What are Functional Requirements</a:t>
            </a:r>
            <a:r>
              <a:rPr lang="en-US" sz="3200" b="1" dirty="0" smtClean="0"/>
              <a:t>?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713823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A1590-A947-1471-774F-E67E093C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299587-CD5A-C37F-E12B-71ADDCAFEE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C2B25C-FEA5-E4A4-2789-7F9003A5D5F7}"/>
              </a:ext>
            </a:extLst>
          </p:cNvPr>
          <p:cNvSpPr txBox="1"/>
          <p:nvPr/>
        </p:nvSpPr>
        <p:spPr>
          <a:xfrm>
            <a:off x="457201" y="1516999"/>
            <a:ext cx="13193486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 smtClean="0"/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sz="2800" dirty="0" smtClean="0"/>
              <a:t>These </a:t>
            </a:r>
            <a:r>
              <a:rPr lang="en-US" sz="2800" dirty="0"/>
              <a:t>are the quality constraints that the system must satisfy according to the project contract. </a:t>
            </a:r>
            <a:endParaRPr lang="en-US" sz="2800" dirty="0" smtClean="0"/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sz="2800" dirty="0" smtClean="0"/>
              <a:t>The priority or extent to which these factors are implemented varies from one project to another. 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sz="2800" dirty="0" smtClean="0"/>
              <a:t>They are also called non-behavioral requirements</a:t>
            </a:r>
            <a:r>
              <a:rPr lang="en-US" sz="2800" dirty="0"/>
              <a:t>. They deal with issues like</a:t>
            </a:r>
            <a:r>
              <a:rPr lang="en-US" sz="2800" dirty="0" smtClean="0"/>
              <a:t>:</a:t>
            </a:r>
            <a:endParaRPr lang="en-US" sz="2800" dirty="0"/>
          </a:p>
          <a:p>
            <a:pPr marL="457200" lvl="3" indent="-457200" fontAlgn="ctr">
              <a:buFont typeface="Arial" panose="020B0604020202020204" pitchFamily="34" charset="0"/>
              <a:buChar char="•"/>
            </a:pPr>
            <a:r>
              <a:rPr lang="en-US" sz="2800" b="1" dirty="0" smtClean="0"/>
              <a:t>Portability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sz="2800" b="1" dirty="0" smtClean="0"/>
              <a:t>Security</a:t>
            </a:r>
            <a:endParaRPr lang="en-US" sz="2800" b="1" dirty="0"/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sz="2800" b="1" dirty="0"/>
              <a:t>Maintainability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sz="2800" b="1" dirty="0"/>
              <a:t>Reliability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sz="2800" b="1" dirty="0"/>
              <a:t>Scalability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sz="2800" b="1" dirty="0"/>
              <a:t>Performance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sz="2800" b="1" dirty="0"/>
              <a:t>Reusability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sz="2800" b="1" dirty="0" smtClean="0"/>
              <a:t>Flexibility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9244" y="195590"/>
            <a:ext cx="8468804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sz="3200" b="1" dirty="0"/>
              <a:t>What are Non-Functional Requirements?</a:t>
            </a:r>
          </a:p>
        </p:txBody>
      </p:sp>
    </p:spTree>
    <p:extLst>
      <p:ext uri="{BB962C8B-B14F-4D97-AF65-F5344CB8AC3E}">
        <p14:creationId xmlns:p14="http://schemas.microsoft.com/office/powerpoint/2010/main" val="1547604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36566D-868E-68B9-29D1-303FCAF31A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9A517B-AF1D-4228-646C-5C040EABEF62}"/>
              </a:ext>
            </a:extLst>
          </p:cNvPr>
          <p:cNvSpPr txBox="1"/>
          <p:nvPr/>
        </p:nvSpPr>
        <p:spPr>
          <a:xfrm>
            <a:off x="413218" y="1332620"/>
            <a:ext cx="1350392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/>
              <a:t>Examples:</a:t>
            </a:r>
          </a:p>
          <a:p>
            <a:pPr algn="just"/>
            <a:endParaRPr lang="en-US" sz="2800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Each request should be processed with the minimum latency?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System should be highly </a:t>
            </a:r>
            <a:r>
              <a:rPr lang="en-US" sz="2800" b="1" dirty="0" smtClean="0"/>
              <a:t>available.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52265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3EBA6-0AE2-B9EF-11B1-B8497DEB3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101DC9-6690-71CE-3C0A-217C3F7C94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5" name="Google Shape;67;p7">
            <a:extLst>
              <a:ext uri="{FF2B5EF4-FFF2-40B4-BE49-F238E27FC236}">
                <a16:creationId xmlns:a16="http://schemas.microsoft.com/office/drawing/2014/main" id="{BFB82997-F596-44C8-9402-D4C433C377A5}"/>
              </a:ext>
            </a:extLst>
          </p:cNvPr>
          <p:cNvSpPr txBox="1">
            <a:spLocks/>
          </p:cNvSpPr>
          <p:nvPr/>
        </p:nvSpPr>
        <p:spPr>
          <a:xfrm>
            <a:off x="1" y="2"/>
            <a:ext cx="10150674" cy="1006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/>
              <a:t>Examples of Functional and Non-functional </a:t>
            </a:r>
            <a:r>
              <a:rPr lang="en-US" sz="2800" b="1" dirty="0" smtClean="0"/>
              <a:t>Requirements</a:t>
            </a:r>
            <a:endParaRPr lang="en-IN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F1076-41FE-7E20-133C-DD81BDC55CE0}"/>
              </a:ext>
            </a:extLst>
          </p:cNvPr>
          <p:cNvSpPr txBox="1"/>
          <p:nvPr/>
        </p:nvSpPr>
        <p:spPr>
          <a:xfrm>
            <a:off x="829020" y="1189667"/>
            <a:ext cx="123251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en-US" sz="2800" dirty="0"/>
              <a:t>1. </a:t>
            </a:r>
            <a:r>
              <a:rPr lang="en-US" sz="2800" b="1" dirty="0"/>
              <a:t>Online Banking System</a:t>
            </a:r>
          </a:p>
          <a:p>
            <a:pPr algn="just" fontAlgn="ctr"/>
            <a:r>
              <a:rPr lang="en-US" sz="2800" dirty="0"/>
              <a:t>1. </a:t>
            </a:r>
            <a:r>
              <a:rPr lang="en-US" sz="2800" b="1" dirty="0"/>
              <a:t>Functional Requirements:</a:t>
            </a:r>
          </a:p>
          <a:p>
            <a:pPr marL="457200" indent="-457200" algn="just" fontAlgn="ctr">
              <a:buFont typeface="Wingdings" panose="05000000000000000000" pitchFamily="2" charset="2"/>
              <a:buChar char="Ø"/>
            </a:pPr>
            <a:r>
              <a:rPr lang="en-US" sz="2800" dirty="0"/>
              <a:t>Users should be able to log in with their username and password.</a:t>
            </a:r>
          </a:p>
          <a:p>
            <a:pPr marL="457200" indent="-457200" algn="just" fontAlgn="ctr">
              <a:buFont typeface="Wingdings" panose="05000000000000000000" pitchFamily="2" charset="2"/>
              <a:buChar char="Ø"/>
            </a:pPr>
            <a:r>
              <a:rPr lang="en-US" sz="2800" dirty="0"/>
              <a:t>Users should be able to check their account balance.</a:t>
            </a:r>
          </a:p>
          <a:p>
            <a:pPr marL="457200" indent="-457200" algn="just" fontAlgn="ctr">
              <a:buFont typeface="Wingdings" panose="05000000000000000000" pitchFamily="2" charset="2"/>
              <a:buChar char="Ø"/>
            </a:pPr>
            <a:r>
              <a:rPr lang="en-US" sz="2800" dirty="0"/>
              <a:t>Users should receive notifications after making a transaction</a:t>
            </a:r>
            <a:r>
              <a:rPr lang="en-US" sz="2800" dirty="0" smtClean="0"/>
              <a:t>.</a:t>
            </a:r>
          </a:p>
          <a:p>
            <a:pPr algn="just" fontAlgn="ctr"/>
            <a:endParaRPr lang="en-US" sz="2800" dirty="0"/>
          </a:p>
          <a:p>
            <a:pPr algn="just" fontAlgn="ctr"/>
            <a:r>
              <a:rPr lang="en-US" sz="2800" dirty="0"/>
              <a:t>2. </a:t>
            </a:r>
            <a:r>
              <a:rPr lang="en-US" sz="2800" b="1" dirty="0"/>
              <a:t>Non-functional Requirements:</a:t>
            </a:r>
          </a:p>
          <a:p>
            <a:pPr marL="457200" indent="-457200" algn="just" fontAlgn="ctr">
              <a:buFont typeface="Wingdings" panose="05000000000000000000" pitchFamily="2" charset="2"/>
              <a:buChar char="Ø"/>
            </a:pPr>
            <a:r>
              <a:rPr lang="en-US" sz="2800" dirty="0"/>
              <a:t>The system should respond to user actions in less than 2 seconds.</a:t>
            </a:r>
          </a:p>
          <a:p>
            <a:pPr marL="457200" indent="-457200" algn="just" fontAlgn="ctr">
              <a:buFont typeface="Wingdings" panose="05000000000000000000" pitchFamily="2" charset="2"/>
              <a:buChar char="Ø"/>
            </a:pPr>
            <a:r>
              <a:rPr lang="en-US" sz="2800" dirty="0"/>
              <a:t>All transactions must be encrypted and comply with industry security standards.</a:t>
            </a:r>
          </a:p>
          <a:p>
            <a:pPr marL="457200" indent="-457200" algn="just" fontAlgn="ctr">
              <a:buFont typeface="Wingdings" panose="05000000000000000000" pitchFamily="2" charset="2"/>
              <a:buChar char="Ø"/>
            </a:pPr>
            <a:r>
              <a:rPr lang="en-US" sz="2800" dirty="0"/>
              <a:t>The system should be able to handle 100 million users with minimal downtime. </a:t>
            </a:r>
          </a:p>
        </p:txBody>
      </p:sp>
    </p:spTree>
    <p:extLst>
      <p:ext uri="{BB962C8B-B14F-4D97-AF65-F5344CB8AC3E}">
        <p14:creationId xmlns:p14="http://schemas.microsoft.com/office/powerpoint/2010/main" val="1431701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61480" y="1848255"/>
            <a:ext cx="1287164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1D35"/>
                </a:solidFill>
                <a:latin typeface="Google Sans"/>
              </a:rPr>
              <a:t>2. Food Delivery </a:t>
            </a:r>
            <a:r>
              <a:rPr lang="en-US" sz="3200" b="1" dirty="0" smtClean="0">
                <a:solidFill>
                  <a:srgbClr val="001D35"/>
                </a:solidFill>
                <a:latin typeface="Google Sans"/>
              </a:rPr>
              <a:t>App</a:t>
            </a:r>
          </a:p>
          <a:p>
            <a:pPr algn="ctr"/>
            <a:endParaRPr lang="en-US" sz="3200" b="1" dirty="0">
              <a:solidFill>
                <a:srgbClr val="001D35"/>
              </a:solidFill>
              <a:latin typeface="Google Sans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1D35"/>
                </a:solidFill>
                <a:latin typeface="Google Sans"/>
              </a:rPr>
              <a:t>1. Functional Requirements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1D35"/>
                </a:solidFill>
                <a:latin typeface="Google Sans"/>
              </a:rPr>
              <a:t>Users can browse the menu and place an order.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1D35"/>
                </a:solidFill>
                <a:latin typeface="Google Sans"/>
              </a:rPr>
              <a:t>Users can make payments and track their orders in real time</a:t>
            </a:r>
            <a:r>
              <a:rPr lang="en-US" sz="2800" dirty="0" smtClean="0">
                <a:solidFill>
                  <a:srgbClr val="001D35"/>
                </a:solidFill>
                <a:latin typeface="Google Sans"/>
              </a:rPr>
              <a:t>.</a:t>
            </a:r>
          </a:p>
          <a:p>
            <a:pPr algn="just"/>
            <a:endParaRPr lang="en-US" sz="2800" dirty="0">
              <a:solidFill>
                <a:srgbClr val="001D35"/>
              </a:solidFill>
              <a:latin typeface="Google Sans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1D35"/>
                </a:solidFill>
                <a:latin typeface="Google Sans"/>
              </a:rPr>
              <a:t>2. Non-functional Requirements: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1D35"/>
                </a:solidFill>
                <a:latin typeface="Google Sans"/>
              </a:rPr>
              <a:t>The app should load the restaurant menu in under 1 second.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1D35"/>
                </a:solidFill>
                <a:latin typeface="Google Sans"/>
              </a:rPr>
              <a:t>The system should support up to 50,000 concurrent orders during peak hours.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1D35"/>
                </a:solidFill>
                <a:latin typeface="Google Sans"/>
              </a:rPr>
              <a:t>The app should be easy to use for first-time users, with an intuitive interface.</a:t>
            </a:r>
            <a:endParaRPr lang="en-US" sz="2800" dirty="0" smtClean="0">
              <a:solidFill>
                <a:srgbClr val="001D35"/>
              </a:solidFill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76733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44749" y="1789889"/>
            <a:ext cx="1254868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800" dirty="0" smtClean="0">
              <a:solidFill>
                <a:srgbClr val="001D35"/>
              </a:solidFill>
              <a:latin typeface="Google Sans"/>
            </a:endParaRPr>
          </a:p>
          <a:p>
            <a:pPr algn="just"/>
            <a:endParaRPr lang="en-US" sz="2800" b="1" dirty="0">
              <a:solidFill>
                <a:srgbClr val="FF0000"/>
              </a:solidFill>
              <a:latin typeface="Google Sans"/>
            </a:endParaRPr>
          </a:p>
          <a:p>
            <a:pPr algn="just"/>
            <a:endParaRPr lang="en-US" sz="2800" b="1" dirty="0" smtClean="0">
              <a:solidFill>
                <a:srgbClr val="FF0000"/>
              </a:solidFill>
              <a:latin typeface="Google Sans"/>
            </a:endParaRPr>
          </a:p>
          <a:p>
            <a:pPr algn="just"/>
            <a:endParaRPr lang="en-US" sz="2800" b="1" dirty="0">
              <a:solidFill>
                <a:srgbClr val="FF0000"/>
              </a:solidFill>
              <a:latin typeface="Google Sans"/>
            </a:endParaRPr>
          </a:p>
          <a:p>
            <a:pPr algn="just"/>
            <a:endParaRPr lang="en-US" sz="2800" b="1" dirty="0" smtClean="0">
              <a:solidFill>
                <a:srgbClr val="FF0000"/>
              </a:solidFill>
              <a:latin typeface="Google Sans"/>
            </a:endParaRPr>
          </a:p>
          <a:p>
            <a:pPr algn="just"/>
            <a:endParaRPr lang="en-US" sz="2800" b="1" dirty="0">
              <a:solidFill>
                <a:srgbClr val="FF0000"/>
              </a:solidFill>
              <a:latin typeface="Google Sans"/>
            </a:endParaRPr>
          </a:p>
          <a:p>
            <a:pPr algn="just"/>
            <a:endParaRPr lang="en-US" sz="2800" b="1" dirty="0" smtClean="0">
              <a:solidFill>
                <a:srgbClr val="FF0000"/>
              </a:solidFill>
              <a:latin typeface="Google Sans"/>
            </a:endParaRPr>
          </a:p>
          <a:p>
            <a:pPr algn="just"/>
            <a:endParaRPr lang="en-US" sz="2800" b="1" dirty="0">
              <a:solidFill>
                <a:srgbClr val="FF0000"/>
              </a:solidFill>
              <a:latin typeface="Google Sans"/>
            </a:endParaRPr>
          </a:p>
          <a:p>
            <a:pPr algn="just"/>
            <a:endParaRPr lang="en-US" sz="2800" b="1" dirty="0" smtClean="0">
              <a:solidFill>
                <a:srgbClr val="FF0000"/>
              </a:solidFill>
              <a:latin typeface="Google San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3" y="1353313"/>
            <a:ext cx="14092619" cy="65191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004011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Differences between Functional Requirements and Non-Functional Requirements</a:t>
            </a:r>
            <a:r>
              <a:rPr lang="en-US" sz="2800" dirty="0" smtClean="0"/>
              <a:t>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6458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10270093" y="7629104"/>
            <a:ext cx="3343752" cy="438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42416"/>
            <a:ext cx="13459968" cy="696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74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82880" y="1042416"/>
            <a:ext cx="13487399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rgbClr val="FF0000"/>
                </a:solidFill>
                <a:latin typeface="Nunito"/>
              </a:rPr>
              <a:t>Importance of Balancing Both Functional and Non-Functional Requirements</a:t>
            </a:r>
            <a:endParaRPr lang="en-US" sz="2400" b="1" dirty="0" smtClean="0">
              <a:solidFill>
                <a:srgbClr val="273239"/>
              </a:solidFill>
              <a:latin typeface="Nunito"/>
            </a:endParaRPr>
          </a:p>
          <a:p>
            <a:pPr algn="just" fontAlgn="base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73239"/>
                </a:solidFill>
                <a:latin typeface="+mj-lt"/>
              </a:rPr>
              <a:t>Improves</a:t>
            </a:r>
            <a:r>
              <a:rPr lang="en-US" sz="2800" b="1" dirty="0">
                <a:solidFill>
                  <a:srgbClr val="273239"/>
                </a:solidFill>
                <a:latin typeface="Nunito"/>
              </a:rPr>
              <a:t> User </a:t>
            </a:r>
            <a:r>
              <a:rPr lang="en-US" sz="2800" b="1" dirty="0" smtClean="0">
                <a:solidFill>
                  <a:srgbClr val="273239"/>
                </a:solidFill>
                <a:latin typeface="Nunito"/>
              </a:rPr>
              <a:t>Experience</a:t>
            </a:r>
          </a:p>
          <a:p>
            <a:pPr algn="just" fontAlgn="base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73239"/>
                </a:solidFill>
                <a:latin typeface="Nunito"/>
              </a:rPr>
              <a:t>Enhances System </a:t>
            </a:r>
            <a:r>
              <a:rPr lang="en-US" sz="2800" b="1" dirty="0" smtClean="0">
                <a:solidFill>
                  <a:srgbClr val="273239"/>
                </a:solidFill>
                <a:latin typeface="Nunito"/>
              </a:rPr>
              <a:t>Performance</a:t>
            </a:r>
          </a:p>
          <a:p>
            <a:pPr algn="just" fontAlgn="base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73239"/>
                </a:solidFill>
                <a:latin typeface="Nunito"/>
              </a:rPr>
              <a:t>Prevents Bottlenecks and </a:t>
            </a:r>
            <a:r>
              <a:rPr lang="en-US" sz="2800" b="1" dirty="0" smtClean="0">
                <a:solidFill>
                  <a:srgbClr val="273239"/>
                </a:solidFill>
                <a:latin typeface="Nunito"/>
              </a:rPr>
              <a:t>Failures</a:t>
            </a:r>
          </a:p>
          <a:p>
            <a:pPr algn="just" fontAlgn="base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73239"/>
                </a:solidFill>
                <a:latin typeface="Nunito"/>
              </a:rPr>
              <a:t>Reduces Long-Term </a:t>
            </a:r>
            <a:r>
              <a:rPr lang="en-US" sz="2800" b="1" dirty="0" smtClean="0">
                <a:solidFill>
                  <a:srgbClr val="273239"/>
                </a:solidFill>
                <a:latin typeface="Nunito"/>
              </a:rPr>
              <a:t>Costs</a:t>
            </a:r>
          </a:p>
          <a:p>
            <a:pPr algn="just" fontAlgn="base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73239"/>
                </a:solidFill>
                <a:latin typeface="Nunito"/>
              </a:rPr>
              <a:t>Supports System Evolution</a:t>
            </a:r>
          </a:p>
          <a:p>
            <a:pPr algn="just" fontAlgn="base"/>
            <a:endParaRPr lang="en-US" sz="2400" dirty="0">
              <a:solidFill>
                <a:srgbClr val="273239"/>
              </a:solidFill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39366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74320" y="1170432"/>
            <a:ext cx="1322222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  <a:latin typeface="Nunito"/>
              </a:rPr>
              <a:t>Common Challenges in Defining these </a:t>
            </a:r>
            <a:r>
              <a:rPr lang="en-US" sz="3200" b="1" dirty="0" smtClean="0">
                <a:solidFill>
                  <a:srgbClr val="FF0000"/>
                </a:solidFill>
                <a:latin typeface="Nunito"/>
              </a:rPr>
              <a:t>Requirements</a:t>
            </a:r>
            <a:endParaRPr lang="en-US" sz="2800" b="1" dirty="0">
              <a:solidFill>
                <a:srgbClr val="273239"/>
              </a:solidFill>
              <a:latin typeface="Nunito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73239"/>
                </a:solidFill>
                <a:latin typeface="Nunito"/>
              </a:rPr>
              <a:t>Ambiguity in </a:t>
            </a:r>
            <a:r>
              <a:rPr lang="en-US" sz="2800" b="1" dirty="0" smtClean="0">
                <a:solidFill>
                  <a:srgbClr val="273239"/>
                </a:solidFill>
                <a:latin typeface="Nunito"/>
              </a:rPr>
              <a:t>Requirements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rgbClr val="273239"/>
                </a:solidFill>
                <a:latin typeface="Nunito"/>
              </a:rPr>
              <a:t> Changing Requirements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rgbClr val="273239"/>
                </a:solidFill>
                <a:latin typeface="Nunito"/>
              </a:rPr>
              <a:t>Difficulty </a:t>
            </a:r>
            <a:r>
              <a:rPr lang="en-US" sz="2800" b="1" dirty="0">
                <a:solidFill>
                  <a:srgbClr val="273239"/>
                </a:solidFill>
                <a:latin typeface="Nunito"/>
              </a:rPr>
              <a:t>in </a:t>
            </a:r>
            <a:r>
              <a:rPr lang="en-US" sz="2800" b="1" dirty="0" smtClean="0">
                <a:solidFill>
                  <a:srgbClr val="273239"/>
                </a:solidFill>
                <a:latin typeface="Nunito"/>
              </a:rPr>
              <a:t>Prioritization</a:t>
            </a:r>
          </a:p>
          <a:p>
            <a:pPr algn="just" fontAlgn="base"/>
            <a:endParaRPr lang="en-US" sz="2800" b="1" dirty="0">
              <a:solidFill>
                <a:srgbClr val="273239"/>
              </a:solidFill>
              <a:latin typeface="Nunito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latin typeface="Nunito"/>
              </a:rPr>
              <a:t>Measuring Non-Functional Requirements</a:t>
            </a:r>
            <a:r>
              <a:rPr lang="en-US" sz="2800" b="1" dirty="0">
                <a:solidFill>
                  <a:srgbClr val="273239"/>
                </a:solidFill>
                <a:latin typeface="Nunito"/>
              </a:rPr>
              <a:t>: </a:t>
            </a:r>
            <a:endParaRPr lang="en-US" sz="2800" b="1" dirty="0" smtClean="0">
              <a:solidFill>
                <a:srgbClr val="273239"/>
              </a:solidFill>
              <a:latin typeface="Nunito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273239"/>
                </a:solidFill>
                <a:latin typeface="Nunito"/>
              </a:rPr>
              <a:t>Functional </a:t>
            </a:r>
            <a:r>
              <a:rPr lang="en-US" sz="2800" dirty="0">
                <a:solidFill>
                  <a:srgbClr val="273239"/>
                </a:solidFill>
                <a:latin typeface="Nunito"/>
              </a:rPr>
              <a:t>requirements are often straightforward to test, but non-functional requirements like usability, scalability, and reliability are harder to measure and validate</a:t>
            </a:r>
            <a:r>
              <a:rPr lang="en-US" sz="2800" dirty="0" smtClean="0">
                <a:solidFill>
                  <a:srgbClr val="273239"/>
                </a:solidFill>
                <a:latin typeface="Nunito"/>
              </a:rPr>
              <a:t>.</a:t>
            </a:r>
          </a:p>
          <a:p>
            <a:pPr algn="just" fontAlgn="base"/>
            <a:endParaRPr lang="en-US" sz="2800" dirty="0">
              <a:solidFill>
                <a:srgbClr val="273239"/>
              </a:solidFill>
              <a:latin typeface="Nunito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73239"/>
                </a:solidFill>
                <a:latin typeface="Nunito"/>
              </a:rPr>
              <a:t>Overlapping or Conflicting </a:t>
            </a:r>
            <a:r>
              <a:rPr lang="en-US" sz="2800" b="1" dirty="0" smtClean="0">
                <a:solidFill>
                  <a:srgbClr val="273239"/>
                </a:solidFill>
                <a:latin typeface="Nunito"/>
              </a:rPr>
              <a:t>Requirements</a:t>
            </a:r>
            <a:endParaRPr lang="en-US" sz="2800" b="1" dirty="0">
              <a:solidFill>
                <a:srgbClr val="273239"/>
              </a:solidFill>
              <a:latin typeface="Nunito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endParaRPr lang="en-US" sz="2800" b="1" dirty="0" smtClean="0">
              <a:solidFill>
                <a:srgbClr val="273239"/>
              </a:solidFill>
              <a:latin typeface="Nunito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273239"/>
              </a:solidFill>
              <a:latin typeface="Nunito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endParaRPr lang="en-US" sz="2800" dirty="0" smtClean="0">
              <a:solidFill>
                <a:srgbClr val="273239"/>
              </a:solidFill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185026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ctr">
              <a:buNone/>
            </a:pPr>
            <a:endParaRPr lang="en-US" sz="9600" dirty="0" smtClean="0"/>
          </a:p>
          <a:p>
            <a:pPr marL="114300" indent="0" algn="ctr">
              <a:buNone/>
            </a:pPr>
            <a:r>
              <a:rPr lang="en-US" sz="9600" dirty="0" smtClean="0"/>
              <a:t>Thankyou</a:t>
            </a:r>
            <a:endParaRPr lang="en-IN" sz="9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42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1646</TotalTime>
  <Words>813</Words>
  <Application>Microsoft Office PowerPoint</Application>
  <PresentationFormat>Custom</PresentationFormat>
  <Paragraphs>127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Google Sans</vt:lpstr>
      <vt:lpstr>Nunito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Himanshu</cp:lastModifiedBy>
  <cp:revision>76</cp:revision>
  <dcterms:modified xsi:type="dcterms:W3CDTF">2025-07-31T06:58:49Z</dcterms:modified>
</cp:coreProperties>
</file>