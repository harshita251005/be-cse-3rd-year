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310" r:id="rId2"/>
    <p:sldId id="380" r:id="rId3"/>
    <p:sldId id="381" r:id="rId4"/>
    <p:sldId id="382" r:id="rId5"/>
    <p:sldId id="383" r:id="rId6"/>
    <p:sldId id="384" r:id="rId7"/>
    <p:sldId id="385" r:id="rId8"/>
    <p:sldId id="386" r:id="rId9"/>
    <p:sldId id="387" r:id="rId10"/>
    <p:sldId id="388" r:id="rId11"/>
    <p:sldId id="390" r:id="rId12"/>
    <p:sldId id="391" r:id="rId13"/>
    <p:sldId id="378" r:id="rId14"/>
    <p:sldId id="348" r:id="rId15"/>
    <p:sldId id="316" r:id="rId16"/>
    <p:sldId id="352" r:id="rId17"/>
    <p:sldId id="317" r:id="rId18"/>
    <p:sldId id="353" r:id="rId19"/>
    <p:sldId id="313" r:id="rId20"/>
    <p:sldId id="349" r:id="rId21"/>
    <p:sldId id="314" r:id="rId22"/>
    <p:sldId id="350" r:id="rId23"/>
    <p:sldId id="315" r:id="rId24"/>
    <p:sldId id="351" r:id="rId25"/>
    <p:sldId id="318" r:id="rId26"/>
    <p:sldId id="354" r:id="rId27"/>
    <p:sldId id="319" r:id="rId28"/>
    <p:sldId id="355" r:id="rId29"/>
    <p:sldId id="322" r:id="rId30"/>
    <p:sldId id="356" r:id="rId31"/>
    <p:sldId id="325" r:id="rId32"/>
    <p:sldId id="358" r:id="rId33"/>
    <p:sldId id="326" r:id="rId34"/>
    <p:sldId id="359" r:id="rId35"/>
    <p:sldId id="328" r:id="rId36"/>
    <p:sldId id="361" r:id="rId37"/>
    <p:sldId id="332" r:id="rId38"/>
    <p:sldId id="363" r:id="rId39"/>
    <p:sldId id="333" r:id="rId40"/>
    <p:sldId id="364" r:id="rId41"/>
    <p:sldId id="334" r:id="rId42"/>
    <p:sldId id="365" r:id="rId43"/>
    <p:sldId id="336" r:id="rId44"/>
    <p:sldId id="367" r:id="rId45"/>
    <p:sldId id="337" r:id="rId46"/>
    <p:sldId id="368" r:id="rId47"/>
    <p:sldId id="338" r:id="rId48"/>
    <p:sldId id="369" r:id="rId49"/>
    <p:sldId id="340" r:id="rId50"/>
    <p:sldId id="370" r:id="rId51"/>
    <p:sldId id="342" r:id="rId52"/>
    <p:sldId id="372" r:id="rId53"/>
    <p:sldId id="344" r:id="rId54"/>
    <p:sldId id="374" r:id="rId55"/>
    <p:sldId id="345" r:id="rId56"/>
    <p:sldId id="375" r:id="rId57"/>
    <p:sldId id="347" r:id="rId58"/>
    <p:sldId id="377" r:id="rId59"/>
    <p:sldId id="379"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ineesh Soni" initials="BS" lastIdx="1" clrIdx="0">
    <p:extLst>
      <p:ext uri="{19B8F6BF-5375-455C-9EA6-DF929625EA0E}">
        <p15:presenceInfo xmlns:p15="http://schemas.microsoft.com/office/powerpoint/2012/main" userId="f2a0e8b107712f1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8EFC"/>
    <a:srgbClr val="FE6400"/>
    <a:srgbClr val="B0D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24" autoAdjust="0"/>
  </p:normalViewPr>
  <p:slideViewPr>
    <p:cSldViewPr snapToGrid="0">
      <p:cViewPr varScale="1">
        <p:scale>
          <a:sx n="80" d="100"/>
          <a:sy n="80" d="100"/>
        </p:scale>
        <p:origin x="773" y="67"/>
      </p:cViewPr>
      <p:guideLst>
        <p:guide orient="horz" pos="2160"/>
        <p:guide pos="3840"/>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01EA01-0F0C-4DE8-B813-35A3FC47D733}" type="datetimeFigureOut">
              <a:rPr lang="en-US" smtClean="0"/>
              <a:pPr/>
              <a:t>6/3/2025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E163DC-F9C0-4AEA-8660-BBA8B696315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570C-91D9-4947-A6D9-7FF06034DC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A57714-93CD-4F1F-87AD-8D5BD536B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B1CF67-9FF0-4DFC-BE0D-8D3336673D29}"/>
              </a:ext>
            </a:extLst>
          </p:cNvPr>
          <p:cNvSpPr>
            <a:spLocks noGrp="1"/>
          </p:cNvSpPr>
          <p:nvPr>
            <p:ph type="dt" sz="half" idx="10"/>
          </p:nvPr>
        </p:nvSpPr>
        <p:spPr/>
        <p:txBody>
          <a:bodyPr/>
          <a:lstStyle/>
          <a:p>
            <a:fld id="{E6F7824F-FEE6-4FA6-87FA-56806D70CA3A}" type="datetimeFigureOut">
              <a:rPr lang="en-IN" smtClean="0"/>
              <a:pPr/>
              <a:t>03-06-2025</a:t>
            </a:fld>
            <a:endParaRPr lang="en-IN"/>
          </a:p>
        </p:txBody>
      </p:sp>
      <p:sp>
        <p:nvSpPr>
          <p:cNvPr id="5" name="Footer Placeholder 4">
            <a:extLst>
              <a:ext uri="{FF2B5EF4-FFF2-40B4-BE49-F238E27FC236}">
                <a16:creationId xmlns:a16="http://schemas.microsoft.com/office/drawing/2014/main" id="{CC1B7A56-F93E-4F84-81A6-4D75C4E9C8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C9BA34-E053-4950-ADF6-7B39A137036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611819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121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304800" y="1185333"/>
            <a:ext cx="11582400" cy="4991630"/>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7F82684C-423C-4765-A4B6-5C4E8DC754FB}"/>
              </a:ext>
            </a:extLst>
          </p:cNvPr>
          <p:cNvSpPr>
            <a:spLocks noGrp="1"/>
          </p:cNvSpPr>
          <p:nvPr>
            <p:ph type="dt" sz="half" idx="10"/>
          </p:nvPr>
        </p:nvSpPr>
        <p:spPr>
          <a:xfrm>
            <a:off x="304800" y="6380692"/>
            <a:ext cx="3276600" cy="365125"/>
          </a:xfrm>
        </p:spPr>
        <p:txBody>
          <a:bodyPr/>
          <a:lstStyle/>
          <a:p>
            <a:fld id="{E6F7824F-FEE6-4FA6-87FA-56806D70CA3A}" type="datetimeFigureOut">
              <a:rPr lang="en-IN" smtClean="0"/>
              <a:pPr/>
              <a:t>03-06-2025</a:t>
            </a:fld>
            <a:endParaRPr lang="en-IN"/>
          </a:p>
        </p:txBody>
      </p:sp>
      <p:sp>
        <p:nvSpPr>
          <p:cNvPr id="5" name="Footer Placeholder 4">
            <a:extLst>
              <a:ext uri="{FF2B5EF4-FFF2-40B4-BE49-F238E27FC236}">
                <a16:creationId xmlns:a16="http://schemas.microsoft.com/office/drawing/2014/main" id="{C02794CF-57E8-4BE6-9B7F-7F59CE9F7302}"/>
              </a:ext>
            </a:extLst>
          </p:cNvPr>
          <p:cNvSpPr>
            <a:spLocks noGrp="1"/>
          </p:cNvSpPr>
          <p:nvPr>
            <p:ph type="ftr" sz="quarter" idx="11"/>
          </p:nvPr>
        </p:nvSpPr>
        <p:spPr>
          <a:xfrm>
            <a:off x="4038600" y="6380691"/>
            <a:ext cx="4114800" cy="365125"/>
          </a:xfrm>
        </p:spPr>
        <p:txBody>
          <a:bodyPr/>
          <a:lstStyle/>
          <a:p>
            <a:endParaRPr lang="en-IN" dirty="0"/>
          </a:p>
        </p:txBody>
      </p:sp>
      <p:sp>
        <p:nvSpPr>
          <p:cNvPr id="6" name="Slide Number Placeholder 5">
            <a:extLst>
              <a:ext uri="{FF2B5EF4-FFF2-40B4-BE49-F238E27FC236}">
                <a16:creationId xmlns:a16="http://schemas.microsoft.com/office/drawing/2014/main" id="{3A8311BD-0829-4E1F-8609-52006F00A5F6}"/>
              </a:ext>
            </a:extLst>
          </p:cNvPr>
          <p:cNvSpPr>
            <a:spLocks noGrp="1"/>
          </p:cNvSpPr>
          <p:nvPr>
            <p:ph type="sldNum" sz="quarter" idx="12"/>
          </p:nvPr>
        </p:nvSpPr>
        <p:spPr>
          <a:xfrm>
            <a:off x="8610599" y="6356350"/>
            <a:ext cx="3276599" cy="365125"/>
          </a:xfrm>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74707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AC04-157F-4E75-A1D1-608BB6A458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EEF63E-A7CD-4490-94C6-AEB7AAD1B0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9BACE1-7062-406F-BF0A-2C8447CFAE78}"/>
              </a:ext>
            </a:extLst>
          </p:cNvPr>
          <p:cNvSpPr>
            <a:spLocks noGrp="1"/>
          </p:cNvSpPr>
          <p:nvPr>
            <p:ph type="dt" sz="half" idx="10"/>
          </p:nvPr>
        </p:nvSpPr>
        <p:spPr/>
        <p:txBody>
          <a:bodyPr/>
          <a:lstStyle/>
          <a:p>
            <a:fld id="{E6F7824F-FEE6-4FA6-87FA-56806D70CA3A}" type="datetimeFigureOut">
              <a:rPr lang="en-IN" smtClean="0"/>
              <a:pPr/>
              <a:t>03-06-2025</a:t>
            </a:fld>
            <a:endParaRPr lang="en-IN"/>
          </a:p>
        </p:txBody>
      </p:sp>
      <p:sp>
        <p:nvSpPr>
          <p:cNvPr id="5" name="Footer Placeholder 4">
            <a:extLst>
              <a:ext uri="{FF2B5EF4-FFF2-40B4-BE49-F238E27FC236}">
                <a16:creationId xmlns:a16="http://schemas.microsoft.com/office/drawing/2014/main" id="{6632EBEB-1EEC-4E59-8235-46F33B9CEE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6F9D22-36EF-42CE-B503-C1BF182ECDE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56422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2340-6366-4615-8DFE-2032C089BB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CE8ADD-6026-4405-9B1A-DC1A4E8E9C2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76CB263-B7A6-4EE6-AD11-928CE3CCDA4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281AA1-B6F3-49F8-9075-131D0D8F3C6A}"/>
              </a:ext>
            </a:extLst>
          </p:cNvPr>
          <p:cNvSpPr>
            <a:spLocks noGrp="1"/>
          </p:cNvSpPr>
          <p:nvPr>
            <p:ph type="dt" sz="half" idx="10"/>
          </p:nvPr>
        </p:nvSpPr>
        <p:spPr/>
        <p:txBody>
          <a:bodyPr/>
          <a:lstStyle/>
          <a:p>
            <a:fld id="{E6F7824F-FEE6-4FA6-87FA-56806D70CA3A}" type="datetimeFigureOut">
              <a:rPr lang="en-IN" smtClean="0"/>
              <a:pPr/>
              <a:t>03-06-2025</a:t>
            </a:fld>
            <a:endParaRPr lang="en-IN"/>
          </a:p>
        </p:txBody>
      </p:sp>
      <p:sp>
        <p:nvSpPr>
          <p:cNvPr id="6" name="Footer Placeholder 5">
            <a:extLst>
              <a:ext uri="{FF2B5EF4-FFF2-40B4-BE49-F238E27FC236}">
                <a16:creationId xmlns:a16="http://schemas.microsoft.com/office/drawing/2014/main" id="{7DEF3FA6-1E5C-47CD-B247-F515761031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BB52BF-3F99-4B16-A3D9-0678B7555DDE}"/>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38369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2DB32-2174-4376-9076-2632E8F8EE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9C407C-1D12-4D0A-A030-524BE0968A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A71F0A9-77EE-4263-A67C-C16BE1477C8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871FB3-AC11-4741-B1C4-DE03A7E6AD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0ECBBDE-9050-4133-9844-54AB486662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415ABDF-CF3A-439F-B397-95AC73FB9257}"/>
              </a:ext>
            </a:extLst>
          </p:cNvPr>
          <p:cNvSpPr>
            <a:spLocks noGrp="1"/>
          </p:cNvSpPr>
          <p:nvPr>
            <p:ph type="dt" sz="half" idx="10"/>
          </p:nvPr>
        </p:nvSpPr>
        <p:spPr/>
        <p:txBody>
          <a:bodyPr/>
          <a:lstStyle/>
          <a:p>
            <a:fld id="{E6F7824F-FEE6-4FA6-87FA-56806D70CA3A}" type="datetimeFigureOut">
              <a:rPr lang="en-IN" smtClean="0"/>
              <a:pPr/>
              <a:t>03-06-2025</a:t>
            </a:fld>
            <a:endParaRPr lang="en-IN"/>
          </a:p>
        </p:txBody>
      </p:sp>
      <p:sp>
        <p:nvSpPr>
          <p:cNvPr id="8" name="Footer Placeholder 7">
            <a:extLst>
              <a:ext uri="{FF2B5EF4-FFF2-40B4-BE49-F238E27FC236}">
                <a16:creationId xmlns:a16="http://schemas.microsoft.com/office/drawing/2014/main" id="{35DB57C0-0EC2-4978-AEAD-7284450CDF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E9A207-153C-4FB7-89E6-D60D56800EA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984099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369E1-C2D7-469B-B685-5760A0E1E6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407BAE-D44B-45AB-A0B4-DD09062FCEBE}"/>
              </a:ext>
            </a:extLst>
          </p:cNvPr>
          <p:cNvSpPr>
            <a:spLocks noGrp="1"/>
          </p:cNvSpPr>
          <p:nvPr>
            <p:ph type="dt" sz="half" idx="10"/>
          </p:nvPr>
        </p:nvSpPr>
        <p:spPr/>
        <p:txBody>
          <a:bodyPr/>
          <a:lstStyle/>
          <a:p>
            <a:fld id="{E6F7824F-FEE6-4FA6-87FA-56806D70CA3A}" type="datetimeFigureOut">
              <a:rPr lang="en-IN" smtClean="0"/>
              <a:pPr/>
              <a:t>03-06-2025</a:t>
            </a:fld>
            <a:endParaRPr lang="en-IN"/>
          </a:p>
        </p:txBody>
      </p:sp>
      <p:sp>
        <p:nvSpPr>
          <p:cNvPr id="4" name="Footer Placeholder 3">
            <a:extLst>
              <a:ext uri="{FF2B5EF4-FFF2-40B4-BE49-F238E27FC236}">
                <a16:creationId xmlns:a16="http://schemas.microsoft.com/office/drawing/2014/main" id="{577F0041-930D-486E-B87C-35013F3E02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0610B2-BC3A-443A-B9FB-C8EA2F3584F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193018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5BEFB7-3B9C-4B2B-95B4-92DD054CBC2A}"/>
              </a:ext>
            </a:extLst>
          </p:cNvPr>
          <p:cNvSpPr>
            <a:spLocks noGrp="1"/>
          </p:cNvSpPr>
          <p:nvPr>
            <p:ph type="dt" sz="half" idx="10"/>
          </p:nvPr>
        </p:nvSpPr>
        <p:spPr/>
        <p:txBody>
          <a:bodyPr/>
          <a:lstStyle/>
          <a:p>
            <a:fld id="{E6F7824F-FEE6-4FA6-87FA-56806D70CA3A}" type="datetimeFigureOut">
              <a:rPr lang="en-IN" smtClean="0"/>
              <a:pPr/>
              <a:t>03-06-2025</a:t>
            </a:fld>
            <a:endParaRPr lang="en-IN"/>
          </a:p>
        </p:txBody>
      </p:sp>
      <p:sp>
        <p:nvSpPr>
          <p:cNvPr id="3" name="Footer Placeholder 2">
            <a:extLst>
              <a:ext uri="{FF2B5EF4-FFF2-40B4-BE49-F238E27FC236}">
                <a16:creationId xmlns:a16="http://schemas.microsoft.com/office/drawing/2014/main" id="{8BAF9ABC-339A-4386-8967-389520926E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B75CBE5-69F1-4976-9D60-7F316C1EDB17}"/>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02267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F17B-D2C9-40B9-8753-8BDCF691A5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607120-E547-4935-95D5-4A8C8B267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7049DD-1391-4431-A734-4A3EEF73A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CDA9439-D32A-4CA5-A1FB-743F92303F16}"/>
              </a:ext>
            </a:extLst>
          </p:cNvPr>
          <p:cNvSpPr>
            <a:spLocks noGrp="1"/>
          </p:cNvSpPr>
          <p:nvPr>
            <p:ph type="dt" sz="half" idx="10"/>
          </p:nvPr>
        </p:nvSpPr>
        <p:spPr/>
        <p:txBody>
          <a:bodyPr/>
          <a:lstStyle/>
          <a:p>
            <a:fld id="{E6F7824F-FEE6-4FA6-87FA-56806D70CA3A}" type="datetimeFigureOut">
              <a:rPr lang="en-IN" smtClean="0"/>
              <a:pPr/>
              <a:t>03-06-2025</a:t>
            </a:fld>
            <a:endParaRPr lang="en-IN"/>
          </a:p>
        </p:txBody>
      </p:sp>
      <p:sp>
        <p:nvSpPr>
          <p:cNvPr id="6" name="Footer Placeholder 5">
            <a:extLst>
              <a:ext uri="{FF2B5EF4-FFF2-40B4-BE49-F238E27FC236}">
                <a16:creationId xmlns:a16="http://schemas.microsoft.com/office/drawing/2014/main" id="{81F7D6D9-F57C-438C-8949-80113A39B8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3E0FAB-A3DF-4A5C-B3B2-F612BBFE353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1459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95D0-D535-4848-A630-2D68608133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DB14DE-3C99-46E6-9D3B-253632069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213A90A1-9292-4924-8F81-7ED09C923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510C8E3-27F1-4EDF-9DCD-8F49CDA6B2FC}"/>
              </a:ext>
            </a:extLst>
          </p:cNvPr>
          <p:cNvSpPr>
            <a:spLocks noGrp="1"/>
          </p:cNvSpPr>
          <p:nvPr>
            <p:ph type="dt" sz="half" idx="10"/>
          </p:nvPr>
        </p:nvSpPr>
        <p:spPr/>
        <p:txBody>
          <a:bodyPr/>
          <a:lstStyle/>
          <a:p>
            <a:fld id="{E6F7824F-FEE6-4FA6-87FA-56806D70CA3A}" type="datetimeFigureOut">
              <a:rPr lang="en-IN" smtClean="0"/>
              <a:pPr/>
              <a:t>03-06-2025</a:t>
            </a:fld>
            <a:endParaRPr lang="en-IN"/>
          </a:p>
        </p:txBody>
      </p:sp>
      <p:sp>
        <p:nvSpPr>
          <p:cNvPr id="6" name="Footer Placeholder 5">
            <a:extLst>
              <a:ext uri="{FF2B5EF4-FFF2-40B4-BE49-F238E27FC236}">
                <a16:creationId xmlns:a16="http://schemas.microsoft.com/office/drawing/2014/main" id="{768BB2F1-10A7-4167-841D-D77F9C8E5B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14DC5D-E540-47BE-BB01-FF0B11DD6461}"/>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54876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7CE4-4879-4194-ACD4-2DFD05CEEE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9DE788-C14D-4BFA-A909-E56F7B950E8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F1FB5C-888C-4B41-A7ED-BBAD2959954E}"/>
              </a:ext>
            </a:extLst>
          </p:cNvPr>
          <p:cNvSpPr>
            <a:spLocks noGrp="1"/>
          </p:cNvSpPr>
          <p:nvPr>
            <p:ph type="dt" sz="half" idx="10"/>
          </p:nvPr>
        </p:nvSpPr>
        <p:spPr/>
        <p:txBody>
          <a:bodyPr/>
          <a:lstStyle/>
          <a:p>
            <a:fld id="{E6F7824F-FEE6-4FA6-87FA-56806D70CA3A}" type="datetimeFigureOut">
              <a:rPr lang="en-IN" smtClean="0"/>
              <a:pPr/>
              <a:t>03-06-2025</a:t>
            </a:fld>
            <a:endParaRPr lang="en-IN"/>
          </a:p>
        </p:txBody>
      </p:sp>
      <p:sp>
        <p:nvSpPr>
          <p:cNvPr id="5" name="Footer Placeholder 4">
            <a:extLst>
              <a:ext uri="{FF2B5EF4-FFF2-40B4-BE49-F238E27FC236}">
                <a16:creationId xmlns:a16="http://schemas.microsoft.com/office/drawing/2014/main" id="{D3B5CDCF-5C71-4C4C-98F9-79760A9BE8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9B6551-B2C3-4B96-9C9D-F996D5F0751B}"/>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4213392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379290-6C46-497B-AB1E-8A27B8100A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74811A-877C-4411-B988-CA338C63CD7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2A6BC7-DD99-4593-AB1F-3E58214B2995}"/>
              </a:ext>
            </a:extLst>
          </p:cNvPr>
          <p:cNvSpPr>
            <a:spLocks noGrp="1"/>
          </p:cNvSpPr>
          <p:nvPr>
            <p:ph type="dt" sz="half" idx="10"/>
          </p:nvPr>
        </p:nvSpPr>
        <p:spPr/>
        <p:txBody>
          <a:bodyPr/>
          <a:lstStyle/>
          <a:p>
            <a:fld id="{E6F7824F-FEE6-4FA6-87FA-56806D70CA3A}" type="datetimeFigureOut">
              <a:rPr lang="en-IN" smtClean="0"/>
              <a:pPr/>
              <a:t>03-06-2025</a:t>
            </a:fld>
            <a:endParaRPr lang="en-IN"/>
          </a:p>
        </p:txBody>
      </p:sp>
      <p:sp>
        <p:nvSpPr>
          <p:cNvPr id="5" name="Footer Placeholder 4">
            <a:extLst>
              <a:ext uri="{FF2B5EF4-FFF2-40B4-BE49-F238E27FC236}">
                <a16:creationId xmlns:a16="http://schemas.microsoft.com/office/drawing/2014/main" id="{FF49487C-19BB-435C-9BEC-F0A10E78A3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6C9521-C4F0-40F8-8192-C7A8261FE47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432318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35F695-DEC3-4A3B-BC13-7CC4F5D1DB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C168CC-6B45-4123-88A6-EF2DF64057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D7EFBD-4160-41DF-A314-BD6A64AB49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824F-FEE6-4FA6-87FA-56806D70CA3A}" type="datetimeFigureOut">
              <a:rPr lang="en-IN" smtClean="0"/>
              <a:pPr/>
              <a:t>03-06-2025</a:t>
            </a:fld>
            <a:endParaRPr lang="en-IN"/>
          </a:p>
        </p:txBody>
      </p:sp>
      <p:sp>
        <p:nvSpPr>
          <p:cNvPr id="5" name="Footer Placeholder 4">
            <a:extLst>
              <a:ext uri="{FF2B5EF4-FFF2-40B4-BE49-F238E27FC236}">
                <a16:creationId xmlns:a16="http://schemas.microsoft.com/office/drawing/2014/main" id="{518098CC-0E82-4F6E-B3C7-BBF562C23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E83DAE-AED6-4530-8BC5-C76C7338EB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13C1E7-9431-4A64-94FC-1D172EC0AB5A}" type="slidenum">
              <a:rPr lang="en-IN" smtClean="0"/>
              <a:pPr/>
              <a:t>‹#›</a:t>
            </a:fld>
            <a:endParaRPr lang="en-IN"/>
          </a:p>
        </p:txBody>
      </p:sp>
    </p:spTree>
    <p:extLst>
      <p:ext uri="{BB962C8B-B14F-4D97-AF65-F5344CB8AC3E}">
        <p14:creationId xmlns:p14="http://schemas.microsoft.com/office/powerpoint/2010/main" val="1762507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29476" y="681534"/>
            <a:ext cx="11733048" cy="5344511"/>
          </a:xfrm>
        </p:spPr>
        <p:txBody>
          <a:bodyPr>
            <a:normAutofit/>
          </a:bodyPr>
          <a:lstStyle/>
          <a:p>
            <a:pPr algn="ctr">
              <a:buNone/>
            </a:pPr>
            <a:r>
              <a:rPr lang="en-US" sz="6000" dirty="0">
                <a:solidFill>
                  <a:srgbClr val="FF0000"/>
                </a:solidFill>
                <a:latin typeface="Arial Black" pitchFamily="34" charset="0"/>
              </a:rPr>
              <a:t>RANKING ARRANGEMENT</a:t>
            </a:r>
            <a:endParaRPr lang="en-US" sz="6000" b="1" dirty="0">
              <a:solidFill>
                <a:srgbClr val="FF0000"/>
              </a:solidFill>
              <a:latin typeface="Arial Black"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2156EB8C-5B92-FE08-7A93-9112F0ABABAE}"/>
              </a:ext>
            </a:extLst>
          </p:cNvPr>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l="11152" t="23136" r="38889" b="35203"/>
          <a:stretch/>
        </p:blipFill>
        <p:spPr>
          <a:xfrm>
            <a:off x="576198" y="1139867"/>
            <a:ext cx="9344416" cy="4870248"/>
          </a:xfrm>
        </p:spPr>
      </p:pic>
    </p:spTree>
    <p:extLst>
      <p:ext uri="{BB962C8B-B14F-4D97-AF65-F5344CB8AC3E}">
        <p14:creationId xmlns:p14="http://schemas.microsoft.com/office/powerpoint/2010/main" val="218052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pic>
        <p:nvPicPr>
          <p:cNvPr id="4" name="Content Placeholder 3">
            <a:extLst>
              <a:ext uri="{FF2B5EF4-FFF2-40B4-BE49-F238E27FC236}">
                <a16:creationId xmlns:a16="http://schemas.microsoft.com/office/drawing/2014/main" id="{0B4E5535-3963-91AE-5162-9A195FE1F5A7}"/>
              </a:ext>
            </a:extLst>
          </p:cNvPr>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l="11152" t="40076" r="40772" b="25039"/>
          <a:stretch/>
        </p:blipFill>
        <p:spPr>
          <a:xfrm>
            <a:off x="526093" y="1415441"/>
            <a:ext cx="9513517" cy="4314450"/>
          </a:xfrm>
        </p:spPr>
      </p:pic>
    </p:spTree>
    <p:extLst>
      <p:ext uri="{BB962C8B-B14F-4D97-AF65-F5344CB8AC3E}">
        <p14:creationId xmlns:p14="http://schemas.microsoft.com/office/powerpoint/2010/main" val="449070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pic>
        <p:nvPicPr>
          <p:cNvPr id="4" name="Content Placeholder 3">
            <a:extLst>
              <a:ext uri="{FF2B5EF4-FFF2-40B4-BE49-F238E27FC236}">
                <a16:creationId xmlns:a16="http://schemas.microsoft.com/office/drawing/2014/main" id="{2E152924-6915-D230-4A49-A835647886EA}"/>
              </a:ext>
            </a:extLst>
          </p:cNvPr>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l="11936" t="26650" r="39125" b="33572"/>
          <a:stretch/>
        </p:blipFill>
        <p:spPr>
          <a:xfrm>
            <a:off x="582460" y="1152395"/>
            <a:ext cx="9463414" cy="4807533"/>
          </a:xfrm>
        </p:spPr>
      </p:pic>
    </p:spTree>
    <p:extLst>
      <p:ext uri="{BB962C8B-B14F-4D97-AF65-F5344CB8AC3E}">
        <p14:creationId xmlns:p14="http://schemas.microsoft.com/office/powerpoint/2010/main" val="2298656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pic>
        <p:nvPicPr>
          <p:cNvPr id="4" name="Content Placeholder 3">
            <a:extLst>
              <a:ext uri="{FF2B5EF4-FFF2-40B4-BE49-F238E27FC236}">
                <a16:creationId xmlns:a16="http://schemas.microsoft.com/office/drawing/2014/main" id="{56A901BC-9D15-2657-8061-1E653BB8309D}"/>
              </a:ext>
            </a:extLst>
          </p:cNvPr>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l="12015" t="42209" r="39281" b="39093"/>
          <a:stretch/>
        </p:blipFill>
        <p:spPr>
          <a:xfrm>
            <a:off x="613775" y="1446755"/>
            <a:ext cx="10519457" cy="3588708"/>
          </a:xfrm>
        </p:spPr>
      </p:pic>
    </p:spTree>
    <p:extLst>
      <p:ext uri="{BB962C8B-B14F-4D97-AF65-F5344CB8AC3E}">
        <p14:creationId xmlns:p14="http://schemas.microsoft.com/office/powerpoint/2010/main" val="4231103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pic>
        <p:nvPicPr>
          <p:cNvPr id="4" name="Content Placeholder 3">
            <a:extLst>
              <a:ext uri="{FF2B5EF4-FFF2-40B4-BE49-F238E27FC236}">
                <a16:creationId xmlns:a16="http://schemas.microsoft.com/office/drawing/2014/main" id="{D3C27056-9E5E-21F9-6418-788B9C13288D}"/>
              </a:ext>
            </a:extLst>
          </p:cNvPr>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l="11466" t="32171" r="39125" b="43736"/>
          <a:stretch/>
        </p:blipFill>
        <p:spPr>
          <a:xfrm>
            <a:off x="254000" y="1277654"/>
            <a:ext cx="12022051" cy="3951962"/>
          </a:xfrm>
        </p:spPr>
      </p:pic>
    </p:spTree>
    <p:extLst>
      <p:ext uri="{BB962C8B-B14F-4D97-AF65-F5344CB8AC3E}">
        <p14:creationId xmlns:p14="http://schemas.microsoft.com/office/powerpoint/2010/main" val="2018200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pic>
        <p:nvPicPr>
          <p:cNvPr id="4" name="Content Placeholder 3">
            <a:extLst>
              <a:ext uri="{FF2B5EF4-FFF2-40B4-BE49-F238E27FC236}">
                <a16:creationId xmlns:a16="http://schemas.microsoft.com/office/drawing/2014/main" id="{8DF0AB0D-337C-27B9-E992-11BD39FC9096}"/>
              </a:ext>
            </a:extLst>
          </p:cNvPr>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l="11623" t="37316" r="41320" b="7346"/>
          <a:stretch/>
        </p:blipFill>
        <p:spPr>
          <a:xfrm>
            <a:off x="926925" y="1146132"/>
            <a:ext cx="7571985" cy="4907133"/>
          </a:xfrm>
        </p:spPr>
      </p:pic>
    </p:spTree>
    <p:extLst>
      <p:ext uri="{BB962C8B-B14F-4D97-AF65-F5344CB8AC3E}">
        <p14:creationId xmlns:p14="http://schemas.microsoft.com/office/powerpoint/2010/main" val="3927876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pic>
        <p:nvPicPr>
          <p:cNvPr id="4" name="Content Placeholder 3">
            <a:extLst>
              <a:ext uri="{FF2B5EF4-FFF2-40B4-BE49-F238E27FC236}">
                <a16:creationId xmlns:a16="http://schemas.microsoft.com/office/drawing/2014/main" id="{FF787286-8EAD-5604-584E-97BD7C16176A}"/>
              </a:ext>
            </a:extLst>
          </p:cNvPr>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l="11545" t="23387" r="38968" b="14624"/>
          <a:stretch/>
        </p:blipFill>
        <p:spPr>
          <a:xfrm>
            <a:off x="713984" y="1227550"/>
            <a:ext cx="8467594" cy="5011089"/>
          </a:xfrm>
        </p:spPr>
      </p:pic>
    </p:spTree>
    <p:extLst>
      <p:ext uri="{BB962C8B-B14F-4D97-AF65-F5344CB8AC3E}">
        <p14:creationId xmlns:p14="http://schemas.microsoft.com/office/powerpoint/2010/main" val="124318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pic>
        <p:nvPicPr>
          <p:cNvPr id="4" name="Content Placeholder 3">
            <a:extLst>
              <a:ext uri="{FF2B5EF4-FFF2-40B4-BE49-F238E27FC236}">
                <a16:creationId xmlns:a16="http://schemas.microsoft.com/office/drawing/2014/main" id="{79948D0C-7DFE-1D29-9F84-E1470F304E55}"/>
              </a:ext>
            </a:extLst>
          </p:cNvPr>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l="11780" t="24014" r="38184" b="27674"/>
          <a:stretch/>
        </p:blipFill>
        <p:spPr>
          <a:xfrm>
            <a:off x="620037" y="1177447"/>
            <a:ext cx="8974899" cy="4860316"/>
          </a:xfrm>
        </p:spPr>
      </p:pic>
    </p:spTree>
    <p:extLst>
      <p:ext uri="{BB962C8B-B14F-4D97-AF65-F5344CB8AC3E}">
        <p14:creationId xmlns:p14="http://schemas.microsoft.com/office/powerpoint/2010/main" val="3255521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pic>
        <p:nvPicPr>
          <p:cNvPr id="4" name="Content Placeholder 3">
            <a:extLst>
              <a:ext uri="{FF2B5EF4-FFF2-40B4-BE49-F238E27FC236}">
                <a16:creationId xmlns:a16="http://schemas.microsoft.com/office/drawing/2014/main" id="{C9919EF3-371C-A6CE-C2E8-EF59186E8562}"/>
              </a:ext>
            </a:extLst>
          </p:cNvPr>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l="11309" t="30790" r="38027" b="11487"/>
          <a:stretch/>
        </p:blipFill>
        <p:spPr>
          <a:xfrm>
            <a:off x="254000" y="1108553"/>
            <a:ext cx="9209414" cy="5091831"/>
          </a:xfrm>
        </p:spPr>
      </p:pic>
    </p:spTree>
    <p:extLst>
      <p:ext uri="{BB962C8B-B14F-4D97-AF65-F5344CB8AC3E}">
        <p14:creationId xmlns:p14="http://schemas.microsoft.com/office/powerpoint/2010/main" val="3852159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pic>
        <p:nvPicPr>
          <p:cNvPr id="4" name="Content Placeholder 3">
            <a:extLst>
              <a:ext uri="{FF2B5EF4-FFF2-40B4-BE49-F238E27FC236}">
                <a16:creationId xmlns:a16="http://schemas.microsoft.com/office/drawing/2014/main" id="{3652D97F-83F0-C904-2759-50F293FF71CD}"/>
              </a:ext>
            </a:extLst>
          </p:cNvPr>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l="11545" t="32548" r="38105" b="5840"/>
          <a:stretch/>
        </p:blipFill>
        <p:spPr>
          <a:xfrm>
            <a:off x="382043" y="1221286"/>
            <a:ext cx="10102241" cy="5060517"/>
          </a:xfrm>
        </p:spPr>
      </p:pic>
    </p:spTree>
    <p:extLst>
      <p:ext uri="{BB962C8B-B14F-4D97-AF65-F5344CB8AC3E}">
        <p14:creationId xmlns:p14="http://schemas.microsoft.com/office/powerpoint/2010/main" val="1815121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pic>
        <p:nvPicPr>
          <p:cNvPr id="7" name="Content Placeholder 6">
            <a:extLst>
              <a:ext uri="{FF2B5EF4-FFF2-40B4-BE49-F238E27FC236}">
                <a16:creationId xmlns:a16="http://schemas.microsoft.com/office/drawing/2014/main" id="{B479A00E-636C-D761-E414-1BFE7E244B76}"/>
              </a:ext>
            </a:extLst>
          </p:cNvPr>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l="11780" t="35183" r="39204" b="28929"/>
          <a:stretch/>
        </p:blipFill>
        <p:spPr>
          <a:xfrm>
            <a:off x="253999" y="1064711"/>
            <a:ext cx="11244893" cy="5145663"/>
          </a:xfrm>
        </p:spPr>
      </p:pic>
    </p:spTree>
    <p:extLst>
      <p:ext uri="{BB962C8B-B14F-4D97-AF65-F5344CB8AC3E}">
        <p14:creationId xmlns:p14="http://schemas.microsoft.com/office/powerpoint/2010/main" val="389486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a:t>
            </a:r>
            <a:r>
              <a:rPr lang="en-US" b="1" dirty="0"/>
              <a:t>. In a Queue Ram is 11th from top and 22th from bottom then total no. of students are? </a:t>
            </a:r>
          </a:p>
          <a:p>
            <a:pPr>
              <a:buNone/>
            </a:pPr>
            <a:r>
              <a:rPr lang="en-US" b="1" dirty="0"/>
              <a:t>(a) 34 			(b) 33 			(c) 32 			(d) 31</a:t>
            </a:r>
          </a:p>
        </p:txBody>
      </p:sp>
    </p:spTree>
    <p:extLst>
      <p:ext uri="{BB962C8B-B14F-4D97-AF65-F5344CB8AC3E}">
        <p14:creationId xmlns:p14="http://schemas.microsoft.com/office/powerpoint/2010/main" val="2240548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a:t>
            </a:r>
            <a:r>
              <a:rPr lang="en-US" b="1" dirty="0"/>
              <a:t>. In a Queue Ram is 11th from top and 22th from bottom then total no. of students are? </a:t>
            </a:r>
          </a:p>
          <a:p>
            <a:pPr>
              <a:buNone/>
            </a:pPr>
            <a:r>
              <a:rPr lang="en-US" b="1" dirty="0"/>
              <a:t>(a) 34 			(b) 33 			</a:t>
            </a:r>
            <a:r>
              <a:rPr lang="en-US" b="1" dirty="0">
                <a:solidFill>
                  <a:srgbClr val="FF0000"/>
                </a:solidFill>
              </a:rPr>
              <a:t>(c) 32 </a:t>
            </a:r>
            <a:r>
              <a:rPr lang="en-US" b="1" dirty="0"/>
              <a:t>			(d) 31</a:t>
            </a:r>
          </a:p>
        </p:txBody>
      </p:sp>
    </p:spTree>
    <p:extLst>
      <p:ext uri="{BB962C8B-B14F-4D97-AF65-F5344CB8AC3E}">
        <p14:creationId xmlns:p14="http://schemas.microsoft.com/office/powerpoint/2010/main" val="1877596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2</a:t>
            </a:r>
            <a:r>
              <a:rPr lang="en-US" b="1" dirty="0"/>
              <a:t>. In a row of 57 boys Mohan is 21th from left end then what is his position from right end. </a:t>
            </a:r>
          </a:p>
          <a:p>
            <a:pPr>
              <a:buNone/>
            </a:pPr>
            <a:r>
              <a:rPr lang="en-US" b="1" dirty="0"/>
              <a:t>(a) 36 		(b) 37 		(c) 35 			(d) 34</a:t>
            </a:r>
          </a:p>
          <a:p>
            <a:pPr>
              <a:buNone/>
            </a:pPr>
            <a:r>
              <a:rPr lang="en-US" b="1" dirty="0"/>
              <a:t> </a:t>
            </a:r>
          </a:p>
          <a:p>
            <a:pPr>
              <a:buNone/>
            </a:pPr>
            <a:r>
              <a:rPr lang="en-US" b="1" dirty="0"/>
              <a:t>  </a:t>
            </a:r>
          </a:p>
          <a:p>
            <a:pPr>
              <a:buNone/>
            </a:pPr>
            <a:r>
              <a:rPr lang="en-US" b="1" dirty="0"/>
              <a:t> </a:t>
            </a:r>
          </a:p>
          <a:p>
            <a:pPr>
              <a:buNone/>
            </a:pPr>
            <a:r>
              <a:rPr lang="en-US" b="1" dirty="0">
                <a:latin typeface="Arial Black" pitchFamily="34" charset="0"/>
              </a:rPr>
              <a:t> </a:t>
            </a:r>
            <a:r>
              <a:rPr lang="en-US" b="1" dirty="0"/>
              <a:t> </a:t>
            </a:r>
          </a:p>
          <a:p>
            <a:pPr>
              <a:buNone/>
            </a:pPr>
            <a:r>
              <a:rPr lang="en-US" b="1" dirty="0"/>
              <a:t> </a:t>
            </a:r>
          </a:p>
        </p:txBody>
      </p:sp>
    </p:spTree>
    <p:extLst>
      <p:ext uri="{BB962C8B-B14F-4D97-AF65-F5344CB8AC3E}">
        <p14:creationId xmlns:p14="http://schemas.microsoft.com/office/powerpoint/2010/main" val="1612179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2</a:t>
            </a:r>
            <a:r>
              <a:rPr lang="en-US" b="1" dirty="0"/>
              <a:t>. In a row of 57 boys Mohan is 21th from left end then what is his position from right end. </a:t>
            </a:r>
          </a:p>
          <a:p>
            <a:pPr>
              <a:buNone/>
            </a:pPr>
            <a:r>
              <a:rPr lang="en-US" b="1" dirty="0"/>
              <a:t>(a) 36 		</a:t>
            </a:r>
            <a:r>
              <a:rPr lang="en-US" b="1" dirty="0">
                <a:solidFill>
                  <a:srgbClr val="FF0000"/>
                </a:solidFill>
              </a:rPr>
              <a:t>(b) 37 	</a:t>
            </a:r>
            <a:r>
              <a:rPr lang="en-US" b="1" dirty="0"/>
              <a:t>	(c) 35 			(d) 34</a:t>
            </a:r>
          </a:p>
          <a:p>
            <a:pPr>
              <a:buNone/>
            </a:pPr>
            <a:r>
              <a:rPr lang="en-US" b="1" dirty="0"/>
              <a:t> </a:t>
            </a:r>
          </a:p>
          <a:p>
            <a:pPr>
              <a:buNone/>
            </a:pPr>
            <a:r>
              <a:rPr lang="en-US" b="1" dirty="0"/>
              <a:t>  </a:t>
            </a:r>
          </a:p>
          <a:p>
            <a:pPr>
              <a:buNone/>
            </a:pPr>
            <a:r>
              <a:rPr lang="en-US" b="1" dirty="0"/>
              <a:t> </a:t>
            </a:r>
          </a:p>
          <a:p>
            <a:pPr>
              <a:buNone/>
            </a:pPr>
            <a:r>
              <a:rPr lang="en-US" b="1" dirty="0">
                <a:latin typeface="Arial Black" pitchFamily="34" charset="0"/>
              </a:rPr>
              <a:t> </a:t>
            </a:r>
            <a:r>
              <a:rPr lang="en-US" b="1" dirty="0"/>
              <a:t> </a:t>
            </a:r>
          </a:p>
          <a:p>
            <a:pPr>
              <a:buNone/>
            </a:pPr>
            <a:r>
              <a:rPr lang="en-US" b="1" dirty="0"/>
              <a:t> </a:t>
            </a:r>
          </a:p>
        </p:txBody>
      </p:sp>
    </p:spTree>
    <p:extLst>
      <p:ext uri="{BB962C8B-B14F-4D97-AF65-F5344CB8AC3E}">
        <p14:creationId xmlns:p14="http://schemas.microsoft.com/office/powerpoint/2010/main" val="3044127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3</a:t>
            </a:r>
            <a:r>
              <a:rPr lang="en-US" b="1" dirty="0"/>
              <a:t>. In a queue of 81 girls Vibha’s position from end is 30th. What is </a:t>
            </a:r>
            <a:r>
              <a:rPr lang="en-US" b="1" dirty="0" err="1"/>
              <a:t>Vibha’s</a:t>
            </a:r>
            <a:r>
              <a:rPr lang="en-US" b="1" dirty="0"/>
              <a:t> position from starting. </a:t>
            </a:r>
          </a:p>
          <a:p>
            <a:pPr>
              <a:buNone/>
            </a:pPr>
            <a:r>
              <a:rPr lang="en-US" b="1" dirty="0"/>
              <a:t>(a) 51 			(b) 52 			(c) 50 			(d) 60</a:t>
            </a:r>
          </a:p>
        </p:txBody>
      </p:sp>
    </p:spTree>
    <p:extLst>
      <p:ext uri="{BB962C8B-B14F-4D97-AF65-F5344CB8AC3E}">
        <p14:creationId xmlns:p14="http://schemas.microsoft.com/office/powerpoint/2010/main" val="795623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00125"/>
            <a:ext cx="11684000" cy="541644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3</a:t>
            </a:r>
            <a:r>
              <a:rPr lang="en-US" b="1" dirty="0"/>
              <a:t>. In a queue of 81 girls Vibha’s position from end is 30th. What is </a:t>
            </a:r>
            <a:r>
              <a:rPr lang="en-US" b="1" dirty="0" err="1"/>
              <a:t>Vibha’s</a:t>
            </a:r>
            <a:r>
              <a:rPr lang="en-US" b="1" dirty="0"/>
              <a:t> position from starting. </a:t>
            </a:r>
          </a:p>
          <a:p>
            <a:pPr>
              <a:buNone/>
            </a:pPr>
            <a:r>
              <a:rPr lang="en-US" b="1" dirty="0"/>
              <a:t>(a) 51 			</a:t>
            </a:r>
            <a:r>
              <a:rPr lang="en-US" b="1" dirty="0">
                <a:solidFill>
                  <a:srgbClr val="FF0000"/>
                </a:solidFill>
              </a:rPr>
              <a:t>(b) 52 </a:t>
            </a:r>
            <a:r>
              <a:rPr lang="en-US" b="1" dirty="0"/>
              <a:t>			(c) 50 			(d) 60</a:t>
            </a:r>
          </a:p>
        </p:txBody>
      </p:sp>
    </p:spTree>
    <p:extLst>
      <p:ext uri="{BB962C8B-B14F-4D97-AF65-F5344CB8AC3E}">
        <p14:creationId xmlns:p14="http://schemas.microsoft.com/office/powerpoint/2010/main" val="3640877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4</a:t>
            </a:r>
            <a:r>
              <a:rPr lang="en-US" b="1" dirty="0"/>
              <a:t>. Amar ranked sixteenth from the top and twenty-ninth from the bottom among those who passed an examination. Six boys did not participate in the competition and five failed in it. How many boys were there in the class? </a:t>
            </a:r>
          </a:p>
          <a:p>
            <a:pPr>
              <a:buNone/>
            </a:pPr>
            <a:r>
              <a:rPr lang="en-US" b="1" dirty="0"/>
              <a:t>(a) 40 		(b) 44 		(c) 50 			(d) 55</a:t>
            </a:r>
          </a:p>
          <a:p>
            <a:pPr>
              <a:buNone/>
            </a:pPr>
            <a:r>
              <a:rPr lang="en-US" b="1" dirty="0"/>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4</a:t>
            </a:r>
            <a:r>
              <a:rPr lang="en-US" b="1" dirty="0"/>
              <a:t>. Amar ranked sixteenth from the top and twenty-ninth from the bottom among those who passed an examination. Six boys did not participate in the competition and five failed in it. How many boys were there in the class? </a:t>
            </a:r>
          </a:p>
          <a:p>
            <a:pPr>
              <a:buNone/>
            </a:pPr>
            <a:r>
              <a:rPr lang="en-US" b="1" dirty="0"/>
              <a:t>(a) 40 		(b) 44 </a:t>
            </a:r>
            <a:r>
              <a:rPr lang="en-US" b="1" dirty="0">
                <a:solidFill>
                  <a:srgbClr val="FF0000"/>
                </a:solidFill>
              </a:rPr>
              <a:t>	</a:t>
            </a:r>
            <a:r>
              <a:rPr lang="en-US" b="1" dirty="0"/>
              <a:t>	(c) 50 			</a:t>
            </a:r>
            <a:r>
              <a:rPr lang="en-US" b="1" dirty="0">
                <a:solidFill>
                  <a:srgbClr val="FF0000"/>
                </a:solidFill>
              </a:rPr>
              <a:t>(d) 55</a:t>
            </a:r>
          </a:p>
          <a:p>
            <a:pPr>
              <a:buNone/>
            </a:pPr>
            <a:r>
              <a:rPr lang="en-US" b="1" dirty="0"/>
              <a:t> </a:t>
            </a:r>
          </a:p>
        </p:txBody>
      </p:sp>
    </p:spTree>
    <p:extLst>
      <p:ext uri="{BB962C8B-B14F-4D97-AF65-F5344CB8AC3E}">
        <p14:creationId xmlns:p14="http://schemas.microsoft.com/office/powerpoint/2010/main" val="2048996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5</a:t>
            </a:r>
            <a:r>
              <a:rPr lang="en-US" b="1" dirty="0"/>
              <a:t>. If Vikash finds that he is twelfth from the right and fourth from the left, how many boys should be added to the queue so that there are 28 boys in the line? </a:t>
            </a:r>
          </a:p>
          <a:p>
            <a:pPr>
              <a:buNone/>
            </a:pPr>
            <a:r>
              <a:rPr lang="en-US" b="1" dirty="0"/>
              <a:t>(a) 12 		(b) 13 		(c) 14 			(d) 20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5</a:t>
            </a:r>
            <a:r>
              <a:rPr lang="en-US" b="1" dirty="0"/>
              <a:t>. If </a:t>
            </a:r>
            <a:r>
              <a:rPr lang="en-US" b="1" dirty="0" err="1"/>
              <a:t>Vikash</a:t>
            </a:r>
            <a:r>
              <a:rPr lang="en-US" b="1" dirty="0"/>
              <a:t> finds that he is twelfth from the right and fourth from the left, how many boys should be added to the queue so that there are 28 boys in the line? </a:t>
            </a:r>
          </a:p>
          <a:p>
            <a:pPr>
              <a:buNone/>
            </a:pPr>
            <a:r>
              <a:rPr lang="en-US" b="1" dirty="0"/>
              <a:t>(a) 12 		</a:t>
            </a:r>
            <a:r>
              <a:rPr lang="en-US" b="1" dirty="0">
                <a:solidFill>
                  <a:srgbClr val="FF0000"/>
                </a:solidFill>
              </a:rPr>
              <a:t>(b) 13 	</a:t>
            </a:r>
            <a:r>
              <a:rPr lang="en-US" b="1" dirty="0"/>
              <a:t>	(c) 14 			(d) 20</a:t>
            </a:r>
          </a:p>
        </p:txBody>
      </p:sp>
    </p:spTree>
    <p:extLst>
      <p:ext uri="{BB962C8B-B14F-4D97-AF65-F5344CB8AC3E}">
        <p14:creationId xmlns:p14="http://schemas.microsoft.com/office/powerpoint/2010/main" val="17569089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6</a:t>
            </a:r>
            <a:r>
              <a:rPr lang="en-US" b="1" dirty="0"/>
              <a:t>. In a row of boys, </a:t>
            </a:r>
            <a:r>
              <a:rPr lang="en-US" b="1" dirty="0" err="1"/>
              <a:t>Jeevan</a:t>
            </a:r>
            <a:r>
              <a:rPr lang="en-US" b="1" dirty="0"/>
              <a:t> is seventh from the start and eleventh from the end. In another row of boys, Vikas is tenth from the start and twelfth from the end. How many boys are there in both the rows together? </a:t>
            </a:r>
          </a:p>
          <a:p>
            <a:pPr>
              <a:buNone/>
            </a:pPr>
            <a:r>
              <a:rPr lang="en-US" b="1" dirty="0"/>
              <a:t>(a) 36 		(b) 37 		(c) 39 			(d) none of these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6</a:t>
            </a:r>
            <a:r>
              <a:rPr lang="en-US" b="1" dirty="0"/>
              <a:t>. In a row of boys, </a:t>
            </a:r>
            <a:r>
              <a:rPr lang="en-US" b="1" dirty="0" err="1"/>
              <a:t>Jeevan</a:t>
            </a:r>
            <a:r>
              <a:rPr lang="en-US" b="1" dirty="0"/>
              <a:t> is seventh from the start and eleventh from the end. In another row of boys, Vikas is tenth from the start and twelfth from the end. How many boys are there in both the rows together? </a:t>
            </a:r>
          </a:p>
          <a:p>
            <a:pPr>
              <a:buNone/>
            </a:pPr>
            <a:r>
              <a:rPr lang="en-US" b="1" dirty="0"/>
              <a:t>(a) 36 		(b) 37 		(c) 39 			</a:t>
            </a:r>
            <a:r>
              <a:rPr lang="en-US" b="1" dirty="0">
                <a:solidFill>
                  <a:srgbClr val="FF0000"/>
                </a:solidFill>
              </a:rPr>
              <a:t>(d) none of these</a:t>
            </a:r>
          </a:p>
        </p:txBody>
      </p:sp>
    </p:spTree>
    <p:extLst>
      <p:ext uri="{BB962C8B-B14F-4D97-AF65-F5344CB8AC3E}">
        <p14:creationId xmlns:p14="http://schemas.microsoft.com/office/powerpoint/2010/main" val="2960343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7</a:t>
            </a:r>
            <a:r>
              <a:rPr lang="en-US" b="1" dirty="0"/>
              <a:t>. In a class of 48 students Mona’s position is 12th. If two new students join the class (they are more intelligent to Mona in study). Then what is Mona’s position from opposite side. </a:t>
            </a:r>
          </a:p>
          <a:p>
            <a:pPr>
              <a:buNone/>
            </a:pPr>
            <a:r>
              <a:rPr lang="en-US" b="1" dirty="0"/>
              <a:t>(a)35 			(b) 34 			(c) 36 			(d) 37 </a:t>
            </a:r>
          </a:p>
          <a:p>
            <a:pPr>
              <a:buNone/>
            </a:pPr>
            <a:r>
              <a:rPr lang="en-US" b="1" dirty="0"/>
              <a:t> </a:t>
            </a:r>
          </a:p>
          <a:p>
            <a:pPr>
              <a:buNone/>
            </a:pPr>
            <a:r>
              <a:rPr lang="en-US" b="1" dirty="0"/>
              <a:t> </a:t>
            </a:r>
          </a:p>
          <a:p>
            <a:pPr>
              <a:buNone/>
            </a:pPr>
            <a:r>
              <a:rPr lang="en-US" b="1" dirty="0"/>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7</a:t>
            </a:r>
            <a:r>
              <a:rPr lang="en-US" b="1" dirty="0"/>
              <a:t>. In a class of 48 students Mona’s position is 12th. If two new students join the class (they are more intelligent to Mona in study). Then what is Mona’s position from opposite side. </a:t>
            </a:r>
          </a:p>
          <a:p>
            <a:pPr>
              <a:buNone/>
            </a:pPr>
            <a:r>
              <a:rPr lang="en-US" b="1" dirty="0"/>
              <a:t>(a)35 			(b) 34 			(c) 36 			</a:t>
            </a:r>
            <a:r>
              <a:rPr lang="en-US" b="1" dirty="0">
                <a:solidFill>
                  <a:srgbClr val="FF0000"/>
                </a:solidFill>
              </a:rPr>
              <a:t>(d) 37 </a:t>
            </a:r>
          </a:p>
          <a:p>
            <a:pPr>
              <a:buNone/>
            </a:pPr>
            <a:r>
              <a:rPr lang="en-US" b="1" dirty="0"/>
              <a:t> </a:t>
            </a:r>
          </a:p>
          <a:p>
            <a:pPr>
              <a:buNone/>
            </a:pPr>
            <a:r>
              <a:rPr lang="en-US" b="1" dirty="0"/>
              <a:t> </a:t>
            </a:r>
          </a:p>
          <a:p>
            <a:pPr>
              <a:buNone/>
            </a:pPr>
            <a:r>
              <a:rPr lang="en-US" b="1" dirty="0"/>
              <a:t> </a:t>
            </a:r>
          </a:p>
        </p:txBody>
      </p:sp>
    </p:spTree>
    <p:extLst>
      <p:ext uri="{BB962C8B-B14F-4D97-AF65-F5344CB8AC3E}">
        <p14:creationId xmlns:p14="http://schemas.microsoft.com/office/powerpoint/2010/main" val="15786266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8</a:t>
            </a:r>
            <a:r>
              <a:rPr lang="en-US" b="1" dirty="0"/>
              <a:t>. In a row of boys, A is thirteenth from the left end, D is seventeenth from the right. If in this row A is eleventh from the right then what is the position of D from the left? </a:t>
            </a:r>
          </a:p>
          <a:p>
            <a:pPr>
              <a:buNone/>
            </a:pPr>
            <a:r>
              <a:rPr lang="en-US" b="1" dirty="0"/>
              <a:t>(a) 6</a:t>
            </a:r>
            <a:r>
              <a:rPr lang="en-US" b="1" baseline="30000" dirty="0"/>
              <a:t>th</a:t>
            </a:r>
            <a:r>
              <a:rPr lang="en-US" b="1" dirty="0"/>
              <a:t>	 		(b) 7</a:t>
            </a:r>
            <a:r>
              <a:rPr lang="en-US" b="1" baseline="30000" dirty="0"/>
              <a:t>th</a:t>
            </a:r>
            <a:r>
              <a:rPr lang="en-US" b="1" dirty="0"/>
              <a:t>	 		(c) 10</a:t>
            </a:r>
            <a:r>
              <a:rPr lang="en-US" b="1" baseline="30000" dirty="0"/>
              <a:t>th</a:t>
            </a:r>
            <a:r>
              <a:rPr lang="en-US" b="1" dirty="0"/>
              <a:t>		 (d) 12</a:t>
            </a:r>
            <a:r>
              <a:rPr lang="en-US" b="1" baseline="30000" dirty="0"/>
              <a:t>th</a:t>
            </a:r>
            <a:r>
              <a:rPr lang="en-US" b="1" dirty="0"/>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8</a:t>
            </a:r>
            <a:r>
              <a:rPr lang="en-US" b="1" dirty="0"/>
              <a:t>. In a row of boys, A is thirteenth from the left end, D is seventeenth from the right. If in this row A is eleventh from the right then what is the position of D from the left? </a:t>
            </a:r>
          </a:p>
          <a:p>
            <a:pPr>
              <a:buNone/>
            </a:pPr>
            <a:r>
              <a:rPr lang="en-US" b="1" dirty="0"/>
              <a:t>(a) 6</a:t>
            </a:r>
            <a:r>
              <a:rPr lang="en-US" b="1" baseline="30000" dirty="0"/>
              <a:t>th</a:t>
            </a:r>
            <a:r>
              <a:rPr lang="en-US" b="1" dirty="0"/>
              <a:t>	 		</a:t>
            </a:r>
            <a:r>
              <a:rPr lang="en-US" b="1" dirty="0">
                <a:solidFill>
                  <a:srgbClr val="FF0000"/>
                </a:solidFill>
              </a:rPr>
              <a:t>(b) 7</a:t>
            </a:r>
            <a:r>
              <a:rPr lang="en-US" b="1" baseline="30000" dirty="0">
                <a:solidFill>
                  <a:srgbClr val="FF0000"/>
                </a:solidFill>
              </a:rPr>
              <a:t>th</a:t>
            </a:r>
            <a:r>
              <a:rPr lang="en-US" b="1" dirty="0">
                <a:solidFill>
                  <a:srgbClr val="FF0000"/>
                </a:solidFill>
              </a:rPr>
              <a:t>	 </a:t>
            </a:r>
            <a:r>
              <a:rPr lang="en-US" b="1" dirty="0"/>
              <a:t>		(c) 10</a:t>
            </a:r>
            <a:r>
              <a:rPr lang="en-US" b="1" baseline="30000" dirty="0"/>
              <a:t>th</a:t>
            </a:r>
            <a:r>
              <a:rPr lang="en-US" b="1" dirty="0"/>
              <a:t>		 (d) 12</a:t>
            </a:r>
            <a:r>
              <a:rPr lang="en-US" b="1" baseline="30000" dirty="0"/>
              <a:t>th</a:t>
            </a:r>
            <a:r>
              <a:rPr lang="en-US" b="1" dirty="0"/>
              <a:t>	</a:t>
            </a:r>
          </a:p>
        </p:txBody>
      </p:sp>
    </p:spTree>
    <p:extLst>
      <p:ext uri="{BB962C8B-B14F-4D97-AF65-F5344CB8AC3E}">
        <p14:creationId xmlns:p14="http://schemas.microsoft.com/office/powerpoint/2010/main" val="42896925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987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9</a:t>
            </a:r>
            <a:r>
              <a:rPr lang="en-US" b="1" dirty="0"/>
              <a:t>. Mohan is thirteenth from the left end in a row of children. Praveen is twelfth from the right end and eighteenth from the left end. How many children are towards the right of Mohan in that row? </a:t>
            </a:r>
          </a:p>
          <a:p>
            <a:pPr>
              <a:buNone/>
            </a:pPr>
            <a:r>
              <a:rPr lang="en-US" b="1" dirty="0"/>
              <a:t>(a) 16 		(b) 18 		(c) 17 			(d) Can’t be determined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987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9</a:t>
            </a:r>
            <a:r>
              <a:rPr lang="en-US" b="1" dirty="0"/>
              <a:t>. Mohan is thirteenth from the left end in a row of children. Praveen is twelfth from the right end and eighteenth from the left end. How many children are towards the right of Mohan in that row? </a:t>
            </a:r>
          </a:p>
          <a:p>
            <a:pPr>
              <a:buNone/>
            </a:pPr>
            <a:r>
              <a:rPr lang="en-US" b="1" dirty="0">
                <a:solidFill>
                  <a:srgbClr val="FF0000"/>
                </a:solidFill>
              </a:rPr>
              <a:t>(a) 16 	</a:t>
            </a:r>
            <a:r>
              <a:rPr lang="en-US" b="1" dirty="0"/>
              <a:t>	(b) 18 		(c) 17 			(d) Can’t be determined</a:t>
            </a:r>
          </a:p>
        </p:txBody>
      </p:sp>
    </p:spTree>
    <p:extLst>
      <p:ext uri="{BB962C8B-B14F-4D97-AF65-F5344CB8AC3E}">
        <p14:creationId xmlns:p14="http://schemas.microsoft.com/office/powerpoint/2010/main" val="34494010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10</a:t>
            </a:r>
            <a:r>
              <a:rPr lang="en-US" b="1" dirty="0"/>
              <a:t>. In a row of girls, there are 16 girls between </a:t>
            </a:r>
            <a:r>
              <a:rPr lang="en-US" b="1" dirty="0" err="1"/>
              <a:t>Priya</a:t>
            </a:r>
            <a:r>
              <a:rPr lang="en-US" b="1" dirty="0"/>
              <a:t> and Natasha. </a:t>
            </a:r>
            <a:r>
              <a:rPr lang="en-US" b="1" dirty="0" err="1"/>
              <a:t>priya</a:t>
            </a:r>
            <a:r>
              <a:rPr lang="en-US" b="1" dirty="0"/>
              <a:t> is thirty-second from the left end of the row. If </a:t>
            </a:r>
            <a:r>
              <a:rPr lang="en-US" b="1" dirty="0" err="1"/>
              <a:t>Priya</a:t>
            </a:r>
            <a:r>
              <a:rPr lang="en-US" b="1" dirty="0"/>
              <a:t> is nearer than Natasha to the right end of the row, then how far away is </a:t>
            </a:r>
            <a:r>
              <a:rPr lang="en-US" b="1" dirty="0" err="1"/>
              <a:t>natasha</a:t>
            </a:r>
            <a:r>
              <a:rPr lang="en-US" b="1" dirty="0"/>
              <a:t> from the left end of the row? </a:t>
            </a:r>
          </a:p>
          <a:p>
            <a:pPr>
              <a:buNone/>
            </a:pPr>
            <a:r>
              <a:rPr lang="en-US" b="1" dirty="0"/>
              <a:t>(a) Data inadequate 		(b) 14th 		(c) 15th 		(d) 16th</a:t>
            </a:r>
          </a:p>
          <a:p>
            <a:pPr>
              <a:buNone/>
            </a:pPr>
            <a:r>
              <a:rPr lang="en-US" b="1" dirty="0"/>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10</a:t>
            </a:r>
            <a:r>
              <a:rPr lang="en-US" b="1" dirty="0"/>
              <a:t>. In a row of girls, there are 16 girls between Priya and Natasha. </a:t>
            </a:r>
            <a:r>
              <a:rPr lang="en-US" b="1" dirty="0" err="1"/>
              <a:t>priya</a:t>
            </a:r>
            <a:r>
              <a:rPr lang="en-US" b="1" dirty="0"/>
              <a:t> is thirty-second from the left end of the row. If </a:t>
            </a:r>
            <a:r>
              <a:rPr lang="en-US" b="1" dirty="0" err="1"/>
              <a:t>Priya</a:t>
            </a:r>
            <a:r>
              <a:rPr lang="en-US" b="1" dirty="0"/>
              <a:t> is nearer than Natasha to the right end of the row, then how far away is </a:t>
            </a:r>
            <a:r>
              <a:rPr lang="en-US" b="1" dirty="0" err="1"/>
              <a:t>natasha</a:t>
            </a:r>
            <a:r>
              <a:rPr lang="en-US" b="1" dirty="0"/>
              <a:t> from the left end of the row? </a:t>
            </a:r>
          </a:p>
          <a:p>
            <a:pPr>
              <a:buNone/>
            </a:pPr>
            <a:r>
              <a:rPr lang="en-US" b="1" dirty="0"/>
              <a:t>(a) Data inadequate 		(b) 14th 		</a:t>
            </a:r>
            <a:r>
              <a:rPr lang="en-US" b="1" dirty="0">
                <a:solidFill>
                  <a:srgbClr val="FF0000"/>
                </a:solidFill>
              </a:rPr>
              <a:t>(c) 15th </a:t>
            </a:r>
            <a:r>
              <a:rPr lang="en-US" b="1" dirty="0"/>
              <a:t>		(d) 16th</a:t>
            </a:r>
          </a:p>
          <a:p>
            <a:pPr>
              <a:buNone/>
            </a:pPr>
            <a:r>
              <a:rPr lang="en-US" b="1" dirty="0"/>
              <a:t> </a:t>
            </a:r>
          </a:p>
        </p:txBody>
      </p:sp>
    </p:spTree>
    <p:extLst>
      <p:ext uri="{BB962C8B-B14F-4D97-AF65-F5344CB8AC3E}">
        <p14:creationId xmlns:p14="http://schemas.microsoft.com/office/powerpoint/2010/main" val="14663574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11</a:t>
            </a:r>
            <a:r>
              <a:rPr lang="en-US" b="1" dirty="0"/>
              <a:t>. In a row of boys , if A who is tenth from the left and B who is ninth from the right interchange their positions, A becomes fifteenth from the left. How many boys are there in the row? </a:t>
            </a:r>
          </a:p>
          <a:p>
            <a:pPr>
              <a:buNone/>
            </a:pPr>
            <a:r>
              <a:rPr lang="en-US" b="1" dirty="0"/>
              <a:t>(a) 23			(b) 27 			(c) 28 			(d) 31 </a:t>
            </a:r>
          </a:p>
          <a:p>
            <a:pPr>
              <a:buNone/>
            </a:pPr>
            <a:r>
              <a:rPr lang="en-US" b="1" dirty="0"/>
              <a:t> </a:t>
            </a:r>
          </a:p>
          <a:p>
            <a:pPr>
              <a:buNone/>
            </a:pPr>
            <a:r>
              <a:rPr lang="en-US" b="1" dirty="0"/>
              <a:t> </a:t>
            </a:r>
          </a:p>
          <a:p>
            <a:pPr>
              <a:buNone/>
            </a:pPr>
            <a:r>
              <a:rPr lang="en-US" b="1" dirty="0"/>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11</a:t>
            </a:r>
            <a:r>
              <a:rPr lang="en-US" b="1" dirty="0"/>
              <a:t>. In a row of boys , if A who is tenth from the left and B who is ninth from the right interchange their positions, A becomes fifteenth from the left. How many boys are there in the row? </a:t>
            </a:r>
          </a:p>
          <a:p>
            <a:pPr>
              <a:buNone/>
            </a:pPr>
            <a:r>
              <a:rPr lang="en-US" b="1" dirty="0">
                <a:solidFill>
                  <a:srgbClr val="FF0000"/>
                </a:solidFill>
              </a:rPr>
              <a:t>(a) 23	</a:t>
            </a:r>
            <a:r>
              <a:rPr lang="en-US" b="1" dirty="0"/>
              <a:t>		(b) 27 			(c) 28 			(d) 31 </a:t>
            </a:r>
          </a:p>
          <a:p>
            <a:pPr>
              <a:buNone/>
            </a:pPr>
            <a:r>
              <a:rPr lang="en-US" b="1" dirty="0"/>
              <a:t> </a:t>
            </a:r>
          </a:p>
          <a:p>
            <a:pPr>
              <a:buNone/>
            </a:pPr>
            <a:r>
              <a:rPr lang="en-US" b="1" dirty="0"/>
              <a:t> </a:t>
            </a:r>
          </a:p>
          <a:p>
            <a:pPr>
              <a:buNone/>
            </a:pPr>
            <a:r>
              <a:rPr lang="en-US" b="1" dirty="0"/>
              <a:t> </a:t>
            </a:r>
          </a:p>
        </p:txBody>
      </p:sp>
    </p:spTree>
    <p:extLst>
      <p:ext uri="{BB962C8B-B14F-4D97-AF65-F5344CB8AC3E}">
        <p14:creationId xmlns:p14="http://schemas.microsoft.com/office/powerpoint/2010/main" val="39569198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12</a:t>
            </a:r>
            <a:r>
              <a:rPr lang="en-US" b="1" dirty="0"/>
              <a:t>. In a row of children, </a:t>
            </a:r>
            <a:r>
              <a:rPr lang="en-US" b="1" dirty="0" err="1"/>
              <a:t>Deepti</a:t>
            </a:r>
            <a:r>
              <a:rPr lang="en-US" b="1" dirty="0"/>
              <a:t> is ninth from the left and </a:t>
            </a:r>
            <a:r>
              <a:rPr lang="en-US" b="1" dirty="0" err="1"/>
              <a:t>kashish</a:t>
            </a:r>
            <a:r>
              <a:rPr lang="en-US" b="1" dirty="0"/>
              <a:t> is thirteenth from the right. They exchange their positions and then </a:t>
            </a:r>
            <a:r>
              <a:rPr lang="en-US" b="1" dirty="0" err="1"/>
              <a:t>Deepti</a:t>
            </a:r>
            <a:r>
              <a:rPr lang="en-US" b="1" dirty="0"/>
              <a:t> becomes seventeenth from the left. Find the new position of </a:t>
            </a:r>
            <a:r>
              <a:rPr lang="en-US" b="1" dirty="0" err="1"/>
              <a:t>Kashish</a:t>
            </a:r>
            <a:r>
              <a:rPr lang="en-US" b="1" dirty="0"/>
              <a:t> from the right end of the row. </a:t>
            </a:r>
          </a:p>
          <a:p>
            <a:pPr>
              <a:buNone/>
            </a:pPr>
            <a:r>
              <a:rPr lang="en-US" b="1" dirty="0"/>
              <a:t>(a) 20 			(b) 21 			(c) 27 			(d) 31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12</a:t>
            </a:r>
            <a:r>
              <a:rPr lang="en-US" b="1" dirty="0"/>
              <a:t>. In a row of children, </a:t>
            </a:r>
            <a:r>
              <a:rPr lang="en-US" b="1" dirty="0" err="1"/>
              <a:t>Deepti</a:t>
            </a:r>
            <a:r>
              <a:rPr lang="en-US" b="1" dirty="0"/>
              <a:t> is ninth from the left and </a:t>
            </a:r>
            <a:r>
              <a:rPr lang="en-US" b="1" dirty="0" err="1"/>
              <a:t>kashish</a:t>
            </a:r>
            <a:r>
              <a:rPr lang="en-US" b="1" dirty="0"/>
              <a:t> is thirteenth from the right. They exchange their positions and then </a:t>
            </a:r>
            <a:r>
              <a:rPr lang="en-US" b="1" dirty="0" err="1"/>
              <a:t>Deepti</a:t>
            </a:r>
            <a:r>
              <a:rPr lang="en-US" b="1" dirty="0"/>
              <a:t> becomes seventeenth from the left. Find the new position of </a:t>
            </a:r>
            <a:r>
              <a:rPr lang="en-US" b="1" dirty="0" err="1"/>
              <a:t>Kashish</a:t>
            </a:r>
            <a:r>
              <a:rPr lang="en-US" b="1" dirty="0"/>
              <a:t> from the right end of the row. </a:t>
            </a:r>
          </a:p>
          <a:p>
            <a:pPr>
              <a:buNone/>
            </a:pPr>
            <a:r>
              <a:rPr lang="en-US" b="1" dirty="0"/>
              <a:t>(a) 20 		</a:t>
            </a:r>
            <a:r>
              <a:rPr lang="en-US" b="1" dirty="0">
                <a:solidFill>
                  <a:srgbClr val="FF0000"/>
                </a:solidFill>
              </a:rPr>
              <a:t>(b) 21 	</a:t>
            </a:r>
            <a:r>
              <a:rPr lang="en-US" b="1" dirty="0"/>
              <a:t>	(c) 27 			(d) 31</a:t>
            </a:r>
          </a:p>
        </p:txBody>
      </p:sp>
    </p:spTree>
    <p:extLst>
      <p:ext uri="{BB962C8B-B14F-4D97-AF65-F5344CB8AC3E}">
        <p14:creationId xmlns:p14="http://schemas.microsoft.com/office/powerpoint/2010/main" val="38077061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13</a:t>
            </a:r>
            <a:r>
              <a:rPr lang="en-US" b="1" dirty="0"/>
              <a:t>. In a queue of boy Shailesh is 20th from starting and Anish is 15th from end. There are 14 person between them. What is the maximum number of person in queue? </a:t>
            </a:r>
          </a:p>
          <a:p>
            <a:pPr>
              <a:buNone/>
            </a:pPr>
            <a:r>
              <a:rPr lang="en-US" b="1" dirty="0"/>
              <a:t>(a) 44 		(b) 43 		(c) 49 			(d) 45</a:t>
            </a:r>
          </a:p>
          <a:p>
            <a:pPr>
              <a:buNone/>
            </a:pPr>
            <a:r>
              <a:rPr lang="en-US" b="1" dirty="0"/>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13</a:t>
            </a:r>
            <a:r>
              <a:rPr lang="en-US" b="1" dirty="0"/>
              <a:t>. In a queue of boy Shailesh is 20th from starting and Anish is 15th from end. There are 14 person between them. What is the maximum number of person in queue? </a:t>
            </a:r>
          </a:p>
          <a:p>
            <a:pPr>
              <a:buNone/>
            </a:pPr>
            <a:r>
              <a:rPr lang="en-US" b="1" dirty="0"/>
              <a:t>(a) 44 		(b) 43 		</a:t>
            </a:r>
            <a:r>
              <a:rPr lang="en-US" b="1" dirty="0">
                <a:solidFill>
                  <a:srgbClr val="FF0000"/>
                </a:solidFill>
              </a:rPr>
              <a:t>(c) 49 	</a:t>
            </a:r>
            <a:r>
              <a:rPr lang="en-US" b="1" dirty="0"/>
              <a:t>		(d) 45</a:t>
            </a:r>
          </a:p>
          <a:p>
            <a:pPr>
              <a:buNone/>
            </a:pPr>
            <a:r>
              <a:rPr lang="en-US" b="1" dirty="0"/>
              <a:t> </a:t>
            </a:r>
          </a:p>
        </p:txBody>
      </p:sp>
    </p:spTree>
    <p:extLst>
      <p:ext uri="{BB962C8B-B14F-4D97-AF65-F5344CB8AC3E}">
        <p14:creationId xmlns:p14="http://schemas.microsoft.com/office/powerpoint/2010/main" val="39289755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14</a:t>
            </a:r>
            <a:r>
              <a:rPr lang="en-US" b="1" dirty="0"/>
              <a:t>. In a row of girls Seema is 20th from starting and Rina is 25th from end. There are 8 girls between them. Total number of girls are? </a:t>
            </a:r>
          </a:p>
          <a:p>
            <a:pPr>
              <a:buNone/>
            </a:pPr>
            <a:r>
              <a:rPr lang="en-US" b="1" dirty="0"/>
              <a:t>(a) 35 		(b) 53 		(c) 55 			(d) either 35 or 53</a:t>
            </a:r>
          </a:p>
          <a:p>
            <a:pPr>
              <a:buNone/>
            </a:pPr>
            <a:r>
              <a:rPr lang="en-US" b="1" dirty="0"/>
              <a:t> </a:t>
            </a:r>
          </a:p>
          <a:p>
            <a:pPr>
              <a:buNone/>
            </a:pPr>
            <a:r>
              <a:rPr lang="en-US" b="1" dirty="0"/>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14</a:t>
            </a:r>
            <a:r>
              <a:rPr lang="en-US" b="1" dirty="0"/>
              <a:t>. In a row of girls </a:t>
            </a:r>
            <a:r>
              <a:rPr lang="en-US" b="1" dirty="0" err="1"/>
              <a:t>Seema</a:t>
            </a:r>
            <a:r>
              <a:rPr lang="en-US" b="1" dirty="0"/>
              <a:t> is 20th from starting and </a:t>
            </a:r>
            <a:r>
              <a:rPr lang="en-US" b="1" dirty="0" err="1"/>
              <a:t>Rina</a:t>
            </a:r>
            <a:r>
              <a:rPr lang="en-US" b="1" dirty="0"/>
              <a:t> is 25th from end. There are 8 girls between them. Total number of girls are? </a:t>
            </a:r>
          </a:p>
          <a:p>
            <a:pPr>
              <a:buNone/>
            </a:pPr>
            <a:r>
              <a:rPr lang="en-US" b="1" dirty="0"/>
              <a:t>(a) 35 		(b) 53 		(c) 55 			</a:t>
            </a:r>
            <a:r>
              <a:rPr lang="en-US" b="1" dirty="0">
                <a:solidFill>
                  <a:srgbClr val="FF0000"/>
                </a:solidFill>
              </a:rPr>
              <a:t>(d) either 35 or 53</a:t>
            </a:r>
          </a:p>
          <a:p>
            <a:pPr>
              <a:buNone/>
            </a:pPr>
            <a:r>
              <a:rPr lang="en-US" b="1" dirty="0"/>
              <a:t> </a:t>
            </a:r>
          </a:p>
          <a:p>
            <a:pPr>
              <a:buNone/>
            </a:pPr>
            <a:r>
              <a:rPr lang="en-US" b="1" dirty="0"/>
              <a:t> </a:t>
            </a:r>
          </a:p>
        </p:txBody>
      </p:sp>
    </p:spTree>
    <p:extLst>
      <p:ext uri="{BB962C8B-B14F-4D97-AF65-F5344CB8AC3E}">
        <p14:creationId xmlns:p14="http://schemas.microsoft.com/office/powerpoint/2010/main" val="1056449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15</a:t>
            </a:r>
            <a:r>
              <a:rPr lang="en-US" b="1" dirty="0"/>
              <a:t>. In a queue of 20 boys, D is fourteenth from the front and F is ninth from the bottom. How many boy are there between D and F? </a:t>
            </a:r>
          </a:p>
          <a:p>
            <a:pPr>
              <a:buNone/>
            </a:pPr>
            <a:r>
              <a:rPr lang="en-US" b="1" dirty="0"/>
              <a:t>(a) 2 			(b) 3 			(c) 1 			(d) Data inadequate</a:t>
            </a:r>
          </a:p>
          <a:p>
            <a:pPr>
              <a:buNone/>
            </a:pPr>
            <a:r>
              <a:rPr lang="en-US" b="1" dirty="0"/>
              <a:t>  </a:t>
            </a:r>
          </a:p>
          <a:p>
            <a:pPr>
              <a:buNone/>
            </a:pPr>
            <a:r>
              <a:rPr lang="en-US" b="1" dirty="0"/>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15</a:t>
            </a:r>
            <a:r>
              <a:rPr lang="en-US" b="1" dirty="0"/>
              <a:t>. In a queue of 20 boys, D is fourteenth from the front and F is ninth from the bottom. How many boy are there between D and F? </a:t>
            </a:r>
          </a:p>
          <a:p>
            <a:pPr>
              <a:buNone/>
            </a:pPr>
            <a:r>
              <a:rPr lang="en-US" b="1" dirty="0"/>
              <a:t>(a) 2 			(b) 3 			</a:t>
            </a:r>
            <a:r>
              <a:rPr lang="en-US" b="1" dirty="0">
                <a:solidFill>
                  <a:srgbClr val="FF0000"/>
                </a:solidFill>
              </a:rPr>
              <a:t>(c) 1 	</a:t>
            </a:r>
            <a:r>
              <a:rPr lang="en-US" b="1" dirty="0"/>
              <a:t>		(d) Data inadequate</a:t>
            </a:r>
          </a:p>
          <a:p>
            <a:pPr>
              <a:buNone/>
            </a:pPr>
            <a:r>
              <a:rPr lang="en-US" b="1" dirty="0"/>
              <a:t>  </a:t>
            </a:r>
          </a:p>
          <a:p>
            <a:pPr>
              <a:buNone/>
            </a:pPr>
            <a:r>
              <a:rPr lang="en-US" b="1" dirty="0"/>
              <a:t> </a:t>
            </a:r>
          </a:p>
        </p:txBody>
      </p:sp>
    </p:spTree>
    <p:extLst>
      <p:ext uri="{BB962C8B-B14F-4D97-AF65-F5344CB8AC3E}">
        <p14:creationId xmlns:p14="http://schemas.microsoft.com/office/powerpoint/2010/main" val="35328252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16</a:t>
            </a:r>
            <a:r>
              <a:rPr lang="en-US" b="1" dirty="0"/>
              <a:t>. In a row of students, </a:t>
            </a:r>
            <a:r>
              <a:rPr lang="en-US" b="1" dirty="0" err="1"/>
              <a:t>Ramesh</a:t>
            </a:r>
            <a:r>
              <a:rPr lang="en-US" b="1" dirty="0"/>
              <a:t> in 12th from the left and </a:t>
            </a:r>
            <a:r>
              <a:rPr lang="en-US" b="1" dirty="0" err="1"/>
              <a:t>Kashi</a:t>
            </a:r>
            <a:r>
              <a:rPr lang="en-US" b="1" dirty="0"/>
              <a:t> is 17th from the right. When Ramesh and Kashi interchange their positions, Kashi becomes 27th from the right. How many students are there between </a:t>
            </a:r>
            <a:r>
              <a:rPr lang="en-US" b="1" dirty="0" err="1"/>
              <a:t>Kashi</a:t>
            </a:r>
            <a:r>
              <a:rPr lang="en-US" b="1" dirty="0"/>
              <a:t> and </a:t>
            </a:r>
            <a:r>
              <a:rPr lang="en-US" b="1" dirty="0" err="1"/>
              <a:t>Ramesh</a:t>
            </a:r>
            <a:r>
              <a:rPr lang="en-US" b="1" dirty="0"/>
              <a:t>? </a:t>
            </a:r>
          </a:p>
          <a:p>
            <a:pPr>
              <a:buNone/>
            </a:pPr>
            <a:r>
              <a:rPr lang="en-US" b="1" dirty="0"/>
              <a:t>(a) 9 			(b) 12 		(c) 7 			(d) 10</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16</a:t>
            </a:r>
            <a:r>
              <a:rPr lang="en-US" b="1" dirty="0"/>
              <a:t>. In a row of students, </a:t>
            </a:r>
            <a:r>
              <a:rPr lang="en-US" b="1" dirty="0" err="1"/>
              <a:t>Ramesh</a:t>
            </a:r>
            <a:r>
              <a:rPr lang="en-US" b="1" dirty="0"/>
              <a:t> in 12th from the left and </a:t>
            </a:r>
            <a:r>
              <a:rPr lang="en-US" b="1" dirty="0" err="1"/>
              <a:t>Kashi</a:t>
            </a:r>
            <a:r>
              <a:rPr lang="en-US" b="1" dirty="0"/>
              <a:t> is 17th from the right. When Ramesh and Kashi interchange their positions, Kashi becomes 27th from the right. How many students are there between </a:t>
            </a:r>
            <a:r>
              <a:rPr lang="en-US" b="1" dirty="0" err="1"/>
              <a:t>Kashi</a:t>
            </a:r>
            <a:r>
              <a:rPr lang="en-US" b="1" dirty="0"/>
              <a:t> and </a:t>
            </a:r>
            <a:r>
              <a:rPr lang="en-US" b="1" dirty="0" err="1"/>
              <a:t>Ramesh</a:t>
            </a:r>
            <a:r>
              <a:rPr lang="en-US" b="1" dirty="0"/>
              <a:t>? </a:t>
            </a:r>
          </a:p>
          <a:p>
            <a:pPr>
              <a:buNone/>
            </a:pPr>
            <a:r>
              <a:rPr lang="en-US" b="1" dirty="0">
                <a:solidFill>
                  <a:srgbClr val="FF0000"/>
                </a:solidFill>
              </a:rPr>
              <a:t>(a) 9 </a:t>
            </a:r>
            <a:r>
              <a:rPr lang="en-US" b="1" dirty="0"/>
              <a:t>			(b) 12 		(c) 7 			(d) 10</a:t>
            </a:r>
          </a:p>
        </p:txBody>
      </p:sp>
    </p:spTree>
    <p:extLst>
      <p:ext uri="{BB962C8B-B14F-4D97-AF65-F5344CB8AC3E}">
        <p14:creationId xmlns:p14="http://schemas.microsoft.com/office/powerpoint/2010/main" val="40144806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17</a:t>
            </a:r>
            <a:r>
              <a:rPr lang="en-US" b="1" dirty="0"/>
              <a:t>. In a class of 60, Where girls are twice to of boys, </a:t>
            </a:r>
            <a:r>
              <a:rPr lang="en-US" b="1" dirty="0" err="1"/>
              <a:t>Kamal</a:t>
            </a:r>
            <a:r>
              <a:rPr lang="en-US" b="1" dirty="0"/>
              <a:t> ranked sixteenth from top. If there are 9 girls ahead of </a:t>
            </a:r>
            <a:r>
              <a:rPr lang="en-US" b="1" dirty="0" err="1"/>
              <a:t>Kamal</a:t>
            </a:r>
            <a:r>
              <a:rPr lang="en-US" b="1" dirty="0"/>
              <a:t>, how many boys are after him in rank? </a:t>
            </a:r>
          </a:p>
          <a:p>
            <a:pPr>
              <a:buNone/>
            </a:pPr>
            <a:r>
              <a:rPr lang="en-US" b="1" dirty="0"/>
              <a:t>(a) 13 		(b) 7 			(c) 12 			(d) 23</a:t>
            </a:r>
          </a:p>
          <a:p>
            <a:pPr>
              <a:buNone/>
            </a:pPr>
            <a:r>
              <a:rPr lang="en-US" b="1" dirty="0"/>
              <a:t> </a:t>
            </a:r>
          </a:p>
          <a:p>
            <a:pPr>
              <a:buNone/>
            </a:pPr>
            <a:r>
              <a:rPr lang="en-US" b="1" dirty="0">
                <a:latin typeface="Arial Black" pitchFamily="34" charset="0"/>
              </a:rPr>
              <a:t> </a:t>
            </a:r>
            <a:r>
              <a:rPr lang="en-US" b="1" dirty="0"/>
              <a:t> </a:t>
            </a:r>
          </a:p>
          <a:p>
            <a:pPr>
              <a:buNone/>
            </a:pPr>
            <a:r>
              <a:rPr lang="en-US" b="1" dirty="0"/>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17</a:t>
            </a:r>
            <a:r>
              <a:rPr lang="en-US" b="1" dirty="0"/>
              <a:t>. In a class of 60, Where girls are twice to of boys, </a:t>
            </a:r>
            <a:r>
              <a:rPr lang="en-US" b="1" dirty="0" err="1"/>
              <a:t>Kamal</a:t>
            </a:r>
            <a:r>
              <a:rPr lang="en-US" b="1" dirty="0"/>
              <a:t> ranked sixteenth from top. If there are 9 girls ahead of </a:t>
            </a:r>
            <a:r>
              <a:rPr lang="en-US" b="1" dirty="0" err="1"/>
              <a:t>Kamal</a:t>
            </a:r>
            <a:r>
              <a:rPr lang="en-US" b="1" dirty="0"/>
              <a:t>, how many boys are after him in rank? </a:t>
            </a:r>
          </a:p>
          <a:p>
            <a:pPr>
              <a:buNone/>
            </a:pPr>
            <a:r>
              <a:rPr lang="en-US" b="1" dirty="0">
                <a:solidFill>
                  <a:srgbClr val="FF0000"/>
                </a:solidFill>
              </a:rPr>
              <a:t>(a) 13 </a:t>
            </a:r>
            <a:r>
              <a:rPr lang="en-US" b="1" dirty="0"/>
              <a:t>		(b) 7 			(c) 12 			(d) 23</a:t>
            </a:r>
          </a:p>
          <a:p>
            <a:pPr>
              <a:buNone/>
            </a:pPr>
            <a:r>
              <a:rPr lang="en-US" b="1" dirty="0"/>
              <a:t> </a:t>
            </a:r>
          </a:p>
          <a:p>
            <a:pPr>
              <a:buNone/>
            </a:pPr>
            <a:r>
              <a:rPr lang="en-US" b="1" dirty="0">
                <a:latin typeface="Arial Black" pitchFamily="34" charset="0"/>
              </a:rPr>
              <a:t> </a:t>
            </a:r>
            <a:r>
              <a:rPr lang="en-US" b="1" dirty="0"/>
              <a:t> </a:t>
            </a:r>
          </a:p>
          <a:p>
            <a:pPr>
              <a:buNone/>
            </a:pPr>
            <a:r>
              <a:rPr lang="en-US" b="1" dirty="0"/>
              <a:t> </a:t>
            </a:r>
          </a:p>
        </p:txBody>
      </p:sp>
    </p:spTree>
    <p:extLst>
      <p:ext uri="{BB962C8B-B14F-4D97-AF65-F5344CB8AC3E}">
        <p14:creationId xmlns:p14="http://schemas.microsoft.com/office/powerpoint/2010/main" val="21272568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18</a:t>
            </a:r>
            <a:r>
              <a:rPr lang="en-US" b="1" dirty="0"/>
              <a:t>. Ravi is 7 ranks ahead of </a:t>
            </a:r>
            <a:r>
              <a:rPr lang="en-US" b="1" dirty="0" err="1"/>
              <a:t>Sumit</a:t>
            </a:r>
            <a:r>
              <a:rPr lang="en-US" b="1" dirty="0"/>
              <a:t> in a class of 39 students. If </a:t>
            </a:r>
            <a:r>
              <a:rPr lang="en-US" b="1" dirty="0" err="1"/>
              <a:t>Sumit’s</a:t>
            </a:r>
            <a:r>
              <a:rPr lang="en-US" b="1" dirty="0"/>
              <a:t> rank is seventeenth from the last, what is Ravi’s rank from the start? </a:t>
            </a:r>
          </a:p>
          <a:p>
            <a:pPr>
              <a:buNone/>
            </a:pPr>
            <a:r>
              <a:rPr lang="en-US" b="1" dirty="0"/>
              <a:t>(a) 14th 		(b) 15th 		(c) 16th 		(d) 17th </a:t>
            </a:r>
          </a:p>
          <a:p>
            <a:pPr>
              <a:buNone/>
            </a:pPr>
            <a:r>
              <a:rPr lang="en-US" b="1" dirty="0"/>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18</a:t>
            </a:r>
            <a:r>
              <a:rPr lang="en-US" b="1" dirty="0"/>
              <a:t>. Ravi is 7 ranks ahead of </a:t>
            </a:r>
            <a:r>
              <a:rPr lang="en-US" b="1" dirty="0" err="1"/>
              <a:t>Sumit</a:t>
            </a:r>
            <a:r>
              <a:rPr lang="en-US" b="1" dirty="0"/>
              <a:t> in a class of 39 students. If </a:t>
            </a:r>
            <a:r>
              <a:rPr lang="en-US" b="1" dirty="0" err="1"/>
              <a:t>Sumit’s</a:t>
            </a:r>
            <a:r>
              <a:rPr lang="en-US" b="1" dirty="0"/>
              <a:t> rank is seventeenth from the last, what is Ravi’s rank from the start? </a:t>
            </a:r>
          </a:p>
          <a:p>
            <a:pPr>
              <a:buNone/>
            </a:pPr>
            <a:r>
              <a:rPr lang="en-US" b="1" dirty="0"/>
              <a:t>(a) 14th 		(b) 15th 		</a:t>
            </a:r>
            <a:r>
              <a:rPr lang="en-US" b="1" dirty="0">
                <a:solidFill>
                  <a:srgbClr val="FF0000"/>
                </a:solidFill>
              </a:rPr>
              <a:t>(c) 16th </a:t>
            </a:r>
            <a:r>
              <a:rPr lang="en-US" b="1" dirty="0"/>
              <a:t>		(d) 17th </a:t>
            </a:r>
          </a:p>
          <a:p>
            <a:pPr>
              <a:buNone/>
            </a:pPr>
            <a:r>
              <a:rPr lang="en-US" b="1" dirty="0"/>
              <a:t> </a:t>
            </a:r>
          </a:p>
        </p:txBody>
      </p:sp>
    </p:spTree>
    <p:extLst>
      <p:ext uri="{BB962C8B-B14F-4D97-AF65-F5344CB8AC3E}">
        <p14:creationId xmlns:p14="http://schemas.microsoft.com/office/powerpoint/2010/main" val="42857207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19</a:t>
            </a:r>
            <a:r>
              <a:rPr lang="en-US" b="1" dirty="0"/>
              <a:t>. In a row of boys, A is fifteenth from the left and B is 4th from the right. There are three boys between A and B. C is just left of A. What is C’s position from the right? </a:t>
            </a:r>
          </a:p>
          <a:p>
            <a:pPr>
              <a:buNone/>
            </a:pPr>
            <a:r>
              <a:rPr lang="en-US" b="1" dirty="0"/>
              <a:t>(a) 9th 		(b) 10th 		(c) 12th 		(d) 13th</a:t>
            </a:r>
          </a:p>
          <a:p>
            <a:pPr>
              <a:buNone/>
            </a:pPr>
            <a:r>
              <a:rPr lang="en-US" b="1" dirty="0"/>
              <a:t> </a:t>
            </a:r>
          </a:p>
          <a:p>
            <a:pPr>
              <a:buNone/>
            </a:pPr>
            <a:r>
              <a:rPr lang="en-US" b="1" dirty="0"/>
              <a:t> </a:t>
            </a:r>
          </a:p>
          <a:p>
            <a:pPr>
              <a:buNone/>
            </a:pPr>
            <a:r>
              <a:rPr lang="en-US" b="1" dirty="0"/>
              <a: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19</a:t>
            </a:r>
            <a:r>
              <a:rPr lang="en-US" b="1" dirty="0"/>
              <a:t>. In a row of boys, A is fifteenth from the left and B is 4th from the right. There are three boys between A and B. C is just left of A. What is C’s position from the right? </a:t>
            </a:r>
          </a:p>
          <a:p>
            <a:pPr>
              <a:buNone/>
            </a:pPr>
            <a:r>
              <a:rPr lang="en-US" b="1" dirty="0">
                <a:solidFill>
                  <a:srgbClr val="FF0000"/>
                </a:solidFill>
              </a:rPr>
              <a:t>(a) 9th </a:t>
            </a:r>
            <a:r>
              <a:rPr lang="en-US" b="1" dirty="0"/>
              <a:t>		(b) 10th 		(c) 12th 		(d) 13th</a:t>
            </a:r>
          </a:p>
          <a:p>
            <a:pPr>
              <a:buNone/>
            </a:pPr>
            <a:r>
              <a:rPr lang="en-US" b="1" dirty="0"/>
              <a:t> </a:t>
            </a:r>
          </a:p>
          <a:p>
            <a:pPr>
              <a:buNone/>
            </a:pPr>
            <a:r>
              <a:rPr lang="en-US" b="1" dirty="0"/>
              <a:t> </a:t>
            </a:r>
          </a:p>
          <a:p>
            <a:pPr>
              <a:buNone/>
            </a:pPr>
            <a:r>
              <a:rPr lang="en-US" b="1" dirty="0"/>
              <a:t> </a:t>
            </a:r>
          </a:p>
        </p:txBody>
      </p:sp>
    </p:spTree>
    <p:extLst>
      <p:ext uri="{BB962C8B-B14F-4D97-AF65-F5344CB8AC3E}">
        <p14:creationId xmlns:p14="http://schemas.microsoft.com/office/powerpoint/2010/main" val="18564571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20</a:t>
            </a:r>
            <a:r>
              <a:rPr lang="en-US" b="1" dirty="0"/>
              <a:t>. In a row of forty children, P is thirteenth from the left end, Q is ninth from the right end. How many children are there between P and R if R is fourth to the left of Q </a:t>
            </a:r>
          </a:p>
          <a:p>
            <a:pPr>
              <a:buNone/>
            </a:pPr>
            <a:r>
              <a:rPr lang="en-US" b="1" dirty="0"/>
              <a:t>(a) 12 		(b) 13 		(c) 14 			(d) 15</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20</a:t>
            </a:r>
            <a:r>
              <a:rPr lang="en-US" b="1" dirty="0"/>
              <a:t>. In a row of forty children, P is thirteenth from the left end, Q is ninth from the right end. How many children are there between P and R if R is fourth to the left of Q </a:t>
            </a:r>
          </a:p>
          <a:p>
            <a:pPr>
              <a:buNone/>
            </a:pPr>
            <a:r>
              <a:rPr lang="en-US" b="1" dirty="0"/>
              <a:t>(a) 12 		(b) 13 		</a:t>
            </a:r>
            <a:r>
              <a:rPr lang="en-US" b="1" dirty="0">
                <a:solidFill>
                  <a:srgbClr val="FF0000"/>
                </a:solidFill>
              </a:rPr>
              <a:t>(c) 14 </a:t>
            </a:r>
            <a:r>
              <a:rPr lang="en-US" b="1" dirty="0"/>
              <a:t>			(d) 15</a:t>
            </a:r>
          </a:p>
        </p:txBody>
      </p:sp>
    </p:spTree>
    <p:extLst>
      <p:ext uri="{BB962C8B-B14F-4D97-AF65-F5344CB8AC3E}">
        <p14:creationId xmlns:p14="http://schemas.microsoft.com/office/powerpoint/2010/main" val="40554674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21</a:t>
            </a:r>
            <a:r>
              <a:rPr lang="en-US" b="1" dirty="0"/>
              <a:t>. In a queue, </a:t>
            </a:r>
            <a:r>
              <a:rPr lang="en-US" b="1" dirty="0" err="1"/>
              <a:t>Shikhar</a:t>
            </a:r>
            <a:r>
              <a:rPr lang="en-US" b="1" dirty="0"/>
              <a:t> is ninth from the back. </a:t>
            </a:r>
            <a:r>
              <a:rPr lang="en-US" b="1" dirty="0" err="1"/>
              <a:t>Arun’s</a:t>
            </a:r>
            <a:r>
              <a:rPr lang="en-US" b="1" dirty="0"/>
              <a:t> place is eight from the front. Nikhil is standing between the two. What could be the </a:t>
            </a:r>
            <a:r>
              <a:rPr lang="en-US" b="1" dirty="0" err="1"/>
              <a:t>minmum</a:t>
            </a:r>
            <a:r>
              <a:rPr lang="en-US" b="1" dirty="0"/>
              <a:t> number of boys standing in the queue? </a:t>
            </a:r>
          </a:p>
          <a:p>
            <a:pPr>
              <a:buNone/>
            </a:pPr>
            <a:r>
              <a:rPr lang="en-US" b="1" dirty="0"/>
              <a:t>(a) 8 			(b) 10 		(c) 12 			(d) 14</a:t>
            </a:r>
          </a:p>
          <a:p>
            <a:pPr>
              <a:buNone/>
            </a:pPr>
            <a:r>
              <a:rPr lang="en-US" b="1" dirty="0"/>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21</a:t>
            </a:r>
            <a:r>
              <a:rPr lang="en-US" b="1" dirty="0"/>
              <a:t>. In a queue, </a:t>
            </a:r>
            <a:r>
              <a:rPr lang="en-US" b="1" dirty="0" err="1"/>
              <a:t>Shikhar</a:t>
            </a:r>
            <a:r>
              <a:rPr lang="en-US" b="1" dirty="0"/>
              <a:t> is ninth from the back. </a:t>
            </a:r>
            <a:r>
              <a:rPr lang="en-US" b="1" dirty="0" err="1"/>
              <a:t>Arun’s</a:t>
            </a:r>
            <a:r>
              <a:rPr lang="en-US" b="1" dirty="0"/>
              <a:t> place is eight from the front. Nikhil is standing between the two. What could be the </a:t>
            </a:r>
            <a:r>
              <a:rPr lang="en-US" b="1" dirty="0" err="1"/>
              <a:t>minmum</a:t>
            </a:r>
            <a:r>
              <a:rPr lang="en-US" b="1" dirty="0"/>
              <a:t> number of boys standing in the queue? </a:t>
            </a:r>
          </a:p>
          <a:p>
            <a:pPr>
              <a:buNone/>
            </a:pPr>
            <a:r>
              <a:rPr lang="en-US" b="1" dirty="0"/>
              <a:t>(a) 8 			</a:t>
            </a:r>
            <a:r>
              <a:rPr lang="en-US" b="1" dirty="0">
                <a:solidFill>
                  <a:srgbClr val="FF0000"/>
                </a:solidFill>
              </a:rPr>
              <a:t>(b) 10 </a:t>
            </a:r>
            <a:r>
              <a:rPr lang="en-US" b="1" dirty="0"/>
              <a:t>		(c) 12 			(d) 14</a:t>
            </a:r>
          </a:p>
          <a:p>
            <a:pPr>
              <a:buNone/>
            </a:pPr>
            <a:r>
              <a:rPr lang="en-US" b="1" dirty="0"/>
              <a:t> </a:t>
            </a:r>
          </a:p>
        </p:txBody>
      </p:sp>
    </p:spTree>
    <p:extLst>
      <p:ext uri="{BB962C8B-B14F-4D97-AF65-F5344CB8AC3E}">
        <p14:creationId xmlns:p14="http://schemas.microsoft.com/office/powerpoint/2010/main" val="35148194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22</a:t>
            </a:r>
            <a:r>
              <a:rPr lang="en-US" b="1" dirty="0"/>
              <a:t>. In a row of 21 girls when Monika was shifted by 4 places towards the right, she became 12th from the left end. what was her earlier position from the right end of the row? </a:t>
            </a:r>
          </a:p>
          <a:p>
            <a:pPr marL="0" indent="0">
              <a:buNone/>
            </a:pPr>
            <a:r>
              <a:rPr lang="en-US" b="1" dirty="0"/>
              <a:t>(a) 9th 	(b) 10th 	(c) 11th 	(d) 12th 	(e) 14th</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22</a:t>
            </a:r>
            <a:r>
              <a:rPr lang="en-US" b="1" dirty="0"/>
              <a:t>. In a row of 21 girls when Monika was shifted by 4 places towards the right, she became 12th from the left end. what was her earlier position from the right end of the row? </a:t>
            </a:r>
          </a:p>
          <a:p>
            <a:pPr marL="0" indent="0">
              <a:buNone/>
            </a:pPr>
            <a:r>
              <a:rPr lang="en-US" b="1" dirty="0"/>
              <a:t>(a) 9th 	(b) 10th 	(c) 11th 	(d) 12th 	</a:t>
            </a:r>
            <a:r>
              <a:rPr lang="en-US" b="1" dirty="0">
                <a:solidFill>
                  <a:srgbClr val="FF0000"/>
                </a:solidFill>
              </a:rPr>
              <a:t>(e) 14th</a:t>
            </a:r>
          </a:p>
        </p:txBody>
      </p:sp>
    </p:spTree>
    <p:extLst>
      <p:ext uri="{BB962C8B-B14F-4D97-AF65-F5344CB8AC3E}">
        <p14:creationId xmlns:p14="http://schemas.microsoft.com/office/powerpoint/2010/main" val="41882483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23</a:t>
            </a:r>
            <a:r>
              <a:rPr lang="en-US" b="1" dirty="0"/>
              <a:t>. In a queue of thirty boys, M is eighth from the end and J is twelfth from the front. If there are six boys between J and Q, How many boys are there between M and Q? </a:t>
            </a:r>
          </a:p>
          <a:p>
            <a:pPr>
              <a:buNone/>
            </a:pPr>
            <a:r>
              <a:rPr lang="en-US" b="1" dirty="0"/>
              <a:t>(a) 10 		(b) 12 		(c) 8 			(d) data inadequate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r>
              <a:rPr lang="en-US" dirty="0">
                <a:latin typeface="Arial Black" pitchFamily="34" charset="0"/>
              </a:rPr>
              <a:t>RANKING ARRANGEMENT</a:t>
            </a:r>
            <a:endParaRPr lang="en-US" sz="1800" b="1" dirty="0">
              <a:solidFill>
                <a:schemeClr val="tx1">
                  <a:lumMod val="95000"/>
                  <a:lumOff val="5000"/>
                </a:schemeClr>
              </a:solidFill>
              <a:latin typeface="Arial Black" pitchFamily="34" charset="0"/>
            </a:endParaRPr>
          </a:p>
          <a:p>
            <a:pPr>
              <a:buNone/>
            </a:pPr>
            <a:r>
              <a:rPr lang="en-US" b="1" dirty="0">
                <a:latin typeface="Arial Black" pitchFamily="34" charset="0"/>
              </a:rPr>
              <a:t>Q 23</a:t>
            </a:r>
            <a:r>
              <a:rPr lang="en-US" b="1" dirty="0"/>
              <a:t>. In a queue of thirty boys, M is eighth from the end and J is twelfth from the front. If there are six boys between J and Q, How many boys are there between M and Q? </a:t>
            </a:r>
          </a:p>
          <a:p>
            <a:pPr>
              <a:buNone/>
            </a:pPr>
            <a:r>
              <a:rPr lang="en-US" b="1" dirty="0"/>
              <a:t>(a) 10 		(b) 12 		(c) 8 			</a:t>
            </a:r>
            <a:r>
              <a:rPr lang="en-US" b="1" dirty="0">
                <a:solidFill>
                  <a:srgbClr val="FF0000"/>
                </a:solidFill>
              </a:rPr>
              <a:t>(d) data inadequate</a:t>
            </a:r>
          </a:p>
        </p:txBody>
      </p:sp>
    </p:spTree>
    <p:extLst>
      <p:ext uri="{BB962C8B-B14F-4D97-AF65-F5344CB8AC3E}">
        <p14:creationId xmlns:p14="http://schemas.microsoft.com/office/powerpoint/2010/main" val="15470772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29476" y="639551"/>
            <a:ext cx="11733048" cy="5344511"/>
          </a:xfrm>
        </p:spPr>
        <p:txBody>
          <a:bodyPr>
            <a:normAutofit/>
          </a:bodyPr>
          <a:lstStyle/>
          <a:p>
            <a:pPr algn="ctr">
              <a:buNone/>
            </a:pPr>
            <a:r>
              <a:rPr lang="en-US" sz="9600" dirty="0">
                <a:solidFill>
                  <a:srgbClr val="FF0000"/>
                </a:solidFill>
                <a:latin typeface="Arial Black" pitchFamily="34" charset="0"/>
              </a:rPr>
              <a:t>THANK YOU</a:t>
            </a:r>
            <a:endParaRPr lang="en-US" sz="9600" b="1" dirty="0">
              <a:solidFill>
                <a:srgbClr val="FF0000"/>
              </a:solidFill>
              <a:latin typeface="Arial Black" pitchFamily="34" charset="0"/>
            </a:endParaRPr>
          </a:p>
        </p:txBody>
      </p:sp>
    </p:spTree>
    <p:extLst>
      <p:ext uri="{BB962C8B-B14F-4D97-AF65-F5344CB8AC3E}">
        <p14:creationId xmlns:p14="http://schemas.microsoft.com/office/powerpoint/2010/main" val="320597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sturPrep-Template.potx" id="{C3B8A6E5-A804-4E60-8D1B-A5B40FD32CD2}" vid="{258A70D1-D6EF-4570-8CD5-A0E127F22F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TesturPrep-Template</Template>
  <TotalTime>1495</TotalTime>
  <Words>3309</Words>
  <Application>Microsoft Office PowerPoint</Application>
  <PresentationFormat>Widescreen</PresentationFormat>
  <Paragraphs>249</Paragraphs>
  <Slides>59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59</vt:i4>
      </vt:variant>
    </vt:vector>
  </HeadingPairs>
  <TitlesOfParts>
    <vt:vector size="64" baseType="lpstr">
      <vt:lpstr>Arial</vt:lpstr>
      <vt:lpstr>Arial Black</vt:lpstr>
      <vt:lpstr>Calibri</vt:lpstr>
      <vt:lpstr>Calibri Light</vt:lpstr>
      <vt:lpstr>Office Theme</vt:lpstr>
      <vt:lpstr>PowerPoint Presentation</vt:lpstr>
      <vt:lpstr>PowerPoint Presentation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-10 (CBSE)</dc:title>
  <dc:creator>anuj gupta</dc:creator>
  <cp:lastModifiedBy>raj singh</cp:lastModifiedBy>
  <cp:revision>191</cp:revision>
  <dcterms:created xsi:type="dcterms:W3CDTF">2020-02-23T06:37:57Z</dcterms:created>
  <dcterms:modified xsi:type="dcterms:W3CDTF">2025-06-03T08:50:37Z</dcterms:modified>
</cp:coreProperties>
</file>