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8" r:id="rId3"/>
    <p:sldId id="280" r:id="rId4"/>
    <p:sldId id="282" r:id="rId5"/>
    <p:sldId id="284" r:id="rId6"/>
    <p:sldId id="285" r:id="rId7"/>
    <p:sldId id="287" r:id="rId8"/>
    <p:sldId id="289" r:id="rId9"/>
    <p:sldId id="288" r:id="rId10"/>
    <p:sldId id="276" r:id="rId11"/>
  </p:sldIdLst>
  <p:sldSz cx="14330363" cy="82311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93">
          <p15:clr>
            <a:srgbClr val="A4A3A4"/>
          </p15:clr>
        </p15:guide>
        <p15:guide id="4" pos="4579">
          <p15:clr>
            <a:srgbClr val="A4A3A4"/>
          </p15:clr>
        </p15:guide>
        <p15:guide id="5" orient="horz" pos="2079">
          <p15:clr>
            <a:srgbClr val="A4A3A4"/>
          </p15:clr>
        </p15:guide>
        <p15:guide id="6" orient="horz" pos="2496">
          <p15:clr>
            <a:srgbClr val="A4A3A4"/>
          </p15:clr>
        </p15:guide>
        <p15:guide id="7" orient="horz" pos="2245">
          <p15:clr>
            <a:srgbClr val="A4A3A4"/>
          </p15:clr>
        </p15:guide>
        <p15:guide id="8" orient="horz" pos="2694">
          <p15:clr>
            <a:srgbClr val="A4A3A4"/>
          </p15:clr>
        </p15:guide>
        <p15:guide id="9" orient="horz" pos="2162">
          <p15:clr>
            <a:srgbClr val="A4A3A4"/>
          </p15:clr>
        </p15:guide>
        <p15:guide id="10" orient="horz" pos="2594">
          <p15:clr>
            <a:srgbClr val="A4A3A4"/>
          </p15:clr>
        </p15:guide>
        <p15:guide id="11" pos="3785">
          <p15:clr>
            <a:srgbClr val="A4A3A4"/>
          </p15:clr>
        </p15:guide>
        <p15:guide id="12" pos="451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HuObhgtEtL5nIPvQTq0iZpCQs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996" y="72"/>
      </p:cViewPr>
      <p:guideLst>
        <p:guide orient="horz" pos="2160"/>
        <p:guide pos="3840"/>
        <p:guide orient="horz" pos="2593"/>
        <p:guide pos="4579"/>
        <p:guide orient="horz" pos="2079"/>
        <p:guide orient="horz" pos="2496"/>
        <p:guide orient="horz" pos="2245"/>
        <p:guide orient="horz" pos="2694"/>
        <p:guide orient="horz" pos="2162"/>
        <p:guide orient="horz" pos="2594"/>
        <p:guide pos="3785"/>
        <p:guide pos="4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7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7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7" name="Google Shape;27;p1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17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17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ubTitle" idx="1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6"/>
          <p:cNvSpPr/>
          <p:nvPr/>
        </p:nvSpPr>
        <p:spPr>
          <a:xfrm>
            <a:off x="6" y="2"/>
            <a:ext cx="14330363" cy="100603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6"/>
          <p:cNvSpPr/>
          <p:nvPr/>
        </p:nvSpPr>
        <p:spPr>
          <a:xfrm rot="10800000" flipH="1">
            <a:off x="6" y="8048276"/>
            <a:ext cx="14330363" cy="2377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6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6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6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0" name="Google Shape;20;p16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16" descr="LOGO.gif"/>
            <p:cNvPicPr preferRelativeResize="0"/>
            <p:nvPr/>
          </p:nvPicPr>
          <p:blipFill rotWithShape="1">
            <a:blip r:embed="rId5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6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16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3134773" y="7036631"/>
            <a:ext cx="815039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</a:t>
            </a:r>
            <a:b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Punjab, India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205359" y="6477391"/>
            <a:ext cx="7830086" cy="5592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782614" y="2024154"/>
            <a:ext cx="11666976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5400"/>
            </a:pP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Database Services</a:t>
            </a:r>
            <a:endParaRPr sz="6600" b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115671" y="3633178"/>
            <a:ext cx="987910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Engineering- Computer Science &amp; Engineering 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204649" y="4892650"/>
            <a:ext cx="583079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 (CC)(23CS009)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5031581" y="5631350"/>
            <a:ext cx="47954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Database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82600" indent="-457200" algn="l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Amazon Database Services?</a:t>
            </a:r>
          </a:p>
          <a:p>
            <a:pPr marL="482600" indent="-457200" algn="l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</a:p>
          <a:p>
            <a:pPr marL="482600" indent="-457200" algn="l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482600" indent="-457200" algn="l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pPr marL="482600" indent="-457200" algn="l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Interesting facts</a:t>
            </a:r>
          </a:p>
          <a:p>
            <a:pPr marL="482600" indent="-457200" algn="l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Databases (Amazon RDS &amp; Aurora)</a:t>
            </a:r>
          </a:p>
          <a:p>
            <a:pPr marL="482600" indent="-457200" algn="l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NoSQL Database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Amazon Database 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671" y="1649506"/>
            <a:ext cx="13022177" cy="5428947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Database Services are fully managed, cloud-based databases provided by AWS.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services suit different types of applications – from relational to NoSQL, in-memory, graph, and data warehouse solutions.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need for hardware and manual setup.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scalability, security, and high availability.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many types of databases: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(RDS, Aurora)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 (DynamoDB)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In-Memory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ElastiCache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(Neptune)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(Redshift)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&amp; Ledger (Timestream, QLDB)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companies like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Netflix, Airbnb, and NASA.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C36A-3D3F-08A5-4C2C-BD992E2C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7827"/>
            <a:ext cx="9877425" cy="1371865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en-US" sz="4801" b="1" dirty="0">
                <a:latin typeface="Arial" panose="020B0604020202020204" pitchFamily="34" charset="0"/>
              </a:rPr>
            </a:br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Database Services – Categories</a:t>
            </a:r>
            <a:br>
              <a:rPr lang="en-US" altLang="en-US" sz="2200" b="1" dirty="0">
                <a:latin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3FA820-F227-0D51-91C0-15D62A01A9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973536"/>
              </p:ext>
            </p:extLst>
          </p:nvPr>
        </p:nvGraphicFramePr>
        <p:xfrm>
          <a:off x="376518" y="1255059"/>
          <a:ext cx="13106400" cy="6598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4018">
                  <a:extLst>
                    <a:ext uri="{9D8B030D-6E8A-4147-A177-3AD203B41FA5}">
                      <a16:colId xmlns:a16="http://schemas.microsoft.com/office/drawing/2014/main" val="2729161275"/>
                    </a:ext>
                  </a:extLst>
                </a:gridCol>
                <a:gridCol w="5340562">
                  <a:extLst>
                    <a:ext uri="{9D8B030D-6E8A-4147-A177-3AD203B41FA5}">
                      <a16:colId xmlns:a16="http://schemas.microsoft.com/office/drawing/2014/main" val="889056144"/>
                    </a:ext>
                  </a:extLst>
                </a:gridCol>
                <a:gridCol w="5011820">
                  <a:extLst>
                    <a:ext uri="{9D8B030D-6E8A-4147-A177-3AD203B41FA5}">
                      <a16:colId xmlns:a16="http://schemas.microsoft.com/office/drawing/2014/main" val="4102349107"/>
                    </a:ext>
                  </a:extLst>
                </a:gridCol>
              </a:tblGrid>
              <a:tr h="54769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Service(s)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/ Example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729724"/>
                  </a:ext>
                </a:extLst>
              </a:tr>
              <a:tr h="108584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Databases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RDS (MySQL, PostgreSQL, Oracle, </a:t>
                      </a:r>
                      <a:b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Server, MariaDB), Amazon Aurora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Banking systems, ERP, E-commerce transactions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308163"/>
                  </a:ext>
                </a:extLst>
              </a:tr>
              <a:tr h="6259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NoSQL Databases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DynamoDB, Amazon </a:t>
                      </a:r>
                      <a:r>
                        <a:rPr lang="en-US" sz="20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DocumentDB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Shopping carts, gaming, content management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382133"/>
                  </a:ext>
                </a:extLst>
              </a:tr>
              <a:tr h="82672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In-Memory Databases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</a:t>
                      </a:r>
                      <a:r>
                        <a:rPr lang="en-US" sz="20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ElastiCache</a:t>
                      </a: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(Redis, Memcached),</a:t>
                      </a:r>
                      <a:b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Amazon </a:t>
                      </a:r>
                      <a:r>
                        <a:rPr lang="en-US" sz="20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MemoryDB</a:t>
                      </a: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Redis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chat, leaderboards, caching results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590037"/>
                  </a:ext>
                </a:extLst>
              </a:tr>
              <a:tr h="6259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Analytics Databases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Redshift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intelligence, big data analysis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357063"/>
                  </a:ext>
                </a:extLst>
              </a:tr>
              <a:tr h="6259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Time-Series Databases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Timestream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device data, app monitoring, sensor logs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070028"/>
                  </a:ext>
                </a:extLst>
              </a:tr>
              <a:tr h="6259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Databases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Neptune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networks, fraud detection,</a:t>
                      </a:r>
                      <a:b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recommendation engines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990316"/>
                  </a:ext>
                </a:extLst>
              </a:tr>
              <a:tr h="81701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Ledger Databases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QLDB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transactions, supply chain,</a:t>
                      </a:r>
                      <a:b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record keeping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34394"/>
                  </a:ext>
                </a:extLst>
              </a:tr>
              <a:tr h="81701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Migration &amp; Tools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DMS (Database Migration Service), </a:t>
                      </a:r>
                      <a:b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Glue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migration, ETL, data integration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2" marR="11432" marT="1143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300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735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F584CA-C694-7C5D-716D-A76E96FFB3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6801F-5CE1-CF3D-DB7D-2A1D2940EB7A}"/>
              </a:ext>
            </a:extLst>
          </p:cNvPr>
          <p:cNvSpPr txBox="1"/>
          <p:nvPr/>
        </p:nvSpPr>
        <p:spPr>
          <a:xfrm>
            <a:off x="896471" y="1387094"/>
            <a:ext cx="1212028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Key Benefits:</a:t>
            </a:r>
          </a:p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✅ Automatic backups, scaling, patching, and   monitoring</a:t>
            </a:r>
          </a:p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✅ High availability with multi-AZ replication</a:t>
            </a:r>
          </a:p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✅ Security with encryption &amp; IAM integration</a:t>
            </a:r>
          </a:p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✅ Pay-as-you-go pricing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Goal → Provide the right database for the right use case.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5C6FF-321C-50DA-BD28-5D04866F11E7}"/>
              </a:ext>
            </a:extLst>
          </p:cNvPr>
          <p:cNvSpPr txBox="1"/>
          <p:nvPr/>
        </p:nvSpPr>
        <p:spPr>
          <a:xfrm>
            <a:off x="627529" y="376518"/>
            <a:ext cx="796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Benefits/Goal</a:t>
            </a:r>
          </a:p>
        </p:txBody>
      </p:sp>
    </p:spTree>
    <p:extLst>
      <p:ext uri="{BB962C8B-B14F-4D97-AF65-F5344CB8AC3E}">
        <p14:creationId xmlns:p14="http://schemas.microsoft.com/office/powerpoint/2010/main" val="2794981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781EE-9774-DF89-4746-C471ACA9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6E3C-84BB-D34F-A2F5-CB97768112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Database Services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Facts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1BC99-5C6F-F6E2-8632-AB8BC2558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66" y="1097495"/>
            <a:ext cx="13452484" cy="6219119"/>
          </a:xfrm>
        </p:spPr>
        <p:txBody>
          <a:bodyPr>
            <a:normAutofit/>
          </a:bodyPr>
          <a:lstStyle/>
          <a:p>
            <a:pPr algn="l"/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Aurora is 5x faster than MySQL and 3x faster than PostgreSQL.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DynamoDB powers Amazon’s 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shopping cart – handled 80M+ requests/sec on </a:t>
            </a:r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Prime Day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Netflix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Disney+ </a:t>
            </a:r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DynamoDB 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recommendations &amp; profiles.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McDonald’s uses Redshift 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global customer order analytics.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Tinder uses Aurora + </a:t>
            </a: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ElastiCache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billions of swipes daily.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Pfizer &amp; Moderna use Redshift &amp; Aurora for vaccine research data.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Siemens Mobility uses Timestream for IoT monitoring in trains.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Banks use Neptune for fraud detection.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AWS DMS has migrated over 1 million databases to AWS.</a:t>
            </a:r>
          </a:p>
        </p:txBody>
      </p:sp>
    </p:spTree>
    <p:extLst>
      <p:ext uri="{BB962C8B-B14F-4D97-AF65-F5344CB8AC3E}">
        <p14:creationId xmlns:p14="http://schemas.microsoft.com/office/powerpoint/2010/main" val="3356642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190CF-DBE1-B16A-5C30-DE081C68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45E8C0-722A-3E98-CB81-4FA0C8FF54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2C993-5EDC-B7EE-6C65-347E801C2E6A}"/>
              </a:ext>
            </a:extLst>
          </p:cNvPr>
          <p:cNvSpPr txBox="1"/>
          <p:nvPr/>
        </p:nvSpPr>
        <p:spPr>
          <a:xfrm>
            <a:off x="143435" y="1237130"/>
            <a:ext cx="12873318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RDS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RDS is a fully managed relational database service.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popular databases like MySQL, PostgreSQL, MariaDB, Oracle, and SQL Server.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automatically handles backups, patching, and updates.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high availability using Multi-AZ (Availability Zones).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scaling of database storage and compute easily.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read replicas for better performance and faster reads.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monitoring and security with encryption.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used for applications, websites, and business systems.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01CC1-BC2F-BCF0-E209-E282C6051998}"/>
              </a:ext>
            </a:extLst>
          </p:cNvPr>
          <p:cNvSpPr txBox="1"/>
          <p:nvPr/>
        </p:nvSpPr>
        <p:spPr>
          <a:xfrm>
            <a:off x="-1" y="0"/>
            <a:ext cx="10270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Relational Databases (Amazon RDS &amp; Aurora)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25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6F22-976A-F9F6-4D92-A9239ADD5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30B9BF-A686-65A9-0ECA-B5C239F4D4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E56295-C5D6-9B98-2BE3-E166DBEF89CD}"/>
              </a:ext>
            </a:extLst>
          </p:cNvPr>
          <p:cNvSpPr txBox="1"/>
          <p:nvPr/>
        </p:nvSpPr>
        <p:spPr>
          <a:xfrm>
            <a:off x="179293" y="1004047"/>
            <a:ext cx="12837459" cy="7309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Aurora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Aurora is a relational database developed by AWS.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compatible with MySQL and PostgreSQL.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up to 5 times faster than MySQL and 3 times faster than PostgreSQL.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automatically grows storage as needed, up to 128 TB.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offers high availability with replication across multiple Availability Zones.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strong security with automatic backups and encryption.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fully managed and reduces the need for manual database work.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companies like </a:t>
            </a:r>
            <a:r>
              <a:rPr lang="en-US" alt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Tinder, Airbnb, and Samsung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Aurora.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good choice for modern, large-scale applications.</a:t>
            </a:r>
          </a:p>
          <a:p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543F7-9844-44C6-3022-2AB3E2745013}"/>
              </a:ext>
            </a:extLst>
          </p:cNvPr>
          <p:cNvSpPr txBox="1"/>
          <p:nvPr/>
        </p:nvSpPr>
        <p:spPr>
          <a:xfrm>
            <a:off x="-1" y="0"/>
            <a:ext cx="10270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Relational Databases (Amazon RDS &amp; Aurora)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76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DCF930-9508-8090-3AB1-F2CA274464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011A4-CF09-56A5-9802-A3ACDDA978F7}"/>
              </a:ext>
            </a:extLst>
          </p:cNvPr>
          <p:cNvSpPr txBox="1"/>
          <p:nvPr/>
        </p:nvSpPr>
        <p:spPr>
          <a:xfrm>
            <a:off x="304800" y="1159641"/>
            <a:ext cx="12909176" cy="697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fully managed </a:t>
            </a:r>
            <a:r>
              <a:rPr lang="en-US" alt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NoSQL database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supports both key-value and document data models.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alt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serverless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can </a:t>
            </a:r>
            <a:r>
              <a:rPr lang="en-US" alt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scale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workload.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US" alt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single-digit millisecond response time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fast performance.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supports </a:t>
            </a:r>
            <a:r>
              <a:rPr lang="en-US" alt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multi-region replication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 data is available worldwide.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highly </a:t>
            </a:r>
            <a:r>
              <a:rPr lang="en-US" alt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secure, reliable, and always available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used by </a:t>
            </a:r>
            <a:r>
              <a:rPr lang="en-US" alt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Amazon.com (shopping cart), Netflix, Duolingo, and many gaming apps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handle </a:t>
            </a:r>
            <a:r>
              <a:rPr lang="en-US" alt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millions of requests per second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without downtime.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9092C-35F3-AA46-9E3D-1E73A34EF7ED}"/>
              </a:ext>
            </a:extLst>
          </p:cNvPr>
          <p:cNvSpPr txBox="1"/>
          <p:nvPr/>
        </p:nvSpPr>
        <p:spPr>
          <a:xfrm>
            <a:off x="304800" y="232752"/>
            <a:ext cx="9251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 Database (Amazon DynamoDB)</a:t>
            </a:r>
          </a:p>
        </p:txBody>
      </p:sp>
    </p:spTree>
    <p:extLst>
      <p:ext uri="{BB962C8B-B14F-4D97-AF65-F5344CB8AC3E}">
        <p14:creationId xmlns:p14="http://schemas.microsoft.com/office/powerpoint/2010/main" val="576976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3" name="Google Shape;173;p15" descr="How To Write A Thank You Note In Five Easy St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7588" y="1366838"/>
            <a:ext cx="9753600" cy="54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798</Words>
  <Application>Microsoft Office PowerPoint</Application>
  <PresentationFormat>Custom</PresentationFormat>
  <Paragraphs>110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PowerPoint Presentation</vt:lpstr>
      <vt:lpstr>Amazon Database Services</vt:lpstr>
      <vt:lpstr>What is Amazon Database Services?</vt:lpstr>
      <vt:lpstr> Amazon Database Services – Categories </vt:lpstr>
      <vt:lpstr>PowerPoint Presentation</vt:lpstr>
      <vt:lpstr>Amazon Database Services: Facts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Loveleena Mukhija</cp:lastModifiedBy>
  <cp:revision>6</cp:revision>
  <dcterms:created xsi:type="dcterms:W3CDTF">2010-04-09T07:36:15Z</dcterms:created>
  <dcterms:modified xsi:type="dcterms:W3CDTF">2025-08-26T10:40:33Z</dcterms:modified>
</cp:coreProperties>
</file>