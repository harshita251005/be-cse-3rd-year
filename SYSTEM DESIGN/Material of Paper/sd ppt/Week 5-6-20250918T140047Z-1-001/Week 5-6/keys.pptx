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1" r:id="rId1"/>
  </p:sldMasterIdLst>
  <p:notesMasterIdLst>
    <p:notesMasterId r:id="rId33"/>
  </p:notesMasterIdLst>
  <p:sldIdLst>
    <p:sldId id="257" r:id="rId2"/>
    <p:sldId id="263" r:id="rId3"/>
    <p:sldId id="264" r:id="rId4"/>
    <p:sldId id="265" r:id="rId5"/>
    <p:sldId id="266" r:id="rId6"/>
    <p:sldId id="267" r:id="rId7"/>
    <p:sldId id="268" r:id="rId8"/>
    <p:sldId id="269" r:id="rId9"/>
    <p:sldId id="270" r:id="rId10"/>
    <p:sldId id="271" r:id="rId11"/>
    <p:sldId id="272" r:id="rId12"/>
    <p:sldId id="273" r:id="rId13"/>
    <p:sldId id="274" r:id="rId14"/>
    <p:sldId id="275" r:id="rId15"/>
    <p:sldId id="276" r:id="rId16"/>
    <p:sldId id="280" r:id="rId17"/>
    <p:sldId id="281" r:id="rId18"/>
    <p:sldId id="282" r:id="rId19"/>
    <p:sldId id="283" r:id="rId20"/>
    <p:sldId id="285" r:id="rId21"/>
    <p:sldId id="286" r:id="rId22"/>
    <p:sldId id="287" r:id="rId23"/>
    <p:sldId id="297" r:id="rId24"/>
    <p:sldId id="288" r:id="rId25"/>
    <p:sldId id="289" r:id="rId26"/>
    <p:sldId id="290" r:id="rId27"/>
    <p:sldId id="291" r:id="rId28"/>
    <p:sldId id="292" r:id="rId29"/>
    <p:sldId id="293" r:id="rId30"/>
    <p:sldId id="295" r:id="rId31"/>
    <p:sldId id="284" r:id="rId32"/>
  </p:sldIdLst>
  <p:sldSz cx="14330363" cy="8231188"/>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2593">
          <p15:clr>
            <a:srgbClr val="A4A3A4"/>
          </p15:clr>
        </p15:guide>
        <p15:guide id="4" pos="4579">
          <p15:clr>
            <a:srgbClr val="A4A3A4"/>
          </p15:clr>
        </p15:guide>
        <p15:guide id="5" orient="horz" pos="2079">
          <p15:clr>
            <a:srgbClr val="A4A3A4"/>
          </p15:clr>
        </p15:guide>
        <p15:guide id="6" orient="horz" pos="2496">
          <p15:clr>
            <a:srgbClr val="A4A3A4"/>
          </p15:clr>
        </p15:guide>
        <p15:guide id="7" orient="horz" pos="2245">
          <p15:clr>
            <a:srgbClr val="A4A3A4"/>
          </p15:clr>
        </p15:guide>
        <p15:guide id="8" orient="horz" pos="2694">
          <p15:clr>
            <a:srgbClr val="A4A3A4"/>
          </p15:clr>
        </p15:guide>
        <p15:guide id="9" orient="horz" pos="2162">
          <p15:clr>
            <a:srgbClr val="A4A3A4"/>
          </p15:clr>
        </p15:guide>
        <p15:guide id="10" orient="horz" pos="2594">
          <p15:clr>
            <a:srgbClr val="A4A3A4"/>
          </p15:clr>
        </p15:guide>
        <p15:guide id="11" pos="3785">
          <p15:clr>
            <a:srgbClr val="A4A3A4"/>
          </p15:clr>
        </p15:guide>
        <p15:guide id="12" pos="451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679"/>
  </p:normalViewPr>
  <p:slideViewPr>
    <p:cSldViewPr snapToGrid="0">
      <p:cViewPr varScale="1">
        <p:scale>
          <a:sx n="58" d="100"/>
          <a:sy n="58" d="100"/>
        </p:scale>
        <p:origin x="804" y="72"/>
      </p:cViewPr>
      <p:guideLst>
        <p:guide orient="horz" pos="2160"/>
        <p:guide pos="3840"/>
        <p:guide orient="horz" pos="2593"/>
        <p:guide pos="4579"/>
        <p:guide orient="horz" pos="2079"/>
        <p:guide orient="horz" pos="2496"/>
        <p:guide orient="horz" pos="2245"/>
        <p:guide orient="horz" pos="2694"/>
        <p:guide orient="horz" pos="2162"/>
        <p:guide orient="horz" pos="2594"/>
        <p:guide pos="3785"/>
        <p:guide pos="451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44500" y="685800"/>
            <a:ext cx="5969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notes"/>
          <p:cNvSpPr>
            <a:spLocks noGrp="1" noRot="1" noChangeAspect="1"/>
          </p:cNvSpPr>
          <p:nvPr>
            <p:ph type="sldImg" idx="2"/>
          </p:nvPr>
        </p:nvSpPr>
        <p:spPr>
          <a:xfrm>
            <a:off x="444500" y="685800"/>
            <a:ext cx="5969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 name="Google Shape;48;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 name="Google Shape;49;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50" name="Google Shape;50;p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1</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0"/>
        <p:cNvGrpSpPr/>
        <p:nvPr/>
      </p:nvGrpSpPr>
      <p:grpSpPr>
        <a:xfrm>
          <a:off x="0" y="0"/>
          <a:ext cx="0" cy="0"/>
          <a:chOff x="0" y="0"/>
          <a:chExt cx="0" cy="0"/>
        </a:xfrm>
      </p:grpSpPr>
      <p:sp>
        <p:nvSpPr>
          <p:cNvPr id="41" name="Google Shape;41;p4"/>
          <p:cNvSpPr txBox="1">
            <a:spLocks noGrp="1"/>
          </p:cNvSpPr>
          <p:nvPr>
            <p:ph type="ctrTitle"/>
          </p:nvPr>
        </p:nvSpPr>
        <p:spPr>
          <a:xfrm>
            <a:off x="10" y="3"/>
            <a:ext cx="8598218" cy="1097492"/>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4"/>
          <p:cNvSpPr txBox="1">
            <a:spLocks noGrp="1"/>
          </p:cNvSpPr>
          <p:nvPr>
            <p:ph type="subTitle" idx="1"/>
          </p:nvPr>
        </p:nvSpPr>
        <p:spPr>
          <a:xfrm>
            <a:off x="835942" y="1646241"/>
            <a:ext cx="12777907" cy="5670373"/>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43" name="Google Shape;43;p4"/>
          <p:cNvSpPr txBox="1">
            <a:spLocks noGrp="1"/>
          </p:cNvSpPr>
          <p:nvPr>
            <p:ph type="dt" idx="10"/>
          </p:nvPr>
        </p:nvSpPr>
        <p:spPr>
          <a:xfrm>
            <a:off x="716518" y="7629104"/>
            <a:ext cx="3343752" cy="4382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
          <p:cNvSpPr txBox="1">
            <a:spLocks noGrp="1"/>
          </p:cNvSpPr>
          <p:nvPr>
            <p:ph type="ftr" idx="11"/>
          </p:nvPr>
        </p:nvSpPr>
        <p:spPr>
          <a:xfrm>
            <a:off x="4896212" y="7629104"/>
            <a:ext cx="4537948" cy="4382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065E4-459E-BC76-BFC8-593314D338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D0C61BF-7A1B-CCF9-084D-287CBEAEBC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512665-B49A-939A-559E-B9FEADE117A6}"/>
              </a:ext>
            </a:extLst>
          </p:cNvPr>
          <p:cNvSpPr>
            <a:spLocks noGrp="1"/>
          </p:cNvSpPr>
          <p:nvPr>
            <p:ph type="dt" sz="half" idx="10"/>
          </p:nvPr>
        </p:nvSpPr>
        <p:spPr/>
        <p:txBody>
          <a:bodyPr/>
          <a:lstStyle/>
          <a:p>
            <a:fld id="{6A4D05E5-AF99-4A56-BA53-45694DFBE429}" type="datetimeFigureOut">
              <a:rPr lang="en-IN" smtClean="0"/>
              <a:t>10-09-2025</a:t>
            </a:fld>
            <a:endParaRPr lang="en-IN"/>
          </a:p>
        </p:txBody>
      </p:sp>
      <p:sp>
        <p:nvSpPr>
          <p:cNvPr id="5" name="Footer Placeholder 4">
            <a:extLst>
              <a:ext uri="{FF2B5EF4-FFF2-40B4-BE49-F238E27FC236}">
                <a16:creationId xmlns:a16="http://schemas.microsoft.com/office/drawing/2014/main" id="{CFF30A76-4AAE-2225-477A-7051145BC0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4CF63E-1003-86E1-AA25-BAA7EE962041}"/>
              </a:ext>
            </a:extLst>
          </p:cNvPr>
          <p:cNvSpPr>
            <a:spLocks noGrp="1"/>
          </p:cNvSpPr>
          <p:nvPr>
            <p:ph type="sldNum" sz="quarter" idx="12"/>
          </p:nvPr>
        </p:nvSpPr>
        <p:spPr/>
        <p:txBody>
          <a:bodyPr/>
          <a:lstStyle/>
          <a:p>
            <a:fld id="{893A10DD-36DC-414C-BC2F-2B6A95EE1A72}" type="slidenum">
              <a:rPr lang="en-IN" smtClean="0"/>
              <a:t>‹#›</a:t>
            </a:fld>
            <a:endParaRPr lang="en-IN"/>
          </a:p>
        </p:txBody>
      </p:sp>
    </p:spTree>
    <p:extLst>
      <p:ext uri="{BB962C8B-B14F-4D97-AF65-F5344CB8AC3E}">
        <p14:creationId xmlns:p14="http://schemas.microsoft.com/office/powerpoint/2010/main" val="39779719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 y="2"/>
            <a:ext cx="10150674" cy="100603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1"/>
          <p:cNvSpPr txBox="1">
            <a:spLocks noGrp="1"/>
          </p:cNvSpPr>
          <p:nvPr>
            <p:ph type="body" idx="1"/>
          </p:nvPr>
        </p:nvSpPr>
        <p:spPr>
          <a:xfrm>
            <a:off x="716522" y="1646250"/>
            <a:ext cx="12897326" cy="543220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716518" y="7629104"/>
            <a:ext cx="3343752" cy="43823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4896212" y="7629104"/>
            <a:ext cx="4537948" cy="43823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1"/>
          <p:cNvSpPr/>
          <p:nvPr/>
        </p:nvSpPr>
        <p:spPr>
          <a:xfrm>
            <a:off x="6" y="2"/>
            <a:ext cx="14330363" cy="1006034"/>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6;p1"/>
          <p:cNvSpPr/>
          <p:nvPr/>
        </p:nvSpPr>
        <p:spPr>
          <a:xfrm rot="10800000" flipH="1">
            <a:off x="6" y="8048276"/>
            <a:ext cx="14330363" cy="23778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7" name="Google Shape;17;p1" descr="LOGO.gif"/>
          <p:cNvPicPr preferRelativeResize="0"/>
          <p:nvPr/>
        </p:nvPicPr>
        <p:blipFill rotWithShape="1">
          <a:blip r:embed="rId4">
            <a:alphaModFix/>
          </a:blip>
          <a:srcRect b="10713"/>
          <a:stretch/>
        </p:blipFill>
        <p:spPr>
          <a:xfrm>
            <a:off x="10270103" y="274375"/>
            <a:ext cx="3224332" cy="762147"/>
          </a:xfrm>
          <a:prstGeom prst="rect">
            <a:avLst/>
          </a:prstGeom>
          <a:noFill/>
          <a:ln>
            <a:noFill/>
          </a:ln>
        </p:spPr>
      </p:pic>
      <p:pic>
        <p:nvPicPr>
          <p:cNvPr id="18" name="Google Shape;18;p1" descr="LOGO.gif"/>
          <p:cNvPicPr preferRelativeResize="0"/>
          <p:nvPr/>
        </p:nvPicPr>
        <p:blipFill rotWithShape="1">
          <a:blip r:embed="rId4">
            <a:alphaModFix/>
          </a:blip>
          <a:srcRect b="10713"/>
          <a:stretch/>
        </p:blipFill>
        <p:spPr>
          <a:xfrm>
            <a:off x="10270103" y="274375"/>
            <a:ext cx="3224332" cy="762147"/>
          </a:xfrm>
          <a:prstGeom prst="rect">
            <a:avLst/>
          </a:prstGeom>
          <a:noFill/>
          <a:ln>
            <a:noFill/>
          </a:ln>
        </p:spPr>
      </p:pic>
      <p:grpSp>
        <p:nvGrpSpPr>
          <p:cNvPr id="19" name="Google Shape;19;p1"/>
          <p:cNvGrpSpPr/>
          <p:nvPr/>
        </p:nvGrpSpPr>
        <p:grpSpPr>
          <a:xfrm>
            <a:off x="9633189" y="2"/>
            <a:ext cx="4697174" cy="1051763"/>
            <a:chOff x="6096000" y="3924300"/>
            <a:chExt cx="2997200" cy="876300"/>
          </a:xfrm>
        </p:grpSpPr>
        <p:sp>
          <p:nvSpPr>
            <p:cNvPr id="20" name="Google Shape;20;p1"/>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1" name="Google Shape;21;p1" descr="LOGO.gif"/>
            <p:cNvPicPr preferRelativeResize="0"/>
            <p:nvPr/>
          </p:nvPicPr>
          <p:blipFill rotWithShape="1">
            <a:blip r:embed="rId4">
              <a:alphaModFix/>
            </a:blip>
            <a:srcRect b="10713"/>
            <a:stretch/>
          </p:blipFill>
          <p:spPr>
            <a:xfrm>
              <a:off x="6502400" y="4152900"/>
              <a:ext cx="2057400" cy="635000"/>
            </a:xfrm>
            <a:prstGeom prst="rect">
              <a:avLst/>
            </a:prstGeom>
            <a:noFill/>
            <a:ln>
              <a:noFill/>
            </a:ln>
          </p:spPr>
        </p:pic>
        <p:sp>
          <p:nvSpPr>
            <p:cNvPr id="22" name="Google Shape;22;p1"/>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23" name="Google Shape;23;p1" descr="logo.jpg"/>
          <p:cNvPicPr preferRelativeResize="0"/>
          <p:nvPr/>
        </p:nvPicPr>
        <p:blipFill rotWithShape="1">
          <a:blip r:embed="rId5">
            <a:alphaModFix/>
          </a:blip>
          <a:srcRect/>
          <a:stretch/>
        </p:blipFill>
        <p:spPr>
          <a:xfrm>
            <a:off x="10270101" y="274378"/>
            <a:ext cx="3010371" cy="7316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 id="2147483652"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5"/>
          <p:cNvSpPr txBox="1"/>
          <p:nvPr/>
        </p:nvSpPr>
        <p:spPr>
          <a:xfrm>
            <a:off x="3218190" y="6976175"/>
            <a:ext cx="7981707" cy="632967"/>
          </a:xfrm>
          <a:prstGeom prst="rect">
            <a:avLst/>
          </a:prstGeom>
          <a:noFill/>
          <a:ln>
            <a:noFill/>
          </a:ln>
        </p:spPr>
        <p:txBody>
          <a:bodyPr spcFirstLastPara="1" wrap="square" lIns="89533" tIns="44754" rIns="89533" bIns="44754" anchor="t" anchorCtr="0">
            <a:spAutoFit/>
          </a:bodyPr>
          <a:lstStyle/>
          <a:p>
            <a:pPr algn="ctr"/>
            <a:r>
              <a:rPr lang="en-US" sz="1763" b="1">
                <a:solidFill>
                  <a:schemeClr val="dk1"/>
                </a:solidFill>
                <a:latin typeface="Times New Roman"/>
                <a:ea typeface="Times New Roman"/>
                <a:cs typeface="Times New Roman"/>
                <a:sym typeface="Times New Roman"/>
              </a:rPr>
              <a:t>Chitkara University Institute of Engineering and Technology,</a:t>
            </a:r>
            <a:r>
              <a:rPr lang="en-US" sz="1763">
                <a:solidFill>
                  <a:schemeClr val="dk1"/>
                </a:solidFill>
                <a:latin typeface="Times New Roman"/>
                <a:ea typeface="Times New Roman"/>
                <a:cs typeface="Times New Roman"/>
                <a:sym typeface="Times New Roman"/>
              </a:rPr>
              <a:t/>
            </a:r>
            <a:br>
              <a:rPr lang="en-US" sz="1763">
                <a:solidFill>
                  <a:schemeClr val="dk1"/>
                </a:solidFill>
                <a:latin typeface="Times New Roman"/>
                <a:ea typeface="Times New Roman"/>
                <a:cs typeface="Times New Roman"/>
                <a:sym typeface="Times New Roman"/>
              </a:rPr>
            </a:br>
            <a:r>
              <a:rPr lang="en-US" sz="1763" b="1">
                <a:solidFill>
                  <a:schemeClr val="dk1"/>
                </a:solidFill>
                <a:latin typeface="Times New Roman"/>
                <a:ea typeface="Times New Roman"/>
                <a:cs typeface="Times New Roman"/>
                <a:sym typeface="Times New Roman"/>
              </a:rPr>
              <a:t>Chitkara University, Punjab, India</a:t>
            </a:r>
            <a:endParaRPr sz="1763">
              <a:solidFill>
                <a:schemeClr val="dk1"/>
              </a:solidFill>
              <a:latin typeface="Times New Roman"/>
              <a:ea typeface="Times New Roman"/>
              <a:cs typeface="Times New Roman"/>
              <a:sym typeface="Times New Roman"/>
            </a:endParaRPr>
          </a:p>
        </p:txBody>
      </p:sp>
      <p:sp>
        <p:nvSpPr>
          <p:cNvPr id="53" name="Google Shape;53;p5"/>
          <p:cNvSpPr txBox="1">
            <a:spLocks noGrp="1"/>
          </p:cNvSpPr>
          <p:nvPr>
            <p:ph type="sldNum" idx="12"/>
          </p:nvPr>
        </p:nvSpPr>
        <p:spPr>
          <a:xfrm>
            <a:off x="10205831" y="7556386"/>
            <a:ext cx="3274548" cy="429165"/>
          </a:xfrm>
          <a:prstGeom prst="rect">
            <a:avLst/>
          </a:prstGeom>
          <a:noFill/>
          <a:ln>
            <a:noFill/>
          </a:ln>
        </p:spPr>
        <p:txBody>
          <a:bodyPr spcFirstLastPara="1" vert="horz" wrap="square" lIns="89533" tIns="44754" rIns="89533" bIns="44754" rtlCol="0" anchor="ctr" anchorCtr="0">
            <a:noAutofit/>
          </a:bodyPr>
          <a:lstStyle/>
          <a:p>
            <a:fld id="{00000000-1234-1234-1234-123412341234}" type="slidenum">
              <a:rPr lang="en-US">
                <a:latin typeface="Times New Roman"/>
                <a:ea typeface="Times New Roman"/>
                <a:cs typeface="Times New Roman"/>
                <a:sym typeface="Times New Roman"/>
              </a:rPr>
              <a:pPr/>
              <a:t>1</a:t>
            </a:fld>
            <a:endParaRPr>
              <a:latin typeface="Times New Roman"/>
              <a:ea typeface="Times New Roman"/>
              <a:cs typeface="Times New Roman"/>
              <a:sym typeface="Times New Roman"/>
            </a:endParaRPr>
          </a:p>
        </p:txBody>
      </p:sp>
      <p:sp>
        <p:nvSpPr>
          <p:cNvPr id="54" name="Google Shape;54;p5"/>
          <p:cNvSpPr/>
          <p:nvPr/>
        </p:nvSpPr>
        <p:spPr>
          <a:xfrm>
            <a:off x="3287315" y="6428509"/>
            <a:ext cx="7668029" cy="547658"/>
          </a:xfrm>
          <a:prstGeom prst="rect">
            <a:avLst/>
          </a:prstGeom>
          <a:solidFill>
            <a:schemeClr val="lt1"/>
          </a:solidFill>
          <a:ln>
            <a:noFill/>
          </a:ln>
        </p:spPr>
        <p:txBody>
          <a:bodyPr spcFirstLastPara="1" wrap="square" lIns="89533" tIns="44754" rIns="89533" bIns="44754" anchor="ctr" anchorCtr="0">
            <a:noAutofit/>
          </a:bodyPr>
          <a:lstStyle/>
          <a:p>
            <a:pPr algn="ctr"/>
            <a:r>
              <a:rPr lang="en-US" sz="1763">
                <a:solidFill>
                  <a:schemeClr val="dk1"/>
                </a:solidFill>
                <a:latin typeface="Times New Roman"/>
                <a:ea typeface="Times New Roman"/>
                <a:cs typeface="Times New Roman"/>
                <a:sym typeface="Times New Roman"/>
              </a:rPr>
              <a:t>Department of Computer Science &amp; Engineering</a:t>
            </a:r>
            <a:endParaRPr sz="1763"/>
          </a:p>
        </p:txBody>
      </p:sp>
      <p:sp>
        <p:nvSpPr>
          <p:cNvPr id="55" name="Google Shape;55;p5"/>
          <p:cNvSpPr/>
          <p:nvPr/>
        </p:nvSpPr>
        <p:spPr>
          <a:xfrm>
            <a:off x="1370049" y="2551184"/>
            <a:ext cx="11059612" cy="904220"/>
          </a:xfrm>
          <a:prstGeom prst="rect">
            <a:avLst/>
          </a:prstGeom>
          <a:noFill/>
          <a:ln>
            <a:noFill/>
          </a:ln>
        </p:spPr>
        <p:txBody>
          <a:bodyPr spcFirstLastPara="1" wrap="square" lIns="89533" tIns="44754" rIns="89533" bIns="44754" anchor="t" anchorCtr="0">
            <a:noAutofit/>
          </a:bodyPr>
          <a:lstStyle/>
          <a:p>
            <a:pPr lvl="0" algn="ctr"/>
            <a:r>
              <a:rPr lang="en-US" sz="3918" dirty="0" smtClean="0">
                <a:solidFill>
                  <a:schemeClr val="dk1"/>
                </a:solidFill>
                <a:latin typeface="Calibri"/>
                <a:ea typeface="Times New Roman"/>
                <a:cs typeface="Calibri"/>
                <a:sym typeface="Calibri"/>
              </a:rPr>
              <a:t>Keys, Constraints</a:t>
            </a:r>
            <a:endParaRPr sz="3918" dirty="0">
              <a:solidFill>
                <a:schemeClr val="dk1"/>
              </a:solidFill>
              <a:latin typeface="Times New Roman"/>
              <a:ea typeface="Times New Roman"/>
              <a:cs typeface="Times New Roman"/>
              <a:sym typeface="Times New Roman"/>
            </a:endParaRPr>
          </a:p>
        </p:txBody>
      </p:sp>
      <p:sp>
        <p:nvSpPr>
          <p:cNvPr id="56" name="Google Shape;56;p5"/>
          <p:cNvSpPr/>
          <p:nvPr/>
        </p:nvSpPr>
        <p:spPr>
          <a:xfrm>
            <a:off x="3759894" y="5826035"/>
            <a:ext cx="8357765" cy="452110"/>
          </a:xfrm>
          <a:prstGeom prst="rect">
            <a:avLst/>
          </a:prstGeom>
          <a:noFill/>
          <a:ln>
            <a:noFill/>
          </a:ln>
        </p:spPr>
        <p:txBody>
          <a:bodyPr spcFirstLastPara="1" wrap="square" lIns="89533" tIns="44754" rIns="89533" bIns="44754" anchor="t" anchorCtr="0">
            <a:noAutofit/>
          </a:bodyPr>
          <a:lstStyle/>
          <a:p>
            <a:r>
              <a:rPr lang="en-US" sz="2351">
                <a:solidFill>
                  <a:schemeClr val="dk1"/>
                </a:solidFill>
                <a:latin typeface="Times New Roman"/>
                <a:ea typeface="Times New Roman"/>
                <a:cs typeface="Times New Roman"/>
                <a:sym typeface="Times New Roman"/>
              </a:rPr>
              <a:t>Bachelor of Engineering- Computer Science &amp; Engineering </a:t>
            </a:r>
            <a:endParaRPr sz="2351">
              <a:solidFill>
                <a:schemeClr val="dk1"/>
              </a:solidFill>
              <a:latin typeface="Times New Roman"/>
              <a:ea typeface="Times New Roman"/>
              <a:cs typeface="Times New Roman"/>
              <a:sym typeface="Times New Roman"/>
            </a:endParaRPr>
          </a:p>
        </p:txBody>
      </p:sp>
      <p:sp>
        <p:nvSpPr>
          <p:cNvPr id="57" name="Google Shape;57;p5"/>
          <p:cNvSpPr/>
          <p:nvPr/>
        </p:nvSpPr>
        <p:spPr>
          <a:xfrm>
            <a:off x="6021584" y="5449614"/>
            <a:ext cx="3458507" cy="361657"/>
          </a:xfrm>
          <a:prstGeom prst="rect">
            <a:avLst/>
          </a:prstGeom>
          <a:noFill/>
          <a:ln>
            <a:noFill/>
          </a:ln>
        </p:spPr>
        <p:txBody>
          <a:bodyPr spcFirstLastPara="1" wrap="square" lIns="89533" tIns="44754" rIns="89533" bIns="44754" anchor="t" anchorCtr="0">
            <a:noAutofit/>
          </a:bodyPr>
          <a:lstStyle/>
          <a:p>
            <a:r>
              <a:rPr lang="en-US" sz="1763" b="1" dirty="0">
                <a:latin typeface="Times New Roman"/>
                <a:ea typeface="Times New Roman"/>
                <a:cs typeface="Times New Roman"/>
                <a:sym typeface="Times New Roman"/>
              </a:rPr>
              <a:t>System Design(SD)(22CS024)</a:t>
            </a:r>
            <a:endParaRPr sz="2351" b="1" dirty="0">
              <a:solidFill>
                <a:schemeClr val="dk1"/>
              </a:solidFill>
              <a:latin typeface="Times New Roman"/>
              <a:ea typeface="Times New Roman"/>
              <a:cs typeface="Times New Roman"/>
              <a:sym typeface="Times New Roman"/>
            </a:endParaRPr>
          </a:p>
        </p:txBody>
      </p:sp>
      <p:sp>
        <p:nvSpPr>
          <p:cNvPr id="58" name="Google Shape;58;p5"/>
          <p:cNvSpPr/>
          <p:nvPr/>
        </p:nvSpPr>
        <p:spPr>
          <a:xfrm>
            <a:off x="5042489" y="4220067"/>
            <a:ext cx="4696165" cy="452110"/>
          </a:xfrm>
          <a:prstGeom prst="rect">
            <a:avLst/>
          </a:prstGeom>
          <a:noFill/>
          <a:ln>
            <a:noFill/>
          </a:ln>
        </p:spPr>
        <p:txBody>
          <a:bodyPr spcFirstLastPara="1" wrap="square" lIns="89533" tIns="44754" rIns="89533" bIns="44754" anchor="t" anchorCtr="0">
            <a:noAutofit/>
          </a:bodyPr>
          <a:lstStyle/>
          <a:p>
            <a:pPr algn="ctr"/>
            <a:endParaRPr sz="2351">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A2A19-A9F1-5505-58D1-BC5B5B57EAF8}"/>
              </a:ext>
            </a:extLst>
          </p:cNvPr>
          <p:cNvSpPr>
            <a:spLocks noGrp="1"/>
          </p:cNvSpPr>
          <p:nvPr>
            <p:ph type="title"/>
          </p:nvPr>
        </p:nvSpPr>
        <p:spPr/>
        <p:txBody>
          <a:bodyPr/>
          <a:lstStyle/>
          <a:p>
            <a:r>
              <a:rPr lang="en-US" dirty="0" smtClean="0"/>
              <a:t>KEYS</a:t>
            </a:r>
            <a:endParaRPr lang="en-IN" dirty="0"/>
          </a:p>
        </p:txBody>
      </p:sp>
      <p:sp>
        <p:nvSpPr>
          <p:cNvPr id="3" name="Content Placeholder 2"/>
          <p:cNvSpPr>
            <a:spLocks noGrp="1"/>
          </p:cNvSpPr>
          <p:nvPr>
            <p:ph idx="1"/>
          </p:nvPr>
        </p:nvSpPr>
        <p:spPr/>
        <p:txBody>
          <a:bodyPr/>
          <a:lstStyle/>
          <a:p>
            <a:pPr fontAlgn="base"/>
            <a:r>
              <a:rPr lang="en-US" dirty="0"/>
              <a:t>Keys are fundamental components that ensure data integrity, uniqueness and efficient access. It is widely used to identify the tuples(rows) uniquely in the table.</a:t>
            </a:r>
          </a:p>
          <a:p>
            <a:pPr fontAlgn="base"/>
            <a:r>
              <a:rPr lang="en-US" dirty="0"/>
              <a:t>We also use keys to set up relations amongst various columns and tables of a relational database.</a:t>
            </a:r>
          </a:p>
          <a:p>
            <a:endParaRPr lang="en-IN" dirty="0"/>
          </a:p>
        </p:txBody>
      </p:sp>
    </p:spTree>
    <p:extLst>
      <p:ext uri="{BB962C8B-B14F-4D97-AF65-F5344CB8AC3E}">
        <p14:creationId xmlns:p14="http://schemas.microsoft.com/office/powerpoint/2010/main" val="33678282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r>
            <a:br>
              <a:rPr lang="en-US" b="1" dirty="0" smtClean="0"/>
            </a:br>
            <a:r>
              <a:rPr lang="en-US" b="1" dirty="0" smtClean="0"/>
              <a:t>Why </a:t>
            </a:r>
            <a:r>
              <a:rPr lang="en-US" b="1" dirty="0"/>
              <a:t>do we require Keys in a DBMS?</a:t>
            </a:r>
            <a:br>
              <a:rPr lang="en-US" b="1" dirty="0"/>
            </a:br>
            <a:endParaRPr lang="en-IN" dirty="0"/>
          </a:p>
        </p:txBody>
      </p:sp>
      <p:sp>
        <p:nvSpPr>
          <p:cNvPr id="3" name="Content Placeholder 2"/>
          <p:cNvSpPr>
            <a:spLocks noGrp="1"/>
          </p:cNvSpPr>
          <p:nvPr>
            <p:ph idx="1"/>
          </p:nvPr>
        </p:nvSpPr>
        <p:spPr/>
        <p:txBody>
          <a:bodyPr/>
          <a:lstStyle/>
          <a:p>
            <a:pPr fontAlgn="base"/>
            <a:r>
              <a:rPr lang="en-US" dirty="0" smtClean="0"/>
              <a:t>Keys </a:t>
            </a:r>
            <a:r>
              <a:rPr lang="en-US" dirty="0"/>
              <a:t>are important in a Database Management System (DBMS) for several reasons:</a:t>
            </a:r>
          </a:p>
          <a:p>
            <a:pPr fontAlgn="base"/>
            <a:r>
              <a:rPr lang="en-US" dirty="0"/>
              <a:t>Uniqueness: Keys ensure that each record in a table is unique and can be identified distinctly.</a:t>
            </a:r>
          </a:p>
          <a:p>
            <a:pPr fontAlgn="base"/>
            <a:r>
              <a:rPr lang="en-US" dirty="0"/>
              <a:t>Data Integrity: Keys prevent data duplication and maintain the consistency of the data.</a:t>
            </a:r>
          </a:p>
          <a:p>
            <a:pPr fontAlgn="base"/>
            <a:r>
              <a:rPr lang="en-US" dirty="0"/>
              <a:t>Efficient Data Retrieval: By defining relationships between tables, keys enable faster querying and better data organization. Without keys, it would be extremely difficult to manage large datasets and queries would become inefficient and prone to errors.</a:t>
            </a:r>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3</a:t>
            </a:fld>
            <a:endParaRPr lang="en-IN"/>
          </a:p>
        </p:txBody>
      </p:sp>
    </p:spTree>
    <p:extLst>
      <p:ext uri="{BB962C8B-B14F-4D97-AF65-F5344CB8AC3E}">
        <p14:creationId xmlns:p14="http://schemas.microsoft.com/office/powerpoint/2010/main" val="20070741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r>
            <a:br>
              <a:rPr lang="en-US" b="1" dirty="0" smtClean="0"/>
            </a:br>
            <a:r>
              <a:rPr lang="en-US" b="1" dirty="0" smtClean="0"/>
              <a:t>1</a:t>
            </a:r>
            <a:r>
              <a:rPr lang="en-US" b="1" dirty="0"/>
              <a:t>. Super Key</a:t>
            </a:r>
            <a:br>
              <a:rPr lang="en-US" b="1" dirty="0"/>
            </a:br>
            <a:endParaRPr lang="en-IN" dirty="0"/>
          </a:p>
        </p:txBody>
      </p:sp>
      <p:sp>
        <p:nvSpPr>
          <p:cNvPr id="3" name="Content Placeholder 2"/>
          <p:cNvSpPr>
            <a:spLocks noGrp="1"/>
          </p:cNvSpPr>
          <p:nvPr>
            <p:ph idx="1"/>
          </p:nvPr>
        </p:nvSpPr>
        <p:spPr>
          <a:xfrm>
            <a:off x="716522" y="1280160"/>
            <a:ext cx="12897326" cy="6334298"/>
          </a:xfrm>
        </p:spPr>
        <p:txBody>
          <a:bodyPr/>
          <a:lstStyle/>
          <a:p>
            <a:pPr algn="just" fontAlgn="base"/>
            <a:r>
              <a:rPr lang="en-US" dirty="0" smtClean="0"/>
              <a:t>The </a:t>
            </a:r>
            <a:r>
              <a:rPr lang="en-US" dirty="0"/>
              <a:t>set of one or more attributes (columns) that can uniquely identify a tuple (record) is known as </a:t>
            </a:r>
            <a:r>
              <a:rPr lang="en-US" dirty="0" smtClean="0"/>
              <a:t>SUPER KEY. </a:t>
            </a:r>
            <a:r>
              <a:rPr lang="en-US" dirty="0"/>
              <a:t>It may include extra attributes that aren't important for uniqueness but still uniquely identify the row. For Example, STUD_NO, (STUD_NO, STUD_NAME), etc.</a:t>
            </a:r>
          </a:p>
          <a:p>
            <a:pPr algn="just" fontAlgn="base"/>
            <a:r>
              <a:rPr lang="en-US" dirty="0"/>
              <a:t>A super key is a group of single or multiple keys that uniquely identifies rows in a table. It supports NULL values in rows.</a:t>
            </a:r>
          </a:p>
          <a:p>
            <a:pPr algn="just" fontAlgn="base"/>
            <a:r>
              <a:rPr lang="en-US" dirty="0"/>
              <a:t>A super key can contain extra attributes that aren’t necessary for uniqueness.</a:t>
            </a:r>
          </a:p>
          <a:p>
            <a:pPr algn="just" fontAlgn="base"/>
            <a:r>
              <a:rPr lang="en-US" dirty="0"/>
              <a:t>For example, if the "STUD_NO" column can uniquely identify a student, adding "SNAME" to it will still form a valid super key, though it's unnecessary.</a:t>
            </a:r>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4</a:t>
            </a:fld>
            <a:endParaRPr lang="en-IN"/>
          </a:p>
        </p:txBody>
      </p:sp>
    </p:spTree>
    <p:extLst>
      <p:ext uri="{BB962C8B-B14F-4D97-AF65-F5344CB8AC3E}">
        <p14:creationId xmlns:p14="http://schemas.microsoft.com/office/powerpoint/2010/main" val="30830763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Example:</a:t>
            </a:r>
            <a:r>
              <a:rPr lang="en-US" dirty="0"/>
              <a:t> Consider </a:t>
            </a:r>
            <a:r>
              <a:rPr lang="en-US" dirty="0" smtClean="0"/>
              <a:t>the </a:t>
            </a:r>
            <a:r>
              <a:rPr lang="en-US" dirty="0"/>
              <a:t>STUDENT </a:t>
            </a:r>
            <a:r>
              <a:rPr lang="en-US" dirty="0" smtClean="0"/>
              <a:t>table.</a:t>
            </a:r>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5</a:t>
            </a:fld>
            <a:endParaRPr lang="en-IN"/>
          </a:p>
        </p:txBody>
      </p:sp>
      <p:pic>
        <p:nvPicPr>
          <p:cNvPr id="5" name="Picture 4"/>
          <p:cNvPicPr>
            <a:picLocks noChangeAspect="1"/>
          </p:cNvPicPr>
          <p:nvPr/>
        </p:nvPicPr>
        <p:blipFill>
          <a:blip r:embed="rId2"/>
          <a:stretch>
            <a:fillRect/>
          </a:stretch>
        </p:blipFill>
        <p:spPr>
          <a:xfrm>
            <a:off x="2061556" y="2809702"/>
            <a:ext cx="10740044" cy="3990109"/>
          </a:xfrm>
          <a:prstGeom prst="rect">
            <a:avLst/>
          </a:prstGeom>
        </p:spPr>
      </p:pic>
    </p:spTree>
    <p:extLst>
      <p:ext uri="{BB962C8B-B14F-4D97-AF65-F5344CB8AC3E}">
        <p14:creationId xmlns:p14="http://schemas.microsoft.com/office/powerpoint/2010/main" val="12573021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6522" y="1646250"/>
            <a:ext cx="12897326" cy="6151087"/>
          </a:xfrm>
        </p:spPr>
        <p:txBody>
          <a:bodyPr/>
          <a:lstStyle/>
          <a:p>
            <a:r>
              <a:rPr lang="en-US" dirty="0"/>
              <a:t>A super key could be a combination of STUD_NO and PHONE, as this combination uniquely identifies a student</a:t>
            </a:r>
            <a:r>
              <a:rPr lang="en-US" dirty="0" smtClean="0"/>
              <a:t>.</a:t>
            </a:r>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6</a:t>
            </a:fld>
            <a:endParaRPr lang="en-IN"/>
          </a:p>
        </p:txBody>
      </p:sp>
      <p:pic>
        <p:nvPicPr>
          <p:cNvPr id="7" name="Picture 6"/>
          <p:cNvPicPr>
            <a:picLocks noChangeAspect="1"/>
          </p:cNvPicPr>
          <p:nvPr/>
        </p:nvPicPr>
        <p:blipFill>
          <a:blip r:embed="rId2"/>
          <a:stretch>
            <a:fillRect/>
          </a:stretch>
        </p:blipFill>
        <p:spPr>
          <a:xfrm>
            <a:off x="2386055" y="2981253"/>
            <a:ext cx="9525000" cy="4762500"/>
          </a:xfrm>
          <a:prstGeom prst="rect">
            <a:avLst/>
          </a:prstGeom>
        </p:spPr>
      </p:pic>
    </p:spTree>
    <p:extLst>
      <p:ext uri="{BB962C8B-B14F-4D97-AF65-F5344CB8AC3E}">
        <p14:creationId xmlns:p14="http://schemas.microsoft.com/office/powerpoint/2010/main" val="11095611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t/>
            </a:r>
            <a:br>
              <a:rPr lang="en-US" b="1" dirty="0" smtClean="0"/>
            </a:br>
            <a:r>
              <a:rPr lang="en-US" b="1" dirty="0" smtClean="0"/>
              <a:t>2</a:t>
            </a:r>
            <a:r>
              <a:rPr lang="en-US" b="1" dirty="0"/>
              <a:t>. Candidate Key</a:t>
            </a:r>
            <a:br>
              <a:rPr lang="en-US" b="1" dirty="0"/>
            </a:br>
            <a:endParaRPr lang="en-IN" dirty="0"/>
          </a:p>
        </p:txBody>
      </p:sp>
      <p:sp>
        <p:nvSpPr>
          <p:cNvPr id="3" name="Content Placeholder 2"/>
          <p:cNvSpPr>
            <a:spLocks noGrp="1"/>
          </p:cNvSpPr>
          <p:nvPr>
            <p:ph idx="1"/>
          </p:nvPr>
        </p:nvSpPr>
        <p:spPr>
          <a:xfrm>
            <a:off x="716522" y="1646250"/>
            <a:ext cx="12897326" cy="5818579"/>
          </a:xfrm>
        </p:spPr>
        <p:txBody>
          <a:bodyPr/>
          <a:lstStyle/>
          <a:p>
            <a:pPr algn="just" fontAlgn="base"/>
            <a:r>
              <a:rPr lang="en-US" dirty="0" smtClean="0"/>
              <a:t>The </a:t>
            </a:r>
            <a:r>
              <a:rPr lang="en-US" dirty="0"/>
              <a:t>minimal set of attributes that can uniquely identify a tuple is known as a candidate </a:t>
            </a:r>
            <a:r>
              <a:rPr lang="en-US" dirty="0" smtClean="0"/>
              <a:t>key. </a:t>
            </a:r>
            <a:r>
              <a:rPr lang="en-US" dirty="0"/>
              <a:t>For Example, STUD_NO in STUDENT relation.</a:t>
            </a:r>
          </a:p>
          <a:p>
            <a:pPr algn="just" fontAlgn="base"/>
            <a:r>
              <a:rPr lang="en-US" dirty="0"/>
              <a:t>A candidate key is a minimal super key, meaning it can uniquely identify a record but contains no extra attributes.</a:t>
            </a:r>
          </a:p>
          <a:p>
            <a:pPr algn="just" fontAlgn="base"/>
            <a:r>
              <a:rPr lang="en-US" dirty="0"/>
              <a:t>It is a super key with no repeated data is called a candidate key.</a:t>
            </a:r>
          </a:p>
          <a:p>
            <a:pPr algn="just" fontAlgn="base"/>
            <a:r>
              <a:rPr lang="en-US" dirty="0"/>
              <a:t>The minimal set of attributes that can uniquely identify a record.</a:t>
            </a:r>
          </a:p>
          <a:p>
            <a:pPr algn="just" fontAlgn="base"/>
            <a:r>
              <a:rPr lang="en-US" dirty="0"/>
              <a:t>A candidate key must contain unique values, ensuring that no two rows have the same value in the candidate key’s columns.</a:t>
            </a:r>
          </a:p>
          <a:p>
            <a:pPr algn="just" fontAlgn="base"/>
            <a:r>
              <a:rPr lang="en-US" dirty="0"/>
              <a:t>Every table must have at least a single candidate key.</a:t>
            </a:r>
          </a:p>
          <a:p>
            <a:pPr algn="just" fontAlgn="base"/>
            <a:r>
              <a:rPr lang="en-US" dirty="0"/>
              <a:t>A table can have multiple candidate keys but only one primary key.</a:t>
            </a:r>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7</a:t>
            </a:fld>
            <a:endParaRPr lang="en-IN"/>
          </a:p>
        </p:txBody>
      </p:sp>
    </p:spTree>
    <p:extLst>
      <p:ext uri="{BB962C8B-B14F-4D97-AF65-F5344CB8AC3E}">
        <p14:creationId xmlns:p14="http://schemas.microsoft.com/office/powerpoint/2010/main" val="39271508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Example:</a:t>
            </a:r>
            <a:r>
              <a:rPr lang="en-US" dirty="0"/>
              <a:t> For the STUDENT table below, STUD_NO can be a candidate key, as it uniquely identifies each record.</a:t>
            </a:r>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8</a:t>
            </a:fld>
            <a:endParaRPr lang="en-IN"/>
          </a:p>
        </p:txBody>
      </p:sp>
      <p:pic>
        <p:nvPicPr>
          <p:cNvPr id="5" name="Picture 4"/>
          <p:cNvPicPr>
            <a:picLocks noChangeAspect="1"/>
          </p:cNvPicPr>
          <p:nvPr/>
        </p:nvPicPr>
        <p:blipFill>
          <a:blip r:embed="rId2"/>
          <a:stretch>
            <a:fillRect/>
          </a:stretch>
        </p:blipFill>
        <p:spPr>
          <a:xfrm>
            <a:off x="2427316" y="3142211"/>
            <a:ext cx="10141527" cy="3674225"/>
          </a:xfrm>
          <a:prstGeom prst="rect">
            <a:avLst/>
          </a:prstGeom>
        </p:spPr>
      </p:pic>
    </p:spTree>
    <p:extLst>
      <p:ext uri="{BB962C8B-B14F-4D97-AF65-F5344CB8AC3E}">
        <p14:creationId xmlns:p14="http://schemas.microsoft.com/office/powerpoint/2010/main" val="36241519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b="1" dirty="0"/>
              <a:t>Table: </a:t>
            </a:r>
            <a:r>
              <a:rPr lang="en-IN" dirty="0"/>
              <a:t>STUDENT_COURSE</a:t>
            </a:r>
            <a:endParaRPr lang="en-IN" dirty="0" smtClean="0"/>
          </a:p>
          <a:p>
            <a:endParaRPr lang="en-US" dirty="0"/>
          </a:p>
          <a:p>
            <a:endParaRPr lang="en-US" dirty="0" smtClean="0"/>
          </a:p>
          <a:p>
            <a:endParaRPr lang="en-US" dirty="0"/>
          </a:p>
          <a:p>
            <a:endParaRPr lang="en-US" dirty="0" smtClean="0"/>
          </a:p>
          <a:p>
            <a:endParaRPr lang="en-US" dirty="0"/>
          </a:p>
          <a:p>
            <a:pPr marL="25400" indent="0">
              <a:buNone/>
            </a:pPr>
            <a:endParaRPr lang="en-IN" dirty="0" smtClean="0"/>
          </a:p>
          <a:p>
            <a:r>
              <a:rPr lang="en-US" dirty="0"/>
              <a:t>A composite candidate key example: {STUD_NO, COURSE_NO} can be a candidate key for a STUDENT_COURSE table.</a:t>
            </a:r>
            <a:r>
              <a:rPr lang="en-IN" dirty="0" smtClean="0"/>
              <a:t>NT_COURSE</a:t>
            </a:r>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9</a:t>
            </a:fld>
            <a:endParaRPr lang="en-IN"/>
          </a:p>
        </p:txBody>
      </p:sp>
      <p:pic>
        <p:nvPicPr>
          <p:cNvPr id="5" name="Picture 4"/>
          <p:cNvPicPr>
            <a:picLocks noChangeAspect="1"/>
          </p:cNvPicPr>
          <p:nvPr/>
        </p:nvPicPr>
        <p:blipFill>
          <a:blip r:embed="rId2"/>
          <a:stretch>
            <a:fillRect/>
          </a:stretch>
        </p:blipFill>
        <p:spPr>
          <a:xfrm>
            <a:off x="2061557" y="2443941"/>
            <a:ext cx="7980218" cy="3059083"/>
          </a:xfrm>
          <a:prstGeom prst="rect">
            <a:avLst/>
          </a:prstGeom>
        </p:spPr>
      </p:pic>
    </p:spTree>
    <p:extLst>
      <p:ext uri="{BB962C8B-B14F-4D97-AF65-F5344CB8AC3E}">
        <p14:creationId xmlns:p14="http://schemas.microsoft.com/office/powerpoint/2010/main" val="40288283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3. Primary Key</a:t>
            </a:r>
            <a:br>
              <a:rPr lang="en-US" b="1" dirty="0"/>
            </a:br>
            <a:endParaRPr lang="en-IN" dirty="0"/>
          </a:p>
        </p:txBody>
      </p:sp>
      <p:sp>
        <p:nvSpPr>
          <p:cNvPr id="3" name="Content Placeholder 2"/>
          <p:cNvSpPr>
            <a:spLocks noGrp="1"/>
          </p:cNvSpPr>
          <p:nvPr>
            <p:ph idx="1"/>
          </p:nvPr>
        </p:nvSpPr>
        <p:spPr>
          <a:xfrm>
            <a:off x="282633" y="980903"/>
            <a:ext cx="13331215" cy="6833061"/>
          </a:xfrm>
        </p:spPr>
        <p:txBody>
          <a:bodyPr/>
          <a:lstStyle/>
          <a:p>
            <a:pPr fontAlgn="base"/>
            <a:r>
              <a:rPr lang="en-US" dirty="0" smtClean="0"/>
              <a:t>There </a:t>
            </a:r>
            <a:r>
              <a:rPr lang="en-US" dirty="0"/>
              <a:t>can be more than one candidate key in relation out of which one can be chosen as the primary key. For Example, STUD_NO, as well as STUD_PHONE, are candidate keys for relation STUDENT but STUD_NO can be chosen as </a:t>
            </a:r>
            <a:r>
              <a:rPr lang="en-US" dirty="0" smtClean="0"/>
              <a:t>the</a:t>
            </a:r>
            <a:r>
              <a:rPr lang="en-US" dirty="0"/>
              <a:t> </a:t>
            </a:r>
            <a:r>
              <a:rPr lang="en-US" dirty="0" smtClean="0"/>
              <a:t>Primary Key(only </a:t>
            </a:r>
            <a:r>
              <a:rPr lang="en-US" dirty="0"/>
              <a:t>one out of many candidate keys).</a:t>
            </a:r>
          </a:p>
          <a:p>
            <a:pPr fontAlgn="base"/>
            <a:r>
              <a:rPr lang="en-US" dirty="0"/>
              <a:t>A primary key is a unique key, meaning it can uniquely identify each record (tuple) in a </a:t>
            </a:r>
            <a:r>
              <a:rPr lang="en-US" dirty="0" err="1" smtClean="0"/>
              <a:t>table.It</a:t>
            </a:r>
            <a:r>
              <a:rPr lang="en-US" dirty="0" smtClean="0"/>
              <a:t> </a:t>
            </a:r>
            <a:r>
              <a:rPr lang="en-US" dirty="0"/>
              <a:t>must have unique values and cannot contain any duplicate values.</a:t>
            </a:r>
          </a:p>
          <a:p>
            <a:pPr fontAlgn="base"/>
            <a:r>
              <a:rPr lang="en-US" dirty="0"/>
              <a:t>A primary key cannot be NULL, as it needs to provide a valid, unique identifier for every record.</a:t>
            </a:r>
          </a:p>
          <a:p>
            <a:pPr fontAlgn="base"/>
            <a:r>
              <a:rPr lang="en-US" dirty="0"/>
              <a:t>A primary key does not have to consist of a single column. In some cases, a composite primary key (made of multiple columns) can be used to uniquely identify records in a </a:t>
            </a:r>
            <a:r>
              <a:rPr lang="en-US" dirty="0" err="1" smtClean="0"/>
              <a:t>table.Databases</a:t>
            </a:r>
            <a:r>
              <a:rPr lang="en-US" dirty="0" smtClean="0"/>
              <a:t> </a:t>
            </a:r>
            <a:r>
              <a:rPr lang="en-US" dirty="0"/>
              <a:t>typically store rows ordered in memory according to primary key for fast access of records using primary key.</a:t>
            </a:r>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10</a:t>
            </a:fld>
            <a:endParaRPr lang="en-IN"/>
          </a:p>
        </p:txBody>
      </p:sp>
    </p:spTree>
    <p:extLst>
      <p:ext uri="{BB962C8B-B14F-4D97-AF65-F5344CB8AC3E}">
        <p14:creationId xmlns:p14="http://schemas.microsoft.com/office/powerpoint/2010/main" val="1838564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665018" y="1379914"/>
            <a:ext cx="12020204" cy="5752406"/>
          </a:xfrm>
          <a:prstGeom prst="rect">
            <a:avLst/>
          </a:prstGeom>
        </p:spPr>
      </p:pic>
      <p:sp>
        <p:nvSpPr>
          <p:cNvPr id="4" name="Slide Number Placeholder 3"/>
          <p:cNvSpPr>
            <a:spLocks noGrp="1"/>
          </p:cNvSpPr>
          <p:nvPr>
            <p:ph type="sldNum" sz="quarter" idx="12"/>
          </p:nvPr>
        </p:nvSpPr>
        <p:spPr/>
        <p:txBody>
          <a:bodyPr/>
          <a:lstStyle/>
          <a:p>
            <a:fld id="{893A10DD-36DC-414C-BC2F-2B6A95EE1A72}" type="slidenum">
              <a:rPr lang="en-IN" smtClean="0"/>
              <a:t>11</a:t>
            </a:fld>
            <a:endParaRPr lang="en-IN"/>
          </a:p>
        </p:txBody>
      </p:sp>
    </p:spTree>
    <p:extLst>
      <p:ext uri="{BB962C8B-B14F-4D97-AF65-F5344CB8AC3E}">
        <p14:creationId xmlns:p14="http://schemas.microsoft.com/office/powerpoint/2010/main" val="11229043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4. Alternate Key</a:t>
            </a:r>
            <a:br>
              <a:rPr lang="en-US" b="1" dirty="0"/>
            </a:br>
            <a:endParaRPr lang="en-IN" dirty="0"/>
          </a:p>
        </p:txBody>
      </p:sp>
      <p:sp>
        <p:nvSpPr>
          <p:cNvPr id="3" name="Content Placeholder 2"/>
          <p:cNvSpPr>
            <a:spLocks noGrp="1"/>
          </p:cNvSpPr>
          <p:nvPr>
            <p:ph idx="1"/>
          </p:nvPr>
        </p:nvSpPr>
        <p:spPr/>
        <p:txBody>
          <a:bodyPr/>
          <a:lstStyle/>
          <a:p>
            <a:pPr fontAlgn="base"/>
            <a:r>
              <a:rPr lang="en-US" dirty="0" smtClean="0"/>
              <a:t>An</a:t>
            </a:r>
            <a:r>
              <a:rPr lang="en-US" dirty="0"/>
              <a:t> </a:t>
            </a:r>
            <a:r>
              <a:rPr lang="en-US" b="1" dirty="0"/>
              <a:t>Alternate </a:t>
            </a:r>
            <a:r>
              <a:rPr lang="en-US" b="1" dirty="0" smtClean="0"/>
              <a:t>Key</a:t>
            </a:r>
            <a:r>
              <a:rPr lang="en-US" dirty="0" smtClean="0"/>
              <a:t> is </a:t>
            </a:r>
            <a:r>
              <a:rPr lang="en-US" dirty="0"/>
              <a:t>any candidate key in a table that is not chosen as the primary key. In other words, all the keys that are not selected as the primary key are considered alternate keys.</a:t>
            </a:r>
          </a:p>
          <a:p>
            <a:pPr fontAlgn="base"/>
            <a:r>
              <a:rPr lang="en-US" dirty="0"/>
              <a:t>An alternate key is also referred to as a secondary key because it can uniquely identify records in a table, just like the primary key.</a:t>
            </a:r>
          </a:p>
          <a:p>
            <a:pPr fontAlgn="base"/>
            <a:r>
              <a:rPr lang="en-US" dirty="0"/>
              <a:t>An alternate key can consist of one or more columns (fields) that can uniquely identify a record, but it is not the primary </a:t>
            </a:r>
            <a:r>
              <a:rPr lang="en-US" dirty="0" smtClean="0"/>
              <a:t>key.</a:t>
            </a:r>
            <a:endParaRPr lang="en-US" dirty="0"/>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12</a:t>
            </a:fld>
            <a:endParaRPr lang="en-IN"/>
          </a:p>
        </p:txBody>
      </p:sp>
    </p:spTree>
    <p:extLst>
      <p:ext uri="{BB962C8B-B14F-4D97-AF65-F5344CB8AC3E}">
        <p14:creationId xmlns:p14="http://schemas.microsoft.com/office/powerpoint/2010/main" val="29611091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Example:</a:t>
            </a:r>
            <a:r>
              <a:rPr lang="en-US" dirty="0"/>
              <a:t> In the STUDENT table, both STUD_NO and PHONE are candidate keys. If STUD_NO is chosen as the primary key, then PHONE would be considered an alternate key</a:t>
            </a:r>
            <a:r>
              <a:rPr lang="en-US" dirty="0" smtClean="0"/>
              <a:t>.</a:t>
            </a:r>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13</a:t>
            </a:fld>
            <a:endParaRPr lang="en-IN"/>
          </a:p>
        </p:txBody>
      </p:sp>
      <p:pic>
        <p:nvPicPr>
          <p:cNvPr id="5" name="Picture 4"/>
          <p:cNvPicPr>
            <a:picLocks noChangeAspect="1"/>
          </p:cNvPicPr>
          <p:nvPr/>
        </p:nvPicPr>
        <p:blipFill>
          <a:blip r:embed="rId2"/>
          <a:stretch>
            <a:fillRect/>
          </a:stretch>
        </p:blipFill>
        <p:spPr>
          <a:xfrm>
            <a:off x="2111433" y="3548376"/>
            <a:ext cx="10673542" cy="3766824"/>
          </a:xfrm>
          <a:prstGeom prst="rect">
            <a:avLst/>
          </a:prstGeom>
        </p:spPr>
      </p:pic>
    </p:spTree>
    <p:extLst>
      <p:ext uri="{BB962C8B-B14F-4D97-AF65-F5344CB8AC3E}">
        <p14:creationId xmlns:p14="http://schemas.microsoft.com/office/powerpoint/2010/main" val="41385731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5. Foreign Key</a:t>
            </a:r>
            <a:br>
              <a:rPr lang="en-US" b="1" dirty="0"/>
            </a:br>
            <a:endParaRPr lang="en-IN" dirty="0"/>
          </a:p>
        </p:txBody>
      </p:sp>
      <p:sp>
        <p:nvSpPr>
          <p:cNvPr id="3" name="Content Placeholder 2"/>
          <p:cNvSpPr>
            <a:spLocks noGrp="1"/>
          </p:cNvSpPr>
          <p:nvPr>
            <p:ph idx="1"/>
          </p:nvPr>
        </p:nvSpPr>
        <p:spPr>
          <a:xfrm>
            <a:off x="716522" y="1646250"/>
            <a:ext cx="12897326" cy="6101212"/>
          </a:xfrm>
        </p:spPr>
        <p:txBody>
          <a:bodyPr/>
          <a:lstStyle/>
          <a:p>
            <a:pPr fontAlgn="base"/>
            <a:r>
              <a:rPr lang="en-US" dirty="0" smtClean="0"/>
              <a:t>A</a:t>
            </a:r>
            <a:r>
              <a:rPr lang="en-US" dirty="0"/>
              <a:t> </a:t>
            </a:r>
            <a:r>
              <a:rPr lang="en-US" b="1" dirty="0"/>
              <a:t> Foreign Key </a:t>
            </a:r>
            <a:r>
              <a:rPr lang="en-US" dirty="0"/>
              <a:t> is an attribute in one table that refers to the primary key in another table. The table that contains the foreign key is called the referencing table and the table that is referenced is called the referenced table.</a:t>
            </a:r>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14</a:t>
            </a:fld>
            <a:endParaRPr lang="en-IN"/>
          </a:p>
        </p:txBody>
      </p:sp>
      <p:pic>
        <p:nvPicPr>
          <p:cNvPr id="5" name="Picture 4"/>
          <p:cNvPicPr>
            <a:picLocks noChangeAspect="1"/>
          </p:cNvPicPr>
          <p:nvPr/>
        </p:nvPicPr>
        <p:blipFill>
          <a:blip r:embed="rId2"/>
          <a:stretch>
            <a:fillRect/>
          </a:stretch>
        </p:blipFill>
        <p:spPr>
          <a:xfrm>
            <a:off x="2410690" y="3491345"/>
            <a:ext cx="10440785" cy="4106488"/>
          </a:xfrm>
          <a:prstGeom prst="rect">
            <a:avLst/>
          </a:prstGeom>
        </p:spPr>
      </p:pic>
    </p:spTree>
    <p:extLst>
      <p:ext uri="{BB962C8B-B14F-4D97-AF65-F5344CB8AC3E}">
        <p14:creationId xmlns:p14="http://schemas.microsoft.com/office/powerpoint/2010/main" val="24960492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r>
              <a:rPr lang="en-US" dirty="0"/>
              <a:t>A foreign key in one table points to the primary key in another table, establishing a relationship between them.</a:t>
            </a:r>
          </a:p>
          <a:p>
            <a:pPr fontAlgn="base"/>
            <a:r>
              <a:rPr lang="en-US" dirty="0"/>
              <a:t>It helps connect two or more tables, enabling you to create relationships between them. This is important for maintaining data integrity and preventing data redundancy.</a:t>
            </a:r>
          </a:p>
          <a:p>
            <a:pPr fontAlgn="base"/>
            <a:r>
              <a:rPr lang="en-US" dirty="0"/>
              <a:t>They act as a cross-reference between the tables.</a:t>
            </a:r>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15</a:t>
            </a:fld>
            <a:endParaRPr lang="en-IN"/>
          </a:p>
        </p:txBody>
      </p:sp>
    </p:spTree>
    <p:extLst>
      <p:ext uri="{BB962C8B-B14F-4D97-AF65-F5344CB8AC3E}">
        <p14:creationId xmlns:p14="http://schemas.microsoft.com/office/powerpoint/2010/main" val="8394026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Example:</a:t>
            </a:r>
            <a:r>
              <a:rPr lang="en-US" dirty="0" smtClean="0"/>
              <a:t> Consider the STUDENT_COURSE table.</a:t>
            </a:r>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16</a:t>
            </a:fld>
            <a:endParaRPr lang="en-IN"/>
          </a:p>
        </p:txBody>
      </p:sp>
      <p:pic>
        <p:nvPicPr>
          <p:cNvPr id="5" name="Content Placeholder 4"/>
          <p:cNvPicPr>
            <a:picLocks noChangeAspect="1"/>
          </p:cNvPicPr>
          <p:nvPr/>
        </p:nvPicPr>
        <p:blipFill>
          <a:blip r:embed="rId2"/>
          <a:stretch>
            <a:fillRect/>
          </a:stretch>
        </p:blipFill>
        <p:spPr>
          <a:xfrm>
            <a:off x="2327564" y="3258217"/>
            <a:ext cx="6500552" cy="2760198"/>
          </a:xfrm>
          <a:prstGeom prst="rect">
            <a:avLst/>
          </a:prstGeom>
          <a:noFill/>
          <a:ln>
            <a:noFill/>
          </a:ln>
        </p:spPr>
      </p:pic>
    </p:spTree>
    <p:extLst>
      <p:ext uri="{BB962C8B-B14F-4D97-AF65-F5344CB8AC3E}">
        <p14:creationId xmlns:p14="http://schemas.microsoft.com/office/powerpoint/2010/main" val="19212622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r>
              <a:rPr lang="en-US" b="1" dirty="0"/>
              <a:t>Explanation:</a:t>
            </a:r>
            <a:endParaRPr lang="en-US" dirty="0"/>
          </a:p>
          <a:p>
            <a:pPr algn="just" fontAlgn="base"/>
            <a:r>
              <a:rPr lang="en-US" dirty="0"/>
              <a:t>Here, STUD_NO in the STUDENT_COURSE table is a foreign key that references the STUD_NO primary key in the STUDENT table.</a:t>
            </a:r>
          </a:p>
          <a:p>
            <a:pPr algn="just" fontAlgn="base"/>
            <a:r>
              <a:rPr lang="en-US" dirty="0"/>
              <a:t>Unlike the Primary Key of any given relation, Foreign Key can be NULL as well as may contain duplicate tuples i.e. it need not follow uniqueness constraint. For Example, STUD_NO in the STUDENT_COURSE relation is not unique.</a:t>
            </a:r>
          </a:p>
          <a:p>
            <a:pPr algn="just" fontAlgn="base"/>
            <a:r>
              <a:rPr lang="en-US" dirty="0"/>
              <a:t>It has been repeated for the first and third tuples. However, the STUD_NO in STUDENT relation is a primary key and it needs to be always unique and it cannot be null.</a:t>
            </a:r>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17</a:t>
            </a:fld>
            <a:endParaRPr lang="en-IN"/>
          </a:p>
        </p:txBody>
      </p:sp>
    </p:spTree>
    <p:extLst>
      <p:ext uri="{BB962C8B-B14F-4D97-AF65-F5344CB8AC3E}">
        <p14:creationId xmlns:p14="http://schemas.microsoft.com/office/powerpoint/2010/main" val="8954894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6. Composite Key</a:t>
            </a:r>
            <a:br>
              <a:rPr lang="en-US" b="1" dirty="0"/>
            </a:br>
            <a:endParaRPr lang="en-IN" dirty="0"/>
          </a:p>
        </p:txBody>
      </p:sp>
      <p:sp>
        <p:nvSpPr>
          <p:cNvPr id="3" name="Content Placeholder 2"/>
          <p:cNvSpPr>
            <a:spLocks noGrp="1"/>
          </p:cNvSpPr>
          <p:nvPr>
            <p:ph idx="1"/>
          </p:nvPr>
        </p:nvSpPr>
        <p:spPr/>
        <p:txBody>
          <a:bodyPr/>
          <a:lstStyle/>
          <a:p>
            <a:pPr algn="just" fontAlgn="base"/>
            <a:r>
              <a:rPr lang="en-US" dirty="0" smtClean="0"/>
              <a:t>Sometimes</a:t>
            </a:r>
            <a:r>
              <a:rPr lang="en-US" dirty="0"/>
              <a:t>, a table might not have a single column/attribute that uniquely identifies all the records of a table. To uniquely identify rows of a table, a combination of two or more columns/attributes can be used. It still can give duplicate values in rare cases. So, we need to find the optimal set of attributes that can uniquely identify rows in a table.</a:t>
            </a:r>
          </a:p>
          <a:p>
            <a:pPr algn="just" fontAlgn="base"/>
            <a:r>
              <a:rPr lang="en-US" dirty="0"/>
              <a:t>It acts as a primary key if there is no primary key in a table</a:t>
            </a:r>
          </a:p>
          <a:p>
            <a:pPr algn="just" fontAlgn="base"/>
            <a:r>
              <a:rPr lang="en-US" dirty="0"/>
              <a:t>Two or more attributes are used together to make </a:t>
            </a:r>
            <a:r>
              <a:rPr lang="en-US" dirty="0" smtClean="0"/>
              <a:t>a </a:t>
            </a:r>
            <a:r>
              <a:rPr lang="en-US" b="1" dirty="0"/>
              <a:t>Composite </a:t>
            </a:r>
            <a:r>
              <a:rPr lang="en-US" b="1" dirty="0" smtClean="0"/>
              <a:t>Key.</a:t>
            </a:r>
            <a:endParaRPr lang="en-US" u="sng" dirty="0"/>
          </a:p>
          <a:p>
            <a:pPr algn="just" fontAlgn="base"/>
            <a:r>
              <a:rPr lang="en-US" dirty="0" smtClean="0"/>
              <a:t>Different </a:t>
            </a:r>
            <a:r>
              <a:rPr lang="en-US" dirty="0"/>
              <a:t>combinations of attributes may give different accuracy in terms of identifying the rows uniquely.</a:t>
            </a:r>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18</a:t>
            </a:fld>
            <a:endParaRPr lang="en-IN"/>
          </a:p>
        </p:txBody>
      </p:sp>
    </p:spTree>
    <p:extLst>
      <p:ext uri="{BB962C8B-B14F-4D97-AF65-F5344CB8AC3E}">
        <p14:creationId xmlns:p14="http://schemas.microsoft.com/office/powerpoint/2010/main" val="2704906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2400" b="1" dirty="0"/>
              <a:t>Example: </a:t>
            </a:r>
            <a:r>
              <a:rPr lang="en-US" sz="2400" dirty="0"/>
              <a:t>In the STUDENT_COURSE table, {STUD_NO, COURSE_NO} can form a composite key to uniquely identify </a:t>
            </a:r>
            <a:r>
              <a:rPr lang="en-US" sz="2400" dirty="0" smtClean="0"/>
              <a:t>each </a:t>
            </a:r>
            <a:r>
              <a:rPr lang="en-US" sz="2400" dirty="0"/>
              <a:t>record</a:t>
            </a:r>
            <a:r>
              <a:rPr lang="en-US" sz="2400" dirty="0" smtClean="0"/>
              <a:t>.</a:t>
            </a:r>
          </a:p>
          <a:p>
            <a:endParaRPr lang="en-IN" sz="2400" dirty="0"/>
          </a:p>
        </p:txBody>
      </p:sp>
      <p:sp>
        <p:nvSpPr>
          <p:cNvPr id="4" name="Slide Number Placeholder 3"/>
          <p:cNvSpPr>
            <a:spLocks noGrp="1"/>
          </p:cNvSpPr>
          <p:nvPr>
            <p:ph type="sldNum" sz="quarter" idx="12"/>
          </p:nvPr>
        </p:nvSpPr>
        <p:spPr/>
        <p:txBody>
          <a:bodyPr/>
          <a:lstStyle/>
          <a:p>
            <a:fld id="{893A10DD-36DC-414C-BC2F-2B6A95EE1A72}" type="slidenum">
              <a:rPr lang="en-IN" smtClean="0"/>
              <a:t>19</a:t>
            </a:fld>
            <a:endParaRPr lang="en-IN"/>
          </a:p>
        </p:txBody>
      </p:sp>
      <p:pic>
        <p:nvPicPr>
          <p:cNvPr id="5" name="Picture 4"/>
          <p:cNvPicPr>
            <a:picLocks noChangeAspect="1"/>
          </p:cNvPicPr>
          <p:nvPr/>
        </p:nvPicPr>
        <p:blipFill>
          <a:blip r:embed="rId2"/>
          <a:stretch>
            <a:fillRect/>
          </a:stretch>
        </p:blipFill>
        <p:spPr>
          <a:xfrm>
            <a:off x="1047404" y="2543695"/>
            <a:ext cx="12452465" cy="4987636"/>
          </a:xfrm>
          <a:prstGeom prst="rect">
            <a:avLst/>
          </a:prstGeom>
        </p:spPr>
      </p:pic>
    </p:spTree>
    <p:extLst>
      <p:ext uri="{BB962C8B-B14F-4D97-AF65-F5344CB8AC3E}">
        <p14:creationId xmlns:p14="http://schemas.microsoft.com/office/powerpoint/2010/main" val="292292980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fontAlgn="base"/>
            <a:r>
              <a:rPr lang="en-US" b="1" dirty="0"/>
              <a:t>SQL constraints </a:t>
            </a:r>
            <a:r>
              <a:rPr lang="en-US" dirty="0"/>
              <a:t>are essential elements in </a:t>
            </a:r>
            <a:r>
              <a:rPr lang="en-US" b="1" dirty="0"/>
              <a:t>relational database design</a:t>
            </a:r>
            <a:r>
              <a:rPr lang="en-US" dirty="0"/>
              <a:t> that ensure the </a:t>
            </a:r>
            <a:r>
              <a:rPr lang="en-US" b="1" dirty="0"/>
              <a:t>integrity</a:t>
            </a:r>
            <a:r>
              <a:rPr lang="en-US" dirty="0"/>
              <a:t>, </a:t>
            </a:r>
            <a:r>
              <a:rPr lang="en-US" b="1" dirty="0"/>
              <a:t>accuracy</a:t>
            </a:r>
            <a:r>
              <a:rPr lang="en-US" dirty="0"/>
              <a:t>, and </a:t>
            </a:r>
            <a:r>
              <a:rPr lang="en-US" b="1" dirty="0"/>
              <a:t>reliability</a:t>
            </a:r>
            <a:r>
              <a:rPr lang="en-US" dirty="0"/>
              <a:t> of the data stored in a database. </a:t>
            </a:r>
            <a:endParaRPr lang="en-US" dirty="0" smtClean="0"/>
          </a:p>
          <a:p>
            <a:pPr algn="just" fontAlgn="base"/>
            <a:r>
              <a:rPr lang="en-US" dirty="0" smtClean="0"/>
              <a:t>By </a:t>
            </a:r>
            <a:r>
              <a:rPr lang="en-US" dirty="0"/>
              <a:t>enforcing specific rules on table columns, SQL constraints help maintain data consistency, preventing invalid data entries and optimizing query performance.</a:t>
            </a:r>
          </a:p>
          <a:p>
            <a:pPr algn="just" fontAlgn="base"/>
            <a:r>
              <a:rPr lang="en-US" dirty="0"/>
              <a:t>In this article, we will explain the most common SQL constraints in detail, providing clear examples and explaining how to implement them effectively.</a:t>
            </a:r>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20</a:t>
            </a:fld>
            <a:endParaRPr lang="en-IN"/>
          </a:p>
        </p:txBody>
      </p:sp>
    </p:spTree>
    <p:extLst>
      <p:ext uri="{BB962C8B-B14F-4D97-AF65-F5344CB8AC3E}">
        <p14:creationId xmlns:p14="http://schemas.microsoft.com/office/powerpoint/2010/main" val="30738224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t>What </a:t>
            </a:r>
            <a:r>
              <a:rPr lang="en-US" dirty="0"/>
              <a:t>Are SQL Constraints?</a:t>
            </a:r>
            <a:br>
              <a:rPr lang="en-US" dirty="0"/>
            </a:br>
            <a:endParaRPr lang="en-IN" dirty="0"/>
          </a:p>
        </p:txBody>
      </p:sp>
      <p:sp>
        <p:nvSpPr>
          <p:cNvPr id="3" name="Content Placeholder 2"/>
          <p:cNvSpPr>
            <a:spLocks noGrp="1"/>
          </p:cNvSpPr>
          <p:nvPr>
            <p:ph idx="1"/>
          </p:nvPr>
        </p:nvSpPr>
        <p:spPr/>
        <p:txBody>
          <a:bodyPr/>
          <a:lstStyle/>
          <a:p>
            <a:pPr algn="just"/>
            <a:r>
              <a:rPr lang="en-US" dirty="0" smtClean="0"/>
              <a:t>SQL </a:t>
            </a:r>
            <a:r>
              <a:rPr lang="en-US" dirty="0"/>
              <a:t>constraints are rules applied to columns or tables in a relational database to limit the type of data that can be inserted, updated, or deleted. </a:t>
            </a:r>
            <a:endParaRPr lang="en-US" dirty="0" smtClean="0"/>
          </a:p>
          <a:p>
            <a:pPr algn="just"/>
            <a:r>
              <a:rPr lang="en-US" dirty="0" smtClean="0"/>
              <a:t>These </a:t>
            </a:r>
            <a:r>
              <a:rPr lang="en-US" dirty="0"/>
              <a:t>rules ensure the data is valid, consistent, and adheres to the business logic or database requirements. </a:t>
            </a:r>
            <a:endParaRPr lang="en-US" dirty="0" smtClean="0"/>
          </a:p>
          <a:p>
            <a:pPr algn="just"/>
            <a:r>
              <a:rPr lang="en-US" dirty="0" smtClean="0"/>
              <a:t>Constraints </a:t>
            </a:r>
            <a:r>
              <a:rPr lang="en-US" dirty="0"/>
              <a:t>can be enforced during table creation or later using the ALTER TABLE statement. They play a vital role in maintaining the quality and integrity of your database.</a:t>
            </a:r>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21</a:t>
            </a:fld>
            <a:endParaRPr lang="en-IN"/>
          </a:p>
        </p:txBody>
      </p:sp>
    </p:spTree>
    <p:extLst>
      <p:ext uri="{BB962C8B-B14F-4D97-AF65-F5344CB8AC3E}">
        <p14:creationId xmlns:p14="http://schemas.microsoft.com/office/powerpoint/2010/main" val="13494560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r>
            <a:br>
              <a:rPr lang="en-US" b="1" dirty="0" smtClean="0"/>
            </a:br>
            <a:r>
              <a:rPr lang="en-US" b="1" dirty="0" smtClean="0"/>
              <a:t>Types </a:t>
            </a:r>
            <a:r>
              <a:rPr lang="en-US" b="1" dirty="0"/>
              <a:t>of SQL Constraints </a:t>
            </a:r>
            <a:br>
              <a:rPr lang="en-US" b="1" dirty="0"/>
            </a:br>
            <a:endParaRPr lang="en-IN" dirty="0"/>
          </a:p>
        </p:txBody>
      </p:sp>
      <p:sp>
        <p:nvSpPr>
          <p:cNvPr id="3" name="Content Placeholder 2"/>
          <p:cNvSpPr>
            <a:spLocks noGrp="1"/>
          </p:cNvSpPr>
          <p:nvPr>
            <p:ph idx="1"/>
          </p:nvPr>
        </p:nvSpPr>
        <p:spPr>
          <a:xfrm>
            <a:off x="716522" y="1646250"/>
            <a:ext cx="12897326" cy="6084586"/>
          </a:xfrm>
        </p:spPr>
        <p:txBody>
          <a:bodyPr/>
          <a:lstStyle/>
          <a:p>
            <a:pPr fontAlgn="base"/>
            <a:r>
              <a:rPr lang="en-US" dirty="0" smtClean="0"/>
              <a:t>SQL </a:t>
            </a:r>
            <a:r>
              <a:rPr lang="en-US" dirty="0"/>
              <a:t>provides several types of constraints to manage different aspects of data integrity. </a:t>
            </a:r>
            <a:endParaRPr lang="en-US" dirty="0" smtClean="0"/>
          </a:p>
          <a:p>
            <a:pPr fontAlgn="base"/>
            <a:r>
              <a:rPr lang="en-US" dirty="0" smtClean="0"/>
              <a:t>These </a:t>
            </a:r>
            <a:r>
              <a:rPr lang="en-US" dirty="0"/>
              <a:t>constraints are essential for ensuring that data meets the requirements of </a:t>
            </a:r>
            <a:r>
              <a:rPr lang="en-US" b="1" dirty="0"/>
              <a:t>accuracy</a:t>
            </a:r>
            <a:r>
              <a:rPr lang="en-US" dirty="0"/>
              <a:t>, </a:t>
            </a:r>
            <a:r>
              <a:rPr lang="en-US" b="1" dirty="0"/>
              <a:t>consistency</a:t>
            </a:r>
            <a:r>
              <a:rPr lang="en-US" dirty="0"/>
              <a:t>, and </a:t>
            </a:r>
            <a:r>
              <a:rPr lang="en-US" b="1" dirty="0"/>
              <a:t>validity</a:t>
            </a:r>
            <a:r>
              <a:rPr lang="en-US" dirty="0"/>
              <a:t>. </a:t>
            </a:r>
            <a:r>
              <a:rPr lang="en-US" dirty="0" smtClean="0"/>
              <a:t>Let’s </a:t>
            </a:r>
            <a:r>
              <a:rPr lang="en-US" dirty="0"/>
              <a:t>go through each of them with detailed explanations and examples</a:t>
            </a:r>
            <a:r>
              <a:rPr lang="en-US" dirty="0" smtClean="0"/>
              <a:t>.</a:t>
            </a:r>
          </a:p>
          <a:p>
            <a:pPr fontAlgn="base"/>
            <a:r>
              <a:rPr lang="en-IN" b="1" dirty="0"/>
              <a:t>1. NOT NULL Constraint</a:t>
            </a:r>
          </a:p>
          <a:p>
            <a:pPr fontAlgn="base"/>
            <a:r>
              <a:rPr lang="en-IN" b="1" dirty="0"/>
              <a:t>2. UNIQUE Constraint</a:t>
            </a:r>
          </a:p>
          <a:p>
            <a:pPr fontAlgn="base"/>
            <a:r>
              <a:rPr lang="en-IN" b="1" dirty="0"/>
              <a:t>3. PRIMARY KEY Constraint </a:t>
            </a:r>
          </a:p>
          <a:p>
            <a:pPr fontAlgn="base"/>
            <a:r>
              <a:rPr lang="en-IN" b="1" dirty="0"/>
              <a:t>4. FOREIGN KEY Constraint</a:t>
            </a:r>
          </a:p>
          <a:p>
            <a:pPr fontAlgn="base"/>
            <a:r>
              <a:rPr lang="en-IN" b="1" dirty="0"/>
              <a:t>5. CHECK Constraint</a:t>
            </a:r>
          </a:p>
          <a:p>
            <a:pPr fontAlgn="base"/>
            <a:r>
              <a:rPr lang="en-IN" b="1" dirty="0"/>
              <a:t>6. DEFAULT Constraint</a:t>
            </a:r>
          </a:p>
          <a:p>
            <a:pPr fontAlgn="base"/>
            <a:endParaRPr lang="en-US" dirty="0"/>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22</a:t>
            </a:fld>
            <a:endParaRPr lang="en-IN"/>
          </a:p>
        </p:txBody>
      </p:sp>
    </p:spTree>
    <p:extLst>
      <p:ext uri="{BB962C8B-B14F-4D97-AF65-F5344CB8AC3E}">
        <p14:creationId xmlns:p14="http://schemas.microsoft.com/office/powerpoint/2010/main" val="326091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Specify Constraints in SQL</a:t>
            </a:r>
            <a:br>
              <a:rPr lang="en-US" dirty="0"/>
            </a:br>
            <a:endParaRPr lang="en-IN" dirty="0"/>
          </a:p>
        </p:txBody>
      </p:sp>
      <p:sp>
        <p:nvSpPr>
          <p:cNvPr id="3" name="Content Placeholder 2"/>
          <p:cNvSpPr>
            <a:spLocks noGrp="1"/>
          </p:cNvSpPr>
          <p:nvPr>
            <p:ph idx="1"/>
          </p:nvPr>
        </p:nvSpPr>
        <p:spPr/>
        <p:txBody>
          <a:bodyPr/>
          <a:lstStyle/>
          <a:p>
            <a:r>
              <a:rPr lang="en-US" sz="2400" dirty="0" smtClean="0"/>
              <a:t>Constraints </a:t>
            </a:r>
            <a:r>
              <a:rPr lang="en-US" sz="2400" dirty="0"/>
              <a:t>can be specified during the table creation process using the CREATE TABLE statement. Additionally, constraints can be modified or added to existing tables using the ALTER TABLE statement</a:t>
            </a:r>
            <a:r>
              <a:rPr lang="en-US" sz="2400" dirty="0" smtClean="0"/>
              <a:t>.</a:t>
            </a:r>
            <a:endParaRPr lang="en-US" sz="2400" dirty="0"/>
          </a:p>
          <a:p>
            <a:r>
              <a:rPr lang="en-US" sz="2400" dirty="0"/>
              <a:t>Syntax for Creating Constraints:</a:t>
            </a:r>
          </a:p>
          <a:p>
            <a:pPr marL="25400" indent="0">
              <a:buNone/>
            </a:pPr>
            <a:r>
              <a:rPr lang="en-US" sz="2400" dirty="0" smtClean="0"/>
              <a:t>          CREATE </a:t>
            </a:r>
            <a:r>
              <a:rPr lang="en-US" sz="2400" dirty="0"/>
              <a:t>TABLE </a:t>
            </a:r>
            <a:r>
              <a:rPr lang="en-US" sz="2400" dirty="0" err="1" smtClean="0"/>
              <a:t>table_name</a:t>
            </a:r>
            <a:endParaRPr lang="en-US" sz="2400" dirty="0" smtClean="0"/>
          </a:p>
          <a:p>
            <a:pPr marL="25400" indent="0">
              <a:buNone/>
            </a:pPr>
            <a:r>
              <a:rPr lang="en-US" sz="2400" dirty="0" smtClean="0"/>
              <a:t>(</a:t>
            </a:r>
            <a:endParaRPr lang="en-US" sz="2400" dirty="0"/>
          </a:p>
          <a:p>
            <a:pPr marL="25400" indent="0">
              <a:buNone/>
            </a:pPr>
            <a:r>
              <a:rPr lang="en-US" sz="2400" dirty="0"/>
              <a:t>    column1 </a:t>
            </a:r>
            <a:r>
              <a:rPr lang="en-US" sz="2400" dirty="0" err="1"/>
              <a:t>data_type</a:t>
            </a:r>
            <a:r>
              <a:rPr lang="en-US" sz="2400" dirty="0"/>
              <a:t> [</a:t>
            </a:r>
            <a:r>
              <a:rPr lang="en-US" sz="2400" dirty="0" err="1"/>
              <a:t>constraint_name</a:t>
            </a:r>
            <a:r>
              <a:rPr lang="en-US" sz="2400" dirty="0" smtClean="0"/>
              <a:t>],</a:t>
            </a:r>
          </a:p>
          <a:p>
            <a:pPr marL="25400" indent="0">
              <a:buNone/>
            </a:pPr>
            <a:r>
              <a:rPr lang="en-US" sz="2400" dirty="0" smtClean="0"/>
              <a:t>   </a:t>
            </a:r>
            <a:r>
              <a:rPr lang="en-US" sz="2400" dirty="0"/>
              <a:t>column2 </a:t>
            </a:r>
            <a:r>
              <a:rPr lang="en-US" sz="2400" dirty="0" err="1"/>
              <a:t>data_type</a:t>
            </a:r>
            <a:r>
              <a:rPr lang="en-US" sz="2400" dirty="0"/>
              <a:t> [</a:t>
            </a:r>
            <a:r>
              <a:rPr lang="en-US" sz="2400" dirty="0" err="1"/>
              <a:t>constraint_name</a:t>
            </a:r>
            <a:r>
              <a:rPr lang="en-US" sz="2400" dirty="0"/>
              <a:t>],</a:t>
            </a:r>
          </a:p>
          <a:p>
            <a:pPr marL="25400" indent="0">
              <a:buNone/>
            </a:pPr>
            <a:r>
              <a:rPr lang="en-US" sz="2400" dirty="0"/>
              <a:t> </a:t>
            </a:r>
            <a:r>
              <a:rPr lang="en-US" sz="2400" dirty="0" smtClean="0"/>
              <a:t>  </a:t>
            </a:r>
            <a:r>
              <a:rPr lang="en-US" sz="2400" dirty="0"/>
              <a:t>column3 </a:t>
            </a:r>
            <a:r>
              <a:rPr lang="en-US" sz="2400" dirty="0" err="1"/>
              <a:t>data_type</a:t>
            </a:r>
            <a:r>
              <a:rPr lang="en-US" sz="2400" dirty="0"/>
              <a:t> [</a:t>
            </a:r>
            <a:r>
              <a:rPr lang="en-US" sz="2400" dirty="0" err="1"/>
              <a:t>constraint_name</a:t>
            </a:r>
            <a:r>
              <a:rPr lang="en-US" sz="2400" dirty="0" smtClean="0"/>
              <a:t>],  ...</a:t>
            </a:r>
            <a:endParaRPr lang="en-US" sz="2400" dirty="0"/>
          </a:p>
          <a:p>
            <a:pPr marL="25400" indent="0">
              <a:buNone/>
            </a:pPr>
            <a:r>
              <a:rPr lang="en-US" sz="2400" dirty="0" smtClean="0"/>
              <a:t>);</a:t>
            </a:r>
            <a:endParaRPr lang="en-US" sz="2400" dirty="0"/>
          </a:p>
          <a:p>
            <a:r>
              <a:rPr lang="en-US" sz="2400" dirty="0"/>
              <a:t>We can also add or remove constraints after a table is </a:t>
            </a:r>
            <a:r>
              <a:rPr lang="en-US" sz="2400" dirty="0" smtClean="0"/>
              <a:t>created.</a:t>
            </a:r>
            <a:endParaRPr lang="en-IN" sz="2400" dirty="0"/>
          </a:p>
        </p:txBody>
      </p:sp>
      <p:sp>
        <p:nvSpPr>
          <p:cNvPr id="4" name="Slide Number Placeholder 3"/>
          <p:cNvSpPr>
            <a:spLocks noGrp="1"/>
          </p:cNvSpPr>
          <p:nvPr>
            <p:ph type="sldNum" sz="quarter" idx="12"/>
          </p:nvPr>
        </p:nvSpPr>
        <p:spPr/>
        <p:txBody>
          <a:bodyPr/>
          <a:lstStyle/>
          <a:p>
            <a:fld id="{893A10DD-36DC-414C-BC2F-2B6A95EE1A72}" type="slidenum">
              <a:rPr lang="en-IN" smtClean="0"/>
              <a:t>23</a:t>
            </a:fld>
            <a:endParaRPr lang="en-IN"/>
          </a:p>
        </p:txBody>
      </p:sp>
    </p:spTree>
    <p:extLst>
      <p:ext uri="{BB962C8B-B14F-4D97-AF65-F5344CB8AC3E}">
        <p14:creationId xmlns:p14="http://schemas.microsoft.com/office/powerpoint/2010/main" val="112996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r>
            <a:br>
              <a:rPr lang="en-US" b="1" dirty="0" smtClean="0"/>
            </a:br>
            <a:r>
              <a:rPr lang="en-US" b="1" dirty="0" smtClean="0"/>
              <a:t>1</a:t>
            </a:r>
            <a:r>
              <a:rPr lang="en-US" b="1" dirty="0"/>
              <a:t>. NOT NULL Constraint</a:t>
            </a:r>
            <a:br>
              <a:rPr lang="en-US" b="1" dirty="0"/>
            </a:br>
            <a:endParaRPr lang="en-IN" dirty="0"/>
          </a:p>
        </p:txBody>
      </p:sp>
      <p:sp>
        <p:nvSpPr>
          <p:cNvPr id="3" name="Content Placeholder 2"/>
          <p:cNvSpPr>
            <a:spLocks noGrp="1"/>
          </p:cNvSpPr>
          <p:nvPr>
            <p:ph idx="1"/>
          </p:nvPr>
        </p:nvSpPr>
        <p:spPr>
          <a:xfrm>
            <a:off x="716522" y="1646250"/>
            <a:ext cx="12897326" cy="6151088"/>
          </a:xfrm>
        </p:spPr>
        <p:txBody>
          <a:bodyPr/>
          <a:lstStyle/>
          <a:p>
            <a:pPr fontAlgn="base"/>
            <a:r>
              <a:rPr lang="en-US" dirty="0" smtClean="0"/>
              <a:t>The</a:t>
            </a:r>
            <a:r>
              <a:rPr lang="en-US" dirty="0"/>
              <a:t> </a:t>
            </a:r>
            <a:r>
              <a:rPr lang="en-US" b="1" dirty="0"/>
              <a:t>NOT NULL</a:t>
            </a:r>
            <a:r>
              <a:rPr lang="en-US" dirty="0"/>
              <a:t> constraint ensures that a column cannot contain NULL values. This is particularly important for columns where a value is essential for identifying records or performing calculations. If a column is defined as </a:t>
            </a:r>
            <a:r>
              <a:rPr lang="en-US" b="1" dirty="0"/>
              <a:t>NOT NULL</a:t>
            </a:r>
            <a:r>
              <a:rPr lang="en-US" dirty="0"/>
              <a:t>, every row must include a value for that column</a:t>
            </a:r>
            <a:r>
              <a:rPr lang="en-US" dirty="0" smtClean="0"/>
              <a:t>.</a:t>
            </a:r>
          </a:p>
          <a:p>
            <a:pPr fontAlgn="base"/>
            <a:endParaRPr lang="en-US" dirty="0"/>
          </a:p>
          <a:p>
            <a:r>
              <a:rPr lang="en-US" dirty="0"/>
              <a:t>Explanation: In the above example, both the ID and NAME columns are defined with the NOT NULL constraint, meaning every student must have an ID and NAME value.</a:t>
            </a:r>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24</a:t>
            </a:fld>
            <a:endParaRPr lang="en-IN"/>
          </a:p>
        </p:txBody>
      </p:sp>
      <p:pic>
        <p:nvPicPr>
          <p:cNvPr id="5" name="Picture 4"/>
          <p:cNvPicPr>
            <a:picLocks noChangeAspect="1"/>
          </p:cNvPicPr>
          <p:nvPr/>
        </p:nvPicPr>
        <p:blipFill>
          <a:blip r:embed="rId2"/>
          <a:stretch>
            <a:fillRect/>
          </a:stretch>
        </p:blipFill>
        <p:spPr>
          <a:xfrm>
            <a:off x="7117076" y="5266620"/>
            <a:ext cx="5649113" cy="2781688"/>
          </a:xfrm>
          <a:prstGeom prst="rect">
            <a:avLst/>
          </a:prstGeom>
        </p:spPr>
      </p:pic>
    </p:spTree>
    <p:extLst>
      <p:ext uri="{BB962C8B-B14F-4D97-AF65-F5344CB8AC3E}">
        <p14:creationId xmlns:p14="http://schemas.microsoft.com/office/powerpoint/2010/main" val="36589283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r>
            <a:br>
              <a:rPr lang="en-US" b="1" dirty="0" smtClean="0"/>
            </a:br>
            <a:r>
              <a:rPr lang="en-US" b="1" dirty="0" smtClean="0"/>
              <a:t>2</a:t>
            </a:r>
            <a:r>
              <a:rPr lang="en-US" b="1" dirty="0"/>
              <a:t>. UNIQUE Constraint</a:t>
            </a:r>
            <a:br>
              <a:rPr lang="en-US" b="1" dirty="0"/>
            </a:br>
            <a:endParaRPr lang="en-IN" dirty="0"/>
          </a:p>
        </p:txBody>
      </p:sp>
      <p:sp>
        <p:nvSpPr>
          <p:cNvPr id="3" name="Content Placeholder 2"/>
          <p:cNvSpPr>
            <a:spLocks noGrp="1"/>
          </p:cNvSpPr>
          <p:nvPr>
            <p:ph idx="1"/>
          </p:nvPr>
        </p:nvSpPr>
        <p:spPr>
          <a:xfrm>
            <a:off x="716522" y="1646250"/>
            <a:ext cx="12897326" cy="5984834"/>
          </a:xfrm>
        </p:spPr>
        <p:txBody>
          <a:bodyPr/>
          <a:lstStyle/>
          <a:p>
            <a:pPr fontAlgn="base"/>
            <a:r>
              <a:rPr lang="en-US" dirty="0" smtClean="0"/>
              <a:t>The</a:t>
            </a:r>
            <a:r>
              <a:rPr lang="en-US" dirty="0"/>
              <a:t> </a:t>
            </a:r>
            <a:r>
              <a:rPr lang="en-US" b="1" dirty="0"/>
              <a:t>UNIQUE</a:t>
            </a:r>
            <a:r>
              <a:rPr lang="en-US" dirty="0"/>
              <a:t> constraint ensures that all values in a column are distinct across all rows in a table. Unlike the </a:t>
            </a:r>
            <a:r>
              <a:rPr lang="en-US" b="1" dirty="0"/>
              <a:t>PRIMARY KEY</a:t>
            </a:r>
            <a:r>
              <a:rPr lang="en-US" dirty="0"/>
              <a:t>, which requires uniqueness and does not allow NULLs, the UNIQUE constraint allows NULL values but still enforces uniqueness for non-NULL entries</a:t>
            </a:r>
            <a:r>
              <a:rPr lang="en-US" dirty="0" smtClean="0"/>
              <a:t>.</a:t>
            </a:r>
          </a:p>
          <a:p>
            <a:pPr fontAlgn="base"/>
            <a:r>
              <a:rPr lang="en-US" dirty="0"/>
              <a:t>Explanation: Here, the ID column must have unique values, ensuring that no two students can share the same ID. We can have more than one UNIQUE constraint in a table.</a:t>
            </a:r>
          </a:p>
          <a:p>
            <a:pPr fontAlgn="base"/>
            <a:endParaRPr lang="en-US" dirty="0"/>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25</a:t>
            </a:fld>
            <a:endParaRPr lang="en-IN"/>
          </a:p>
        </p:txBody>
      </p:sp>
      <p:pic>
        <p:nvPicPr>
          <p:cNvPr id="5" name="Picture 4"/>
          <p:cNvPicPr>
            <a:picLocks noChangeAspect="1"/>
          </p:cNvPicPr>
          <p:nvPr/>
        </p:nvPicPr>
        <p:blipFill>
          <a:blip r:embed="rId2"/>
          <a:stretch>
            <a:fillRect/>
          </a:stretch>
        </p:blipFill>
        <p:spPr>
          <a:xfrm>
            <a:off x="6350924" y="4815158"/>
            <a:ext cx="6517177" cy="2524477"/>
          </a:xfrm>
          <a:prstGeom prst="rect">
            <a:avLst/>
          </a:prstGeom>
        </p:spPr>
      </p:pic>
    </p:spTree>
    <p:extLst>
      <p:ext uri="{BB962C8B-B14F-4D97-AF65-F5344CB8AC3E}">
        <p14:creationId xmlns:p14="http://schemas.microsoft.com/office/powerpoint/2010/main" val="2120590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2"/>
            <a:ext cx="10150674" cy="681642"/>
          </a:xfrm>
        </p:spPr>
        <p:txBody>
          <a:bodyPr/>
          <a:lstStyle/>
          <a:p>
            <a:r>
              <a:rPr lang="en-US" b="1" dirty="0" smtClean="0"/>
              <a:t/>
            </a:r>
            <a:br>
              <a:rPr lang="en-US" b="1" dirty="0" smtClean="0"/>
            </a:br>
            <a:r>
              <a:rPr lang="en-US" b="1" dirty="0" smtClean="0"/>
              <a:t>3</a:t>
            </a:r>
            <a:r>
              <a:rPr lang="en-US" b="1" dirty="0"/>
              <a:t>. PRIMARY KEY Constraint </a:t>
            </a:r>
            <a:br>
              <a:rPr lang="en-US" b="1" dirty="0"/>
            </a:br>
            <a:endParaRPr lang="en-IN" dirty="0"/>
          </a:p>
        </p:txBody>
      </p:sp>
      <p:sp>
        <p:nvSpPr>
          <p:cNvPr id="3" name="Content Placeholder 2"/>
          <p:cNvSpPr>
            <a:spLocks noGrp="1"/>
          </p:cNvSpPr>
          <p:nvPr>
            <p:ph idx="1"/>
          </p:nvPr>
        </p:nvSpPr>
        <p:spPr>
          <a:xfrm>
            <a:off x="716522" y="1213658"/>
            <a:ext cx="12897326" cy="6500553"/>
          </a:xfrm>
        </p:spPr>
        <p:txBody>
          <a:bodyPr/>
          <a:lstStyle/>
          <a:p>
            <a:pPr fontAlgn="base"/>
            <a:r>
              <a:rPr lang="en-US" dirty="0" smtClean="0"/>
              <a:t>A</a:t>
            </a:r>
            <a:r>
              <a:rPr lang="en-US" dirty="0"/>
              <a:t> </a:t>
            </a:r>
            <a:r>
              <a:rPr lang="en-US" b="1" dirty="0"/>
              <a:t>PRIMARY KEY</a:t>
            </a:r>
            <a:r>
              <a:rPr lang="en-US" dirty="0"/>
              <a:t> constraint is a combination of the </a:t>
            </a:r>
            <a:r>
              <a:rPr lang="en-US" b="1" dirty="0"/>
              <a:t>NOT NULL</a:t>
            </a:r>
            <a:r>
              <a:rPr lang="en-US" dirty="0"/>
              <a:t> and </a:t>
            </a:r>
            <a:r>
              <a:rPr lang="en-US" b="1" dirty="0"/>
              <a:t>UNIQUE</a:t>
            </a:r>
            <a:r>
              <a:rPr lang="en-US" dirty="0"/>
              <a:t> constraints. It uniquely identifies each row in a table. A table can only have </a:t>
            </a:r>
            <a:r>
              <a:rPr lang="en-US" dirty="0" smtClean="0"/>
              <a:t>one</a:t>
            </a:r>
            <a:r>
              <a:rPr lang="en-US" dirty="0"/>
              <a:t> </a:t>
            </a:r>
            <a:r>
              <a:rPr lang="en-US" dirty="0" smtClean="0"/>
              <a:t>primary Key and </a:t>
            </a:r>
            <a:r>
              <a:rPr lang="en-US" dirty="0"/>
              <a:t>it cannot accept NULL values. This is typically used for the column that will serve as the identifier of records</a:t>
            </a:r>
            <a:r>
              <a:rPr lang="en-US" dirty="0" smtClean="0"/>
              <a:t>.</a:t>
            </a:r>
          </a:p>
          <a:p>
            <a:pPr fontAlgn="base"/>
            <a:r>
              <a:rPr lang="en-US" dirty="0"/>
              <a:t>Explanation: In this case, the ID column is set as the primary key, ensuring that each student’s ID is unique and cannot be NULL.</a:t>
            </a:r>
          </a:p>
          <a:p>
            <a:endParaRPr lang="en-US" dirty="0" smtClean="0"/>
          </a:p>
          <a:p>
            <a:endParaRPr lang="en-US" dirty="0"/>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26</a:t>
            </a:fld>
            <a:endParaRPr lang="en-IN"/>
          </a:p>
        </p:txBody>
      </p:sp>
      <p:pic>
        <p:nvPicPr>
          <p:cNvPr id="5" name="Picture 4"/>
          <p:cNvPicPr>
            <a:picLocks noChangeAspect="1"/>
          </p:cNvPicPr>
          <p:nvPr/>
        </p:nvPicPr>
        <p:blipFill>
          <a:blip r:embed="rId2"/>
          <a:stretch>
            <a:fillRect/>
          </a:stretch>
        </p:blipFill>
        <p:spPr>
          <a:xfrm>
            <a:off x="1246911" y="5002711"/>
            <a:ext cx="5968537" cy="2581635"/>
          </a:xfrm>
          <a:prstGeom prst="rect">
            <a:avLst/>
          </a:prstGeom>
        </p:spPr>
      </p:pic>
    </p:spTree>
    <p:extLst>
      <p:ext uri="{BB962C8B-B14F-4D97-AF65-F5344CB8AC3E}">
        <p14:creationId xmlns:p14="http://schemas.microsoft.com/office/powerpoint/2010/main" val="16455326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r>
            <a:br>
              <a:rPr lang="en-US" b="1" dirty="0" smtClean="0"/>
            </a:br>
            <a:r>
              <a:rPr lang="en-US" b="1" dirty="0" smtClean="0"/>
              <a:t>4</a:t>
            </a:r>
            <a:r>
              <a:rPr lang="en-US" b="1" dirty="0"/>
              <a:t>. FOREIGN KEY Constraint</a:t>
            </a:r>
            <a:br>
              <a:rPr lang="en-US" b="1" dirty="0"/>
            </a:br>
            <a:endParaRPr lang="en-IN" dirty="0"/>
          </a:p>
        </p:txBody>
      </p:sp>
      <p:sp>
        <p:nvSpPr>
          <p:cNvPr id="3" name="Content Placeholder 2"/>
          <p:cNvSpPr>
            <a:spLocks noGrp="1"/>
          </p:cNvSpPr>
          <p:nvPr>
            <p:ph idx="1"/>
          </p:nvPr>
        </p:nvSpPr>
        <p:spPr/>
        <p:txBody>
          <a:bodyPr/>
          <a:lstStyle/>
          <a:p>
            <a:pPr fontAlgn="base"/>
            <a:r>
              <a:rPr lang="en-US" dirty="0" smtClean="0"/>
              <a:t>A</a:t>
            </a:r>
            <a:r>
              <a:rPr lang="en-US" dirty="0"/>
              <a:t> </a:t>
            </a:r>
            <a:r>
              <a:rPr lang="en-US" b="1" dirty="0"/>
              <a:t>FOREIGN KEY</a:t>
            </a:r>
            <a:r>
              <a:rPr lang="en-US" dirty="0"/>
              <a:t> constraint links a column in one table to the </a:t>
            </a:r>
            <a:r>
              <a:rPr lang="en-US" b="1" dirty="0"/>
              <a:t>primary key</a:t>
            </a:r>
            <a:r>
              <a:rPr lang="en-US" dirty="0"/>
              <a:t> in another table. This relationship helps maintain</a:t>
            </a:r>
            <a:r>
              <a:rPr lang="en-US" b="1" dirty="0"/>
              <a:t> referential integrity</a:t>
            </a:r>
            <a:r>
              <a:rPr lang="en-US" dirty="0"/>
              <a:t> by ensuring that the value in the foreign </a:t>
            </a:r>
            <a:r>
              <a:rPr lang="en-US" dirty="0" smtClean="0"/>
              <a:t>key </a:t>
            </a:r>
            <a:r>
              <a:rPr lang="en-US" dirty="0"/>
              <a:t> column matches a valid record in the referenced table.</a:t>
            </a:r>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27</a:t>
            </a:fld>
            <a:endParaRPr lang="en-IN"/>
          </a:p>
        </p:txBody>
      </p:sp>
      <p:pic>
        <p:nvPicPr>
          <p:cNvPr id="5" name="Picture 4"/>
          <p:cNvPicPr>
            <a:picLocks noChangeAspect="1"/>
          </p:cNvPicPr>
          <p:nvPr/>
        </p:nvPicPr>
        <p:blipFill>
          <a:blip r:embed="rId2"/>
          <a:stretch>
            <a:fillRect/>
          </a:stretch>
        </p:blipFill>
        <p:spPr>
          <a:xfrm>
            <a:off x="1479666" y="3840481"/>
            <a:ext cx="4139738" cy="3421704"/>
          </a:xfrm>
          <a:prstGeom prst="rect">
            <a:avLst/>
          </a:prstGeom>
        </p:spPr>
      </p:pic>
      <p:pic>
        <p:nvPicPr>
          <p:cNvPr id="6" name="Picture 5"/>
          <p:cNvPicPr>
            <a:picLocks noChangeAspect="1"/>
          </p:cNvPicPr>
          <p:nvPr/>
        </p:nvPicPr>
        <p:blipFill>
          <a:blip r:embed="rId3"/>
          <a:stretch>
            <a:fillRect/>
          </a:stretch>
        </p:blipFill>
        <p:spPr>
          <a:xfrm>
            <a:off x="6367549" y="3956859"/>
            <a:ext cx="4871258" cy="3219042"/>
          </a:xfrm>
          <a:prstGeom prst="rect">
            <a:avLst/>
          </a:prstGeom>
        </p:spPr>
      </p:pic>
    </p:spTree>
    <p:extLst>
      <p:ext uri="{BB962C8B-B14F-4D97-AF65-F5344CB8AC3E}">
        <p14:creationId xmlns:p14="http://schemas.microsoft.com/office/powerpoint/2010/main" val="1898811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716522" y="1646250"/>
            <a:ext cx="12897326" cy="6333968"/>
          </a:xfrm>
        </p:spPr>
        <p:txBody>
          <a:bodyPr/>
          <a:lstStyle/>
          <a:p>
            <a:pPr algn="just"/>
            <a:r>
              <a:rPr lang="en-US" sz="2800" dirty="0" smtClean="0"/>
              <a:t>As we can see clearly that the field </a:t>
            </a:r>
            <a:r>
              <a:rPr lang="en-US" sz="2800" b="1" dirty="0" smtClean="0"/>
              <a:t>C_ID </a:t>
            </a:r>
            <a:r>
              <a:rPr lang="en-US" sz="2800" dirty="0" smtClean="0"/>
              <a:t>in </a:t>
            </a:r>
            <a:r>
              <a:rPr lang="en-US" sz="2800" b="1" dirty="0" smtClean="0"/>
              <a:t>Orders table</a:t>
            </a:r>
            <a:r>
              <a:rPr lang="en-US" sz="2800" dirty="0" smtClean="0"/>
              <a:t> is the</a:t>
            </a:r>
            <a:r>
              <a:rPr lang="en-US" sz="2800" b="1" dirty="0" smtClean="0"/>
              <a:t> primary key</a:t>
            </a:r>
            <a:r>
              <a:rPr lang="en-US" sz="2800" dirty="0" smtClean="0"/>
              <a:t> in Customers table, i.e. it uniquely identifies each row in the </a:t>
            </a:r>
            <a:r>
              <a:rPr lang="en-US" sz="2800" b="1" dirty="0" smtClean="0"/>
              <a:t>Customers </a:t>
            </a:r>
            <a:r>
              <a:rPr lang="en-US" sz="2800" dirty="0" smtClean="0"/>
              <a:t>table. Therefore, it is a Foreign Key in Orders table. </a:t>
            </a:r>
          </a:p>
          <a:p>
            <a:pPr algn="just"/>
            <a:r>
              <a:rPr lang="en-US" sz="2800" dirty="0"/>
              <a:t>Explanation: In this example, the C_ID column in the Orders table is a foreign key that references the C_ID column in the Customers table. This ensures that only valid customer IDs can be inserted into the Orders table</a:t>
            </a:r>
            <a:r>
              <a:rPr lang="en-US" dirty="0"/>
              <a:t>.</a:t>
            </a:r>
            <a:endParaRPr lang="en-US" dirty="0" smtClean="0"/>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28</a:t>
            </a:fld>
            <a:endParaRPr lang="en-IN"/>
          </a:p>
        </p:txBody>
      </p:sp>
      <p:pic>
        <p:nvPicPr>
          <p:cNvPr id="5" name="Picture 4"/>
          <p:cNvPicPr>
            <a:picLocks noChangeAspect="1"/>
          </p:cNvPicPr>
          <p:nvPr/>
        </p:nvPicPr>
        <p:blipFill>
          <a:blip r:embed="rId2"/>
          <a:stretch>
            <a:fillRect/>
          </a:stretch>
        </p:blipFill>
        <p:spPr>
          <a:xfrm>
            <a:off x="1130531" y="4455622"/>
            <a:ext cx="11371811" cy="3341716"/>
          </a:xfrm>
          <a:prstGeom prst="rect">
            <a:avLst/>
          </a:prstGeom>
        </p:spPr>
      </p:pic>
    </p:spTree>
    <p:extLst>
      <p:ext uri="{BB962C8B-B14F-4D97-AF65-F5344CB8AC3E}">
        <p14:creationId xmlns:p14="http://schemas.microsoft.com/office/powerpoint/2010/main" val="31244316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smtClean="0"/>
              <a:t>5</a:t>
            </a:r>
            <a:r>
              <a:rPr lang="en-US" dirty="0"/>
              <a:t>. CHECK Constraint</a:t>
            </a:r>
            <a:br>
              <a:rPr lang="en-US" dirty="0"/>
            </a:br>
            <a:endParaRPr lang="en-IN" dirty="0"/>
          </a:p>
        </p:txBody>
      </p:sp>
      <p:sp>
        <p:nvSpPr>
          <p:cNvPr id="3" name="Content Placeholder 2"/>
          <p:cNvSpPr>
            <a:spLocks noGrp="1"/>
          </p:cNvSpPr>
          <p:nvPr>
            <p:ph idx="1"/>
          </p:nvPr>
        </p:nvSpPr>
        <p:spPr/>
        <p:txBody>
          <a:bodyPr/>
          <a:lstStyle/>
          <a:p>
            <a:r>
              <a:rPr lang="en-US" dirty="0" smtClean="0"/>
              <a:t>The </a:t>
            </a:r>
            <a:r>
              <a:rPr lang="en-US" dirty="0"/>
              <a:t>CHECK constraint allows us to specify a condition that data must satisfy before it is inserted into the table. This can be used to enforce rules, such as ensuring that a column’s value meets certain criteria (e.g., age must be greater than 18). </a:t>
            </a:r>
            <a:endParaRPr lang="en-US" dirty="0" smtClean="0"/>
          </a:p>
          <a:p>
            <a:r>
              <a:rPr lang="en-US" dirty="0" smtClean="0"/>
              <a:t>Explanation</a:t>
            </a:r>
            <a:r>
              <a:rPr lang="en-US" dirty="0"/>
              <a:t>: In the above table, the CHECK constraint ensures that only students aged 18 or older can be inserted into the table.</a:t>
            </a:r>
          </a:p>
          <a:p>
            <a:endParaRPr lang="en-US" dirty="0" smtClean="0"/>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29</a:t>
            </a:fld>
            <a:endParaRPr lang="en-IN"/>
          </a:p>
        </p:txBody>
      </p:sp>
      <p:pic>
        <p:nvPicPr>
          <p:cNvPr id="5" name="Picture 4"/>
          <p:cNvPicPr>
            <a:picLocks noChangeAspect="1"/>
          </p:cNvPicPr>
          <p:nvPr/>
        </p:nvPicPr>
        <p:blipFill>
          <a:blip r:embed="rId2"/>
          <a:stretch>
            <a:fillRect/>
          </a:stretch>
        </p:blipFill>
        <p:spPr>
          <a:xfrm>
            <a:off x="1883250" y="4921135"/>
            <a:ext cx="6180095" cy="2360814"/>
          </a:xfrm>
          <a:prstGeom prst="rect">
            <a:avLst/>
          </a:prstGeom>
        </p:spPr>
      </p:pic>
    </p:spTree>
    <p:extLst>
      <p:ext uri="{BB962C8B-B14F-4D97-AF65-F5344CB8AC3E}">
        <p14:creationId xmlns:p14="http://schemas.microsoft.com/office/powerpoint/2010/main" val="33139446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6. DEFAULT Constraint</a:t>
            </a:r>
            <a:br>
              <a:rPr lang="en-US" b="1" dirty="0"/>
            </a:br>
            <a:endParaRPr lang="en-IN" dirty="0"/>
          </a:p>
        </p:txBody>
      </p:sp>
      <p:sp>
        <p:nvSpPr>
          <p:cNvPr id="3" name="Content Placeholder 2"/>
          <p:cNvSpPr>
            <a:spLocks noGrp="1"/>
          </p:cNvSpPr>
          <p:nvPr>
            <p:ph idx="1"/>
          </p:nvPr>
        </p:nvSpPr>
        <p:spPr/>
        <p:txBody>
          <a:bodyPr/>
          <a:lstStyle/>
          <a:p>
            <a:pPr fontAlgn="base"/>
            <a:r>
              <a:rPr lang="en-US" dirty="0" smtClean="0"/>
              <a:t>The </a:t>
            </a:r>
            <a:r>
              <a:rPr lang="en-US" b="1" dirty="0" smtClean="0"/>
              <a:t>DEFAULT</a:t>
            </a:r>
            <a:r>
              <a:rPr lang="en-US" dirty="0" smtClean="0"/>
              <a:t> constraint provides a default value for a column when no value is specified during insertion. This is useful for ensuring that certain columns always have a meaningful value, even if the user does not provide </a:t>
            </a:r>
            <a:r>
              <a:rPr lang="en-US" dirty="0"/>
              <a:t>one</a:t>
            </a:r>
            <a:r>
              <a:rPr lang="en-US" dirty="0" smtClean="0"/>
              <a:t>.</a:t>
            </a:r>
          </a:p>
          <a:p>
            <a:pPr fontAlgn="base"/>
            <a:r>
              <a:rPr lang="en-US" dirty="0" smtClean="0"/>
              <a:t> </a:t>
            </a:r>
            <a:r>
              <a:rPr lang="en-US" dirty="0"/>
              <a:t>Explanation: Here, if no value is provided for AGE during an insert, the default value of 18 will be assigned automatically.</a:t>
            </a:r>
            <a:endParaRPr lang="en-US" dirty="0" smtClean="0"/>
          </a:p>
          <a:p>
            <a:pPr fontAlgn="base"/>
            <a:endParaRPr lang="en-US" dirty="0"/>
          </a:p>
          <a:p>
            <a:pPr fontAlgn="base"/>
            <a:endParaRPr lang="en-US" dirty="0" smtClean="0"/>
          </a:p>
          <a:p>
            <a:endParaRPr lang="en-IN" dirty="0"/>
          </a:p>
        </p:txBody>
      </p:sp>
      <p:sp>
        <p:nvSpPr>
          <p:cNvPr id="4" name="Slide Number Placeholder 3"/>
          <p:cNvSpPr>
            <a:spLocks noGrp="1"/>
          </p:cNvSpPr>
          <p:nvPr>
            <p:ph type="sldNum" sz="quarter" idx="12"/>
          </p:nvPr>
        </p:nvSpPr>
        <p:spPr/>
        <p:txBody>
          <a:bodyPr/>
          <a:lstStyle/>
          <a:p>
            <a:fld id="{893A10DD-36DC-414C-BC2F-2B6A95EE1A72}" type="slidenum">
              <a:rPr lang="en-IN" smtClean="0"/>
              <a:t>30</a:t>
            </a:fld>
            <a:endParaRPr lang="en-IN"/>
          </a:p>
        </p:txBody>
      </p:sp>
      <p:pic>
        <p:nvPicPr>
          <p:cNvPr id="5" name="Picture 4"/>
          <p:cNvPicPr>
            <a:picLocks noChangeAspect="1"/>
          </p:cNvPicPr>
          <p:nvPr/>
        </p:nvPicPr>
        <p:blipFill>
          <a:blip r:embed="rId2"/>
          <a:stretch>
            <a:fillRect/>
          </a:stretch>
        </p:blipFill>
        <p:spPr>
          <a:xfrm>
            <a:off x="1446415" y="4987636"/>
            <a:ext cx="8096596" cy="2527069"/>
          </a:xfrm>
          <a:prstGeom prst="rect">
            <a:avLst/>
          </a:prstGeom>
        </p:spPr>
      </p:pic>
    </p:spTree>
    <p:extLst>
      <p:ext uri="{BB962C8B-B14F-4D97-AF65-F5344CB8AC3E}">
        <p14:creationId xmlns:p14="http://schemas.microsoft.com/office/powerpoint/2010/main" val="3397215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25400" indent="0" algn="ctr">
              <a:buNone/>
            </a:pPr>
            <a:endParaRPr lang="en-US" sz="7200" dirty="0" smtClean="0"/>
          </a:p>
          <a:p>
            <a:pPr marL="25400" indent="0" algn="ctr">
              <a:buNone/>
            </a:pPr>
            <a:endParaRPr lang="en-US" sz="7200" dirty="0"/>
          </a:p>
          <a:p>
            <a:pPr marL="25400" indent="0" algn="ctr">
              <a:buNone/>
            </a:pPr>
            <a:r>
              <a:rPr lang="en-US" sz="7200" dirty="0" smtClean="0"/>
              <a:t>Thankyou</a:t>
            </a:r>
            <a:endParaRPr lang="en-IN" sz="7200" dirty="0"/>
          </a:p>
        </p:txBody>
      </p:sp>
      <p:sp>
        <p:nvSpPr>
          <p:cNvPr id="4" name="Slide Number Placeholder 3"/>
          <p:cNvSpPr>
            <a:spLocks noGrp="1"/>
          </p:cNvSpPr>
          <p:nvPr>
            <p:ph type="sldNum" sz="quarter" idx="12"/>
          </p:nvPr>
        </p:nvSpPr>
        <p:spPr/>
        <p:txBody>
          <a:bodyPr/>
          <a:lstStyle/>
          <a:p>
            <a:fld id="{893A10DD-36DC-414C-BC2F-2B6A95EE1A72}" type="slidenum">
              <a:rPr lang="en-IN" smtClean="0"/>
              <a:t>31</a:t>
            </a:fld>
            <a:endParaRPr lang="en-IN"/>
          </a:p>
        </p:txBody>
      </p:sp>
    </p:spTree>
    <p:extLst>
      <p:ext uri="{BB962C8B-B14F-4D97-AF65-F5344CB8AC3E}">
        <p14:creationId xmlns:p14="http://schemas.microsoft.com/office/powerpoint/2010/main" val="168860181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5046</TotalTime>
  <Words>950</Words>
  <Application>Microsoft Office PowerPoint</Application>
  <PresentationFormat>Custom</PresentationFormat>
  <Paragraphs>146</Paragraphs>
  <Slides>31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Times New Roman</vt:lpstr>
      <vt:lpstr>Office Theme</vt:lpstr>
      <vt:lpstr>PowerPoint Presentation</vt:lpstr>
      <vt:lpstr>KEYS</vt:lpstr>
      <vt:lpstr> Why do we require Keys in a DBMS? </vt:lpstr>
      <vt:lpstr> 1. Super Key </vt:lpstr>
      <vt:lpstr>PowerPoint Presentation</vt:lpstr>
      <vt:lpstr>PowerPoint Presentation</vt:lpstr>
      <vt:lpstr> 2. Candidate Key </vt:lpstr>
      <vt:lpstr>PowerPoint Presentation</vt:lpstr>
      <vt:lpstr>PowerPoint Presentation</vt:lpstr>
      <vt:lpstr>3. Primary Key </vt:lpstr>
      <vt:lpstr>PowerPoint Presentation</vt:lpstr>
      <vt:lpstr>4. Alternate Key </vt:lpstr>
      <vt:lpstr>PowerPoint Presentation</vt:lpstr>
      <vt:lpstr>5. Foreign Key </vt:lpstr>
      <vt:lpstr>PowerPoint Presentation</vt:lpstr>
      <vt:lpstr>PowerPoint Presentation</vt:lpstr>
      <vt:lpstr>PowerPoint Presentation</vt:lpstr>
      <vt:lpstr>6. Composite Key </vt:lpstr>
      <vt:lpstr>PowerPoint Presentation</vt:lpstr>
      <vt:lpstr>PowerPoint Presentation</vt:lpstr>
      <vt:lpstr> What Are SQL Constraints? </vt:lpstr>
      <vt:lpstr> Types of SQL Constraints  </vt:lpstr>
      <vt:lpstr>How to Specify Constraints in SQL </vt:lpstr>
      <vt:lpstr> 1. NOT NULL Constraint </vt:lpstr>
      <vt:lpstr> 2. UNIQUE Constraint </vt:lpstr>
      <vt:lpstr> 3. PRIMARY KEY Constraint  </vt:lpstr>
      <vt:lpstr> 4. FOREIGN KEY Constraint </vt:lpstr>
      <vt:lpstr>PowerPoint Presentation</vt:lpstr>
      <vt:lpstr> 5. CHECK Constraint </vt:lpstr>
      <vt:lpstr>6. DEFAULT Constraint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Deepak Ahlawat</dc:creator>
  <cp:lastModifiedBy>Himanshu</cp:lastModifiedBy>
  <cp:revision>41</cp:revision>
  <dcterms:modified xsi:type="dcterms:W3CDTF">2025-09-10T05:17:49Z</dcterms:modified>
</cp:coreProperties>
</file>