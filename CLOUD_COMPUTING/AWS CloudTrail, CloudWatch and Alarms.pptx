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31175" cx="14330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RPMHTb6G7R4Gox/v4d2vD/Z93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93" orient="horz"/>
        <p:guide pos="4579"/>
        <p:guide pos="2079" orient="horz"/>
        <p:guide pos="2496" orient="horz"/>
        <p:guide pos="2245" orient="horz"/>
        <p:guide pos="2694" orient="horz"/>
        <p:guide pos="2162" orient="horz"/>
        <p:guide pos="2594" orient="horz"/>
        <p:guide pos="3785"/>
        <p:guide pos="4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20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2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ee2729a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39ee2729ad2_0_2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ee2729ad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39ee2729ad2_0_8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ee2729ad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9ee2729ad2_0_14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ee2729ad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9ee2729ad2_0_20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ee2729ad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9ee2729ad2_0_32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ee2729ad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9ee2729ad2_0_26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ee2729ad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9ee2729ad2_0_38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e2729ad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9ee2729ad2_0_62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ee2729ad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9ee2729ad2_0_56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e2729ad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9ee2729ad2_0_44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ee2729ad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9ee2729ad2_0_68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ee2729ad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9ee2729ad2_0_50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17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7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17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6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6"/>
          <p:cNvSpPr/>
          <p:nvPr/>
        </p:nvSpPr>
        <p:spPr>
          <a:xfrm flipH="1" rot="10800000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6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6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6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6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" y="2024154"/>
            <a:ext cx="14330362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/>
              <a:t>AWS CloudTrail, CloudWatch and Alarms</a:t>
            </a:r>
            <a:endParaRPr b="1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3583781" y="3865685"/>
            <a:ext cx="8534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 - Computer Science &amp; Engineering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814525" y="4892675"/>
            <a:ext cx="6195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(CC)(23CS009)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ctrTitle"/>
          </p:nvPr>
        </p:nvSpPr>
        <p:spPr>
          <a:xfrm>
            <a:off x="231354" y="3"/>
            <a:ext cx="8366874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400"/>
              <a:t>Contents</a:t>
            </a:r>
            <a:endParaRPr b="1" sz="4400"/>
          </a:p>
        </p:txBody>
      </p:sp>
      <p:sp>
        <p:nvSpPr>
          <p:cNvPr id="60" name="Google Shape;60;p20"/>
          <p:cNvSpPr txBox="1"/>
          <p:nvPr>
            <p:ph idx="1" type="subTitle"/>
          </p:nvPr>
        </p:nvSpPr>
        <p:spPr>
          <a:xfrm>
            <a:off x="0" y="1646241"/>
            <a:ext cx="13613849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1828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CloudTrail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and Alarms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/>
          </a:p>
        </p:txBody>
      </p:sp>
      <p:sp>
        <p:nvSpPr>
          <p:cNvPr id="67" name="Google Shape;67;p21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is one of the foundational services that support these needs by providing detailed logs of all activities and API calls made within an AWS account. 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CloudTrail is a service that enables operational auditing, security monitoring, and compliance by logging, continuously monitoring, and retaining account activity across AWS infrastructure.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records actions taken by users, roles, or AWS services and delivers log files to an Amazon S3 bucket.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logs can be used to track changes, identify unusual behavior, and meet compliance standards.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300">
              <a:solidFill>
                <a:schemeClr val="dk1"/>
              </a:solidFill>
            </a:endParaRPr>
          </a:p>
        </p:txBody>
      </p:sp>
      <p:sp>
        <p:nvSpPr>
          <p:cNvPr id="68" name="Google Shape;68;p2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ee2729ad2_0_2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/>
          </a:p>
        </p:txBody>
      </p:sp>
      <p:sp>
        <p:nvSpPr>
          <p:cNvPr id="74" name="Google Shape;74;g39ee2729ad2_0_2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Concepts and Terminology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Trail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configuration that enables delivery of CloudTrail events to an S3 bucket.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An occurrence in your AWS account that CloudTrail records. Events include actions taken via the AWS Management Console, AWS CLI, SDKs, and other AWS services.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Events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Also known as control plane operations. They provide information about management operations performed on resources.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Events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Also known as data plane operations. They provide insights into resource operations such as reading or writing data to S3 or invoking Lambda functions.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Insights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feature that helps identify unusual operational activity.</a:t>
            </a:r>
            <a:endParaRPr sz="5400">
              <a:solidFill>
                <a:schemeClr val="dk1"/>
              </a:solidFill>
            </a:endParaRPr>
          </a:p>
        </p:txBody>
      </p:sp>
      <p:sp>
        <p:nvSpPr>
          <p:cNvPr id="75" name="Google Shape;75;g39ee2729ad2_0_2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ee2729ad2_0_8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/>
          </a:p>
        </p:txBody>
      </p:sp>
      <p:sp>
        <p:nvSpPr>
          <p:cNvPr id="81" name="Google Shape;81;g39ee2729ad2_0_8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of CloudTrail (CloudTrail operates through a well-structured architecture)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Capture</a:t>
            </a: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Captures API activity across supported AWS services.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Delivery</a:t>
            </a: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Delivers logs to an S3 bucket, optionally to CloudWatch Logs and Amazon EventBridge.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Analysis</a:t>
            </a: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Logs can be analyzed using Athena, CloudWatch Logs Insights, or third-party tools.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Seamlessly integrates with AWS services for alerts and automation.</a:t>
            </a:r>
            <a:endParaRPr sz="5600">
              <a:solidFill>
                <a:schemeClr val="dk1"/>
              </a:solidFill>
            </a:endParaRPr>
          </a:p>
        </p:txBody>
      </p:sp>
      <p:sp>
        <p:nvSpPr>
          <p:cNvPr id="82" name="Google Shape;82;g39ee2729ad2_0_8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ee2729ad2_0_14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/>
          </a:p>
        </p:txBody>
      </p:sp>
      <p:sp>
        <p:nvSpPr>
          <p:cNvPr id="88" name="Google Shape;88;g39ee2729ad2_0_14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AWS CloudTrail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CloudTrail involves the following steps: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3716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the AWS Management Console.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Navigate to the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new trail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specifying the trail name and choosing whether it is a multi-region trail.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a destination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bucket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new one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 additional options like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file encryption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file validation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SNS notifications.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and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the trail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5400">
              <a:solidFill>
                <a:schemeClr val="dk1"/>
              </a:solidFill>
            </a:endParaRPr>
          </a:p>
        </p:txBody>
      </p:sp>
      <p:sp>
        <p:nvSpPr>
          <p:cNvPr id="89" name="Google Shape;89;g39ee2729ad2_0_14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ee2729ad2_0_20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/>
          </a:p>
        </p:txBody>
      </p:sp>
      <p:sp>
        <p:nvSpPr>
          <p:cNvPr id="95" name="Google Shape;95;g39ee2729ad2_0_20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27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●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Other AWS Services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○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S3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Stores log files securely.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○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CloudWatch Logs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Allows real-time monitoring and alerting.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○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Lambda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Enables automated responses to events.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○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Config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Works with CloudTrail to track configuration changes.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○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Athena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Enables SQL-based querying of logs.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○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Security Hub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Integrates CloudTrail events for centralized security insights.</a:t>
            </a:r>
            <a:endParaRPr sz="5800">
              <a:solidFill>
                <a:schemeClr val="dk1"/>
              </a:solidFill>
            </a:endParaRPr>
          </a:p>
        </p:txBody>
      </p:sp>
      <p:sp>
        <p:nvSpPr>
          <p:cNvPr id="96" name="Google Shape;96;g39ee2729ad2_0_20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e2729ad2_0_32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/>
          </a:p>
        </p:txBody>
      </p:sp>
      <p:sp>
        <p:nvSpPr>
          <p:cNvPr id="102" name="Google Shape;102;g39ee2729ad2_0_32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9144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●"/>
            </a:pPr>
            <a:r>
              <a:rPr b="1"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and Considerations</a:t>
            </a:r>
            <a:endParaRPr b="1"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●"/>
            </a:pPr>
            <a:r>
              <a:rPr b="1"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Delivery Delay</a:t>
            </a:r>
            <a:r>
              <a:rPr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Logs can take up to 15 minutes to appear.</a:t>
            </a: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●"/>
            </a:pPr>
            <a:r>
              <a:rPr b="1"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Event Volume</a:t>
            </a:r>
            <a:r>
              <a:rPr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Can become expensive with high-frequency operations.</a:t>
            </a: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●"/>
            </a:pPr>
            <a:r>
              <a:rPr b="1"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Costs</a:t>
            </a:r>
            <a:r>
              <a:rPr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Long-term log storage may incur high S3 costs.</a:t>
            </a: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●"/>
            </a:pPr>
            <a:r>
              <a:rPr b="1"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Region-Specific Trails</a:t>
            </a:r>
            <a:r>
              <a:rPr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Ensure multi-region trails are used if needed.</a:t>
            </a:r>
            <a:endParaRPr sz="6000">
              <a:solidFill>
                <a:schemeClr val="dk1"/>
              </a:solidFill>
            </a:endParaRPr>
          </a:p>
        </p:txBody>
      </p:sp>
      <p:sp>
        <p:nvSpPr>
          <p:cNvPr id="103" name="Google Shape;103;g39ee2729ad2_0_32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ee2729ad2_0_26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 CloudWatch and Alarm</a:t>
            </a:r>
            <a:endParaRPr b="1" sz="3100"/>
          </a:p>
        </p:txBody>
      </p:sp>
      <p:sp>
        <p:nvSpPr>
          <p:cNvPr id="109" name="Google Shape;109;g39ee2729ad2_0_26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monitoring and timely alerting are crucial for maintaining the health, performance, and security of systems. Amazon CloudWatch is AWS’s monitoring and observability service, enabling real-time insights and automated actions through alarms.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CloudWatch is a monitoring and observability service designed for DevOps engineers, developers, IT managers, and site reliability engineers (SREs).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collects monitoring and operational data in the form of logs, metrics, and events, providing a unified view of AWS resources, applications, and services running on AWS and on-premises.</a:t>
            </a:r>
            <a:endParaRPr sz="5400">
              <a:solidFill>
                <a:schemeClr val="dk1"/>
              </a:solidFill>
            </a:endParaRPr>
          </a:p>
        </p:txBody>
      </p:sp>
      <p:sp>
        <p:nvSpPr>
          <p:cNvPr id="110" name="Google Shape;110;g39ee2729ad2_0_26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ee2729ad2_0_38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 CloudWatch and Alarm</a:t>
            </a:r>
            <a:endParaRPr b="1" sz="3100"/>
          </a:p>
        </p:txBody>
      </p:sp>
      <p:sp>
        <p:nvSpPr>
          <p:cNvPr id="116" name="Google Shape;116;g39ee2729ad2_0_38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Concepts and Terminology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time-ordered set of data points that represent a particular characteristic or behavior of a system.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Namespace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container for CloudWatch metrics, typically named after a service (e.g., AWS/EC2).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Name-value pair that helps uniquely identify a metric.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Alarm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CloudWatch feature that watches a metric and performs actions based on its value.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customizable interface that displays metrics and alarms.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○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Group/Log Stream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Containers for logs collected by CloudWatch Logs.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g39ee2729ad2_0_38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ee2729ad2_0_62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 CloudWatch and Alarm</a:t>
            </a:r>
            <a:endParaRPr b="1" sz="3100"/>
          </a:p>
        </p:txBody>
      </p:sp>
      <p:sp>
        <p:nvSpPr>
          <p:cNvPr id="123" name="Google Shape;123;g39ee2729ad2_0_62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13716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of CloudWatch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is composed of the following components: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8288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Data generated by AWS services and custom applications.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Application and system logs ingested for analysis and storage.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Record of system and application changes or alerts.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Alarms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Automated triggers based on thresholds.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Visual representation of collected data.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Agent/SDK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Installed tools or code for collecting custom metrics.</a:t>
            </a:r>
            <a:endParaRPr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39ee2729ad2_0_62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ee2729ad2_0_56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 CloudWatch and Alarm</a:t>
            </a:r>
            <a:endParaRPr b="1" sz="3100"/>
          </a:p>
        </p:txBody>
      </p:sp>
      <p:sp>
        <p:nvSpPr>
          <p:cNvPr id="130" name="Google Shape;130;g39ee2729ad2_0_56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13716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Metrics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provides built-in metrics for AWS services such as EC2, RDS, Lambda, and others. Custom metrics can be created using the CloudWatch Agent or AWS SDK.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18288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Metrics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Provided by AWS services with no additional setup.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Metrics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Created by users to monitor application-specific data.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High-Resolution Metrics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Provide 1-second granularity for near real-time insights.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8288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 can be collected at 1-minute intervals by default, but can be configured to as frequently as 1-second for high-resolution monitoring.</a:t>
            </a:r>
            <a:endParaRPr i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g39ee2729ad2_0_56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ee2729ad2_0_44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 CloudWatch and Alarm</a:t>
            </a:r>
            <a:endParaRPr b="1" sz="3100"/>
          </a:p>
        </p:txBody>
      </p:sp>
      <p:sp>
        <p:nvSpPr>
          <p:cNvPr id="137" name="Google Shape;137;g39ee2729ad2_0_44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9144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Alarms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Alarms enable automated monitoring by watching metrics and performing actions when thresholds are breached.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18288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Alarms: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 Alarms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Trigger based on a single metric or mathematical expression.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Composite Alarms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Combine multiple alarms into a single alarm using logical operators.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Alarm States: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Metric is within defined thresholds.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ALARM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Metric is outside the defined threshold.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INSUFFICIENT_DATA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Alarm has not received enough data.</a:t>
            </a:r>
            <a:endParaRPr sz="4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9ee2729ad2_0_44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ee2729ad2_0_68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 CloudWatch and Alarm</a:t>
            </a:r>
            <a:endParaRPr b="1" sz="3100"/>
          </a:p>
        </p:txBody>
      </p:sp>
      <p:sp>
        <p:nvSpPr>
          <p:cNvPr id="144" name="Google Shape;144;g39ee2729ad2_0_68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13716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Alarms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Supported Actions: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○"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notification via Amazon SNS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○"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Stop/start/terminate EC2 instances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 actions: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1" marL="2286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○"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Lambda function execution</a:t>
            </a:r>
            <a:endParaRPr sz="4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g39ee2729ad2_0_68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ee2729ad2_0_50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AWS CloudWatch and Alarm</a:t>
            </a:r>
            <a:endParaRPr b="1" sz="3100"/>
          </a:p>
        </p:txBody>
      </p:sp>
      <p:sp>
        <p:nvSpPr>
          <p:cNvPr id="151" name="Google Shape;151;g39ee2729ad2_0_50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and Compliance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helps with compliance and security through: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Support for KMS to encrypt log data.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Policies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Fine-grained access control.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 Trail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Combined with CloudTrail for full activity logging.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Retention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Configurable retention policies.</a:t>
            </a:r>
            <a:endParaRPr sz="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39ee2729ad2_0_50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ow To Write A Thank You Note In Five Easy Steps"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7588" y="1366838"/>
            <a:ext cx="9753600" cy="54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