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74"/>
  </p:notesMasterIdLst>
  <p:sldIdLst>
    <p:sldId id="348" r:id="rId2"/>
    <p:sldId id="350" r:id="rId3"/>
    <p:sldId id="351" r:id="rId4"/>
    <p:sldId id="256" r:id="rId5"/>
    <p:sldId id="258" r:id="rId6"/>
    <p:sldId id="259" r:id="rId7"/>
    <p:sldId id="356" r:id="rId8"/>
    <p:sldId id="261" r:id="rId9"/>
    <p:sldId id="305" r:id="rId10"/>
    <p:sldId id="262" r:id="rId11"/>
    <p:sldId id="306" r:id="rId12"/>
    <p:sldId id="263" r:id="rId13"/>
    <p:sldId id="307" r:id="rId14"/>
    <p:sldId id="264" r:id="rId15"/>
    <p:sldId id="308" r:id="rId16"/>
    <p:sldId id="265" r:id="rId17"/>
    <p:sldId id="309" r:id="rId18"/>
    <p:sldId id="266" r:id="rId19"/>
    <p:sldId id="310" r:id="rId20"/>
    <p:sldId id="267" r:id="rId21"/>
    <p:sldId id="311" r:id="rId22"/>
    <p:sldId id="268" r:id="rId23"/>
    <p:sldId id="312" r:id="rId24"/>
    <p:sldId id="269" r:id="rId25"/>
    <p:sldId id="313" r:id="rId26"/>
    <p:sldId id="272" r:id="rId27"/>
    <p:sldId id="316" r:id="rId28"/>
    <p:sldId id="273" r:id="rId29"/>
    <p:sldId id="317" r:id="rId30"/>
    <p:sldId id="274" r:id="rId31"/>
    <p:sldId id="318" r:id="rId32"/>
    <p:sldId id="275" r:id="rId33"/>
    <p:sldId id="319" r:id="rId34"/>
    <p:sldId id="276" r:id="rId35"/>
    <p:sldId id="320" r:id="rId36"/>
    <p:sldId id="277" r:id="rId37"/>
    <p:sldId id="321" r:id="rId38"/>
    <p:sldId id="279" r:id="rId39"/>
    <p:sldId id="323" r:id="rId40"/>
    <p:sldId id="280" r:id="rId41"/>
    <p:sldId id="324" r:id="rId42"/>
    <p:sldId id="281" r:id="rId43"/>
    <p:sldId id="325" r:id="rId44"/>
    <p:sldId id="283" r:id="rId45"/>
    <p:sldId id="327" r:id="rId46"/>
    <p:sldId id="285" r:id="rId47"/>
    <p:sldId id="329" r:id="rId48"/>
    <p:sldId id="286" r:id="rId49"/>
    <p:sldId id="330" r:id="rId50"/>
    <p:sldId id="288" r:id="rId51"/>
    <p:sldId id="332" r:id="rId52"/>
    <p:sldId id="289" r:id="rId53"/>
    <p:sldId id="333" r:id="rId54"/>
    <p:sldId id="290" r:id="rId55"/>
    <p:sldId id="334" r:id="rId56"/>
    <p:sldId id="291" r:id="rId57"/>
    <p:sldId id="335" r:id="rId58"/>
    <p:sldId id="292" r:id="rId59"/>
    <p:sldId id="336" r:id="rId60"/>
    <p:sldId id="293" r:id="rId61"/>
    <p:sldId id="337" r:id="rId62"/>
    <p:sldId id="296" r:id="rId63"/>
    <p:sldId id="340" r:id="rId64"/>
    <p:sldId id="298" r:id="rId65"/>
    <p:sldId id="342" r:id="rId66"/>
    <p:sldId id="299" r:id="rId67"/>
    <p:sldId id="343" r:id="rId68"/>
    <p:sldId id="300" r:id="rId69"/>
    <p:sldId id="344" r:id="rId70"/>
    <p:sldId id="301" r:id="rId71"/>
    <p:sldId id="346" r:id="rId72"/>
    <p:sldId id="349" r:id="rId73"/>
  </p:sldIdLst>
  <p:sldSz cx="12192000" cy="6858000"/>
  <p:notesSz cx="6858000" cy="9144000"/>
  <p:embeddedFontLst>
    <p:embeddedFont>
      <p:font typeface="Arial Unicode MS" panose="020B0604020202020204" charset="-128"/>
      <p:regular r:id="rId75"/>
    </p:embeddedFont>
    <p:embeddedFont>
      <p:font typeface="Arial Black" panose="020B0A04020102020204" pitchFamily="34" charset="0"/>
      <p:regular r:id="rId76"/>
      <p:bold r:id="rId77"/>
      <p:italic r:id="rId78"/>
    </p:embeddedFont>
    <p:embeddedFont>
      <p:font typeface="Cambria Math" panose="02040503050406030204" pitchFamily="18" charset="0"/>
      <p:regular r:id="rId79"/>
    </p:embeddedFont>
    <p:embeddedFont>
      <p:font typeface="Hero New" panose="020B0604020202020204" charset="0"/>
      <p:regular r:id="rId80"/>
      <p:italic r:id="rId8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14" roundtripDataSignature="AMtx7mg/+i/Ve+G1sMM/LOVZPObjtfjCo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F634239-DEF5-4B35-AD2C-F65D1690610E}">
  <a:tblStyle styleId="{2F634239-DEF5-4B35-AD2C-F65D1690610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theme" Target="theme/theme1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notesMaster" Target="notesMasters/notesMaster1.xml"/><Relationship Id="rId79" Type="http://schemas.openxmlformats.org/officeDocument/2006/relationships/font" Target="fonts/font5.fntdata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font" Target="fonts/font3.fntdata"/><Relationship Id="rId118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font" Target="fonts/font6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1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14" Type="http://customschemas.google.com/relationships/presentationmetadata" Target="meta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font" Target="fonts/font4.fntdata"/><Relationship Id="rId81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font" Target="fonts/font2.fntdata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115" Type="http://schemas.openxmlformats.org/officeDocument/2006/relationships/presProps" Target="presProps.xml"/><Relationship Id="rId61" Type="http://schemas.openxmlformats.org/officeDocument/2006/relationships/slide" Target="slides/slide6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6A556328-6AB9-418C-BB89-055C1EB8E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>
            <a:extLst>
              <a:ext uri="{FF2B5EF4-FFF2-40B4-BE49-F238E27FC236}">
                <a16:creationId xmlns:a16="http://schemas.microsoft.com/office/drawing/2014/main" id="{701E908E-53B8-A6FD-7A7F-ACF3740F5AC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9" name="Google Shape;99;p1:notes">
            <a:extLst>
              <a:ext uri="{FF2B5EF4-FFF2-40B4-BE49-F238E27FC236}">
                <a16:creationId xmlns:a16="http://schemas.microsoft.com/office/drawing/2014/main" id="{DCBD0BD7-6BB7-4675-C55B-0C2C9FE2A9F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818466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6A556328-6AB9-418C-BB89-055C1EB8E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>
            <a:extLst>
              <a:ext uri="{FF2B5EF4-FFF2-40B4-BE49-F238E27FC236}">
                <a16:creationId xmlns:a16="http://schemas.microsoft.com/office/drawing/2014/main" id="{701E908E-53B8-A6FD-7A7F-ACF3740F5AC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9" name="Google Shape;99;p1:notes">
            <a:extLst>
              <a:ext uri="{FF2B5EF4-FFF2-40B4-BE49-F238E27FC236}">
                <a16:creationId xmlns:a16="http://schemas.microsoft.com/office/drawing/2014/main" id="{DCBD0BD7-6BB7-4675-C55B-0C2C9FE2A9F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753884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6A556328-6AB9-418C-BB89-055C1EB8E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>
            <a:extLst>
              <a:ext uri="{FF2B5EF4-FFF2-40B4-BE49-F238E27FC236}">
                <a16:creationId xmlns:a16="http://schemas.microsoft.com/office/drawing/2014/main" id="{701E908E-53B8-A6FD-7A7F-ACF3740F5AC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9" name="Google Shape;99;p1:notes">
            <a:extLst>
              <a:ext uri="{FF2B5EF4-FFF2-40B4-BE49-F238E27FC236}">
                <a16:creationId xmlns:a16="http://schemas.microsoft.com/office/drawing/2014/main" id="{DCBD0BD7-6BB7-4675-C55B-0C2C9FE2A9F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193811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9" name="Google Shape;9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22b49eb08c1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2" name="Google Shape;112;g22b49eb08c1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2b49eb08c1_0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g22b49eb08c1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6A556328-6AB9-418C-BB89-055C1EB8E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>
            <a:extLst>
              <a:ext uri="{FF2B5EF4-FFF2-40B4-BE49-F238E27FC236}">
                <a16:creationId xmlns:a16="http://schemas.microsoft.com/office/drawing/2014/main" id="{701E908E-53B8-A6FD-7A7F-ACF3740F5AC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:notes">
            <a:extLst>
              <a:ext uri="{FF2B5EF4-FFF2-40B4-BE49-F238E27FC236}">
                <a16:creationId xmlns:a16="http://schemas.microsoft.com/office/drawing/2014/main" id="{DCBD0BD7-6BB7-4675-C55B-0C2C9FE2A9F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907443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149811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215851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1049595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2517450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2009499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6266013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2984594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2430186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0600096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2693645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8797665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9753207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4090461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6963607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4304363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7709865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48246439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55270548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33358286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Google Shape;275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Google Shape;275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74010183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34886568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" name="Google Shape;293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" name="Google Shape;293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2637111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29465460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55705257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383992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" name="Google Shape;317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" name="Google Shape;317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63164045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05622238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1" name="Google Shape;341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1" name="Google Shape;341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88119896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" name="Google Shape;353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" name="Google Shape;353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84248745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9" name="Google Shape;359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9" name="Google Shape;359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03906248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5" name="Google Shape;365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5" name="Google Shape;365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46318945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1" name="Google Shape;371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1" name="Google Shape;371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66042929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1">
          <a:extLst>
            <a:ext uri="{FF2B5EF4-FFF2-40B4-BE49-F238E27FC236}">
              <a16:creationId xmlns:a16="http://schemas.microsoft.com/office/drawing/2014/main" id="{EF5C60C3-6D68-9E35-6718-D87C775F1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45:notes">
            <a:extLst>
              <a:ext uri="{FF2B5EF4-FFF2-40B4-BE49-F238E27FC236}">
                <a16:creationId xmlns:a16="http://schemas.microsoft.com/office/drawing/2014/main" id="{5E2F8752-5D18-2028-C5BD-447C82EA1B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3" name="Google Shape;383;p45:notes">
            <a:extLst>
              <a:ext uri="{FF2B5EF4-FFF2-40B4-BE49-F238E27FC236}">
                <a16:creationId xmlns:a16="http://schemas.microsoft.com/office/drawing/2014/main" id="{6BDF6661-B72C-1B49-806B-1E43B9E384D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253329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Content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7"/>
          <p:cNvSpPr/>
          <p:nvPr/>
        </p:nvSpPr>
        <p:spPr>
          <a:xfrm>
            <a:off x="4005792" y="1338792"/>
            <a:ext cx="4180416" cy="4180416"/>
          </a:xfrm>
          <a:prstGeom prst="rect">
            <a:avLst/>
          </a:prstGeom>
          <a:blipFill rotWithShape="1">
            <a:blip r:embed="rId2">
              <a:alphaModFix amt="10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47"/>
          <p:cNvSpPr/>
          <p:nvPr/>
        </p:nvSpPr>
        <p:spPr>
          <a:xfrm rot="10800000" flipH="1">
            <a:off x="5191124" y="6439955"/>
            <a:ext cx="6997050" cy="420957"/>
          </a:xfrm>
          <a:custGeom>
            <a:avLst/>
            <a:gdLst/>
            <a:ahLst/>
            <a:cxnLst/>
            <a:rect l="l" t="t" r="r" b="b"/>
            <a:pathLst>
              <a:path w="6997050" h="474402" extrusionOk="0">
                <a:moveTo>
                  <a:pt x="274746" y="474402"/>
                </a:moveTo>
                <a:lnTo>
                  <a:pt x="5454000" y="474402"/>
                </a:lnTo>
                <a:lnTo>
                  <a:pt x="5454000" y="473606"/>
                </a:lnTo>
                <a:lnTo>
                  <a:pt x="6997050" y="473606"/>
                </a:lnTo>
                <a:lnTo>
                  <a:pt x="6997050" y="0"/>
                </a:lnTo>
                <a:lnTo>
                  <a:pt x="5454000" y="0"/>
                </a:lnTo>
                <a:lnTo>
                  <a:pt x="5454000" y="797"/>
                </a:lnTo>
                <a:lnTo>
                  <a:pt x="0" y="797"/>
                </a:lnTo>
                <a:close/>
              </a:path>
            </a:pathLst>
          </a:custGeom>
          <a:solidFill>
            <a:srgbClr val="108E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47"/>
          <p:cNvSpPr/>
          <p:nvPr/>
        </p:nvSpPr>
        <p:spPr>
          <a:xfrm>
            <a:off x="1" y="6439956"/>
            <a:ext cx="5490211" cy="418044"/>
          </a:xfrm>
          <a:custGeom>
            <a:avLst/>
            <a:gdLst/>
            <a:ahLst/>
            <a:cxnLst/>
            <a:rect l="l" t="t" r="r" b="b"/>
            <a:pathLst>
              <a:path w="5490211" h="473605" extrusionOk="0">
                <a:moveTo>
                  <a:pt x="0" y="0"/>
                </a:moveTo>
                <a:lnTo>
                  <a:pt x="5490211" y="0"/>
                </a:lnTo>
                <a:lnTo>
                  <a:pt x="5215520" y="473605"/>
                </a:lnTo>
                <a:lnTo>
                  <a:pt x="0" y="473605"/>
                </a:lnTo>
                <a:close/>
              </a:path>
            </a:pathLst>
          </a:custGeom>
          <a:solidFill>
            <a:srgbClr val="FE64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47"/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gradFill>
            <a:gsLst>
              <a:gs pos="0">
                <a:srgbClr val="FE6400"/>
              </a:gs>
              <a:gs pos="100000">
                <a:srgbClr val="108EFC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47"/>
          <p:cNvSpPr txBox="1">
            <a:spLocks noGrp="1"/>
          </p:cNvSpPr>
          <p:nvPr>
            <p:ph type="title"/>
          </p:nvPr>
        </p:nvSpPr>
        <p:spPr>
          <a:xfrm>
            <a:off x="254000" y="190500"/>
            <a:ext cx="11684000" cy="671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7"/>
          <p:cNvSpPr txBox="1"/>
          <p:nvPr/>
        </p:nvSpPr>
        <p:spPr>
          <a:xfrm>
            <a:off x="355600" y="5683515"/>
            <a:ext cx="11582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47"/>
          <p:cNvSpPr txBox="1"/>
          <p:nvPr/>
        </p:nvSpPr>
        <p:spPr>
          <a:xfrm>
            <a:off x="1118954" y="6464312"/>
            <a:ext cx="339490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Aptitude Classes by Anuj Sir </a:t>
            </a:r>
            <a:endParaRPr/>
          </a:p>
        </p:txBody>
      </p:sp>
      <p:sp>
        <p:nvSpPr>
          <p:cNvPr id="23" name="Google Shape;23;p47"/>
          <p:cNvSpPr txBox="1"/>
          <p:nvPr/>
        </p:nvSpPr>
        <p:spPr>
          <a:xfrm>
            <a:off x="6252259" y="6464312"/>
            <a:ext cx="563494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more tutorials Visit now www.testurprep.com</a:t>
            </a:r>
            <a:endParaRPr/>
          </a:p>
        </p:txBody>
      </p:sp>
      <p:sp>
        <p:nvSpPr>
          <p:cNvPr id="24" name="Google Shape;24;p47"/>
          <p:cNvSpPr/>
          <p:nvPr/>
        </p:nvSpPr>
        <p:spPr>
          <a:xfrm>
            <a:off x="158099" y="144860"/>
            <a:ext cx="727726" cy="727726"/>
          </a:xfrm>
          <a:prstGeom prst="ellipse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47"/>
          <p:cNvSpPr/>
          <p:nvPr/>
        </p:nvSpPr>
        <p:spPr>
          <a:xfrm>
            <a:off x="11311874" y="144860"/>
            <a:ext cx="727726" cy="727726"/>
          </a:xfrm>
          <a:prstGeom prst="ellipse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47"/>
          <p:cNvSpPr txBox="1">
            <a:spLocks noGrp="1"/>
          </p:cNvSpPr>
          <p:nvPr>
            <p:ph type="body" idx="1"/>
          </p:nvPr>
        </p:nvSpPr>
        <p:spPr>
          <a:xfrm>
            <a:off x="254000" y="1199620"/>
            <a:ext cx="11684000" cy="4991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>
                <a:latin typeface="Arial"/>
                <a:ea typeface="Arial"/>
                <a:cs typeface="Arial"/>
                <a:sym typeface="Arial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0" name="Google Shape;30;p4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 and Content">
  <p:cSld name="1_Title and Conte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9"/>
          <p:cNvSpPr txBox="1">
            <a:spLocks noGrp="1"/>
          </p:cNvSpPr>
          <p:nvPr>
            <p:ph type="title"/>
          </p:nvPr>
        </p:nvSpPr>
        <p:spPr>
          <a:xfrm>
            <a:off x="304800" y="270933"/>
            <a:ext cx="11582400" cy="745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49"/>
          <p:cNvSpPr txBox="1">
            <a:spLocks noGrp="1"/>
          </p:cNvSpPr>
          <p:nvPr>
            <p:ph type="body" idx="1"/>
          </p:nvPr>
        </p:nvSpPr>
        <p:spPr>
          <a:xfrm>
            <a:off x="304800" y="1185333"/>
            <a:ext cx="11582400" cy="4991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49"/>
          <p:cNvSpPr txBox="1">
            <a:spLocks noGrp="1"/>
          </p:cNvSpPr>
          <p:nvPr>
            <p:ph type="dt" idx="10"/>
          </p:nvPr>
        </p:nvSpPr>
        <p:spPr>
          <a:xfrm>
            <a:off x="304800" y="6380692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49"/>
          <p:cNvSpPr txBox="1">
            <a:spLocks noGrp="1"/>
          </p:cNvSpPr>
          <p:nvPr>
            <p:ph type="ftr" idx="11"/>
          </p:nvPr>
        </p:nvSpPr>
        <p:spPr>
          <a:xfrm>
            <a:off x="4038600" y="638069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49"/>
          <p:cNvSpPr txBox="1">
            <a:spLocks noGrp="1"/>
          </p:cNvSpPr>
          <p:nvPr>
            <p:ph type="sldNum" idx="12"/>
          </p:nvPr>
        </p:nvSpPr>
        <p:spPr>
          <a:xfrm>
            <a:off x="8610599" y="6356350"/>
            <a:ext cx="32765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" name="Google Shape;39;p49"/>
          <p:cNvSpPr/>
          <p:nvPr/>
        </p:nvSpPr>
        <p:spPr>
          <a:xfrm>
            <a:off x="3706812" y="981604"/>
            <a:ext cx="4879976" cy="4879976"/>
          </a:xfrm>
          <a:prstGeom prst="rect">
            <a:avLst/>
          </a:prstGeom>
          <a:blipFill rotWithShape="1">
            <a:blip r:embed="rId2">
              <a:alphaModFix amt="32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0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50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5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5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5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wo Content" type="twoObj">
  <p:cSld name="TWO_OBJECTS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5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5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51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5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5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5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mparison" type="twoTxTwoObj">
  <p:cSld name="TWO_OBJECTS_WITH_TEX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52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52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6" name="Google Shape;56;p52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7" name="Google Shape;57;p52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52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5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5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5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 type="titleOnly">
  <p:cSld name="TITLE_ONLY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5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5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5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5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blank">
  <p:cSld name="BLANK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5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5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5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with Caption" type="objTx">
  <p:cSld name="OBJECT_WITH_CAPTION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5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5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74" name="Google Shape;74;p55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5" name="Google Shape;75;p5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5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5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 with Caption" type="picTx">
  <p:cSld name="PICTURE_WITH_CAPTION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56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1" name="Google Shape;81;p56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2" name="Google Shape;82;p5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5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5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Vertical Text" type="vertTx">
  <p:cSld name="VERTICAL_TEXT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5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57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8" name="Google Shape;88;p5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5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5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Vertical Title and Text" type="vertTitleAndTx">
  <p:cSld name="VERTICAL_TITLE_AND_VERTICAL_TEXT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58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58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4" name="Google Shape;94;p5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5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5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4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4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4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4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5AC72D61-3E44-3E75-7DD0-AB2A3538AC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">
            <a:extLst>
              <a:ext uri="{FF2B5EF4-FFF2-40B4-BE49-F238E27FC236}">
                <a16:creationId xmlns:a16="http://schemas.microsoft.com/office/drawing/2014/main" id="{98132DC7-3FC2-7984-36C3-7AD2748F12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29476" y="564055"/>
            <a:ext cx="11733048" cy="5344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7620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7200" b="1" dirty="0">
                <a:solidFill>
                  <a:srgbClr val="FF0000"/>
                </a:solidFill>
                <a:latin typeface="Arial Black" panose="020B0A04020102020204" pitchFamily="34" charset="0"/>
                <a:ea typeface="Calibri"/>
                <a:cs typeface="Arial" panose="020B0604020202020204" pitchFamily="34" charset="0"/>
                <a:sym typeface="Calibri"/>
              </a:rPr>
              <a:t>PERCENTAGE</a:t>
            </a:r>
            <a:endParaRPr sz="7200" b="1" dirty="0">
              <a:solidFill>
                <a:srgbClr val="FF0000"/>
              </a:solidFill>
              <a:latin typeface="Arial Black" panose="020B0A040201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067948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5AC72D61-3E44-3E75-7DD0-AB2A3538AC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6A658390-CD40-9F19-AB3D-8516A20CE67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53730263"/>
                  </p:ext>
                </p:extLst>
              </p:nvPr>
            </p:nvGraphicFramePr>
            <p:xfrm>
              <a:off x="168093" y="861747"/>
              <a:ext cx="5849250" cy="55253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49750">
                      <a:extLst>
                        <a:ext uri="{9D8B030D-6E8A-4147-A177-3AD203B41FA5}">
                          <a16:colId xmlns:a16="http://schemas.microsoft.com/office/drawing/2014/main" val="4044826706"/>
                        </a:ext>
                      </a:extLst>
                    </a:gridCol>
                    <a:gridCol w="1949750">
                      <a:extLst>
                        <a:ext uri="{9D8B030D-6E8A-4147-A177-3AD203B41FA5}">
                          <a16:colId xmlns:a16="http://schemas.microsoft.com/office/drawing/2014/main" val="1894024779"/>
                        </a:ext>
                      </a:extLst>
                    </a:gridCol>
                    <a:gridCol w="1949750">
                      <a:extLst>
                        <a:ext uri="{9D8B030D-6E8A-4147-A177-3AD203B41FA5}">
                          <a16:colId xmlns:a16="http://schemas.microsoft.com/office/drawing/2014/main" val="3724521819"/>
                        </a:ext>
                      </a:extLst>
                    </a:gridCol>
                  </a:tblGrid>
                  <a:tr h="6488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solidFill>
                                <a:schemeClr val="tx1"/>
                              </a:solidFill>
                            </a:rPr>
                            <a:t>Fraction</a:t>
                          </a:r>
                          <a:endParaRPr lang="en-US" sz="1600" dirty="0">
                            <a:solidFill>
                              <a:schemeClr val="tx1"/>
                            </a:solidFill>
                            <a:latin typeface="Arial Unicode MS" panose="020B0604020202020204" pitchFamily="34" charset="-128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solidFill>
                                <a:schemeClr val="tx1"/>
                              </a:solidFill>
                            </a:rPr>
                            <a:t>Percentage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>
                              <a:solidFill>
                                <a:schemeClr val="tx1"/>
                              </a:solidFill>
                            </a:rPr>
                            <a:t>Percentage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>
                              <a:solidFill>
                                <a:schemeClr val="tx1"/>
                              </a:solidFill>
                            </a:rPr>
                            <a:t>(in decimal)</a:t>
                          </a:r>
                          <a:r>
                            <a:rPr lang="en-US" sz="1600" dirty="0">
                              <a:solidFill>
                                <a:schemeClr val="tx1"/>
                              </a:solidFill>
                              <a:latin typeface="Arial Unicode MS" panose="020B0604020202020204" pitchFamily="34" charset="-128"/>
                              <a:ea typeface="Arial Unicode MS" panose="020B0604020202020204" pitchFamily="34" charset="-128"/>
                              <a:cs typeface="Arial Unicode MS" panose="020B0604020202020204" pitchFamily="34" charset="-128"/>
                            </a:rPr>
                            <a:t> 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2578831"/>
                      </a:ext>
                    </a:extLst>
                  </a:tr>
                  <a:tr h="34583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100%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100%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74731113"/>
                      </a:ext>
                    </a:extLst>
                  </a:tr>
                  <a:tr h="56526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</m:t>
                                    </m:r>
                                  </m:num>
                                  <m:den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𝟐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600" b="1" dirty="0"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50%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50%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76914308"/>
                      </a:ext>
                    </a:extLst>
                  </a:tr>
                  <a:tr h="56689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</m:t>
                                    </m:r>
                                  </m:num>
                                  <m:den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𝟑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600" b="1" dirty="0"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33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𝟏</m:t>
                                  </m:r>
                                </m:num>
                                <m:den>
                                  <m:r>
                                    <a:rPr lang="en-US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𝟑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1600" b="1" dirty="0">
                              <a:latin typeface="+mn-lt"/>
                            </a:rPr>
                            <a:t>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33.33%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40470580"/>
                      </a:ext>
                    </a:extLst>
                  </a:tr>
                  <a:tr h="56526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</m:t>
                                    </m:r>
                                  </m:num>
                                  <m:den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𝟒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600" b="1" dirty="0"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25%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25%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12742783"/>
                      </a:ext>
                    </a:extLst>
                  </a:tr>
                  <a:tr h="56689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</m:t>
                                    </m:r>
                                  </m:num>
                                  <m:den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𝟓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600" b="1" dirty="0"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20%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20%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39110529"/>
                      </a:ext>
                    </a:extLst>
                  </a:tr>
                  <a:tr h="56689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</m:t>
                                    </m:r>
                                  </m:num>
                                  <m:den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𝟔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600" b="1" dirty="0"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16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𝟐</m:t>
                                  </m:r>
                                </m:num>
                                <m:den>
                                  <m:r>
                                    <a:rPr lang="en-US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𝟑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1600" b="1" dirty="0">
                              <a:latin typeface="+mn-lt"/>
                            </a:rPr>
                            <a:t>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16.66%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76385258"/>
                      </a:ext>
                    </a:extLst>
                  </a:tr>
                  <a:tr h="56558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</m:t>
                                    </m:r>
                                  </m:num>
                                  <m:den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𝟕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600" b="1" dirty="0"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  <a:ea typeface="Cambria Math" panose="02040503050406030204" pitchFamily="18" charset="0"/>
                            </a:rPr>
                            <a:t>14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𝟐</m:t>
                                  </m:r>
                                </m:num>
                                <m:den>
                                  <m:r>
                                    <a:rPr lang="en-US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𝟕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1600" b="1" dirty="0">
                              <a:latin typeface="+mn-lt"/>
                            </a:rPr>
                            <a:t>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14.28%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10143124"/>
                      </a:ext>
                    </a:extLst>
                  </a:tr>
                  <a:tr h="56696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</m:t>
                                    </m:r>
                                  </m:num>
                                  <m:den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𝟖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600" b="1" dirty="0"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  <a:ea typeface="Cambria Math" panose="02040503050406030204" pitchFamily="18" charset="0"/>
                            </a:rPr>
                            <a:t>12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𝟏</m:t>
                                  </m:r>
                                </m:num>
                                <m:den>
                                  <m:r>
                                    <a:rPr lang="en-US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𝟐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1600" b="1" dirty="0">
                              <a:latin typeface="+mn-lt"/>
                            </a:rPr>
                            <a:t>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12.50%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02604656"/>
                      </a:ext>
                    </a:extLst>
                  </a:tr>
                  <a:tr h="56689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</m:t>
                                    </m:r>
                                  </m:num>
                                  <m:den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𝟗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600" b="1" dirty="0"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11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𝟏</m:t>
                                  </m:r>
                                </m:num>
                                <m:den>
                                  <m:r>
                                    <a:rPr lang="en-US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𝟗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1600" b="1" dirty="0">
                              <a:latin typeface="+mn-lt"/>
                            </a:rPr>
                            <a:t>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11.11%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7764261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6A658390-CD40-9F19-AB3D-8516A20CE67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53730263"/>
                  </p:ext>
                </p:extLst>
              </p:nvPr>
            </p:nvGraphicFramePr>
            <p:xfrm>
              <a:off x="168093" y="861747"/>
              <a:ext cx="5849250" cy="55253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49750">
                      <a:extLst>
                        <a:ext uri="{9D8B030D-6E8A-4147-A177-3AD203B41FA5}">
                          <a16:colId xmlns:a16="http://schemas.microsoft.com/office/drawing/2014/main" val="4044826706"/>
                        </a:ext>
                      </a:extLst>
                    </a:gridCol>
                    <a:gridCol w="1949750">
                      <a:extLst>
                        <a:ext uri="{9D8B030D-6E8A-4147-A177-3AD203B41FA5}">
                          <a16:colId xmlns:a16="http://schemas.microsoft.com/office/drawing/2014/main" val="1894024779"/>
                        </a:ext>
                      </a:extLst>
                    </a:gridCol>
                    <a:gridCol w="1949750">
                      <a:extLst>
                        <a:ext uri="{9D8B030D-6E8A-4147-A177-3AD203B41FA5}">
                          <a16:colId xmlns:a16="http://schemas.microsoft.com/office/drawing/2014/main" val="3724521819"/>
                        </a:ext>
                      </a:extLst>
                    </a:gridCol>
                  </a:tblGrid>
                  <a:tr h="6488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solidFill>
                                <a:schemeClr val="tx1"/>
                              </a:solidFill>
                            </a:rPr>
                            <a:t>Fraction</a:t>
                          </a:r>
                          <a:endParaRPr lang="en-US" sz="1600" dirty="0">
                            <a:solidFill>
                              <a:schemeClr val="tx1"/>
                            </a:solidFill>
                            <a:latin typeface="Arial Unicode MS" panose="020B0604020202020204" pitchFamily="34" charset="-128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solidFill>
                                <a:schemeClr val="tx1"/>
                              </a:solidFill>
                            </a:rPr>
                            <a:t>Percentage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>
                              <a:solidFill>
                                <a:schemeClr val="tx1"/>
                              </a:solidFill>
                            </a:rPr>
                            <a:t>Percentage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>
                              <a:solidFill>
                                <a:schemeClr val="tx1"/>
                              </a:solidFill>
                            </a:rPr>
                            <a:t>(in decimal)</a:t>
                          </a:r>
                          <a:r>
                            <a:rPr lang="en-US" sz="1600" dirty="0">
                              <a:solidFill>
                                <a:schemeClr val="tx1"/>
                              </a:solidFill>
                              <a:latin typeface="Arial Unicode MS" panose="020B0604020202020204" pitchFamily="34" charset="-128"/>
                              <a:ea typeface="Arial Unicode MS" panose="020B0604020202020204" pitchFamily="34" charset="-128"/>
                              <a:cs typeface="Arial Unicode MS" panose="020B0604020202020204" pitchFamily="34" charset="-128"/>
                            </a:rPr>
                            <a:t> 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2578831"/>
                      </a:ext>
                    </a:extLst>
                  </a:tr>
                  <a:tr h="34583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100%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100%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74731113"/>
                      </a:ext>
                    </a:extLst>
                  </a:tr>
                  <a:tr h="5652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blipFill>
                          <a:blip r:embed="rId3"/>
                          <a:stretch>
                            <a:fillRect l="-938" t="-178495" r="-200938" b="-7032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50%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50%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76914308"/>
                      </a:ext>
                    </a:extLst>
                  </a:tr>
                  <a:tr h="56689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blipFill>
                          <a:blip r:embed="rId3"/>
                          <a:stretch>
                            <a:fillRect l="-938" t="-278495" r="-200938" b="-6032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blipFill>
                          <a:blip r:embed="rId3"/>
                          <a:stretch>
                            <a:fillRect l="-100623" t="-278495" r="-100312" b="-6032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33.33%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40470580"/>
                      </a:ext>
                    </a:extLst>
                  </a:tr>
                  <a:tr h="5652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blipFill>
                          <a:blip r:embed="rId3"/>
                          <a:stretch>
                            <a:fillRect l="-938" t="-378495" r="-200938" b="-5032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25%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25%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12742783"/>
                      </a:ext>
                    </a:extLst>
                  </a:tr>
                  <a:tr h="56689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blipFill>
                          <a:blip r:embed="rId3"/>
                          <a:stretch>
                            <a:fillRect l="-938" t="-478495" r="-200938" b="-4032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20%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20%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39110529"/>
                      </a:ext>
                    </a:extLst>
                  </a:tr>
                  <a:tr h="56689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blipFill>
                          <a:blip r:embed="rId3"/>
                          <a:stretch>
                            <a:fillRect l="-938" t="-578495" r="-200938" b="-3032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blipFill>
                          <a:blip r:embed="rId3"/>
                          <a:stretch>
                            <a:fillRect l="-100623" t="-578495" r="-100312" b="-3032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16.66%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76385258"/>
                      </a:ext>
                    </a:extLst>
                  </a:tr>
                  <a:tr h="56558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blipFill>
                          <a:blip r:embed="rId3"/>
                          <a:stretch>
                            <a:fillRect l="-938" t="-678495" r="-200938" b="-2032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blipFill>
                          <a:blip r:embed="rId3"/>
                          <a:stretch>
                            <a:fillRect l="-100623" t="-678495" r="-100312" b="-2032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14.28%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10143124"/>
                      </a:ext>
                    </a:extLst>
                  </a:tr>
                  <a:tr h="56696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blipFill>
                          <a:blip r:embed="rId3"/>
                          <a:stretch>
                            <a:fillRect l="-938" t="-778495" r="-200938" b="-1032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blipFill>
                          <a:blip r:embed="rId3"/>
                          <a:stretch>
                            <a:fillRect l="-100623" t="-778495" r="-100312" b="-1032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12.50%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02604656"/>
                      </a:ext>
                    </a:extLst>
                  </a:tr>
                  <a:tr h="56689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blipFill>
                          <a:blip r:embed="rId3"/>
                          <a:stretch>
                            <a:fillRect l="-938" t="-878495" r="-200938" b="-32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blipFill>
                          <a:blip r:embed="rId3"/>
                          <a:stretch>
                            <a:fillRect l="-100623" t="-878495" r="-100312" b="-32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11.11%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7764261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2">
                <a:extLst>
                  <a:ext uri="{FF2B5EF4-FFF2-40B4-BE49-F238E27FC236}">
                    <a16:creationId xmlns:a16="http://schemas.microsoft.com/office/drawing/2014/main" id="{1863EC45-DC9F-8CFA-36F1-8F82530E7E6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15943959"/>
                  </p:ext>
                </p:extLst>
              </p:nvPr>
            </p:nvGraphicFramePr>
            <p:xfrm>
              <a:off x="6185437" y="861747"/>
              <a:ext cx="5849250" cy="552531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49750">
                      <a:extLst>
                        <a:ext uri="{9D8B030D-6E8A-4147-A177-3AD203B41FA5}">
                          <a16:colId xmlns:a16="http://schemas.microsoft.com/office/drawing/2014/main" val="4044826706"/>
                        </a:ext>
                      </a:extLst>
                    </a:gridCol>
                    <a:gridCol w="1949750">
                      <a:extLst>
                        <a:ext uri="{9D8B030D-6E8A-4147-A177-3AD203B41FA5}">
                          <a16:colId xmlns:a16="http://schemas.microsoft.com/office/drawing/2014/main" val="1894024779"/>
                        </a:ext>
                      </a:extLst>
                    </a:gridCol>
                    <a:gridCol w="1949750">
                      <a:extLst>
                        <a:ext uri="{9D8B030D-6E8A-4147-A177-3AD203B41FA5}">
                          <a16:colId xmlns:a16="http://schemas.microsoft.com/office/drawing/2014/main" val="3724521819"/>
                        </a:ext>
                      </a:extLst>
                    </a:gridCol>
                  </a:tblGrid>
                  <a:tr h="58495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solidFill>
                                <a:schemeClr val="tx1"/>
                              </a:solidFill>
                            </a:rPr>
                            <a:t>Fraction</a:t>
                          </a:r>
                          <a:endParaRPr lang="en-US" sz="1600" dirty="0">
                            <a:solidFill>
                              <a:schemeClr val="tx1"/>
                            </a:solidFill>
                            <a:latin typeface="Arial Unicode MS" panose="020B0604020202020204" pitchFamily="34" charset="-128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solidFill>
                                <a:schemeClr val="tx1"/>
                              </a:solidFill>
                            </a:rPr>
                            <a:t>Percentage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>
                              <a:solidFill>
                                <a:schemeClr val="tx1"/>
                              </a:solidFill>
                            </a:rPr>
                            <a:t>Percentage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>
                              <a:solidFill>
                                <a:schemeClr val="tx1"/>
                              </a:solidFill>
                            </a:rPr>
                            <a:t>(in decimal)</a:t>
                          </a:r>
                          <a:r>
                            <a:rPr lang="en-US" sz="1600" dirty="0">
                              <a:solidFill>
                                <a:schemeClr val="tx1"/>
                              </a:solidFill>
                              <a:latin typeface="Arial Unicode MS" panose="020B0604020202020204" pitchFamily="34" charset="-128"/>
                              <a:ea typeface="Arial Unicode MS" panose="020B0604020202020204" pitchFamily="34" charset="-128"/>
                              <a:cs typeface="Arial Unicode MS" panose="020B0604020202020204" pitchFamily="34" charset="-128"/>
                            </a:rPr>
                            <a:t> 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2578831"/>
                      </a:ext>
                    </a:extLst>
                  </a:tr>
                  <a:tr h="53083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</m:t>
                                    </m:r>
                                  </m:num>
                                  <m:den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𝟏𝟎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600" b="1" dirty="0"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10%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10%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74731113"/>
                      </a:ext>
                    </a:extLst>
                  </a:tr>
                  <a:tr h="52929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</m:t>
                                    </m:r>
                                  </m:num>
                                  <m:den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𝟏𝟏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600" b="1" dirty="0"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𝟗</m:t>
                              </m:r>
                              <m:f>
                                <m:fPr>
                                  <m:ctrlPr>
                                    <a:rPr lang="en-US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𝟏</m:t>
                                  </m:r>
                                </m:num>
                                <m:den>
                                  <m:r>
                                    <a:rPr lang="en-US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𝟏𝟏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1600" b="1" dirty="0">
                              <a:latin typeface="+mn-lt"/>
                            </a:rPr>
                            <a:t>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9.09%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76914308"/>
                      </a:ext>
                    </a:extLst>
                  </a:tr>
                  <a:tr h="52929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</m:t>
                                    </m:r>
                                  </m:num>
                                  <m:den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𝟏𝟐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600" b="1" dirty="0"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𝟖</m:t>
                              </m:r>
                              <m:f>
                                <m:fPr>
                                  <m:ctrlPr>
                                    <a:rPr lang="en-US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𝟏</m:t>
                                  </m:r>
                                </m:num>
                                <m:den>
                                  <m:r>
                                    <a:rPr lang="en-US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𝟑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1600" b="1" dirty="0">
                              <a:latin typeface="+mn-lt"/>
                            </a:rPr>
                            <a:t>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8.33%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40470580"/>
                      </a:ext>
                    </a:extLst>
                  </a:tr>
                  <a:tr h="53083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</m:t>
                                    </m:r>
                                  </m:num>
                                  <m:den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𝟏𝟑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600" b="1" dirty="0"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𝟕</m:t>
                              </m:r>
                              <m:f>
                                <m:fPr>
                                  <m:ctrlPr>
                                    <a:rPr lang="en-US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𝟗</m:t>
                                  </m:r>
                                </m:num>
                                <m:den>
                                  <m:r>
                                    <a:rPr lang="en-US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𝟏𝟑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1600" b="1" dirty="0">
                              <a:latin typeface="+mn-lt"/>
                            </a:rPr>
                            <a:t>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7.69%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12742783"/>
                      </a:ext>
                    </a:extLst>
                  </a:tr>
                  <a:tr h="52929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</m:t>
                                    </m:r>
                                  </m:num>
                                  <m:den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𝟏𝟒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600" b="1" dirty="0"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𝟕</m:t>
                              </m:r>
                              <m:f>
                                <m:fPr>
                                  <m:ctrlPr>
                                    <a:rPr lang="en-US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𝟏</m:t>
                                  </m:r>
                                </m:num>
                                <m:den>
                                  <m:r>
                                    <a:rPr lang="en-US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𝟕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1600" b="1" dirty="0">
                              <a:latin typeface="+mn-lt"/>
                            </a:rPr>
                            <a:t>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7.14%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39110529"/>
                      </a:ext>
                    </a:extLst>
                  </a:tr>
                  <a:tr h="53083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</m:t>
                                    </m:r>
                                  </m:num>
                                  <m:den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𝟏𝟓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600" b="1" dirty="0"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6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𝟐</m:t>
                                  </m:r>
                                </m:num>
                                <m:den>
                                  <m:r>
                                    <a:rPr lang="en-US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𝟑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1600" b="1" dirty="0">
                              <a:latin typeface="+mn-lt"/>
                            </a:rPr>
                            <a:t>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6.66%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76385258"/>
                      </a:ext>
                    </a:extLst>
                  </a:tr>
                  <a:tr h="53083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</m:t>
                                    </m:r>
                                  </m:num>
                                  <m:den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𝟏𝟔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600" b="1" dirty="0"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𝟔</m:t>
                              </m:r>
                              <m:f>
                                <m:fPr>
                                  <m:ctrlPr>
                                    <a:rPr lang="en-US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𝟏</m:t>
                                  </m:r>
                                </m:num>
                                <m:den>
                                  <m:r>
                                    <a:rPr lang="en-US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𝟒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1600" b="1" dirty="0">
                              <a:latin typeface="+mn-lt"/>
                            </a:rPr>
                            <a:t>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6.25%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10143124"/>
                      </a:ext>
                    </a:extLst>
                  </a:tr>
                  <a:tr h="52960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</m:t>
                                    </m:r>
                                  </m:num>
                                  <m:den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𝟏𝟕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600" b="1" dirty="0"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𝟓</m:t>
                              </m:r>
                              <m:f>
                                <m:fPr>
                                  <m:ctrlPr>
                                    <a:rPr lang="en-US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𝟏𝟓</m:t>
                                  </m:r>
                                </m:num>
                                <m:den>
                                  <m:r>
                                    <a:rPr lang="en-US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𝟏𝟕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1600" b="1" dirty="0">
                              <a:latin typeface="+mn-lt"/>
                            </a:rPr>
                            <a:t>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5.88%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02604656"/>
                      </a:ext>
                    </a:extLst>
                  </a:tr>
                  <a:tr h="530891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</m:t>
                                    </m:r>
                                  </m:num>
                                  <m:den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𝟏𝟖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600" b="1" dirty="0"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𝟓</m:t>
                              </m:r>
                              <m:f>
                                <m:fPr>
                                  <m:ctrlPr>
                                    <a:rPr lang="en-US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𝟓</m:t>
                                  </m:r>
                                </m:num>
                                <m:den>
                                  <m:r>
                                    <a:rPr lang="en-US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𝟗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1600" b="1" dirty="0">
                              <a:latin typeface="+mn-lt"/>
                            </a:rPr>
                            <a:t>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5.55%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7764261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2">
                <a:extLst>
                  <a:ext uri="{FF2B5EF4-FFF2-40B4-BE49-F238E27FC236}">
                    <a16:creationId xmlns:a16="http://schemas.microsoft.com/office/drawing/2014/main" id="{1863EC45-DC9F-8CFA-36F1-8F82530E7E6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15943959"/>
                  </p:ext>
                </p:extLst>
              </p:nvPr>
            </p:nvGraphicFramePr>
            <p:xfrm>
              <a:off x="6185437" y="861747"/>
              <a:ext cx="5849250" cy="552531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49750">
                      <a:extLst>
                        <a:ext uri="{9D8B030D-6E8A-4147-A177-3AD203B41FA5}">
                          <a16:colId xmlns:a16="http://schemas.microsoft.com/office/drawing/2014/main" val="4044826706"/>
                        </a:ext>
                      </a:extLst>
                    </a:gridCol>
                    <a:gridCol w="1949750">
                      <a:extLst>
                        <a:ext uri="{9D8B030D-6E8A-4147-A177-3AD203B41FA5}">
                          <a16:colId xmlns:a16="http://schemas.microsoft.com/office/drawing/2014/main" val="1894024779"/>
                        </a:ext>
                      </a:extLst>
                    </a:gridCol>
                    <a:gridCol w="1949750">
                      <a:extLst>
                        <a:ext uri="{9D8B030D-6E8A-4147-A177-3AD203B41FA5}">
                          <a16:colId xmlns:a16="http://schemas.microsoft.com/office/drawing/2014/main" val="3724521819"/>
                        </a:ext>
                      </a:extLst>
                    </a:gridCol>
                  </a:tblGrid>
                  <a:tr h="58495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solidFill>
                                <a:schemeClr val="tx1"/>
                              </a:solidFill>
                            </a:rPr>
                            <a:t>Fraction</a:t>
                          </a:r>
                          <a:endParaRPr lang="en-US" sz="1600" dirty="0">
                            <a:solidFill>
                              <a:schemeClr val="tx1"/>
                            </a:solidFill>
                            <a:latin typeface="Arial Unicode MS" panose="020B0604020202020204" pitchFamily="34" charset="-128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solidFill>
                                <a:schemeClr val="tx1"/>
                              </a:solidFill>
                            </a:rPr>
                            <a:t>Percentage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>
                              <a:solidFill>
                                <a:schemeClr val="tx1"/>
                              </a:solidFill>
                            </a:rPr>
                            <a:t>Percentage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>
                              <a:solidFill>
                                <a:schemeClr val="tx1"/>
                              </a:solidFill>
                            </a:rPr>
                            <a:t>(in decimal)</a:t>
                          </a:r>
                          <a:r>
                            <a:rPr lang="en-US" sz="1600" dirty="0">
                              <a:solidFill>
                                <a:schemeClr val="tx1"/>
                              </a:solidFill>
                              <a:latin typeface="Arial Unicode MS" panose="020B0604020202020204" pitchFamily="34" charset="-128"/>
                              <a:ea typeface="Arial Unicode MS" panose="020B0604020202020204" pitchFamily="34" charset="-128"/>
                              <a:cs typeface="Arial Unicode MS" panose="020B0604020202020204" pitchFamily="34" charset="-128"/>
                            </a:rPr>
                            <a:t> 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2578831"/>
                      </a:ext>
                    </a:extLst>
                  </a:tr>
                  <a:tr h="54959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blipFill>
                          <a:blip r:embed="rId4"/>
                          <a:stretch>
                            <a:fillRect l="-625" t="-110000" r="-200938" b="-8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10%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10%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74731113"/>
                      </a:ext>
                    </a:extLst>
                  </a:tr>
                  <a:tr h="54800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blipFill>
                          <a:blip r:embed="rId4"/>
                          <a:stretch>
                            <a:fillRect l="-625" t="-210000" r="-200938" b="-7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blipFill>
                          <a:blip r:embed="rId4"/>
                          <a:stretch>
                            <a:fillRect l="-100312" t="-210000" r="-100312" b="-7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9.09%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76914308"/>
                      </a:ext>
                    </a:extLst>
                  </a:tr>
                  <a:tr h="54800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blipFill>
                          <a:blip r:embed="rId4"/>
                          <a:stretch>
                            <a:fillRect l="-625" t="-310000" r="-200938" b="-6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blipFill>
                          <a:blip r:embed="rId4"/>
                          <a:stretch>
                            <a:fillRect l="-100312" t="-310000" r="-100312" b="-6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8.33%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40470580"/>
                      </a:ext>
                    </a:extLst>
                  </a:tr>
                  <a:tr h="54959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blipFill>
                          <a:blip r:embed="rId4"/>
                          <a:stretch>
                            <a:fillRect l="-625" t="-410000" r="-200938" b="-5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blipFill>
                          <a:blip r:embed="rId4"/>
                          <a:stretch>
                            <a:fillRect l="-100312" t="-410000" r="-100312" b="-5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7.69%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12742783"/>
                      </a:ext>
                    </a:extLst>
                  </a:tr>
                  <a:tr h="54800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blipFill>
                          <a:blip r:embed="rId4"/>
                          <a:stretch>
                            <a:fillRect l="-625" t="-510000" r="-200938" b="-4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blipFill>
                          <a:blip r:embed="rId4"/>
                          <a:stretch>
                            <a:fillRect l="-100312" t="-510000" r="-100312" b="-4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7.14%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39110529"/>
                      </a:ext>
                    </a:extLst>
                  </a:tr>
                  <a:tr h="54959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blipFill>
                          <a:blip r:embed="rId4"/>
                          <a:stretch>
                            <a:fillRect l="-625" t="-603297" r="-200938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blipFill>
                          <a:blip r:embed="rId4"/>
                          <a:stretch>
                            <a:fillRect l="-100312" t="-603297" r="-100312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6.66%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76385258"/>
                      </a:ext>
                    </a:extLst>
                  </a:tr>
                  <a:tr h="54959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blipFill>
                          <a:blip r:embed="rId4"/>
                          <a:stretch>
                            <a:fillRect l="-625" t="-711111" r="-200938" b="-2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blipFill>
                          <a:blip r:embed="rId4"/>
                          <a:stretch>
                            <a:fillRect l="-100312" t="-711111" r="-100312" b="-2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6.25%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10143124"/>
                      </a:ext>
                    </a:extLst>
                  </a:tr>
                  <a:tr h="54832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blipFill>
                          <a:blip r:embed="rId4"/>
                          <a:stretch>
                            <a:fillRect l="-625" t="-811111" r="-200938" b="-1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blipFill>
                          <a:blip r:embed="rId4"/>
                          <a:stretch>
                            <a:fillRect l="-100312" t="-811111" r="-100312" b="-1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5.88%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02604656"/>
                      </a:ext>
                    </a:extLst>
                  </a:tr>
                  <a:tr h="54965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blipFill>
                          <a:blip r:embed="rId4"/>
                          <a:stretch>
                            <a:fillRect l="-625" t="-911111" r="-200938" b="-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blipFill>
                          <a:blip r:embed="rId4"/>
                          <a:stretch>
                            <a:fillRect l="-100312" t="-911111" r="-100312" b="-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5.55%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7764261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8778479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5AC72D61-3E44-3E75-7DD0-AB2A3538AC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B40277B9-0746-4235-4D85-1BBD8484FED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79366465"/>
                  </p:ext>
                </p:extLst>
              </p:nvPr>
            </p:nvGraphicFramePr>
            <p:xfrm>
              <a:off x="168092" y="866893"/>
              <a:ext cx="5849250" cy="552069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49750">
                      <a:extLst>
                        <a:ext uri="{9D8B030D-6E8A-4147-A177-3AD203B41FA5}">
                          <a16:colId xmlns:a16="http://schemas.microsoft.com/office/drawing/2014/main" val="4044826706"/>
                        </a:ext>
                      </a:extLst>
                    </a:gridCol>
                    <a:gridCol w="1949750">
                      <a:extLst>
                        <a:ext uri="{9D8B030D-6E8A-4147-A177-3AD203B41FA5}">
                          <a16:colId xmlns:a16="http://schemas.microsoft.com/office/drawing/2014/main" val="1894024779"/>
                        </a:ext>
                      </a:extLst>
                    </a:gridCol>
                    <a:gridCol w="1949750">
                      <a:extLst>
                        <a:ext uri="{9D8B030D-6E8A-4147-A177-3AD203B41FA5}">
                          <a16:colId xmlns:a16="http://schemas.microsoft.com/office/drawing/2014/main" val="372452181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solidFill>
                                <a:schemeClr val="tx1"/>
                              </a:solidFill>
                            </a:rPr>
                            <a:t>Fraction</a:t>
                          </a:r>
                          <a:endParaRPr lang="en-US" sz="1600" dirty="0">
                            <a:solidFill>
                              <a:schemeClr val="tx1"/>
                            </a:solidFill>
                            <a:latin typeface="Arial Unicode MS" panose="020B0604020202020204" pitchFamily="34" charset="-128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solidFill>
                                <a:schemeClr val="tx1"/>
                              </a:solidFill>
                            </a:rPr>
                            <a:t>Percentage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>
                              <a:solidFill>
                                <a:schemeClr val="tx1"/>
                              </a:solidFill>
                            </a:rPr>
                            <a:t>Percentage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>
                              <a:solidFill>
                                <a:schemeClr val="tx1"/>
                              </a:solidFill>
                            </a:rPr>
                            <a:t>(in decimal)</a:t>
                          </a:r>
                          <a:r>
                            <a:rPr lang="en-US" sz="1600" dirty="0">
                              <a:solidFill>
                                <a:schemeClr val="tx1"/>
                              </a:solidFill>
                              <a:latin typeface="Arial Unicode MS" panose="020B0604020202020204" pitchFamily="34" charset="-128"/>
                              <a:ea typeface="Arial Unicode MS" panose="020B0604020202020204" pitchFamily="34" charset="-128"/>
                              <a:cs typeface="Arial Unicode MS" panose="020B0604020202020204" pitchFamily="34" charset="-128"/>
                            </a:rPr>
                            <a:t> 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25788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</m:t>
                                    </m:r>
                                  </m:num>
                                  <m:den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𝟏𝟗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600" b="1" dirty="0"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𝟓</m:t>
                              </m:r>
                              <m:f>
                                <m:fPr>
                                  <m:ctrlPr>
                                    <a:rPr lang="en-US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𝟓</m:t>
                                  </m:r>
                                </m:num>
                                <m:den>
                                  <m:r>
                                    <a:rPr lang="en-US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𝟏𝟗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1600" b="1" dirty="0">
                              <a:latin typeface="+mn-lt"/>
                            </a:rPr>
                            <a:t>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5.26%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7473111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</m:t>
                                    </m:r>
                                  </m:num>
                                  <m:den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𝟐𝟎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600" b="1" dirty="0"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5%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5%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769143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</m:t>
                                    </m:r>
                                  </m:num>
                                  <m:den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𝟐𝟏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600" b="1" dirty="0"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𝟒</m:t>
                              </m:r>
                              <m:f>
                                <m:fPr>
                                  <m:ctrlPr>
                                    <a:rPr lang="en-US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𝟏𝟔</m:t>
                                  </m:r>
                                </m:num>
                                <m:den>
                                  <m:r>
                                    <a:rPr lang="en-US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𝟐𝟏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1600" b="1" dirty="0">
                              <a:latin typeface="+mn-lt"/>
                            </a:rPr>
                            <a:t>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4.74%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4047058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</m:t>
                                    </m:r>
                                  </m:num>
                                  <m:den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𝟐𝟐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600" b="1" dirty="0"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ea typeface="Cambria Math" panose="02040503050406030204" pitchFamily="18" charset="0"/>
                            </a:rPr>
                            <a:t>4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𝟔</m:t>
                                  </m:r>
                                </m:num>
                                <m:den>
                                  <m:r>
                                    <a:rPr lang="en-US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𝟏𝟏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1600" b="1" dirty="0">
                              <a:latin typeface="+mn-lt"/>
                            </a:rPr>
                            <a:t>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4.5454%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1274278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</m:t>
                                    </m:r>
                                  </m:num>
                                  <m:den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𝟐𝟑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600" b="1" dirty="0"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ea typeface="Cambria Math" panose="02040503050406030204" pitchFamily="18" charset="0"/>
                            </a:rPr>
                            <a:t>4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𝟖</m:t>
                                  </m:r>
                                </m:num>
                                <m:den>
                                  <m:r>
                                    <a:rPr lang="en-US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𝟐𝟑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1600" b="1" dirty="0">
                              <a:latin typeface="+mn-lt"/>
                            </a:rPr>
                            <a:t>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4.34%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391105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</m:t>
                                    </m:r>
                                  </m:num>
                                  <m:den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𝟐𝟒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600" b="1" dirty="0"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4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𝟏</m:t>
                                  </m:r>
                                </m:num>
                                <m:den>
                                  <m:r>
                                    <a:rPr lang="en-US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𝟔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1600" b="1" dirty="0">
                              <a:latin typeface="+mn-lt"/>
                            </a:rPr>
                            <a:t>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4.16%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763852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</m:t>
                                    </m:r>
                                  </m:num>
                                  <m:den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GB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𝟓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600" b="1" dirty="0"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4%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4%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257635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𝟐</m:t>
                                    </m:r>
                                  </m:num>
                                  <m:den>
                                    <m:r>
                                      <a:rPr lang="en-GB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𝟑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600" b="1" dirty="0"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66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GB" sz="16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num>
                                <m:den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1600" b="1" dirty="0">
                              <a:latin typeface="+mn-lt"/>
                            </a:rPr>
                            <a:t>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66.67%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145186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𝟐</m:t>
                                    </m:r>
                                  </m:num>
                                  <m:den>
                                    <m:r>
                                      <a:rPr lang="en-GB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𝟓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600" b="1" dirty="0"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40%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40%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943719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B40277B9-0746-4235-4D85-1BBD8484FED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79366465"/>
                  </p:ext>
                </p:extLst>
              </p:nvPr>
            </p:nvGraphicFramePr>
            <p:xfrm>
              <a:off x="168092" y="866893"/>
              <a:ext cx="5849250" cy="552069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49750">
                      <a:extLst>
                        <a:ext uri="{9D8B030D-6E8A-4147-A177-3AD203B41FA5}">
                          <a16:colId xmlns:a16="http://schemas.microsoft.com/office/drawing/2014/main" val="4044826706"/>
                        </a:ext>
                      </a:extLst>
                    </a:gridCol>
                    <a:gridCol w="1949750">
                      <a:extLst>
                        <a:ext uri="{9D8B030D-6E8A-4147-A177-3AD203B41FA5}">
                          <a16:colId xmlns:a16="http://schemas.microsoft.com/office/drawing/2014/main" val="1894024779"/>
                        </a:ext>
                      </a:extLst>
                    </a:gridCol>
                    <a:gridCol w="1949750">
                      <a:extLst>
                        <a:ext uri="{9D8B030D-6E8A-4147-A177-3AD203B41FA5}">
                          <a16:colId xmlns:a16="http://schemas.microsoft.com/office/drawing/2014/main" val="3724521819"/>
                        </a:ext>
                      </a:extLst>
                    </a:gridCol>
                  </a:tblGrid>
                  <a:tr h="5791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solidFill>
                                <a:schemeClr val="tx1"/>
                              </a:solidFill>
                            </a:rPr>
                            <a:t>Fraction</a:t>
                          </a:r>
                          <a:endParaRPr lang="en-US" sz="1600" dirty="0">
                            <a:solidFill>
                              <a:schemeClr val="tx1"/>
                            </a:solidFill>
                            <a:latin typeface="Arial Unicode MS" panose="020B0604020202020204" pitchFamily="34" charset="-128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solidFill>
                                <a:schemeClr val="tx1"/>
                              </a:solidFill>
                            </a:rPr>
                            <a:t>Percentage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>
                              <a:solidFill>
                                <a:schemeClr val="tx1"/>
                              </a:solidFill>
                            </a:rPr>
                            <a:t>Percentage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>
                              <a:solidFill>
                                <a:schemeClr val="tx1"/>
                              </a:solidFill>
                            </a:rPr>
                            <a:t>(in decimal)</a:t>
                          </a:r>
                          <a:r>
                            <a:rPr lang="en-US" sz="1600" dirty="0">
                              <a:solidFill>
                                <a:schemeClr val="tx1"/>
                              </a:solidFill>
                              <a:latin typeface="Arial Unicode MS" panose="020B0604020202020204" pitchFamily="34" charset="-128"/>
                              <a:ea typeface="Arial Unicode MS" panose="020B0604020202020204" pitchFamily="34" charset="-128"/>
                              <a:cs typeface="Arial Unicode MS" panose="020B0604020202020204" pitchFamily="34" charset="-128"/>
                            </a:rPr>
                            <a:t> 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2578831"/>
                      </a:ext>
                    </a:extLst>
                  </a:tr>
                  <a:tr h="54959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blipFill>
                          <a:blip r:embed="rId3"/>
                          <a:stretch>
                            <a:fillRect l="-625" t="-108889" r="-200938" b="-8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blipFill>
                          <a:blip r:embed="rId3"/>
                          <a:stretch>
                            <a:fillRect l="-100312" t="-108889" r="-100312" b="-8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5.26%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74731113"/>
                      </a:ext>
                    </a:extLst>
                  </a:tr>
                  <a:tr h="54959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blipFill>
                          <a:blip r:embed="rId3"/>
                          <a:stretch>
                            <a:fillRect l="-625" t="-208889" r="-200938" b="-7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5%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5%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76914308"/>
                      </a:ext>
                    </a:extLst>
                  </a:tr>
                  <a:tr h="54800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blipFill>
                          <a:blip r:embed="rId3"/>
                          <a:stretch>
                            <a:fillRect l="-625" t="-308889" r="-200938" b="-6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blipFill>
                          <a:blip r:embed="rId3"/>
                          <a:stretch>
                            <a:fillRect l="-100312" t="-308889" r="-100312" b="-6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4.74%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40470580"/>
                      </a:ext>
                    </a:extLst>
                  </a:tr>
                  <a:tr h="54800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blipFill>
                          <a:blip r:embed="rId3"/>
                          <a:stretch>
                            <a:fillRect l="-625" t="-408889" r="-200938" b="-5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blipFill>
                          <a:blip r:embed="rId3"/>
                          <a:stretch>
                            <a:fillRect l="-100312" t="-408889" r="-100312" b="-5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4.5454%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12742783"/>
                      </a:ext>
                    </a:extLst>
                  </a:tr>
                  <a:tr h="54959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blipFill>
                          <a:blip r:embed="rId3"/>
                          <a:stretch>
                            <a:fillRect l="-625" t="-508889" r="-200938" b="-4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blipFill>
                          <a:blip r:embed="rId3"/>
                          <a:stretch>
                            <a:fillRect l="-100312" t="-508889" r="-100312" b="-4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4.34%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39110529"/>
                      </a:ext>
                    </a:extLst>
                  </a:tr>
                  <a:tr h="54800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blipFill>
                          <a:blip r:embed="rId3"/>
                          <a:stretch>
                            <a:fillRect l="-625" t="-608889" r="-200938" b="-3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blipFill>
                          <a:blip r:embed="rId3"/>
                          <a:stretch>
                            <a:fillRect l="-100312" t="-608889" r="-100312" b="-3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4.16%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76385258"/>
                      </a:ext>
                    </a:extLst>
                  </a:tr>
                  <a:tr h="54959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blipFill>
                          <a:blip r:embed="rId3"/>
                          <a:stretch>
                            <a:fillRect l="-625" t="-701099" r="-200938" b="-2010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4%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4%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2576353"/>
                      </a:ext>
                    </a:extLst>
                  </a:tr>
                  <a:tr h="54959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blipFill>
                          <a:blip r:embed="rId3"/>
                          <a:stretch>
                            <a:fillRect l="-625" t="-810000" r="-200938" b="-1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blipFill>
                          <a:blip r:embed="rId3"/>
                          <a:stretch>
                            <a:fillRect l="-100312" t="-810000" r="-100312" b="-1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66.67%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14518650"/>
                      </a:ext>
                    </a:extLst>
                  </a:tr>
                  <a:tr h="54959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blipFill>
                          <a:blip r:embed="rId3"/>
                          <a:stretch>
                            <a:fillRect l="-625" t="-910000" r="-200938" b="-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40%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40%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9437199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F88A7710-11F9-51CD-40F6-747504C7459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28680779"/>
                  </p:ext>
                </p:extLst>
              </p:nvPr>
            </p:nvGraphicFramePr>
            <p:xfrm>
              <a:off x="6184491" y="861750"/>
              <a:ext cx="5849250" cy="553396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49750">
                      <a:extLst>
                        <a:ext uri="{9D8B030D-6E8A-4147-A177-3AD203B41FA5}">
                          <a16:colId xmlns:a16="http://schemas.microsoft.com/office/drawing/2014/main" val="4044826706"/>
                        </a:ext>
                      </a:extLst>
                    </a:gridCol>
                    <a:gridCol w="1949750">
                      <a:extLst>
                        <a:ext uri="{9D8B030D-6E8A-4147-A177-3AD203B41FA5}">
                          <a16:colId xmlns:a16="http://schemas.microsoft.com/office/drawing/2014/main" val="1894024779"/>
                        </a:ext>
                      </a:extLst>
                    </a:gridCol>
                    <a:gridCol w="1949750">
                      <a:extLst>
                        <a:ext uri="{9D8B030D-6E8A-4147-A177-3AD203B41FA5}">
                          <a16:colId xmlns:a16="http://schemas.microsoft.com/office/drawing/2014/main" val="372452181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solidFill>
                                <a:schemeClr val="tx1"/>
                              </a:solidFill>
                            </a:rPr>
                            <a:t>Fraction</a:t>
                          </a:r>
                          <a:endParaRPr lang="en-US" sz="1600" dirty="0">
                            <a:solidFill>
                              <a:schemeClr val="tx1"/>
                            </a:solidFill>
                            <a:latin typeface="Arial Unicode MS" panose="020B0604020202020204" pitchFamily="34" charset="-128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solidFill>
                                <a:schemeClr val="tx1"/>
                              </a:solidFill>
                            </a:rPr>
                            <a:t>Percentage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>
                              <a:solidFill>
                                <a:schemeClr val="tx1"/>
                              </a:solidFill>
                            </a:rPr>
                            <a:t>Percentage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>
                              <a:solidFill>
                                <a:schemeClr val="tx1"/>
                              </a:solidFill>
                            </a:rPr>
                            <a:t>(in decimal)</a:t>
                          </a:r>
                          <a:r>
                            <a:rPr lang="en-US" sz="1600" dirty="0">
                              <a:solidFill>
                                <a:schemeClr val="tx1"/>
                              </a:solidFill>
                              <a:latin typeface="Arial Unicode MS" panose="020B0604020202020204" pitchFamily="34" charset="-128"/>
                              <a:ea typeface="Arial Unicode MS" panose="020B0604020202020204" pitchFamily="34" charset="-128"/>
                              <a:cs typeface="Arial Unicode MS" panose="020B0604020202020204" pitchFamily="34" charset="-128"/>
                            </a:rPr>
                            <a:t> 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25788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𝟑</m:t>
                                    </m:r>
                                  </m:num>
                                  <m:den>
                                    <m:r>
                                      <a:rPr lang="en-GB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𝟒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600" b="1" dirty="0"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𝟕𝟓</m:t>
                              </m:r>
                            </m:oMath>
                          </a14:m>
                          <a:r>
                            <a:rPr lang="en-US" sz="1600" b="1" dirty="0">
                              <a:latin typeface="+mn-lt"/>
                            </a:rPr>
                            <a:t>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75%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7473111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𝟑</m:t>
                                    </m:r>
                                  </m:num>
                                  <m:den>
                                    <m:r>
                                      <a:rPr lang="en-GB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𝟓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600" b="1" dirty="0"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60%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60%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769143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𝟑</m:t>
                                    </m:r>
                                  </m:num>
                                  <m:den>
                                    <m:r>
                                      <a:rPr lang="en-GB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𝟖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600" b="1" dirty="0"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𝟑𝟕</m:t>
                              </m:r>
                              <m:f>
                                <m:fPr>
                                  <m:ctrlPr>
                                    <a:rPr lang="en-US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𝟏</m:t>
                                  </m:r>
                                </m:num>
                                <m:den>
                                  <m:r>
                                    <a:rPr lang="en-US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𝟐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1600" b="1" dirty="0">
                              <a:latin typeface="+mn-lt"/>
                            </a:rPr>
                            <a:t>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37.50%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4047058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𝟒</m:t>
                                    </m:r>
                                  </m:num>
                                  <m:den>
                                    <m:r>
                                      <a:rPr lang="en-GB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𝟓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600" b="1" dirty="0"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ea typeface="Cambria Math" panose="02040503050406030204" pitchFamily="18" charset="0"/>
                            </a:rPr>
                            <a:t>80</a:t>
                          </a:r>
                          <a:r>
                            <a:rPr lang="en-US" sz="1600" b="1" dirty="0">
                              <a:latin typeface="+mn-lt"/>
                            </a:rPr>
                            <a:t>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80%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1274278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𝟒</m:t>
                                    </m:r>
                                  </m:num>
                                  <m:den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𝟑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600" b="1" dirty="0"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ea typeface="Cambria Math" panose="02040503050406030204" pitchFamily="18" charset="0"/>
                            </a:rPr>
                            <a:t>1</a:t>
                          </a:r>
                          <a14:m>
                            <m:oMath xmlns:m="http://schemas.openxmlformats.org/officeDocument/2006/math">
                              <m:r>
                                <a:rPr lang="en-GB" sz="1600" b="1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𝟑𝟑</m:t>
                              </m:r>
                              <m:f>
                                <m:fPr>
                                  <m:ctrlPr>
                                    <a:rPr lang="en-US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𝟏</m:t>
                                  </m:r>
                                </m:num>
                                <m:den>
                                  <m:r>
                                    <a:rPr lang="en-US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𝟑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1600" b="1" dirty="0">
                              <a:latin typeface="+mn-lt"/>
                            </a:rPr>
                            <a:t>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133.33%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391105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𝟓</m:t>
                                    </m:r>
                                  </m:num>
                                  <m:den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𝟒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600" b="1" dirty="0"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125%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125%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763852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𝟓</m:t>
                                    </m:r>
                                  </m:num>
                                  <m:den>
                                    <m:r>
                                      <a:rPr lang="en-GB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𝟔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600" b="1" dirty="0"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8</a:t>
                          </a:r>
                          <a14:m>
                            <m:oMath xmlns:m="http://schemas.openxmlformats.org/officeDocument/2006/math">
                              <m:r>
                                <a:rPr lang="en-GB" sz="1600" b="1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𝟑</m:t>
                              </m:r>
                              <m:f>
                                <m:fPr>
                                  <m:ctrlPr>
                                    <a:rPr lang="en-US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𝟏</m:t>
                                  </m:r>
                                </m:num>
                                <m:den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𝟑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1600" b="1" dirty="0">
                              <a:latin typeface="+mn-lt"/>
                            </a:rPr>
                            <a:t>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83.33%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257635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𝟓</m:t>
                                    </m:r>
                                  </m:num>
                                  <m:den>
                                    <m:r>
                                      <a:rPr lang="en-GB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𝟖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600" b="1" dirty="0"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600" b="1" dirty="0">
                              <a:latin typeface="+mn-lt"/>
                            </a:rPr>
                            <a:t>6</a:t>
                          </a:r>
                          <a14:m>
                            <m:oMath xmlns:m="http://schemas.openxmlformats.org/officeDocument/2006/math">
                              <m:r>
                                <a:rPr lang="en-GB" sz="1600" b="1" i="0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f>
                                <m:fPr>
                                  <m:ctrlPr>
                                    <a:rPr lang="en-GB" sz="16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num>
                                <m:den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1600" b="1" dirty="0">
                              <a:latin typeface="+mn-lt"/>
                            </a:rPr>
                            <a:t>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62.50%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145186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𝟕</m:t>
                                    </m:r>
                                  </m:num>
                                  <m:den>
                                    <m:r>
                                      <a:rPr lang="en-GB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𝟖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600" b="1" dirty="0"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8</a:t>
                          </a:r>
                          <a14:m>
                            <m:oMath xmlns:m="http://schemas.openxmlformats.org/officeDocument/2006/math">
                              <m:r>
                                <a:rPr lang="en-GB" sz="1600" b="1" i="0" smtClean="0">
                                  <a:latin typeface="Cambria Math" panose="02040503050406030204" pitchFamily="18" charset="0"/>
                                </a:rPr>
                                <m:t>𝟕</m:t>
                              </m:r>
                              <m:f>
                                <m:fPr>
                                  <m:ctrlPr>
                                    <a:rPr lang="en-GB" sz="16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num>
                                <m:den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1600" b="1" dirty="0">
                              <a:latin typeface="+mn-lt"/>
                            </a:rPr>
                            <a:t>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87.50%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943719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F88A7710-11F9-51CD-40F6-747504C7459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28680779"/>
                  </p:ext>
                </p:extLst>
              </p:nvPr>
            </p:nvGraphicFramePr>
            <p:xfrm>
              <a:off x="6184491" y="861750"/>
              <a:ext cx="5849250" cy="553396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49750">
                      <a:extLst>
                        <a:ext uri="{9D8B030D-6E8A-4147-A177-3AD203B41FA5}">
                          <a16:colId xmlns:a16="http://schemas.microsoft.com/office/drawing/2014/main" val="4044826706"/>
                        </a:ext>
                      </a:extLst>
                    </a:gridCol>
                    <a:gridCol w="1949750">
                      <a:extLst>
                        <a:ext uri="{9D8B030D-6E8A-4147-A177-3AD203B41FA5}">
                          <a16:colId xmlns:a16="http://schemas.microsoft.com/office/drawing/2014/main" val="1894024779"/>
                        </a:ext>
                      </a:extLst>
                    </a:gridCol>
                    <a:gridCol w="1949750">
                      <a:extLst>
                        <a:ext uri="{9D8B030D-6E8A-4147-A177-3AD203B41FA5}">
                          <a16:colId xmlns:a16="http://schemas.microsoft.com/office/drawing/2014/main" val="3724521819"/>
                        </a:ext>
                      </a:extLst>
                    </a:gridCol>
                  </a:tblGrid>
                  <a:tr h="5791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solidFill>
                                <a:schemeClr val="tx1"/>
                              </a:solidFill>
                            </a:rPr>
                            <a:t>Fraction</a:t>
                          </a:r>
                          <a:endParaRPr lang="en-US" sz="1600" dirty="0">
                            <a:solidFill>
                              <a:schemeClr val="tx1"/>
                            </a:solidFill>
                            <a:latin typeface="Arial Unicode MS" panose="020B0604020202020204" pitchFamily="34" charset="-128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solidFill>
                                <a:schemeClr val="tx1"/>
                              </a:solidFill>
                            </a:rPr>
                            <a:t>Percentage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>
                              <a:solidFill>
                                <a:schemeClr val="tx1"/>
                              </a:solidFill>
                            </a:rPr>
                            <a:t>Percentage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>
                              <a:solidFill>
                                <a:schemeClr val="tx1"/>
                              </a:solidFill>
                            </a:rPr>
                            <a:t>(in decimal)</a:t>
                          </a:r>
                          <a:r>
                            <a:rPr lang="en-US" sz="1600" dirty="0">
                              <a:solidFill>
                                <a:schemeClr val="tx1"/>
                              </a:solidFill>
                              <a:latin typeface="Arial Unicode MS" panose="020B0604020202020204" pitchFamily="34" charset="-128"/>
                              <a:ea typeface="Arial Unicode MS" panose="020B0604020202020204" pitchFamily="34" charset="-128"/>
                              <a:cs typeface="Arial Unicode MS" panose="020B0604020202020204" pitchFamily="34" charset="-128"/>
                            </a:rPr>
                            <a:t> 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2578831"/>
                      </a:ext>
                    </a:extLst>
                  </a:tr>
                  <a:tr h="54800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blipFill>
                          <a:blip r:embed="rId4"/>
                          <a:stretch>
                            <a:fillRect l="-625" t="-108889" r="-200938" b="-8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blipFill>
                          <a:blip r:embed="rId4"/>
                          <a:stretch>
                            <a:fillRect l="-100312" t="-108889" r="-100312" b="-8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75%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74731113"/>
                      </a:ext>
                    </a:extLst>
                  </a:tr>
                  <a:tr h="54959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blipFill>
                          <a:blip r:embed="rId4"/>
                          <a:stretch>
                            <a:fillRect l="-625" t="-208889" r="-200938" b="-7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60%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60%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76914308"/>
                      </a:ext>
                    </a:extLst>
                  </a:tr>
                  <a:tr h="54965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blipFill>
                          <a:blip r:embed="rId4"/>
                          <a:stretch>
                            <a:fillRect l="-625" t="-305495" r="-200938" b="-59890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blipFill>
                          <a:blip r:embed="rId4"/>
                          <a:stretch>
                            <a:fillRect l="-100312" t="-305495" r="-100312" b="-59890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37.50%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40470580"/>
                      </a:ext>
                    </a:extLst>
                  </a:tr>
                  <a:tr h="54870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blipFill>
                          <a:blip r:embed="rId4"/>
                          <a:stretch>
                            <a:fillRect l="-625" t="-410000" r="-200938" b="-50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ea typeface="Cambria Math" panose="02040503050406030204" pitchFamily="18" charset="0"/>
                            </a:rPr>
                            <a:t>80</a:t>
                          </a:r>
                          <a:r>
                            <a:rPr lang="en-US" sz="1600" b="1" dirty="0">
                              <a:latin typeface="+mn-lt"/>
                            </a:rPr>
                            <a:t>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80%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12742783"/>
                      </a:ext>
                    </a:extLst>
                  </a:tr>
                  <a:tr h="54870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blipFill>
                          <a:blip r:embed="rId4"/>
                          <a:stretch>
                            <a:fillRect l="-625" t="-510000" r="-200938" b="-40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blipFill>
                          <a:blip r:embed="rId4"/>
                          <a:stretch>
                            <a:fillRect l="-100312" t="-510000" r="-100312" b="-40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133.33%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39110529"/>
                      </a:ext>
                    </a:extLst>
                  </a:tr>
                  <a:tr h="55295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blipFill>
                          <a:blip r:embed="rId4"/>
                          <a:stretch>
                            <a:fillRect l="-625" t="-603297" r="-200938" b="-3010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125%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125%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76385258"/>
                      </a:ext>
                    </a:extLst>
                  </a:tr>
                  <a:tr h="55454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blipFill>
                          <a:blip r:embed="rId4"/>
                          <a:stretch>
                            <a:fillRect l="-625" t="-703297" r="-200938" b="-2010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blipFill>
                          <a:blip r:embed="rId4"/>
                          <a:stretch>
                            <a:fillRect l="-100312" t="-703297" r="-100312" b="-2010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83.33%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2576353"/>
                      </a:ext>
                    </a:extLst>
                  </a:tr>
                  <a:tr h="55460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blipFill>
                          <a:blip r:embed="rId4"/>
                          <a:stretch>
                            <a:fillRect l="-625" t="-803297" r="-200938" b="-1010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blipFill>
                          <a:blip r:embed="rId4"/>
                          <a:stretch>
                            <a:fillRect l="-100312" t="-803297" r="-100312" b="-1010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62.50%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14518650"/>
                      </a:ext>
                    </a:extLst>
                  </a:tr>
                  <a:tr h="54806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blipFill>
                          <a:blip r:embed="rId4"/>
                          <a:stretch>
                            <a:fillRect l="-625" t="-913333" r="-200938" b="-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blipFill>
                          <a:blip r:embed="rId4"/>
                          <a:stretch>
                            <a:fillRect l="-100312" t="-913333" r="-100312" b="-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latin typeface="+mn-lt"/>
                            </a:rPr>
                            <a:t>87.50%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cell3D prstMaterial="dkEdge">
                          <a:bevel prst="artDeco"/>
                          <a:lightRig rig="flood" dir="t"/>
                        </a:cell3D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943719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1723614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"/>
          <p:cNvSpPr txBox="1">
            <a:spLocks noGrp="1"/>
          </p:cNvSpPr>
          <p:nvPr>
            <p:ph type="body" idx="1"/>
          </p:nvPr>
        </p:nvSpPr>
        <p:spPr>
          <a:xfrm>
            <a:off x="204952" y="1072055"/>
            <a:ext cx="11733048" cy="5344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76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b="1" dirty="0">
                <a:latin typeface="+mn-lt"/>
                <a:ea typeface="Calibri"/>
                <a:cs typeface="Calibri"/>
                <a:sym typeface="Calibri"/>
              </a:rPr>
              <a:t>CONVERSION OF A FRACTION / DECIMAL </a:t>
            </a:r>
            <a:r>
              <a:rPr lang="en-US" sz="2300" b="1" dirty="0">
                <a:latin typeface="+mn-lt"/>
                <a:ea typeface="Calibri"/>
                <a:cs typeface="Calibri"/>
                <a:sym typeface="Calibri"/>
              </a:rPr>
              <a:t>INTO A PERCENT</a:t>
            </a:r>
            <a:endParaRPr sz="2300" b="1" dirty="0">
              <a:latin typeface="+mn-lt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29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dirty="0">
                <a:latin typeface="+mn-lt"/>
                <a:ea typeface="Calibri"/>
                <a:cs typeface="Calibri"/>
                <a:sym typeface="Calibri"/>
              </a:rPr>
              <a:t>To convert a fraction/decimal into a percentage, simply multiply the value by 100.</a:t>
            </a:r>
            <a:endParaRPr dirty="0">
              <a:latin typeface="+mn-lt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29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dirty="0">
                <a:latin typeface="+mn-lt"/>
                <a:ea typeface="Calibri"/>
                <a:cs typeface="Calibri"/>
                <a:sym typeface="Calibri"/>
              </a:rPr>
              <a:t>For example, 1/3 can be expressed in percentage terms as  and the decimal 0.2 can be expressed as a percentage as 0.2 × 100 = 20%</a:t>
            </a:r>
            <a:endParaRPr dirty="0">
              <a:latin typeface="+mn-lt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29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500" b="1" dirty="0">
                <a:latin typeface="+mn-lt"/>
                <a:ea typeface="Calibri"/>
                <a:cs typeface="Calibri"/>
                <a:sym typeface="Calibri"/>
              </a:rPr>
              <a:t>CONVERSION OF A PERCENTAGE INTO A FRACTION</a:t>
            </a:r>
            <a:endParaRPr sz="2500" b="1" dirty="0">
              <a:latin typeface="+mn-lt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29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dirty="0">
                <a:latin typeface="+mn-lt"/>
                <a:ea typeface="Calibri"/>
                <a:cs typeface="Calibri"/>
                <a:sym typeface="Calibri"/>
              </a:rPr>
              <a:t>A percentage when divided by 100 is converted into a fraction/decimal. For example 20% as a fraction is</a:t>
            </a:r>
            <a:endParaRPr dirty="0">
              <a:latin typeface="+mn-lt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29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dirty="0">
                <a:latin typeface="+mn-lt"/>
                <a:ea typeface="Calibri"/>
                <a:cs typeface="Calibri"/>
                <a:sym typeface="Calibri"/>
              </a:rPr>
              <a:t>The % sign is dropped when we divide the percentage by 100. So, % =</a:t>
            </a:r>
            <a:endParaRPr dirty="0">
              <a:latin typeface="+mn-lt"/>
              <a:ea typeface="Calibri"/>
              <a:cs typeface="Calibri"/>
              <a:sym typeface="Calibri"/>
            </a:endParaRPr>
          </a:p>
          <a:p>
            <a:pPr marL="7620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2300" b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22b49eb08c1_0_29"/>
          <p:cNvSpPr txBox="1">
            <a:spLocks noGrp="1"/>
          </p:cNvSpPr>
          <p:nvPr>
            <p:ph type="body" idx="1"/>
          </p:nvPr>
        </p:nvSpPr>
        <p:spPr>
          <a:xfrm>
            <a:off x="205102" y="1086980"/>
            <a:ext cx="11733000" cy="53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ct val="100000"/>
              <a:buNone/>
            </a:pPr>
            <a:r>
              <a:rPr lang="en-US" b="1" dirty="0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lang="en-US" sz="3000" b="1" dirty="0">
                <a:latin typeface="Calibri"/>
                <a:ea typeface="Calibri"/>
                <a:cs typeface="Calibri"/>
                <a:sym typeface="Calibri"/>
              </a:rPr>
              <a:t>PERCENT OF A NUMBER	</a:t>
            </a:r>
            <a:r>
              <a:rPr lang="en-US" b="1" dirty="0">
                <a:latin typeface="Calibri"/>
                <a:ea typeface="Calibri"/>
                <a:cs typeface="Calibri"/>
                <a:sym typeface="Calibri"/>
              </a:rPr>
              <a:t>	</a:t>
            </a:r>
            <a:endParaRPr b="1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29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600" dirty="0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To find the percent of a number, convert the percent into fraction and multiply the resultant fraction with the number.</a:t>
            </a:r>
            <a:endParaRPr sz="2600" dirty="0">
              <a:solidFill>
                <a:srgbClr val="0C0C0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29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600" dirty="0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For example, P% of a number N is =</a:t>
            </a:r>
            <a:endParaRPr sz="2600" dirty="0">
              <a:solidFill>
                <a:srgbClr val="0C0C0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0C0C0C"/>
              </a:buClr>
              <a:buSzPct val="200000"/>
              <a:buNone/>
            </a:pPr>
            <a:r>
              <a:rPr lang="en-US" sz="12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P</a:t>
            </a:r>
            <a:r>
              <a:rPr lang="en-US" sz="2550" b="1" dirty="0">
                <a:latin typeface="Calibri"/>
                <a:ea typeface="Calibri"/>
                <a:cs typeface="Calibri"/>
                <a:sym typeface="Calibri"/>
              </a:rPr>
              <a:t>PRODUCT CONSISTENCY METHOD</a:t>
            </a:r>
            <a:endParaRPr sz="2550" b="1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7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Consider a equation where expenditure is calculated as product of price and quantity.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7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Expenditure (E) = Price (P) × Quantity (Q)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7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For example, if price gets doubled then quantity should be half to keep the expenditure constant.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7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Hence, we can say if product of two quantities is constant, then change in one is compensated by another quantity.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0C0C0C"/>
              </a:buClr>
              <a:buSzPct val="100000"/>
              <a:buNone/>
            </a:pPr>
            <a:endParaRPr b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2b49eb08c1_0_55"/>
          <p:cNvSpPr txBox="1">
            <a:spLocks noGrp="1"/>
          </p:cNvSpPr>
          <p:nvPr>
            <p:ph type="body" idx="1"/>
          </p:nvPr>
        </p:nvSpPr>
        <p:spPr>
          <a:xfrm>
            <a:off x="205102" y="1086980"/>
            <a:ext cx="11733000" cy="53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 dirty="0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b="1" dirty="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22" name="Google Shape;122;g22b49eb08c1_0_55"/>
          <p:cNvGraphicFramePr/>
          <p:nvPr/>
        </p:nvGraphicFramePr>
        <p:xfrm>
          <a:off x="689500" y="1523175"/>
          <a:ext cx="10525600" cy="3886200"/>
        </p:xfrm>
        <a:graphic>
          <a:graphicData uri="http://schemas.openxmlformats.org/drawingml/2006/table">
            <a:tbl>
              <a:tblPr>
                <a:noFill/>
                <a:tableStyleId>{2F634239-DEF5-4B35-AD2C-F65D1690610E}</a:tableStyleId>
              </a:tblPr>
              <a:tblGrid>
                <a:gridCol w="2631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31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31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31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295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dirty="0"/>
                        <a:t>Price</a:t>
                      </a:r>
                      <a:endParaRPr sz="2400" b="1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dirty="0"/>
                        <a:t>Quantity</a:t>
                      </a:r>
                      <a:endParaRPr sz="2400" b="1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dirty="0"/>
                        <a:t>Expenditure</a:t>
                      </a:r>
                      <a:endParaRPr sz="2400" b="1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95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dirty="0" err="1"/>
                        <a:t>Inital</a:t>
                      </a:r>
                      <a:endParaRPr sz="24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                4</a:t>
                      </a:r>
                      <a:endParaRPr sz="24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          5</a:t>
                      </a:r>
                      <a:endParaRPr sz="24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     4x5=20</a:t>
                      </a:r>
                      <a:endParaRPr sz="24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95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/>
                        <a:t>Final</a:t>
                      </a:r>
                      <a:endParaRPr sz="24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            </a:t>
                      </a:r>
                      <a:endParaRPr sz="24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                5</a:t>
                      </a:r>
                      <a:endParaRPr sz="24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           4</a:t>
                      </a:r>
                      <a:endParaRPr sz="24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      5x4=20</a:t>
                      </a:r>
                      <a:endParaRPr sz="24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5AC72D61-3E44-3E75-7DD0-AB2A3538AC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E7D58A7-4A6F-713A-23F5-2DC6F313CABD}"/>
              </a:ext>
            </a:extLst>
          </p:cNvPr>
          <p:cNvSpPr txBox="1"/>
          <p:nvPr/>
        </p:nvSpPr>
        <p:spPr>
          <a:xfrm>
            <a:off x="610666" y="609801"/>
            <a:ext cx="77452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1"/>
                </a:solidFill>
                <a:latin typeface="Hero New" panose="02000500000000000000" pitchFamily="50" charset="0"/>
              </a:rPr>
              <a:t>Q:  3 is what % of 4?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FEF1EC-18FB-685F-7500-46346480679C}"/>
              </a:ext>
            </a:extLst>
          </p:cNvPr>
          <p:cNvSpPr txBox="1"/>
          <p:nvPr/>
        </p:nvSpPr>
        <p:spPr>
          <a:xfrm>
            <a:off x="610666" y="1999370"/>
            <a:ext cx="77452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1"/>
                </a:solidFill>
                <a:latin typeface="Hero New" panose="02000500000000000000" pitchFamily="50" charset="0"/>
              </a:rPr>
              <a:t>Q:  7.5 is what % of 5?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0E78862-9A72-51FB-A783-5BAA1030C990}"/>
                  </a:ext>
                </a:extLst>
              </p:cNvPr>
              <p:cNvSpPr txBox="1"/>
              <p:nvPr/>
            </p:nvSpPr>
            <p:spPr>
              <a:xfrm>
                <a:off x="610666" y="4778508"/>
                <a:ext cx="7740853" cy="5369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>
                    <a:solidFill>
                      <a:schemeClr val="tx1"/>
                    </a:solidFill>
                    <a:latin typeface="Hero New" panose="02000500000000000000" pitchFamily="50" charset="0"/>
                  </a:rPr>
                  <a:t>Q:  1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</m:oMath>
                </a14:m>
                <a:r>
                  <a:rPr lang="en-US" sz="2000" b="1" dirty="0">
                    <a:solidFill>
                      <a:schemeClr val="tx1"/>
                    </a:solidFill>
                    <a:latin typeface="Hero New" panose="02000500000000000000" pitchFamily="50" charset="0"/>
                  </a:rPr>
                  <a:t> is how much % more than 1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den>
                    </m:f>
                  </m:oMath>
                </a14:m>
                <a:r>
                  <a:rPr lang="en-US" sz="2000" b="1" dirty="0">
                    <a:solidFill>
                      <a:schemeClr val="tx1"/>
                    </a:solidFill>
                    <a:latin typeface="Hero New" panose="02000500000000000000" pitchFamily="50" charset="0"/>
                  </a:rPr>
                  <a:t> ? </a:t>
                </a: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0E78862-9A72-51FB-A783-5BAA1030C9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666" y="4778508"/>
                <a:ext cx="7740853" cy="536942"/>
              </a:xfrm>
              <a:prstGeom prst="rect">
                <a:avLst/>
              </a:prstGeom>
              <a:blipFill>
                <a:blip r:embed="rId3"/>
                <a:stretch>
                  <a:fillRect l="-787" b="-1022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8EFFC9E9-AF56-AC97-49B8-A49183518B78}"/>
              </a:ext>
            </a:extLst>
          </p:cNvPr>
          <p:cNvSpPr txBox="1"/>
          <p:nvPr/>
        </p:nvSpPr>
        <p:spPr>
          <a:xfrm>
            <a:off x="610666" y="3388939"/>
            <a:ext cx="77086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1"/>
                </a:solidFill>
                <a:latin typeface="Hero New" panose="02000500000000000000" pitchFamily="50" charset="0"/>
              </a:rPr>
              <a:t>Q:  26 is how much % less than 30? </a:t>
            </a:r>
          </a:p>
        </p:txBody>
      </p:sp>
    </p:spTree>
    <p:extLst>
      <p:ext uri="{BB962C8B-B14F-4D97-AF65-F5344CB8AC3E}">
        <p14:creationId xmlns:p14="http://schemas.microsoft.com/office/powerpoint/2010/main" val="31386661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"/>
          <p:cNvSpPr txBox="1">
            <a:spLocks noGrp="1"/>
          </p:cNvSpPr>
          <p:nvPr>
            <p:ph type="body" idx="1"/>
          </p:nvPr>
        </p:nvSpPr>
        <p:spPr>
          <a:xfrm>
            <a:off x="204952" y="734519"/>
            <a:ext cx="11733048" cy="5682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Percentage</a:t>
            </a:r>
            <a:endParaRPr dirty="0"/>
          </a:p>
          <a:p>
            <a:pPr marL="228600" indent="-228600">
              <a:buNone/>
            </a:pPr>
            <a:r>
              <a:rPr lang="en-US" b="1" dirty="0">
                <a:latin typeface="Arial" panose="020B0604020202020204" pitchFamily="34" charset="0"/>
                <a:ea typeface="Arial Black"/>
                <a:cs typeface="Arial" panose="020B0604020202020204" pitchFamily="34" charset="0"/>
                <a:sym typeface="Arial Black"/>
              </a:rPr>
              <a:t>Q 1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. 12(1/2) is what per cent of 16(2/3) ? 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arenBoth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50%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(2) 25%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(3) 75%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(4) 45%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(5) None of these 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"/>
          <p:cNvSpPr txBox="1">
            <a:spLocks noGrp="1"/>
          </p:cNvSpPr>
          <p:nvPr>
            <p:ph type="body" idx="1"/>
          </p:nvPr>
        </p:nvSpPr>
        <p:spPr>
          <a:xfrm>
            <a:off x="204952" y="824459"/>
            <a:ext cx="11733048" cy="5592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Percentage</a:t>
            </a:r>
            <a:endParaRPr dirty="0"/>
          </a:p>
          <a:p>
            <a:pPr marL="228600" indent="-228600">
              <a:buNone/>
            </a:pPr>
            <a:r>
              <a:rPr lang="en-US" b="1" dirty="0">
                <a:latin typeface="Arial" panose="020B0604020202020204" pitchFamily="34" charset="0"/>
                <a:ea typeface="Arial Black"/>
                <a:cs typeface="Arial" panose="020B0604020202020204" pitchFamily="34" charset="0"/>
                <a:sym typeface="Arial Black"/>
              </a:rPr>
              <a:t>Q 1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. 12(1/2) is what per cent of 16(2/3) ? 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arenBoth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50%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(2) 25%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(3) 75%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(4) 45%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(5) None of these 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7842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4"/>
          <p:cNvSpPr txBox="1">
            <a:spLocks noGrp="1"/>
          </p:cNvSpPr>
          <p:nvPr>
            <p:ph type="body" idx="1"/>
          </p:nvPr>
        </p:nvSpPr>
        <p:spPr>
          <a:xfrm>
            <a:off x="204952" y="749509"/>
            <a:ext cx="11733048" cy="56670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Percentage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ea typeface="Arial Black"/>
                <a:cs typeface="Arial" panose="020B0604020202020204" pitchFamily="34" charset="0"/>
                <a:sym typeface="Arial Black"/>
              </a:rPr>
              <a:t>Q 2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. If the price of one kg. of rice is increased by 25%, the increase is 12 Rs . Find the new price of rice per kg. 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arenBoth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48 	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(2) 60 	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(3) 72 	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(4) 36 	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(5) None of these 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4"/>
          <p:cNvSpPr txBox="1">
            <a:spLocks noGrp="1"/>
          </p:cNvSpPr>
          <p:nvPr>
            <p:ph type="body" idx="1"/>
          </p:nvPr>
        </p:nvSpPr>
        <p:spPr>
          <a:xfrm>
            <a:off x="115011" y="704538"/>
            <a:ext cx="11733048" cy="5396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Percentage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ea typeface="Arial Black"/>
                <a:cs typeface="Arial" panose="020B0604020202020204" pitchFamily="34" charset="0"/>
                <a:sym typeface="Arial Black"/>
              </a:rPr>
              <a:t>Q 2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. If the price of one kg. of rice is increased by 25%, the increase is 12 Rs . Find the new price of rice per kg. 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arenBoth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48 	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(2) 60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	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(3) 72 	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(4) 36 	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(5) None of these 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17703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5"/>
          <p:cNvSpPr txBox="1">
            <a:spLocks noGrp="1"/>
          </p:cNvSpPr>
          <p:nvPr>
            <p:ph type="body" idx="1"/>
          </p:nvPr>
        </p:nvSpPr>
        <p:spPr>
          <a:xfrm>
            <a:off x="204952" y="689549"/>
            <a:ext cx="11733048" cy="57270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Percentage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ea typeface="Arial Black"/>
                <a:cs typeface="Arial" panose="020B0604020202020204" pitchFamily="34" charset="0"/>
                <a:sym typeface="Arial Black"/>
              </a:rPr>
              <a:t>Q 3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. Due to fall in manpower, the production in a factory decreases by 20%. By what per cent should the working hour be increased to restore the original production? 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arenBoth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24%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(2) 25%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(3) 20%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(4) 35%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(5) None of these </a:t>
            </a:r>
            <a:r>
              <a:rPr lang="en-US" b="1" dirty="0"/>
              <a:t> </a:t>
            </a: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5"/>
          <p:cNvSpPr txBox="1">
            <a:spLocks noGrp="1"/>
          </p:cNvSpPr>
          <p:nvPr>
            <p:ph type="body" idx="1"/>
          </p:nvPr>
        </p:nvSpPr>
        <p:spPr>
          <a:xfrm>
            <a:off x="204952" y="659567"/>
            <a:ext cx="11733048" cy="575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Percentage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ea typeface="Arial Black"/>
                <a:cs typeface="Arial" panose="020B0604020202020204" pitchFamily="34" charset="0"/>
                <a:sym typeface="Arial Black"/>
              </a:rPr>
              <a:t>Q 3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. Due to fall in manpower, the production in a factory decreases by 20%. By what per cent should the working hour be increased to restore the original production? 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arenBoth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24%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(2) 25%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(3) 20%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(4) 35%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(5) None of these </a:t>
            </a:r>
            <a:r>
              <a:rPr lang="en-US" b="1" dirty="0"/>
              <a:t>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09269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"/>
          <p:cNvSpPr txBox="1">
            <a:spLocks noGrp="1"/>
          </p:cNvSpPr>
          <p:nvPr>
            <p:ph type="body" idx="1"/>
          </p:nvPr>
        </p:nvSpPr>
        <p:spPr>
          <a:xfrm>
            <a:off x="204952" y="704539"/>
            <a:ext cx="11733048" cy="5712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Percentage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ea typeface="Arial Black"/>
                <a:cs typeface="Arial" panose="020B0604020202020204" pitchFamily="34" charset="0"/>
                <a:sym typeface="Arial Black"/>
              </a:rPr>
              <a:t>Q 4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. If the duty on imported sugar be increased by 25 percent. By how much percent must a man reduce his consumption of that article so as not to increase his expenditure? 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arenBoth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20%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(2) 25%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(3) 16%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(4) 10%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(5) None of these  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b="1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"/>
          <p:cNvSpPr txBox="1">
            <a:spLocks noGrp="1"/>
          </p:cNvSpPr>
          <p:nvPr>
            <p:ph type="body" idx="1"/>
          </p:nvPr>
        </p:nvSpPr>
        <p:spPr>
          <a:xfrm>
            <a:off x="204952" y="704539"/>
            <a:ext cx="11733048" cy="5712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Percentage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ea typeface="Arial Black"/>
                <a:cs typeface="Arial" panose="020B0604020202020204" pitchFamily="34" charset="0"/>
                <a:sym typeface="Arial Black"/>
              </a:rPr>
              <a:t>Q 4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. If the duty on imported sugar be increased by 25 percent. By how much percent must a man reduce his consumption of that article so as not to increase his expenditure? 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(1) 20%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(2) 25%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(3) 16%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(4) 10%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(5) None of these </a:t>
            </a:r>
            <a:r>
              <a:rPr lang="en-US" b="1" dirty="0"/>
              <a:t>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22508580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7"/>
          <p:cNvSpPr txBox="1">
            <a:spLocks noGrp="1"/>
          </p:cNvSpPr>
          <p:nvPr>
            <p:ph type="body" idx="1"/>
          </p:nvPr>
        </p:nvSpPr>
        <p:spPr>
          <a:xfrm>
            <a:off x="204952" y="704539"/>
            <a:ext cx="11733048" cy="5712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Percentage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ea typeface="Arial Black"/>
                <a:cs typeface="Arial" panose="020B0604020202020204" pitchFamily="34" charset="0"/>
                <a:sym typeface="Arial Black"/>
              </a:rPr>
              <a:t>Q 5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. If the price of sugar decrease by 20%, by how much per cent must a householder increase its consumption, so as not to decrease expenditure in this item? </a:t>
            </a:r>
          </a:p>
          <a:p>
            <a:pPr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arenBoth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25%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(2) 20%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(3) 30%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(4) 15%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(5) None of these 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b="1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7"/>
          <p:cNvSpPr txBox="1">
            <a:spLocks noGrp="1"/>
          </p:cNvSpPr>
          <p:nvPr>
            <p:ph type="body" idx="1"/>
          </p:nvPr>
        </p:nvSpPr>
        <p:spPr>
          <a:xfrm>
            <a:off x="204952" y="719529"/>
            <a:ext cx="11733048" cy="5697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Percentage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ea typeface="Arial Black"/>
                <a:cs typeface="Arial" panose="020B0604020202020204" pitchFamily="34" charset="0"/>
                <a:sym typeface="Arial Black"/>
              </a:rPr>
              <a:t>Q 5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. If the price of sugar decrease by 20%, by how much per cent must a householder increase its consumption, so as not to decrease expenditure in this item? 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(1) 25%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(2) 20%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(3) 30%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(4) 15%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(5) None of these 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42160342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8"/>
          <p:cNvSpPr txBox="1">
            <a:spLocks noGrp="1"/>
          </p:cNvSpPr>
          <p:nvPr>
            <p:ph type="body" idx="1"/>
          </p:nvPr>
        </p:nvSpPr>
        <p:spPr>
          <a:xfrm>
            <a:off x="204952" y="704539"/>
            <a:ext cx="11733048" cy="5712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Percentage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ea typeface="Arial Black"/>
                <a:cs typeface="Arial" panose="020B0604020202020204" pitchFamily="34" charset="0"/>
                <a:sym typeface="Arial Black"/>
              </a:rPr>
              <a:t>Q 6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. If A’s salary is 20% more than that of B, then how much per cent is B’s salary less than that of A? </a:t>
            </a:r>
          </a:p>
          <a:p>
            <a:pPr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arenBoth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16(2/3)% 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(2) 20%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(3) 40%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(4) 10%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(5) None of these   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b="1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8"/>
          <p:cNvSpPr txBox="1">
            <a:spLocks noGrp="1"/>
          </p:cNvSpPr>
          <p:nvPr>
            <p:ph type="body" idx="1"/>
          </p:nvPr>
        </p:nvSpPr>
        <p:spPr>
          <a:xfrm>
            <a:off x="204952" y="749509"/>
            <a:ext cx="11733048" cy="56670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Percentage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ea typeface="Arial Black"/>
                <a:cs typeface="Arial" panose="020B0604020202020204" pitchFamily="34" charset="0"/>
                <a:sym typeface="Arial Black"/>
              </a:rPr>
              <a:t>Q 6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. If A’s salary is 20% more than that of B, then how much per cent is B’s salary less than that of A? 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(1) 16(2/3)% 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(2) 20%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(3) 40%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(4) 10%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(5) None of these   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20749736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9"/>
          <p:cNvSpPr txBox="1">
            <a:spLocks noGrp="1"/>
          </p:cNvSpPr>
          <p:nvPr>
            <p:ph type="body" idx="1"/>
          </p:nvPr>
        </p:nvSpPr>
        <p:spPr>
          <a:xfrm>
            <a:off x="204952" y="704539"/>
            <a:ext cx="11733048" cy="5712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Percentage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ea typeface="Arial Black"/>
                <a:cs typeface="Arial" panose="020B0604020202020204" pitchFamily="34" charset="0"/>
                <a:sym typeface="Arial Black"/>
              </a:rPr>
              <a:t>Q 7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. A shopkeeper marks the prices of his goods at 26% higher than the original price. Due to the increase in demand, he again increases by 26%. What profit (in percent) did he get? </a:t>
            </a:r>
          </a:p>
          <a:p>
            <a:pPr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arenBoth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52%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(2) 58%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(3) 60%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(4) 58.76%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(5) None of these 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b="1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9"/>
          <p:cNvSpPr txBox="1">
            <a:spLocks noGrp="1"/>
          </p:cNvSpPr>
          <p:nvPr>
            <p:ph type="body" idx="1"/>
          </p:nvPr>
        </p:nvSpPr>
        <p:spPr>
          <a:xfrm>
            <a:off x="204952" y="704539"/>
            <a:ext cx="11733048" cy="5712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Percentage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ea typeface="Arial Black"/>
                <a:cs typeface="Arial" panose="020B0604020202020204" pitchFamily="34" charset="0"/>
                <a:sym typeface="Arial Black"/>
              </a:rPr>
              <a:t>Q 7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. A shopkeeper marks the prices of his goods at 26% higher than the original price. Due to the increase in demand, he again increases by 26%. What profit (in percent) did he get?</a:t>
            </a:r>
          </a:p>
          <a:p>
            <a:pPr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arenBoth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52%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(2) 58%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(3) 60%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(4) 58.76%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(5) None of these 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11472469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0"/>
          <p:cNvSpPr txBox="1">
            <a:spLocks noGrp="1"/>
          </p:cNvSpPr>
          <p:nvPr>
            <p:ph type="body" idx="1"/>
          </p:nvPr>
        </p:nvSpPr>
        <p:spPr>
          <a:xfrm>
            <a:off x="204952" y="719529"/>
            <a:ext cx="11733048" cy="5697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Percentage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ea typeface="Arial Black"/>
                <a:cs typeface="Arial" panose="020B0604020202020204" pitchFamily="34" charset="0"/>
                <a:sym typeface="Arial Black"/>
              </a:rPr>
              <a:t>Q 8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. The tax on commodity is decrease by 15% and its consumption increases by 10%. Find the effect on revenue. 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arenBoth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decrease of 6%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(2) decrease of 5%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(3) increase of 6.5% 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(4) decrease of 6.5%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(5) None of these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b="1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0"/>
          <p:cNvSpPr txBox="1">
            <a:spLocks noGrp="1"/>
          </p:cNvSpPr>
          <p:nvPr>
            <p:ph type="body" idx="1"/>
          </p:nvPr>
        </p:nvSpPr>
        <p:spPr>
          <a:xfrm>
            <a:off x="204952" y="659567"/>
            <a:ext cx="11733048" cy="575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Percentage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ea typeface="Arial Black"/>
                <a:cs typeface="Arial" panose="020B0604020202020204" pitchFamily="34" charset="0"/>
                <a:sym typeface="Arial Black"/>
              </a:rPr>
              <a:t>Q 8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. The tax on commodity is decrease by 15% and its consumption increases by 10%. Find the effect on revenue. 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arenBoth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decrease of 6%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(2) decrease of 5%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(3) increase of 6.5% 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(4) decrease of 6.5%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(5) None of these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994910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1"/>
          <p:cNvSpPr txBox="1">
            <a:spLocks noGrp="1"/>
          </p:cNvSpPr>
          <p:nvPr>
            <p:ph type="body" idx="1"/>
          </p:nvPr>
        </p:nvSpPr>
        <p:spPr>
          <a:xfrm>
            <a:off x="204952" y="704539"/>
            <a:ext cx="11733048" cy="5712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Percentage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ea typeface="Arial Black"/>
                <a:cs typeface="Arial" panose="020B0604020202020204" pitchFamily="34" charset="0"/>
                <a:sym typeface="Arial Black"/>
              </a:rPr>
              <a:t>Q 9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. In measuring the sides of a rectangle, one side is taken 10% in excess and the other 20% in deficit. Find the error per cent in area calculated from the measurement. </a:t>
            </a:r>
          </a:p>
          <a:p>
            <a:pPr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arenBoth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8% excess 	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(2) 8% deficit 	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(3) 12% excess 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(4) 12% deficit 	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(5) None of these 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b="1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1"/>
          <p:cNvSpPr txBox="1">
            <a:spLocks noGrp="1"/>
          </p:cNvSpPr>
          <p:nvPr>
            <p:ph type="body" idx="1"/>
          </p:nvPr>
        </p:nvSpPr>
        <p:spPr>
          <a:xfrm>
            <a:off x="204952" y="719529"/>
            <a:ext cx="11733048" cy="5697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Percentage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ea typeface="Arial Black"/>
                <a:cs typeface="Arial" panose="020B0604020202020204" pitchFamily="34" charset="0"/>
                <a:sym typeface="Arial Black"/>
              </a:rPr>
              <a:t>Q 9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. In measuring the sides of a rectangle, one side is taken 10% in excess and the other 20% in deficit. Find the error per cent in area calculated from the measurement. 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arenBoth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8% excess 	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(2) 8% deficit 	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(3) 12% excess 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(4) 12% deficit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	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(5) None of these 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314890406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4"/>
          <p:cNvSpPr txBox="1">
            <a:spLocks noGrp="1"/>
          </p:cNvSpPr>
          <p:nvPr>
            <p:ph type="body" idx="1"/>
          </p:nvPr>
        </p:nvSpPr>
        <p:spPr>
          <a:xfrm>
            <a:off x="204952" y="704539"/>
            <a:ext cx="11733048" cy="5712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Percentage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ea typeface="Arial Black"/>
                <a:cs typeface="Arial" panose="020B0604020202020204" pitchFamily="34" charset="0"/>
                <a:sym typeface="Arial Black"/>
              </a:rPr>
              <a:t>Q 10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. Find a single discount equivalent to a discount series of 10%, 15% and    20%. </a:t>
            </a:r>
          </a:p>
          <a:p>
            <a:pPr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arenBoth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45%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(2) 38.8%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(3) 43.8%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(4) 39.8%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(5) None of these 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b="1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4"/>
          <p:cNvSpPr txBox="1">
            <a:spLocks noGrp="1"/>
          </p:cNvSpPr>
          <p:nvPr>
            <p:ph type="body" idx="1"/>
          </p:nvPr>
        </p:nvSpPr>
        <p:spPr>
          <a:xfrm>
            <a:off x="204952" y="719529"/>
            <a:ext cx="11733048" cy="5697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Percentage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ea typeface="Arial Black"/>
                <a:cs typeface="Arial" panose="020B0604020202020204" pitchFamily="34" charset="0"/>
                <a:sym typeface="Arial Black"/>
              </a:rPr>
              <a:t>Q 10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. Find a single discount equivalent to a discount series of 10%, 15% and 20%. 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arenBoth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45%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(2) 38.8%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(3) 43.8%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(4) 39.8%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(5) None of these 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1756830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5"/>
          <p:cNvSpPr txBox="1">
            <a:spLocks noGrp="1"/>
          </p:cNvSpPr>
          <p:nvPr>
            <p:ph type="body" idx="1"/>
          </p:nvPr>
        </p:nvSpPr>
        <p:spPr>
          <a:xfrm>
            <a:off x="204952" y="689549"/>
            <a:ext cx="11733048" cy="57270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Percentage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ea typeface="Arial Black"/>
                <a:cs typeface="Arial" panose="020B0604020202020204" pitchFamily="34" charset="0"/>
                <a:sym typeface="Arial Black"/>
              </a:rPr>
              <a:t>Q 11.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The price of wheat is decreased by 25% and its consumption increases by 25%. Find the new expenditure as a ratio of initial expenditure. </a:t>
            </a:r>
          </a:p>
          <a:p>
            <a:pPr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arenBoth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3 : 4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(2) 5 : 4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(3) 16 : 15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(4) 15 : 16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(5) None of these </a:t>
            </a:r>
            <a:r>
              <a:rPr lang="en-US" b="1" dirty="0"/>
              <a:t>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 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b="1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5"/>
          <p:cNvSpPr txBox="1">
            <a:spLocks noGrp="1"/>
          </p:cNvSpPr>
          <p:nvPr>
            <p:ph type="body" idx="1"/>
          </p:nvPr>
        </p:nvSpPr>
        <p:spPr>
          <a:xfrm>
            <a:off x="204952" y="659567"/>
            <a:ext cx="11733048" cy="575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Percentage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ea typeface="Arial Black"/>
                <a:cs typeface="Arial" panose="020B0604020202020204" pitchFamily="34" charset="0"/>
                <a:sym typeface="Arial Black"/>
              </a:rPr>
              <a:t>Q 11.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The price of wheat is decreased by 25% and its consumption increases by 25%. Find the new expenditure as a ratio of initial expenditure. </a:t>
            </a:r>
          </a:p>
          <a:p>
            <a:pPr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arenBoth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3 : 4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(2) 5 : 4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(3) 16 : 15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(4) 15 : 16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(5) None of these  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 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277517461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6"/>
          <p:cNvSpPr txBox="1">
            <a:spLocks noGrp="1"/>
          </p:cNvSpPr>
          <p:nvPr>
            <p:ph type="body" idx="1"/>
          </p:nvPr>
        </p:nvSpPr>
        <p:spPr>
          <a:xfrm>
            <a:off x="204952" y="689549"/>
            <a:ext cx="11733048" cy="57270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Percentage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ea typeface="Arial Black"/>
                <a:cs typeface="Arial" panose="020B0604020202020204" pitchFamily="34" charset="0"/>
                <a:sym typeface="Arial Black"/>
              </a:rPr>
              <a:t>Q 12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. In a recent survey 40% houses contained two or more people. Of those houses containing only one person 25% were having only a male. What is the percentage of all houses which contain exactly one female and no males? 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arenBoth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75 	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(2) 40 	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(3) 15 	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(4) 45 	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(5) None of these</a:t>
            </a:r>
            <a:r>
              <a:rPr lang="en-US" b="1" dirty="0"/>
              <a:t> 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b="1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6"/>
          <p:cNvSpPr txBox="1">
            <a:spLocks noGrp="1"/>
          </p:cNvSpPr>
          <p:nvPr>
            <p:ph type="body" idx="1"/>
          </p:nvPr>
        </p:nvSpPr>
        <p:spPr>
          <a:xfrm>
            <a:off x="204952" y="749509"/>
            <a:ext cx="11733048" cy="56670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Percentage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ea typeface="Arial Black"/>
                <a:cs typeface="Arial" panose="020B0604020202020204" pitchFamily="34" charset="0"/>
                <a:sym typeface="Arial Black"/>
              </a:rPr>
              <a:t>Q 12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. In a recent survey 40% houses contained two or more people. Of those houses containing only one person 25% were having only a male. What is the percentage of all houses which contain exactly one female and no males? 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arenBoth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75 	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(2) 40 	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(3) 15 	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(4) 45 	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(5) None of these  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218413579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7"/>
          <p:cNvSpPr txBox="1">
            <a:spLocks noGrp="1"/>
          </p:cNvSpPr>
          <p:nvPr>
            <p:ph type="body" idx="1"/>
          </p:nvPr>
        </p:nvSpPr>
        <p:spPr>
          <a:xfrm>
            <a:off x="204952" y="734519"/>
            <a:ext cx="11733048" cy="5682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Percentage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ea typeface="Arial Black"/>
                <a:cs typeface="Arial" panose="020B0604020202020204" pitchFamily="34" charset="0"/>
                <a:sym typeface="Arial Black"/>
              </a:rPr>
              <a:t>Q 13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. The population of a town is 8000. If the males increase by 9% and the females by 16%, the population will be 9000. Find the number of females in the town. </a:t>
            </a:r>
          </a:p>
          <a:p>
            <a:pPr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arenBoth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2000 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(2) 4500 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(3) 3000 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(4) 4000 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(5) None of these  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br>
              <a:rPr lang="en-US" dirty="0"/>
            </a:br>
            <a:endParaRPr b="1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7"/>
          <p:cNvSpPr txBox="1">
            <a:spLocks noGrp="1"/>
          </p:cNvSpPr>
          <p:nvPr>
            <p:ph type="body" idx="1"/>
          </p:nvPr>
        </p:nvSpPr>
        <p:spPr>
          <a:xfrm>
            <a:off x="204952" y="734519"/>
            <a:ext cx="11733048" cy="5682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Percentage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ea typeface="Arial Black"/>
                <a:cs typeface="Arial" panose="020B0604020202020204" pitchFamily="34" charset="0"/>
                <a:sym typeface="Arial Black"/>
              </a:rPr>
              <a:t>Q 13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. The population of a town is 8000. If the males increase by 9% and the females by 16%, the population will be 9000. Find the number of females in the town. </a:t>
            </a:r>
          </a:p>
          <a:p>
            <a:pPr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arenBoth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2000 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(2) 4500 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(3) 3000 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(4) 4000 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(5) None of these  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br>
              <a:rPr lang="en-US" dirty="0"/>
            </a:br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3687756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8"/>
          <p:cNvSpPr txBox="1">
            <a:spLocks noGrp="1"/>
          </p:cNvSpPr>
          <p:nvPr>
            <p:ph type="body" idx="1"/>
          </p:nvPr>
        </p:nvSpPr>
        <p:spPr>
          <a:xfrm>
            <a:off x="204952" y="749509"/>
            <a:ext cx="11733048" cy="56670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Percentage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ea typeface="Arial Black"/>
                <a:cs typeface="Arial" panose="020B0604020202020204" pitchFamily="34" charset="0"/>
                <a:sym typeface="Arial Black"/>
              </a:rPr>
              <a:t>Q 14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. A student has secured 15% marks to get through. If he gets 80 marks and fails by 70 marks, find the maximum marks set for the examination. </a:t>
            </a:r>
          </a:p>
          <a:p>
            <a:pPr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arenBoth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100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(2) 1000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(3) 1500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(4) 900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(5) None of these 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8"/>
          <p:cNvSpPr txBox="1">
            <a:spLocks noGrp="1"/>
          </p:cNvSpPr>
          <p:nvPr>
            <p:ph type="body" idx="1"/>
          </p:nvPr>
        </p:nvSpPr>
        <p:spPr>
          <a:xfrm>
            <a:off x="204952" y="674557"/>
            <a:ext cx="11733048" cy="5742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Percentage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ea typeface="Arial Black"/>
                <a:cs typeface="Arial" panose="020B0604020202020204" pitchFamily="34" charset="0"/>
                <a:sym typeface="Arial Black"/>
              </a:rPr>
              <a:t>Q 14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. A student has  secured 15% marks to get through. If he gets 80 marks and fails by 70 marks, find the maximum marks set for the examination. </a:t>
            </a:r>
          </a:p>
          <a:p>
            <a:pPr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arenBoth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100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(2) 1000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(3) 1500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(4) 900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(5) None of these 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214571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9"/>
          <p:cNvSpPr txBox="1">
            <a:spLocks noGrp="1"/>
          </p:cNvSpPr>
          <p:nvPr>
            <p:ph type="body" idx="1"/>
          </p:nvPr>
        </p:nvSpPr>
        <p:spPr>
          <a:xfrm>
            <a:off x="204952" y="689549"/>
            <a:ext cx="11733048" cy="57270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Percentage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ea typeface="Arial Black"/>
                <a:cs typeface="Arial" panose="020B0604020202020204" pitchFamily="34" charset="0"/>
                <a:sym typeface="Arial Black"/>
              </a:rPr>
              <a:t>Q 15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A candidate scores 35% and fails by 40 marks, while another candidate who scores 60% marks, gets 35 marks more than the minimum required marks to pass the examination. Find the maximum marks for the examination. 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arenBoth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300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(2) 200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(3) 350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(4) 450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(5) None of these  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9"/>
          <p:cNvSpPr txBox="1">
            <a:spLocks noGrp="1"/>
          </p:cNvSpPr>
          <p:nvPr>
            <p:ph type="body" idx="1"/>
          </p:nvPr>
        </p:nvSpPr>
        <p:spPr>
          <a:xfrm>
            <a:off x="204952" y="734519"/>
            <a:ext cx="11733048" cy="5682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Percentage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ea typeface="Arial Black"/>
                <a:cs typeface="Arial" panose="020B0604020202020204" pitchFamily="34" charset="0"/>
                <a:sym typeface="Arial Black"/>
              </a:rPr>
              <a:t>Q 15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A candidate scores 35% and fails by 40 marks, while another candidate who scores 60% marks, gets 35 marks more than the minimum required marks to pass the examination. Find the maximum marks for the examination. 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(1) 300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(2) 200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(3) 350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(4) 450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(5) None of these  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569910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1"/>
          <p:cNvSpPr txBox="1">
            <a:spLocks noGrp="1"/>
          </p:cNvSpPr>
          <p:nvPr>
            <p:ph type="body" idx="1"/>
          </p:nvPr>
        </p:nvSpPr>
        <p:spPr>
          <a:xfrm>
            <a:off x="204952" y="734519"/>
            <a:ext cx="11733048" cy="5682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Percentage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ea typeface="Arial Black"/>
                <a:cs typeface="Arial" panose="020B0604020202020204" pitchFamily="34" charset="0"/>
                <a:sym typeface="Arial Black"/>
              </a:rPr>
              <a:t>Q 16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. In a certain year, the population of a certain town was 9000. If the next year the population of males increases by 5% and that of the females by 8% and the total population increases to 9600, then what was the ratio of population of males and females in that given year? 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arenBoth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4 : 5 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(2) 5 : 4 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(3) 2 : 3 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(4) Data inadequate 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(5) None of these  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br>
              <a:rPr lang="en-US" dirty="0"/>
            </a:br>
            <a:endParaRPr b="1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1"/>
          <p:cNvSpPr txBox="1">
            <a:spLocks noGrp="1"/>
          </p:cNvSpPr>
          <p:nvPr>
            <p:ph type="body" idx="1"/>
          </p:nvPr>
        </p:nvSpPr>
        <p:spPr>
          <a:xfrm>
            <a:off x="204952" y="734519"/>
            <a:ext cx="11733048" cy="5682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Percentage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ea typeface="Arial Black"/>
                <a:cs typeface="Arial" panose="020B0604020202020204" pitchFamily="34" charset="0"/>
                <a:sym typeface="Arial Black"/>
              </a:rPr>
              <a:t>Q 16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. In a certain year, the population of a certain town was 9000. If the next year the population of males increases by 5% and that of the females by 8% and the total population increases to 9600, then what was the ratio of population of males and females in that given year? 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(1) 4 : 5 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(2) 5 : 4 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(3) 2 : 3 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(4) Data inadequate 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(5) None of these</a:t>
            </a:r>
            <a:r>
              <a:rPr lang="en-US" b="1" dirty="0"/>
              <a:t>  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br>
              <a:rPr lang="en-US" dirty="0"/>
            </a:br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386497954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2"/>
          <p:cNvSpPr txBox="1">
            <a:spLocks noGrp="1"/>
          </p:cNvSpPr>
          <p:nvPr>
            <p:ph type="body" idx="1"/>
          </p:nvPr>
        </p:nvSpPr>
        <p:spPr>
          <a:xfrm>
            <a:off x="204952" y="764499"/>
            <a:ext cx="11733048" cy="5652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Percentage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ea typeface="Arial Black"/>
                <a:cs typeface="Arial" panose="020B0604020202020204" pitchFamily="34" charset="0"/>
                <a:sym typeface="Arial Black"/>
              </a:rPr>
              <a:t>Q 17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. The population of a town is 64000. It increases by 10% during the first year. During the second year, it decreases by 25% and increased by 5% during the third year. What is the population after 3 years? </a:t>
            </a:r>
          </a:p>
          <a:p>
            <a:pPr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arenBoth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654400 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(2) 56440 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(3) 55450 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(4) 55440 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(5) None of these 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br>
              <a:rPr lang="en-US" dirty="0"/>
            </a:br>
            <a:endParaRPr b="1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2"/>
          <p:cNvSpPr txBox="1">
            <a:spLocks noGrp="1"/>
          </p:cNvSpPr>
          <p:nvPr>
            <p:ph type="body" idx="1"/>
          </p:nvPr>
        </p:nvSpPr>
        <p:spPr>
          <a:xfrm>
            <a:off x="204952" y="1072055"/>
            <a:ext cx="11733048" cy="5344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Percentage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ea typeface="Arial Black"/>
                <a:cs typeface="Arial" panose="020B0604020202020204" pitchFamily="34" charset="0"/>
                <a:sym typeface="Arial Black"/>
              </a:rPr>
              <a:t>Q 17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. The population of a town is 64000. It increases by 10% during the first year. During the second year, it decreases by 25% and increased by 5% during the third year. What is the population after 3 years? 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arenBoth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654400 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(2) 56440 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(3) 55450 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(4) 55440 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(5) None of these 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br>
              <a:rPr lang="en-US" dirty="0"/>
            </a:br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32035401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3"/>
          <p:cNvSpPr txBox="1">
            <a:spLocks noGrp="1"/>
          </p:cNvSpPr>
          <p:nvPr>
            <p:ph type="body" idx="1"/>
          </p:nvPr>
        </p:nvSpPr>
        <p:spPr>
          <a:xfrm>
            <a:off x="204952" y="1072055"/>
            <a:ext cx="11733048" cy="5344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Percentage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ea typeface="Arial Black"/>
                <a:cs typeface="Arial" panose="020B0604020202020204" pitchFamily="34" charset="0"/>
                <a:sym typeface="Arial Black"/>
              </a:rPr>
              <a:t>Q 18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. In an examination, 10% of the students failed in Math, 20% failed in English and 5% failed in both. Find the percentage of students who passed in both the subjects. 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arenBoth"/>
            </a:pP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75%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(2) 70%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(3) 85%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(4) 80%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(5) None of these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3"/>
          <p:cNvSpPr txBox="1">
            <a:spLocks noGrp="1"/>
          </p:cNvSpPr>
          <p:nvPr>
            <p:ph type="body" idx="1"/>
          </p:nvPr>
        </p:nvSpPr>
        <p:spPr>
          <a:xfrm>
            <a:off x="204952" y="1072055"/>
            <a:ext cx="11733048" cy="5344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Percentage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ea typeface="Arial Black"/>
                <a:cs typeface="Arial" panose="020B0604020202020204" pitchFamily="34" charset="0"/>
                <a:sym typeface="Arial Black"/>
              </a:rPr>
              <a:t>Q 18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. In an examination, 10% of the students failed in Math, 20% failed in English and 5% failed in both. Find the percentage of students who passed in both the subjects. 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(1) 75%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(2) 70%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(3) 85%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(4) 80%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(5) None of these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303775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5"/>
          <p:cNvSpPr txBox="1">
            <a:spLocks noGrp="1"/>
          </p:cNvSpPr>
          <p:nvPr>
            <p:ph type="body" idx="1"/>
          </p:nvPr>
        </p:nvSpPr>
        <p:spPr>
          <a:xfrm>
            <a:off x="204952" y="689549"/>
            <a:ext cx="11733048" cy="57270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Percentage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ea typeface="Arial Black"/>
                <a:cs typeface="Arial" panose="020B0604020202020204" pitchFamily="34" charset="0"/>
                <a:sym typeface="Arial Black"/>
              </a:rPr>
              <a:t>Q 19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. A man spends 60% of his income. His income increases by 15% and his expenditure also increases by 5%. Find the percentage increase in his savings. </a:t>
            </a:r>
          </a:p>
          <a:p>
            <a:pPr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arenBoth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30%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(2) 15%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(3) 20%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(4) 25%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(5) None of these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5"/>
          <p:cNvSpPr txBox="1">
            <a:spLocks noGrp="1"/>
          </p:cNvSpPr>
          <p:nvPr>
            <p:ph type="body" idx="1"/>
          </p:nvPr>
        </p:nvSpPr>
        <p:spPr>
          <a:xfrm>
            <a:off x="204952" y="704539"/>
            <a:ext cx="11733048" cy="5712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Percentage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ea typeface="Arial Black"/>
                <a:cs typeface="Arial" panose="020B0604020202020204" pitchFamily="34" charset="0"/>
                <a:sym typeface="Arial Black"/>
              </a:rPr>
              <a:t>Q 19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. A man spends 60% of his income. His income increases by 15% and his expenditure also increases by 5%. Find the percentage increase in his savings. 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(1) 30%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(2) 15%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(3) 20%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(4) 25%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(5) None of these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624674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7"/>
          <p:cNvSpPr txBox="1">
            <a:spLocks noGrp="1"/>
          </p:cNvSpPr>
          <p:nvPr>
            <p:ph type="body" idx="1"/>
          </p:nvPr>
        </p:nvSpPr>
        <p:spPr>
          <a:xfrm>
            <a:off x="204952" y="734519"/>
            <a:ext cx="11733048" cy="5682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Percentage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ea typeface="Arial Black"/>
                <a:cs typeface="Arial" panose="020B0604020202020204" pitchFamily="34" charset="0"/>
                <a:sym typeface="Arial Black"/>
              </a:rPr>
              <a:t>Q 20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. A solution of salt and water contains 5% salt by weight. If 20 kg water evaporate, and the solution now contains 15% of salt. Find the original quantity of solution. 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arenBoth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15 kg.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(2) 30 kg.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(3) 18 kg.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(4) 24 kg.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(5) None of these </a:t>
            </a:r>
            <a:r>
              <a:rPr lang="en-US" b="1" dirty="0"/>
              <a:t> </a:t>
            </a:r>
            <a:endParaRPr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7"/>
          <p:cNvSpPr txBox="1">
            <a:spLocks noGrp="1"/>
          </p:cNvSpPr>
          <p:nvPr>
            <p:ph type="body" idx="1"/>
          </p:nvPr>
        </p:nvSpPr>
        <p:spPr>
          <a:xfrm>
            <a:off x="204952" y="719529"/>
            <a:ext cx="11733048" cy="5697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Percentage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ea typeface="Arial Black"/>
                <a:cs typeface="Arial" panose="020B0604020202020204" pitchFamily="34" charset="0"/>
                <a:sym typeface="Arial Black"/>
              </a:rPr>
              <a:t>Q 20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. A solution of salt and water contains 5% salt by weight. If 20 kg water evaporate, and the solution now contains 15% of salt. Find the original quantity of solution. </a:t>
            </a:r>
          </a:p>
          <a:p>
            <a:pPr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arenBoth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15 kg.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(2) 30 kg.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(3) 18 kg.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(4) 24 kg.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(5) None of these  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632763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8"/>
          <p:cNvSpPr txBox="1">
            <a:spLocks noGrp="1"/>
          </p:cNvSpPr>
          <p:nvPr>
            <p:ph type="body" idx="1"/>
          </p:nvPr>
        </p:nvSpPr>
        <p:spPr>
          <a:xfrm>
            <a:off x="204952" y="719529"/>
            <a:ext cx="11733048" cy="5697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Percentage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ea typeface="Arial Black"/>
                <a:cs typeface="Arial" panose="020B0604020202020204" pitchFamily="34" charset="0"/>
                <a:sym typeface="Arial Black"/>
              </a:rPr>
              <a:t>Q 21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. What quantity of water should be added to reduce 16 liters. of 25% acidic liquid to 20% acidic liquid? 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arenBoth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5 liters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(2) 4 liters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(3) 12 liters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(4) 8 liters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(5) None of these  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8"/>
          <p:cNvSpPr txBox="1">
            <a:spLocks noGrp="1"/>
          </p:cNvSpPr>
          <p:nvPr>
            <p:ph type="body" idx="1"/>
          </p:nvPr>
        </p:nvSpPr>
        <p:spPr>
          <a:xfrm>
            <a:off x="204952" y="719529"/>
            <a:ext cx="11733048" cy="5697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Percentage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ea typeface="Arial Black"/>
                <a:cs typeface="Arial" panose="020B0604020202020204" pitchFamily="34" charset="0"/>
                <a:sym typeface="Arial Black"/>
              </a:rPr>
              <a:t>Q 21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. What quantity of water should be added to reduce 16 liters of 25% acidic liquid to 20% acidic liquid? 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arenBoth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5 liters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(2) 4 liters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(3) 12 liters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(4) 8 liters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(5) None of these  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744745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0"/>
          <p:cNvSpPr txBox="1">
            <a:spLocks noGrp="1"/>
          </p:cNvSpPr>
          <p:nvPr>
            <p:ph type="body" idx="1"/>
          </p:nvPr>
        </p:nvSpPr>
        <p:spPr>
          <a:xfrm>
            <a:off x="204952" y="704539"/>
            <a:ext cx="11733048" cy="5712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Percentage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ea typeface="Arial Black"/>
                <a:cs typeface="Arial" panose="020B0604020202020204" pitchFamily="34" charset="0"/>
                <a:sym typeface="Arial Black"/>
              </a:rPr>
              <a:t>Q 22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. What quantity of water should be taken out to concentrate 21 liters of 25% acidic liquid to 35% acidic liquid. 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arenBoth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6 liters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(2) 8.4 liters 	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(3) 6.4 liters 	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(4) 8 liters 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(5) None of these 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0"/>
          <p:cNvSpPr txBox="1">
            <a:spLocks noGrp="1"/>
          </p:cNvSpPr>
          <p:nvPr>
            <p:ph type="body" idx="1"/>
          </p:nvPr>
        </p:nvSpPr>
        <p:spPr>
          <a:xfrm>
            <a:off x="204952" y="689549"/>
            <a:ext cx="11733048" cy="57270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Percentage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ea typeface="Arial Black"/>
                <a:cs typeface="Arial" panose="020B0604020202020204" pitchFamily="34" charset="0"/>
                <a:sym typeface="Arial Black"/>
              </a:rPr>
              <a:t>Q 22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. What quantity of water should be taken out to concentrate 21 liters of 25% acidic liquid to 35% acidic liquid. 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(1) 6 liters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(2) 8.4 liters 	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(3) 6.4 liters 	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(4) 8 liters 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(5) None of these</a:t>
            </a:r>
            <a:r>
              <a:rPr lang="en-US" b="1" dirty="0"/>
              <a:t>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323956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1"/>
          <p:cNvSpPr txBox="1">
            <a:spLocks noGrp="1"/>
          </p:cNvSpPr>
          <p:nvPr>
            <p:ph type="body" idx="1"/>
          </p:nvPr>
        </p:nvSpPr>
        <p:spPr>
          <a:xfrm>
            <a:off x="204952" y="689549"/>
            <a:ext cx="11733048" cy="57270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Percentage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ea typeface="Arial Black"/>
                <a:cs typeface="Arial" panose="020B0604020202020204" pitchFamily="34" charset="0"/>
                <a:sym typeface="Arial Black"/>
              </a:rPr>
              <a:t>Q 23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. In an examination the percentage of students qualified to the number of students appeared from school ‘A’ is 80%. In school ‘B’ the number of students appeared is 25% more than the students appeared from school ‘A’ and the number of students qualified from school ‘B’ is 40% more than the students qualified from school ‘A’. What is the percentage of students qualified to the number of students appeared from school ‘B’? 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arenBoth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45%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(2) 90%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(3) 89.5%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(4) 89.6%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(5) None of these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1"/>
          <p:cNvSpPr txBox="1">
            <a:spLocks noGrp="1"/>
          </p:cNvSpPr>
          <p:nvPr>
            <p:ph type="body" idx="1"/>
          </p:nvPr>
        </p:nvSpPr>
        <p:spPr>
          <a:xfrm>
            <a:off x="204952" y="779489"/>
            <a:ext cx="11733048" cy="56370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Percentage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ea typeface="Arial Black"/>
                <a:cs typeface="Arial" panose="020B0604020202020204" pitchFamily="34" charset="0"/>
                <a:sym typeface="Arial Black"/>
              </a:rPr>
              <a:t>Q 23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. In an examination the percentage of students qualified to the number of students appeared from school ‘A’ is 80%. In school ‘B’ the number of students appeared is 25% more than the students appeared from school ‘A’ and the number of students qualified from school ‘B’ is 40% more than the students qualified from school ‘A’. What is the percentage of students qualified to the number of students appeared from school ‘B’? 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arenBoth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45%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(2) 90%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(3) 89.5%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(4) 89.6%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(5) None of these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326583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2"/>
          <p:cNvSpPr txBox="1">
            <a:spLocks noGrp="1"/>
          </p:cNvSpPr>
          <p:nvPr>
            <p:ph type="body" idx="1"/>
          </p:nvPr>
        </p:nvSpPr>
        <p:spPr>
          <a:xfrm>
            <a:off x="204952" y="674557"/>
            <a:ext cx="11733048" cy="5742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Percentage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ea typeface="Arial Black"/>
                <a:cs typeface="Arial" panose="020B0604020202020204" pitchFamily="34" charset="0"/>
                <a:sym typeface="Arial Black"/>
              </a:rPr>
              <a:t>Q 24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. Rice is now being sold at Rs. 20 per kg. During last month, its cost was 18 per kg. Find by how much percent a family should reduce its consumption, to keep the expenditure same. 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arenBoth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10%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(2) 20%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(3) 15%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(4) 5%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(5) None of these 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b="1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2"/>
          <p:cNvSpPr txBox="1">
            <a:spLocks noGrp="1"/>
          </p:cNvSpPr>
          <p:nvPr>
            <p:ph type="body" idx="1"/>
          </p:nvPr>
        </p:nvSpPr>
        <p:spPr>
          <a:xfrm>
            <a:off x="204952" y="674557"/>
            <a:ext cx="11733048" cy="5742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Percentage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ea typeface="Arial Black"/>
                <a:cs typeface="Arial" panose="020B0604020202020204" pitchFamily="34" charset="0"/>
                <a:sym typeface="Arial Black"/>
              </a:rPr>
              <a:t>Q 24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. Rice is now being sold at Rs. 20 per kg. During last month, its cost was 18 per kg. Find by how much percent a family should reduce its consumption, to keep the expenditure same. 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(1) 10%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(2) 20%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(3) 15%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(4) 5%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(5) None of these 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118655925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3"/>
          <p:cNvSpPr txBox="1">
            <a:spLocks noGrp="1"/>
          </p:cNvSpPr>
          <p:nvPr>
            <p:ph type="body" idx="1"/>
          </p:nvPr>
        </p:nvSpPr>
        <p:spPr>
          <a:xfrm>
            <a:off x="204952" y="749509"/>
            <a:ext cx="11733048" cy="56670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Percentage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ea typeface="Arial Black"/>
                <a:cs typeface="Arial" panose="020B0604020202020204" pitchFamily="34" charset="0"/>
                <a:sym typeface="Arial Black"/>
              </a:rPr>
              <a:t>Q 25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. A reduction of 2 Rs per kg enables a man to purchase 2 kg more tea in 8 Rs. Find the original price of tea per kg. 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arenBoth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4 per kg. 	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(2) 6 per kg.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(3) 2 per kg. 	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(4) 3 per kg. 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(5) None of these 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3"/>
          <p:cNvSpPr txBox="1">
            <a:spLocks noGrp="1"/>
          </p:cNvSpPr>
          <p:nvPr>
            <p:ph type="body" idx="1"/>
          </p:nvPr>
        </p:nvSpPr>
        <p:spPr>
          <a:xfrm>
            <a:off x="204952" y="674557"/>
            <a:ext cx="11733048" cy="5742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Percentage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ea typeface="Arial Black"/>
                <a:cs typeface="Arial" panose="020B0604020202020204" pitchFamily="34" charset="0"/>
                <a:sym typeface="Arial Black"/>
              </a:rPr>
              <a:t>Q 25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. A reduction of 2 Rs per kg enables a man to purchase 2 kg more tea in 8 Rs. Find the original price of tea per kg. 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(1) 4 per kg.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	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(2) 6 per kg.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(3) 2 per kg. 	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(4) 3 per kg. 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(5) None of these 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81063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4"/>
          <p:cNvSpPr txBox="1">
            <a:spLocks noGrp="1"/>
          </p:cNvSpPr>
          <p:nvPr>
            <p:ph type="body" idx="1"/>
          </p:nvPr>
        </p:nvSpPr>
        <p:spPr>
          <a:xfrm>
            <a:off x="204952" y="719529"/>
            <a:ext cx="11733048" cy="5697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Percentage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ea typeface="Arial Black"/>
                <a:cs typeface="Arial" panose="020B0604020202020204" pitchFamily="34" charset="0"/>
                <a:sym typeface="Arial Black"/>
              </a:rPr>
              <a:t>Q 26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. A reduction of 20 percent in the price of tea would enable a purchaser to obtain 4 kg. more for 100, what is the reduced price, and original price? 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arenBoth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6.25, 5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(2) 5, 6.25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(3) 6, 5.25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(4) 5.25, 6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(5) None of these 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 </a:t>
            </a:r>
            <a:endParaRPr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4"/>
          <p:cNvSpPr txBox="1">
            <a:spLocks noGrp="1"/>
          </p:cNvSpPr>
          <p:nvPr>
            <p:ph type="body" idx="1"/>
          </p:nvPr>
        </p:nvSpPr>
        <p:spPr>
          <a:xfrm>
            <a:off x="204952" y="764499"/>
            <a:ext cx="11733048" cy="5652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Percentage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ea typeface="Arial Black"/>
                <a:cs typeface="Arial" panose="020B0604020202020204" pitchFamily="34" charset="0"/>
                <a:sym typeface="Arial Black"/>
              </a:rPr>
              <a:t>Q 26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. A reduction of 20 percent in the price of tea would enable a purchaser to obtain 4 kg. more for 100, what is the reduced price, and original price? 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arenBoth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6.25, 5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(2) 5, 6.25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(3) 6, 5.25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(4) 5.25, 6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(5) None of these 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5257685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35"/>
          <p:cNvSpPr txBox="1">
            <a:spLocks noGrp="1"/>
          </p:cNvSpPr>
          <p:nvPr>
            <p:ph type="body" idx="1"/>
          </p:nvPr>
        </p:nvSpPr>
        <p:spPr>
          <a:xfrm>
            <a:off x="204952" y="734519"/>
            <a:ext cx="11733048" cy="5682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Percentage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ea typeface="Arial Black"/>
                <a:cs typeface="Arial" panose="020B0604020202020204" pitchFamily="34" charset="0"/>
                <a:sym typeface="Arial Black"/>
              </a:rPr>
              <a:t>Q 27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. The population of a town is 15625. It increases 8 per cent annually. What will it be in 3 years? 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arenBoth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16983 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(2) 18693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(3) 19683 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(4) 19638 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(5) None of these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b="1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35"/>
          <p:cNvSpPr txBox="1">
            <a:spLocks noGrp="1"/>
          </p:cNvSpPr>
          <p:nvPr>
            <p:ph type="body" idx="1"/>
          </p:nvPr>
        </p:nvSpPr>
        <p:spPr>
          <a:xfrm>
            <a:off x="204952" y="734519"/>
            <a:ext cx="11733048" cy="5682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Percentage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ea typeface="Arial Black"/>
                <a:cs typeface="Arial" panose="020B0604020202020204" pitchFamily="34" charset="0"/>
                <a:sym typeface="Arial Black"/>
              </a:rPr>
              <a:t>Q 27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. The population of a town is 15625. It increases 8 per cent annually. What will it be in 3 years? 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arenBoth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16983 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(2) 18693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(3) 19683 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(4) 19638 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(5) None of these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lang="en-US" b="1"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38345015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38"/>
          <p:cNvSpPr txBox="1">
            <a:spLocks noGrp="1"/>
          </p:cNvSpPr>
          <p:nvPr>
            <p:ph type="body" idx="1"/>
          </p:nvPr>
        </p:nvSpPr>
        <p:spPr>
          <a:xfrm>
            <a:off x="204952" y="704539"/>
            <a:ext cx="11733048" cy="5712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Percentage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ea typeface="Arial Black"/>
                <a:cs typeface="Arial" panose="020B0604020202020204" pitchFamily="34" charset="0"/>
                <a:sym typeface="Arial Black"/>
              </a:rPr>
              <a:t>Q 28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. Two numbers are respectively 26% and 5% more than a third. What percentage is the first of the second? 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arenBoth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120% 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(2) 100% 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(3) 80% 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(4) 125% 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(5) None of these 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br>
              <a:rPr lang="en-US" dirty="0"/>
            </a:br>
            <a:r>
              <a:rPr lang="en-US" b="1" dirty="0"/>
              <a:t>  </a:t>
            </a:r>
            <a:endParaRPr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38"/>
          <p:cNvSpPr txBox="1">
            <a:spLocks noGrp="1"/>
          </p:cNvSpPr>
          <p:nvPr>
            <p:ph type="body" idx="1"/>
          </p:nvPr>
        </p:nvSpPr>
        <p:spPr>
          <a:xfrm>
            <a:off x="204952" y="644577"/>
            <a:ext cx="11733048" cy="5771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Percentage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ea typeface="Arial Black"/>
                <a:cs typeface="Arial" panose="020B0604020202020204" pitchFamily="34" charset="0"/>
                <a:sym typeface="Arial Black"/>
              </a:rPr>
              <a:t>Q 28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. Two numbers are respectively 26% and 5% more than a third. What percentage is the first of the second? 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(1) 120% 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(2) 100% 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(3) 80% 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(4) 125% 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(5) None of these 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br>
              <a:rPr lang="en-US" dirty="0"/>
            </a:br>
            <a:r>
              <a:rPr lang="en-US" b="1" dirty="0"/>
              <a:t> 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768443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40"/>
          <p:cNvSpPr txBox="1">
            <a:spLocks noGrp="1"/>
          </p:cNvSpPr>
          <p:nvPr>
            <p:ph type="body" idx="1"/>
          </p:nvPr>
        </p:nvSpPr>
        <p:spPr>
          <a:xfrm>
            <a:off x="204952" y="674557"/>
            <a:ext cx="11733048" cy="5742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Percentage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ea typeface="Arial Black"/>
                <a:cs typeface="Arial" panose="020B0604020202020204" pitchFamily="34" charset="0"/>
                <a:sym typeface="Arial Black"/>
              </a:rPr>
              <a:t>Q 29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. Two candidate participated in an election. 10% voter did not cast their votes, and 10% votes were declared invalid. A candidate got 60% of total votes and won the election by 3900 votes. Find the total number of voters in voter list.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lphaLcParenBoth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8100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(b) 10000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(c) 19500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(d) 9000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40"/>
          <p:cNvSpPr txBox="1">
            <a:spLocks noGrp="1"/>
          </p:cNvSpPr>
          <p:nvPr>
            <p:ph type="body" idx="1"/>
          </p:nvPr>
        </p:nvSpPr>
        <p:spPr>
          <a:xfrm>
            <a:off x="204952" y="704539"/>
            <a:ext cx="11733048" cy="5712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Percentage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ea typeface="Arial Black"/>
                <a:cs typeface="Arial" panose="020B0604020202020204" pitchFamily="34" charset="0"/>
                <a:sym typeface="Arial Black"/>
              </a:rPr>
              <a:t>Q 29</a:t>
            </a:r>
            <a:r>
              <a:rPr lang="en-US" b="1" dirty="0"/>
              <a:t>. Two candidate participated in an election. 10% voter did not cast their votes, and 10% votes were declared invalid. A candidate got 60% of total votes and won the election by 3900 votes. Find the total number of voters in voter list.</a:t>
            </a:r>
            <a:endParaRPr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lphaLcParenBoth"/>
            </a:pPr>
            <a:r>
              <a:rPr lang="en-US" b="1" dirty="0"/>
              <a:t>8100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solidFill>
                  <a:srgbClr val="FF0000"/>
                </a:solidFill>
              </a:rPr>
              <a:t>(b) 10000</a:t>
            </a:r>
            <a:endParaRPr dirty="0">
              <a:solidFill>
                <a:srgbClr val="FF0000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solidFill>
                  <a:schemeClr val="tx1"/>
                </a:solidFill>
              </a:rPr>
              <a:t>(c) 19500</a:t>
            </a:r>
            <a:endParaRPr dirty="0">
              <a:solidFill>
                <a:schemeClr val="tx1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(d) 9000</a:t>
            </a:r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36573009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41"/>
          <p:cNvSpPr txBox="1">
            <a:spLocks noGrp="1"/>
          </p:cNvSpPr>
          <p:nvPr>
            <p:ph type="body" idx="1"/>
          </p:nvPr>
        </p:nvSpPr>
        <p:spPr>
          <a:xfrm>
            <a:off x="204952" y="704539"/>
            <a:ext cx="11733048" cy="5712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Percentage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ea typeface="Arial Black"/>
                <a:cs typeface="Arial" panose="020B0604020202020204" pitchFamily="34" charset="0"/>
                <a:sym typeface="Arial Black"/>
              </a:rPr>
              <a:t>Q 30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. Two candidates participated in an election. 20% voters did not cast their votes, and 2000 votes were declared invalid. Winner candidate got 60% of valid votes and got elected by 1200 number of votes. Find the total number of votes in voter list.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lphaLcParenBoth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8750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(b) 7750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(c) 8000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(d) 10000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41"/>
          <p:cNvSpPr txBox="1">
            <a:spLocks noGrp="1"/>
          </p:cNvSpPr>
          <p:nvPr>
            <p:ph type="body" idx="1"/>
          </p:nvPr>
        </p:nvSpPr>
        <p:spPr>
          <a:xfrm>
            <a:off x="204952" y="704539"/>
            <a:ext cx="11733048" cy="5712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Percentage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ea typeface="Arial Black"/>
                <a:cs typeface="Arial" panose="020B0604020202020204" pitchFamily="34" charset="0"/>
                <a:sym typeface="Arial Black"/>
              </a:rPr>
              <a:t>Q 30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. Two candidates participated in an election. 20% voters did not cast their votes, and 2000 votes were declared invalid. Winner candidate got 60% of valid votes and got elected by 1200 number of votes. Find the total number of votes in voter list.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lphaLcParenBoth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8750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(b) 7750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(c) 8000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(d) 10000</a:t>
            </a:r>
            <a:endParaRPr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287252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42"/>
          <p:cNvSpPr txBox="1">
            <a:spLocks noGrp="1"/>
          </p:cNvSpPr>
          <p:nvPr>
            <p:ph type="body" idx="1"/>
          </p:nvPr>
        </p:nvSpPr>
        <p:spPr>
          <a:xfrm>
            <a:off x="204952" y="674557"/>
            <a:ext cx="11733048" cy="5742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Percentage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ea typeface="Arial Black"/>
                <a:cs typeface="Arial" panose="020B0604020202020204" pitchFamily="34" charset="0"/>
                <a:sym typeface="Arial Black"/>
              </a:rPr>
              <a:t>Q 31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. In an election two candidates participated A and B. A secured 30% of the total votes and lost the election by 500 votes. Find the total number of votes casted.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lphaLcParenBoth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1050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(b) 1100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(c) 1250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(d) 1200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42"/>
          <p:cNvSpPr txBox="1">
            <a:spLocks noGrp="1"/>
          </p:cNvSpPr>
          <p:nvPr>
            <p:ph type="body" idx="1"/>
          </p:nvPr>
        </p:nvSpPr>
        <p:spPr>
          <a:xfrm>
            <a:off x="204952" y="674557"/>
            <a:ext cx="11733048" cy="5742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Percentage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ea typeface="Arial Black"/>
                <a:cs typeface="Arial" panose="020B0604020202020204" pitchFamily="34" charset="0"/>
                <a:sym typeface="Arial Black"/>
              </a:rPr>
              <a:t>Q 31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. In an election two candidates participated A and B. A secured 30% of the total votes and lost the election by 500 votes. Find the total number of votes casted.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lphaLcParenBoth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1050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(b) 1100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(c) 1250</a:t>
            </a:r>
            <a:endParaRPr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(d) 1200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887838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43"/>
          <p:cNvSpPr txBox="1">
            <a:spLocks noGrp="1"/>
          </p:cNvSpPr>
          <p:nvPr>
            <p:ph type="body" idx="1"/>
          </p:nvPr>
        </p:nvSpPr>
        <p:spPr>
          <a:xfrm>
            <a:off x="204952" y="719529"/>
            <a:ext cx="11733048" cy="5697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Percentage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ea typeface="Arial Black"/>
                <a:cs typeface="Arial" panose="020B0604020202020204" pitchFamily="34" charset="0"/>
                <a:sym typeface="Arial Black"/>
              </a:rPr>
              <a:t>Q 32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. A company give 12% commission to his salesman on total sales and 1% bonus on the sales over ₹ 15000. If the salesman deposit ₹7650 after deducting his commission from total sales. Find total sales.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lphaLcParenBoth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72000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(b) 70000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(c) 48000 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(d) 60000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43"/>
          <p:cNvSpPr txBox="1">
            <a:spLocks noGrp="1"/>
          </p:cNvSpPr>
          <p:nvPr>
            <p:ph type="body" idx="1"/>
          </p:nvPr>
        </p:nvSpPr>
        <p:spPr>
          <a:xfrm>
            <a:off x="204952" y="659567"/>
            <a:ext cx="11733048" cy="575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Percentage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ea typeface="Arial Black"/>
                <a:cs typeface="Arial" panose="020B0604020202020204" pitchFamily="34" charset="0"/>
                <a:sym typeface="Arial Black"/>
              </a:rPr>
              <a:t>Q 32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. A company give 12% commission to his salesman on total sales and 1% bonus on the sales over ₹ 15000. If the salesman deposit ₹52,350 after deducting his commission from total sales. Find total sales.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lphaLcParenBoth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72000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(b) 70000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(c) 48000 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(d) 60000</a:t>
            </a:r>
            <a:endParaRPr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799895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384">
          <a:extLst>
            <a:ext uri="{FF2B5EF4-FFF2-40B4-BE49-F238E27FC236}">
              <a16:creationId xmlns:a16="http://schemas.microsoft.com/office/drawing/2014/main" id="{2C7A5B6F-206A-BCAA-C2CB-DE331F6C41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45">
            <a:extLst>
              <a:ext uri="{FF2B5EF4-FFF2-40B4-BE49-F238E27FC236}">
                <a16:creationId xmlns:a16="http://schemas.microsoft.com/office/drawing/2014/main" id="{7E2B8B30-1C43-B678-00E0-975307A9E5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29476" y="689549"/>
            <a:ext cx="11733048" cy="57270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endParaRPr lang="en-US" sz="8800" b="1" dirty="0">
              <a:solidFill>
                <a:srgbClr val="FF0000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  <a:p>
            <a:pPr marL="228600" lvl="0" indent="-2286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endParaRPr lang="en-US" sz="8800" b="1" dirty="0">
              <a:solidFill>
                <a:srgbClr val="FF0000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  <a:p>
            <a:pPr marL="228600" lvl="0" indent="-2286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None/>
            </a:pPr>
            <a:r>
              <a:rPr lang="en-US" sz="8800" b="1" dirty="0">
                <a:solidFill>
                  <a:srgbClr val="FF000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THANK YOU</a:t>
            </a:r>
            <a:endParaRPr sz="8800" b="1" dirty="0">
              <a:solidFill>
                <a:srgbClr val="FF0000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28442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327</TotalTime>
  <Words>4795</Words>
  <Application>Microsoft Office PowerPoint</Application>
  <PresentationFormat>Widescreen</PresentationFormat>
  <Paragraphs>616</Paragraphs>
  <Slides>72</Slides>
  <Notes>72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72</vt:i4>
      </vt:variant>
    </vt:vector>
  </HeadingPairs>
  <TitlesOfParts>
    <vt:vector size="79" baseType="lpstr">
      <vt:lpstr>Arial Black</vt:lpstr>
      <vt:lpstr>Arial</vt:lpstr>
      <vt:lpstr>Calibri</vt:lpstr>
      <vt:lpstr>Hero New</vt:lpstr>
      <vt:lpstr>Cambria Math</vt:lpstr>
      <vt:lpstr>Arial Unicode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APTITUDE</dc:title>
  <dc:creator>anuj gupta</dc:creator>
  <cp:lastModifiedBy>Suresh Sanwak</cp:lastModifiedBy>
  <cp:revision>51</cp:revision>
  <dcterms:created xsi:type="dcterms:W3CDTF">2020-02-23T06:37:57Z</dcterms:created>
  <dcterms:modified xsi:type="dcterms:W3CDTF">2025-06-03T06:24:45Z</dcterms:modified>
</cp:coreProperties>
</file>