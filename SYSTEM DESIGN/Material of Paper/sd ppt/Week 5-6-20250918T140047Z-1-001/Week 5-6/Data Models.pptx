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630" r:id="rId2"/>
    <p:sldId id="631" r:id="rId3"/>
    <p:sldId id="661" r:id="rId4"/>
    <p:sldId id="632" r:id="rId5"/>
    <p:sldId id="652" r:id="rId6"/>
    <p:sldId id="653" r:id="rId7"/>
    <p:sldId id="654" r:id="rId8"/>
    <p:sldId id="658" r:id="rId9"/>
    <p:sldId id="657" r:id="rId10"/>
    <p:sldId id="655" r:id="rId11"/>
    <p:sldId id="656" r:id="rId12"/>
    <p:sldId id="660" r:id="rId13"/>
    <p:sldId id="670" r:id="rId14"/>
    <p:sldId id="673" r:id="rId15"/>
    <p:sldId id="674" r:id="rId16"/>
    <p:sldId id="671" r:id="rId17"/>
    <p:sldId id="672" r:id="rId18"/>
    <p:sldId id="662" r:id="rId19"/>
    <p:sldId id="663" r:id="rId20"/>
    <p:sldId id="664" r:id="rId21"/>
    <p:sldId id="391" r:id="rId22"/>
    <p:sldId id="665" r:id="rId23"/>
    <p:sldId id="666" r:id="rId24"/>
    <p:sldId id="667" r:id="rId25"/>
    <p:sldId id="668" r:id="rId26"/>
    <p:sldId id="669" r:id="rId27"/>
    <p:sldId id="624" r:id="rId28"/>
  </p:sldIdLst>
  <p:sldSz cx="9144000" cy="6858000" type="screen4x3"/>
  <p:notesSz cx="6858000" cy="99472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0FA"/>
    <a:srgbClr val="FF6600"/>
    <a:srgbClr val="F139E4"/>
    <a:srgbClr val="B85250"/>
    <a:srgbClr val="FF33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8398" autoAdjust="0"/>
  </p:normalViewPr>
  <p:slideViewPr>
    <p:cSldViewPr>
      <p:cViewPr varScale="1">
        <p:scale>
          <a:sx n="73" d="100"/>
          <a:sy n="73" d="100"/>
        </p:scale>
        <p:origin x="1766" y="43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103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88709C98-B80A-4F28-AF74-CF08CF81A715}" type="datetime1">
              <a:rPr lang="en-US"/>
              <a:pPr/>
              <a:t>8/4/2025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4D112868-65FD-4572-A383-97DC0EC9B91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75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/>
        <a:cs typeface="MS PGothic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/>
        <a:cs typeface="MS PGothic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/>
        <a:cs typeface="MS PGothic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/>
        <a:cs typeface="MS PGothic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/>
        <a:cs typeface="MS PGothic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12868-65FD-4572-A383-97DC0EC9B9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37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29DF1A87-B9BD-C893-9BA0-73F8C1EAED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9FB78A7E-E8B8-7513-A943-D9179690E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A19371CE-E78C-A5F3-90EE-E107AB58E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ED001DE-1232-420B-AC57-EAEF48CF70EF}" type="slidenum">
              <a:rPr lang="en-CA" altLang="en-US" sz="1200">
                <a:latin typeface="Tahoma" panose="020B0604030504040204" pitchFamily="34" charset="0"/>
              </a:rPr>
              <a:pPr eaLnBrk="1" hangingPunct="1"/>
              <a:t>21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14152-1DF9-4836-BE06-024E97E7E1A8}" type="datetime1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4ABB8-5B0F-4AA4-B6A6-7C7E2BD089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 userDrawn="1"/>
        </p:nvPicPr>
        <p:blipFill>
          <a:blip r:embed="rId2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B8EF97-0748-43F5-8F49-A9B91DA96F82}" type="datetime1">
              <a:rPr lang="en-US" smtClean="0"/>
              <a:t>8/4/2025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8F058-9003-4658-AA47-7D4800AF7E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A62B7F5-82F8-482C-8771-2D9909944613}" type="datetime1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775DC763-8AAC-4A07-A453-38B55A3783B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04" r:id="rId1"/>
    <p:sldLayoutId id="214748450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chbase.com/resources/concepts/what-is-data-management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chbase.com/blog/application-development-life-cycl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chbase.com/blog/columnar-store-vs-row-store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chbase.com/resources/concepts/types-of-database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developer.couchbase.com/comparing-document-vs-relation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63365-E8DB-2CB3-7C0A-8F100E44F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IN" b="1" dirty="0">
                <a:solidFill>
                  <a:srgbClr val="343E47"/>
                </a:solidFill>
                <a:latin typeface="Open Sans" panose="020B0606030504020204" pitchFamily="34" charset="0"/>
              </a:rPr>
            </a:br>
            <a:r>
              <a:rPr lang="en-IN" b="1" dirty="0">
                <a:solidFill>
                  <a:srgbClr val="343E47"/>
                </a:solidFill>
                <a:latin typeface="Open Sans" panose="020B0606030504020204" pitchFamily="34" charset="0"/>
              </a:rPr>
              <a:t>What is Data </a:t>
            </a:r>
            <a:r>
              <a:rPr lang="en-IN" b="1" dirty="0" err="1">
                <a:solidFill>
                  <a:srgbClr val="343E47"/>
                </a:solidFill>
                <a:latin typeface="Open Sans" panose="020B0606030504020204" pitchFamily="34" charset="0"/>
              </a:rPr>
              <a:t>Modeling</a:t>
            </a:r>
            <a:br>
              <a:rPr lang="en-IN" b="1" dirty="0">
                <a:solidFill>
                  <a:srgbClr val="343E47"/>
                </a:solidFill>
                <a:latin typeface="Open Sans" panose="020B0606030504020204" pitchFamily="34" charset="0"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62339-74D3-7C95-D65A-F70626283F49}"/>
              </a:ext>
            </a:extLst>
          </p:cNvPr>
          <p:cNvSpPr txBox="1"/>
          <p:nvPr/>
        </p:nvSpPr>
        <p:spPr>
          <a:xfrm>
            <a:off x="0" y="967524"/>
            <a:ext cx="8839200" cy="49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000" b="0" i="0" dirty="0" err="1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organizing data structures, relationships, and rules to support database design and </a:t>
            </a:r>
            <a:r>
              <a:rPr lang="en-IN" sz="2000" b="0" i="0" u="none" strike="noStrike" dirty="0">
                <a:solidFill>
                  <a:srgbClr val="4287D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data management</a:t>
            </a: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>
              <a:solidFill>
                <a:srgbClr val="343E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involves defining how data is structured, stored, and accessed, using diagrams or models that map out entities, attributes, and relationships. </a:t>
            </a:r>
          </a:p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organizing data logically and consistently, data </a:t>
            </a:r>
            <a:r>
              <a:rPr lang="en-IN" sz="2000" b="0" i="0" dirty="0" err="1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ensure accuracy, efficiency, and scalability in information systems. </a:t>
            </a:r>
          </a:p>
          <a:p>
            <a:pPr marL="285750" indent="-285750" algn="just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43E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well-designed data model should also be able to respond to change and handle future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81626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02C0-269F-FEF5-FD2A-B6EC2AEC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Why is Data </a:t>
            </a:r>
            <a:r>
              <a:rPr lang="en-IN" b="1" dirty="0" err="1"/>
              <a:t>Modeling</a:t>
            </a:r>
            <a:r>
              <a:rPr lang="en-IN" b="1" dirty="0"/>
              <a:t> Important?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FEC13-681F-4DB7-4BD8-6086629E4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867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 model is an important step in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application development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your team to decide what data is necessary and how to collect and structure it.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model can be considered a set of decisions, assertions, and assumptions. Even if something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incorrectly, those assumptions are written down and help the team understand why it was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way.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this baseline of information, the team can better determine whether making a change is the right course of action in the future.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CFB9-4611-7BD2-55DE-CB2D51D02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92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EA03-B782-4C64-56BE-9986A918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DCC3F-78F2-9C41-B856-F12B878F9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6388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Model: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concepts to describe the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database, the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manipulating these structures, and certain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database should obey.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 Structure and Constraints: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are used to define the database structure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 typically include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(and their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well as groups of elements (e.g.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entity, record, table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such groups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specify some restrictions on valid data; these constraints must be enforced at all times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F2FF6-51D7-3789-F551-B14EFE19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2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7259C-7A98-B349-A429-93F88A5C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Conceptual vs. logical vs. physical data </a:t>
            </a:r>
            <a:r>
              <a:rPr lang="en-IN" b="1" dirty="0" err="1"/>
              <a:t>modeling</a:t>
            </a:r>
            <a:br>
              <a:rPr lang="en-IN" b="1" dirty="0"/>
            </a:br>
            <a:br>
              <a:rPr lang="en-IN" b="1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CA84A-F6D6-996A-757C-A4F12E530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20ED07-7C68-A817-86DE-B229C6DAB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943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conceptual model provides a high-level system overview, focusing on the main entities and relationships without going into technical details.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logical model adds more structure by defining data elements, attributes, and their relationships.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physical model addresses implementation details, specifying how data will be stored in a database’s tables,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columns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indexes.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Here’s how to think of each model in the simplest terms: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– the “what” model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– the “how” of the details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– the “how” of the implementation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48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580A-BFC5-2548-23A3-A77E0EEC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Conceptual Data Model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697C4-E94B-61A4-AB41-DB62EF8F1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562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conceptual data model can be considered the “whiteboard” data model. It does not address the “how.”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model, it’s important to focus on capturing all the types of data (or “entities”) that the system will need. In addition to entities, a conceptual data model will also capture: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Individual properties of an entity. For instance, a “person” entity may have “name” and “shoe size.” An “address” entity may have “zip code” and “city.”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How an entity connects to other entities. For instance, a “person” entity may have one or more “addresses.”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69FC-4465-89DD-3266-51C81E68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1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14C8-039F-DD9E-0A70-B88486E9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A93F-67FD-BB59-2DA3-13F45909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545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the entities, their attributes, and relationships, a conceptual model can also: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scope: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Details which entities are included and which are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included.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business rules: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instance, are person entities allowed to have multiple addresses? What about multiple emails? Do they need to have a unique identifier?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Architects often create the conceptual data model with business stakeholders and domain experts.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F1FE6-93AD-FE5B-6D3A-BD345C335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8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57EB-AE64-FA6C-A015-8BC70168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Conceptual Data Model 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DFDF-E847-5C3A-25D8-C4056C4A4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49928"/>
            <a:ext cx="8839200" cy="56794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There are many “languages” for describing a conceptual data model. But as long as it’s documented in an accessible way, it can be as easy as boxes and arrows.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Here’s a diagram of a conceptual data model that involves two core entities, travel routes (and their associated schedules), and airlines: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C88BB-0FA6-D1F3-3FF3-E5913A1B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8" name="Picture 4" descr="A diagram of a conceptual data model involving travel routes, travel schedules, and airlines">
            <a:extLst>
              <a:ext uri="{FF2B5EF4-FFF2-40B4-BE49-F238E27FC236}">
                <a16:creationId xmlns:a16="http://schemas.microsoft.com/office/drawing/2014/main" id="{0051A178-6409-F8BB-685C-8635E893C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54102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47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23A0-BF17-42D0-D3EB-2F5DABE2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Conceptual Data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A25751-D73A-92BF-BA16-3EB8AF723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4400" y="1066800"/>
            <a:ext cx="76199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80063-6E06-8E7A-CB1C-CE6E36F5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680A-7915-7F65-C720-45083FB6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Benefits of a Conceptual Data Model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4B3B-7A07-0031-0ABF-5AFEE7CDE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9067800" cy="5715000"/>
          </a:xfrm>
        </p:spPr>
        <p:txBody>
          <a:bodyPr/>
          <a:lstStyle/>
          <a:p>
            <a:r>
              <a:rPr lang="en-IN" dirty="0"/>
              <a:t>Shared understanding</a:t>
            </a:r>
          </a:p>
          <a:p>
            <a:pPr algn="just"/>
            <a:r>
              <a:rPr lang="en-IN" sz="1800" dirty="0"/>
              <a:t>Conceptual data models use simple, business-oriented terminology to describe and define data objects and their relationships, creating a universal language that both technical and non-technical stakeholders can understand. </a:t>
            </a:r>
          </a:p>
          <a:p>
            <a:pPr algn="just"/>
            <a:r>
              <a:rPr lang="en-IN" sz="1800" dirty="0"/>
              <a:t>They also provide visual representations which are easier to understand than written documents, especially for complex relationships. </a:t>
            </a:r>
          </a:p>
          <a:p>
            <a:pPr algn="just"/>
            <a:r>
              <a:rPr lang="en-IN" sz="1800" dirty="0"/>
              <a:t>This shared understanding of the business process is crucial to building stakeholder trust and confidence.  </a:t>
            </a:r>
          </a:p>
          <a:p>
            <a:r>
              <a:rPr lang="en-IN" dirty="0"/>
              <a:t>Communication and collaboration</a:t>
            </a:r>
          </a:p>
          <a:p>
            <a:pPr algn="just"/>
            <a:r>
              <a:rPr lang="en-IN" sz="1800" dirty="0"/>
              <a:t>Conceptual models can serve as a focal point for discussions between stakeholders, data teams, and different lines of business, fostering collaboration and trust. </a:t>
            </a:r>
          </a:p>
          <a:p>
            <a:pPr algn="just"/>
            <a:r>
              <a:rPr lang="en-IN" sz="1800" dirty="0"/>
              <a:t>In addition, they can help clarify requirements, identify gaps or redundancies, and promote alignment on business rules and policies. </a:t>
            </a:r>
          </a:p>
          <a:p>
            <a:pPr algn="just"/>
            <a:r>
              <a:rPr lang="en-IN" sz="1800" dirty="0"/>
              <a:t>In short, communication and collaboration lead to trust, which you’ll need when making important decisions on cost, delivery, and functionality.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0A352-BA43-ED4D-ADA5-1C41DACB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E350-5D93-BBBD-4882-612DD282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Logical Data Model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20A2-5898-3C84-8C31-65C5BBB5C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638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/>
              <a:t>A logical data model is decided upon after stakeholders agree on a conceptual model.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This stage involves filling in the details of the conceptual model. It’s still too early to pick a </a:t>
            </a:r>
            <a:r>
              <a:rPr lang="en-IN" sz="2000" dirty="0">
                <a:hlinkClick r:id="rId2"/>
              </a:rPr>
              <a:t>database management system (DBMS)</a:t>
            </a:r>
            <a:r>
              <a:rPr lang="en-IN" sz="2000" dirty="0"/>
              <a:t>, but this stage can help you decide which database to use (relational, document, etc.). For instance, if you choose </a:t>
            </a:r>
            <a:r>
              <a:rPr lang="en-IN" sz="2000" b="1" dirty="0"/>
              <a:t>relational</a:t>
            </a:r>
            <a:r>
              <a:rPr lang="en-IN" sz="2000" dirty="0"/>
              <a:t>, you’ll need to decide which tables to create. If you choose </a:t>
            </a:r>
            <a:r>
              <a:rPr lang="en-IN" sz="2000" b="1" dirty="0"/>
              <a:t>document</a:t>
            </a:r>
            <a:r>
              <a:rPr lang="en-IN" sz="2000" dirty="0"/>
              <a:t>, you’ll need to define the collections.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During this step, you should also decide the details of each field or column and relationship. These details include data types, sizes, lengths, arrays, nested objects, etc.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Architects and business analysts typically create the logical model.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C2FEB-377E-5E6E-AF65-FD5D8DA0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9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2085-5FCF-7653-AD08-381D01E0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i="1" dirty="0"/>
            </a:br>
            <a:r>
              <a:rPr lang="en-IN" i="1" dirty="0"/>
              <a:t>Logical data model 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47E0-5F61-693D-A6D8-DBD382B0D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" y="914400"/>
            <a:ext cx="9001125" cy="57150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instance, if you’re going with a relational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the logical model might look like this: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with a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document database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schedule can be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part of the route. There’s no need for a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key, but it’s still helpful to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it its own sub-entity. So that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 model might look like this:</a:t>
            </a:r>
          </a:p>
          <a:p>
            <a:pPr marL="0" indent="0">
              <a:buNone/>
            </a:pPr>
            <a:br>
              <a:rPr lang="en-IN" sz="1800" dirty="0"/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4D42E-2D0B-1FE1-21B8-B5F7AE31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052" name="Picture 4" descr="A logical data model displaying travel route, travel schedule, and airline details in tables">
            <a:extLst>
              <a:ext uri="{FF2B5EF4-FFF2-40B4-BE49-F238E27FC236}">
                <a16:creationId xmlns:a16="http://schemas.microsoft.com/office/drawing/2014/main" id="{40EFD65D-7225-FF5F-506E-CD0282A3F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-88271350"/>
            <a:ext cx="439102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 logical data model displaying travel route, travel schedule, and airline details in tables">
            <a:extLst>
              <a:ext uri="{FF2B5EF4-FFF2-40B4-BE49-F238E27FC236}">
                <a16:creationId xmlns:a16="http://schemas.microsoft.com/office/drawing/2014/main" id="{E3F14D39-2327-F9DB-CC91-2EE4FD615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1211261"/>
            <a:ext cx="3429000" cy="240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logical data model displaying travel route, travel schedule, and airline details in documents">
            <a:extLst>
              <a:ext uri="{FF2B5EF4-FFF2-40B4-BE49-F238E27FC236}">
                <a16:creationId xmlns:a16="http://schemas.microsoft.com/office/drawing/2014/main" id="{D885A0A1-A634-A70D-CFE4-A366010FF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736975"/>
            <a:ext cx="5057775" cy="289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58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2D42-21C7-0106-0D0F-66252B5D2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a logical 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5B1E0-5865-6969-F66F-56C7B23C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4906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1800" dirty="0"/>
              <a:t>Iterative &amp; Agile: Logical data </a:t>
            </a:r>
            <a:r>
              <a:rPr lang="en-IN" sz="1800" dirty="0" err="1"/>
              <a:t>modeling</a:t>
            </a:r>
            <a:r>
              <a:rPr lang="en-IN" sz="1800" dirty="0"/>
              <a:t> (LDM) supports agile development by allowing continuous stakeholder feedback and business logic refinement.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Technology-Agnostic: Focuses on data structure &amp; business rules without DBMS constraints.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Clear Structure: Defines data relationships and avoids redundancy—essential for data integrity.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Blueprint for Physical Model: Guides database design for efficient implementation.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Quality Assurance: Detects early errors, aligns with business needs, and reduces long-term costs.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Business Alignment: Enhances communication between analysts, developers, and stakeholders.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97861-6F8F-6423-798E-C93538C2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92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4303-B44B-CB0D-22E0-20D46D6D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What is a physical data model?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4E678-0308-B239-EE75-ADE1FED73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A physical data model (PDM) is a data model that represents relational data objects.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It describes the technology-specific and database-specific implementation of the data model and is the last step in transforming from a logical data model to a working database.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 physical data model includes all the needed physical details to build a database.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D28BE-79E3-8C7C-2459-953770D8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70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A8A7-3FF2-58C8-3373-3E19E391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E4BDCE-2AD2-0810-14A2-B879634E1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09600" y="1143000"/>
            <a:ext cx="7696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BD7E7-FAE8-23EF-0577-83239158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88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9259-EB85-8C22-C535-9C964AB8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Key Characteristics of Physical Data Model: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E146-B39D-E257-F4E7-96F3A84F3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78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Shows Primary Keys (PK) and Foreign Keys (FK)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Specifies data types (like int, varchar, date)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Suitable for implementation in DBMS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Enforces relationships using constraints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89B39-9288-7B18-46AA-66DE1730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66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384B-1EA6-9894-3FAB-76452FFC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200" dirty="0"/>
            </a:br>
            <a:r>
              <a:rPr lang="en-IN" sz="3200" dirty="0"/>
              <a:t>Benefits of a physical data model</a:t>
            </a:r>
            <a:br>
              <a:rPr lang="en-IN" sz="32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071FD-B4CA-3816-E0D2-4C672E89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638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1800" b="1" dirty="0"/>
              <a:t>Speed and efficiency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The physical data model (PDM) is about how your data will be physically stored, structured, and securely accessed, and it’s optimized for the specific cloud data platform or on-premises database. PDMs ensure optimal configuration for cost, scale, storage, and performance. In a world with consumption-based data platforms, having a well-</a:t>
            </a:r>
            <a:r>
              <a:rPr lang="en-IN" sz="1800" dirty="0" err="1"/>
              <a:t>modeled</a:t>
            </a:r>
            <a:r>
              <a:rPr lang="en-IN" sz="1800" dirty="0"/>
              <a:t> physical data model ultimately saves time, money, and resources.</a:t>
            </a:r>
          </a:p>
          <a:p>
            <a:pPr algn="just">
              <a:lnSpc>
                <a:spcPct val="150000"/>
              </a:lnSpc>
            </a:pPr>
            <a:r>
              <a:rPr lang="en-IN" sz="1800" b="1" dirty="0"/>
              <a:t>Scalability and future-proofing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A well-</a:t>
            </a:r>
            <a:r>
              <a:rPr lang="en-IN" sz="1800" dirty="0" err="1"/>
              <a:t>modeled</a:t>
            </a:r>
            <a:r>
              <a:rPr lang="en-IN" sz="1800" dirty="0"/>
              <a:t> physical data model makes it much easier to manage the inevitable changes as your business grows and evolves. </a:t>
            </a:r>
          </a:p>
          <a:p>
            <a:pPr algn="just">
              <a:lnSpc>
                <a:spcPct val="150000"/>
              </a:lnSpc>
            </a:pPr>
            <a:r>
              <a:rPr lang="en-IN" sz="1800" dirty="0"/>
              <a:t>PDMs provide a blueprint and scalable framework that can accommodate new data sources, business rules, or system integrations, resulting in lower system complexity, reduced obsolescence risk, and faster market speed.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4D046-566E-0BA9-5AF8-279264DD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598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93085-F16F-5753-402C-1122F1C3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75827A-99BB-FEE3-3421-9832339ED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000" y="914400"/>
            <a:ext cx="85344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7ABF7-D7F8-71BB-E39B-F4F720AE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87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9AA9-7183-79F2-97CB-71375CBFB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Schemas versus Instances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7F4D-CB2A-50F8-2476-0A8D03074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8307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Database Schema: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b="1" i="1" dirty="0"/>
              <a:t>description</a:t>
            </a:r>
            <a:r>
              <a:rPr lang="en-US" altLang="en-US" dirty="0"/>
              <a:t> of a database.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Includes descriptions of the database structure, data types, and the constraints on the database.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Schema Diagram: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i="1" dirty="0"/>
              <a:t>illustrative</a:t>
            </a:r>
            <a:r>
              <a:rPr lang="en-US" altLang="en-US" dirty="0"/>
              <a:t> display of (most aspects of) a database schema.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Schema Construct: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i="1" dirty="0"/>
              <a:t>component</a:t>
            </a:r>
            <a:r>
              <a:rPr lang="en-US" altLang="en-US" dirty="0"/>
              <a:t> of the schema or an object within the schema, e.g., STUDENT, COURSE.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66AAE-F2CE-5CCF-5035-FB24982E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42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CEC6-E181-4740-9FB7-C6168F91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Schemas versus Instances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3BBF-6DA5-1BD5-B025-9A4B3832B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Database State:</a:t>
            </a:r>
          </a:p>
          <a:p>
            <a:pPr lvl="1" algn="just" eaLnBrk="1" hangingPunct="1"/>
            <a:r>
              <a:rPr lang="en-US" altLang="en-US" dirty="0"/>
              <a:t>The actual data stored in a database at a </a:t>
            </a:r>
            <a:r>
              <a:rPr lang="en-US" altLang="en-US" b="1" i="1" dirty="0"/>
              <a:t>particular moment in time</a:t>
            </a:r>
            <a:r>
              <a:rPr lang="en-US" altLang="en-US" dirty="0"/>
              <a:t>. This includes the collection of all the data in the database.</a:t>
            </a:r>
          </a:p>
          <a:p>
            <a:pPr lvl="1" algn="just" eaLnBrk="1" hangingPunct="1"/>
            <a:r>
              <a:rPr lang="en-US" altLang="en-US" dirty="0"/>
              <a:t>Also called database instance (or occurrence or snapshot).</a:t>
            </a:r>
          </a:p>
          <a:p>
            <a:pPr lvl="2" algn="just" eaLnBrk="1" hangingPunct="1"/>
            <a:r>
              <a:rPr lang="en-US" altLang="en-US" dirty="0"/>
              <a:t>The term </a:t>
            </a:r>
            <a:r>
              <a:rPr lang="en-US" altLang="en-US" i="1" dirty="0"/>
              <a:t>instance </a:t>
            </a:r>
            <a:r>
              <a:rPr lang="en-US" altLang="en-US" dirty="0"/>
              <a:t> is also applied to individual database components, e.g. </a:t>
            </a:r>
            <a:r>
              <a:rPr lang="en-US" altLang="en-US" i="1" dirty="0"/>
              <a:t>record instance, table instance, entity instance</a:t>
            </a:r>
            <a:endParaRPr lang="en-US" alt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FFEAF-8648-66A2-D405-42192FB1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67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409AF-61EA-7C5B-E92B-289815D8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Schema Vs. Instance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83C3FD0-9A9D-4415-5212-E195B5C5E3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451219"/>
              </p:ext>
            </p:extLst>
          </p:nvPr>
        </p:nvGraphicFramePr>
        <p:xfrm>
          <a:off x="304801" y="1066800"/>
          <a:ext cx="8260695" cy="4830765"/>
        </p:xfrm>
        <a:graphic>
          <a:graphicData uri="http://schemas.openxmlformats.org/drawingml/2006/table">
            <a:tbl>
              <a:tblPr/>
              <a:tblGrid>
                <a:gridCol w="2753565">
                  <a:extLst>
                    <a:ext uri="{9D8B030D-6E8A-4147-A177-3AD203B41FA5}">
                      <a16:colId xmlns:a16="http://schemas.microsoft.com/office/drawing/2014/main" val="3342754691"/>
                    </a:ext>
                  </a:extLst>
                </a:gridCol>
                <a:gridCol w="2753565">
                  <a:extLst>
                    <a:ext uri="{9D8B030D-6E8A-4147-A177-3AD203B41FA5}">
                      <a16:colId xmlns:a16="http://schemas.microsoft.com/office/drawing/2014/main" val="2697772237"/>
                    </a:ext>
                  </a:extLst>
                </a:gridCol>
                <a:gridCol w="2753565">
                  <a:extLst>
                    <a:ext uri="{9D8B030D-6E8A-4147-A177-3AD203B41FA5}">
                      <a16:colId xmlns:a16="http://schemas.microsoft.com/office/drawing/2014/main" val="1238672605"/>
                    </a:ext>
                  </a:extLst>
                </a:gridCol>
              </a:tblGrid>
              <a:tr h="37888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/>
                        <a:t>Schema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/>
                        <a:t>Instance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027347"/>
                  </a:ext>
                </a:extLst>
              </a:tr>
              <a:tr h="947209">
                <a:tc>
                  <a:txBody>
                    <a:bodyPr/>
                    <a:lstStyle/>
                    <a:p>
                      <a:r>
                        <a:rPr lang="en-IN" sz="1700" b="1"/>
                        <a:t>Definition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The </a:t>
                      </a:r>
                      <a:r>
                        <a:rPr lang="en-IN" sz="1700" b="1"/>
                        <a:t>structure</a:t>
                      </a:r>
                      <a:r>
                        <a:rPr lang="en-IN" sz="1700"/>
                        <a:t> or </a:t>
                      </a:r>
                      <a:r>
                        <a:rPr lang="en-IN" sz="1700" b="1"/>
                        <a:t>blueprint</a:t>
                      </a:r>
                      <a:r>
                        <a:rPr lang="en-IN" sz="1700"/>
                        <a:t> of a database.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The </a:t>
                      </a:r>
                      <a:r>
                        <a:rPr lang="en-IN" sz="1700" b="1"/>
                        <a:t>actual data</a:t>
                      </a:r>
                      <a:r>
                        <a:rPr lang="en-IN" sz="1700"/>
                        <a:t> stored in the database at a given time.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31645"/>
                  </a:ext>
                </a:extLst>
              </a:tr>
              <a:tr h="947209">
                <a:tc>
                  <a:txBody>
                    <a:bodyPr/>
                    <a:lstStyle/>
                    <a:p>
                      <a:r>
                        <a:rPr lang="en-IN" sz="1700" b="1"/>
                        <a:t>Nature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/>
                        <a:t>Static</a:t>
                      </a:r>
                      <a:r>
                        <a:rPr lang="en-IN" sz="1700"/>
                        <a:t> – rarely changes.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/>
                        <a:t>Dynamic</a:t>
                      </a:r>
                      <a:r>
                        <a:rPr lang="en-IN" sz="1700"/>
                        <a:t> – changes frequently as data is added/removed.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072397"/>
                  </a:ext>
                </a:extLst>
              </a:tr>
              <a:tr h="947209">
                <a:tc>
                  <a:txBody>
                    <a:bodyPr/>
                    <a:lstStyle/>
                    <a:p>
                      <a:r>
                        <a:rPr lang="en-IN" sz="1700" b="1"/>
                        <a:t>Includes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Tables, columns, data types, relationships, constraints.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Actual rows (records) in the tables.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965487"/>
                  </a:ext>
                </a:extLst>
              </a:tr>
              <a:tr h="947209">
                <a:tc>
                  <a:txBody>
                    <a:bodyPr/>
                    <a:lstStyle/>
                    <a:p>
                      <a:r>
                        <a:rPr lang="en-IN" sz="1700" b="1"/>
                        <a:t>Example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Definition of Student(Name, RollNo, Class)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Data: ('Ravi', 101, '7th Grade')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830895"/>
                  </a:ext>
                </a:extLst>
              </a:tr>
              <a:tr h="663046">
                <a:tc>
                  <a:txBody>
                    <a:bodyPr/>
                    <a:lstStyle/>
                    <a:p>
                      <a:r>
                        <a:rPr lang="en-IN" sz="1700" b="1"/>
                        <a:t>Analogy</a:t>
                      </a:r>
                      <a:endParaRPr lang="en-IN" sz="1700"/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Like the </a:t>
                      </a:r>
                      <a:r>
                        <a:rPr lang="en-IN" sz="1700" b="1"/>
                        <a:t>design</a:t>
                      </a:r>
                      <a:r>
                        <a:rPr lang="en-IN" sz="1700"/>
                        <a:t> of a house.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Like the </a:t>
                      </a:r>
                      <a:r>
                        <a:rPr lang="en-IN" sz="1700" b="1" dirty="0"/>
                        <a:t>furniture and people</a:t>
                      </a:r>
                      <a:r>
                        <a:rPr lang="en-IN" sz="1700" dirty="0"/>
                        <a:t> currently inside it.</a:t>
                      </a:r>
                    </a:p>
                  </a:txBody>
                  <a:tcPr marL="88744" marR="88744" marT="44372" marB="443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19860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A3B8E-D11B-27FF-1B0D-63A9F846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15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C164074D-1680-D1BF-A11D-4F3A8F658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990033"/>
                </a:solidFill>
              </a:rPr>
              <a:t>Slide 2- </a:t>
            </a:r>
            <a:fld id="{ADDBD6FE-2AA5-4682-8AF2-97EA04A927F6}" type="slidenum">
              <a:rPr lang="en-US" altLang="en-US" sz="1400">
                <a:solidFill>
                  <a:srgbClr val="990033"/>
                </a:solidFill>
              </a:rPr>
              <a:pPr eaLnBrk="1" hangingPunct="1"/>
              <a:t>21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F0AD324-0E1E-2A4F-69A8-96919471D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three-schema architecture</a:t>
            </a:r>
          </a:p>
        </p:txBody>
      </p:sp>
      <p:pic>
        <p:nvPicPr>
          <p:cNvPr id="17412" name="Picture 4" descr="fig02_02">
            <a:extLst>
              <a:ext uri="{FF2B5EF4-FFF2-40B4-BE49-F238E27FC236}">
                <a16:creationId xmlns:a16="http://schemas.microsoft.com/office/drawing/2014/main" id="{84C77B46-EE4E-B0FC-F20C-4183769BD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30489"/>
            <a:ext cx="70104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477B-6D64-C120-14C1-BDBAC595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Three-Schema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CA677-663A-78F4-26CC-6DC504E96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15000"/>
          </a:xfrm>
        </p:spPr>
        <p:txBody>
          <a:bodyPr/>
          <a:lstStyle/>
          <a:p>
            <a:r>
              <a:rPr lang="en-IN" sz="1800" dirty="0"/>
              <a:t>🔷 1. External Level (View Level)</a:t>
            </a:r>
          </a:p>
          <a:p>
            <a:r>
              <a:rPr lang="en-IN" sz="1800" dirty="0"/>
              <a:t>This is what end users see.</a:t>
            </a:r>
          </a:p>
          <a:p>
            <a:r>
              <a:rPr lang="en-IN" sz="1800" dirty="0"/>
              <a:t>Each user or group may have a different view of the database (External Views).</a:t>
            </a:r>
          </a:p>
          <a:p>
            <a:r>
              <a:rPr lang="en-IN" sz="1800" dirty="0"/>
              <a:t>It hides complexity and provides customized access.</a:t>
            </a:r>
          </a:p>
          <a:p>
            <a:r>
              <a:rPr lang="en-IN" sz="1800" dirty="0"/>
              <a:t>Example: A student sees only their marks, while an admin sees all students' records.</a:t>
            </a:r>
          </a:p>
          <a:p>
            <a:r>
              <a:rPr lang="en-IN" sz="1800" dirty="0"/>
              <a:t>Multiple end users interact with external views customized for their needs.</a:t>
            </a:r>
          </a:p>
          <a:p>
            <a:r>
              <a:rPr lang="en-IN" sz="1800" dirty="0"/>
              <a:t>🔷 2. Conceptual Level (Logical Level)</a:t>
            </a:r>
          </a:p>
          <a:p>
            <a:r>
              <a:rPr lang="en-IN" sz="1800" dirty="0"/>
              <a:t>Represents the logical structure of the entire database.</a:t>
            </a:r>
          </a:p>
          <a:p>
            <a:r>
              <a:rPr lang="en-IN" sz="1800" dirty="0"/>
              <a:t>Contains all entities, relationships, constraints but hides how data is physically stored.</a:t>
            </a:r>
          </a:p>
          <a:p>
            <a:r>
              <a:rPr lang="en-IN" sz="1800" dirty="0"/>
              <a:t>Acts as a bridge between user views and physical storage.</a:t>
            </a:r>
          </a:p>
          <a:p>
            <a:r>
              <a:rPr lang="en-IN" sz="1800" dirty="0"/>
              <a:t>The conceptual schema connects external views to the internal schema.</a:t>
            </a:r>
          </a:p>
          <a:p>
            <a:r>
              <a:rPr lang="en-IN" sz="1800" dirty="0"/>
              <a:t>🔷 3. Internal Level (Physical Level)</a:t>
            </a:r>
          </a:p>
          <a:p>
            <a:r>
              <a:rPr lang="en-IN" sz="1800" dirty="0"/>
              <a:t>Deals with the physical storage of data: files, indexes, access paths, etc.</a:t>
            </a:r>
          </a:p>
          <a:p>
            <a:r>
              <a:rPr lang="en-IN" sz="1800" dirty="0"/>
              <a:t>Closest to the hardware.</a:t>
            </a:r>
          </a:p>
          <a:p>
            <a:r>
              <a:rPr lang="en-IN" sz="1800" dirty="0"/>
              <a:t>Optimized for performance, storage efficiency, and data retrieval.</a:t>
            </a:r>
          </a:p>
          <a:p>
            <a:r>
              <a:rPr lang="en-IN" sz="1800" dirty="0"/>
              <a:t>The internal schema interacts directly with the stored database (shown as disks).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4AAAC-2745-AEBA-DAB1-27FE2433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32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B730-6EE1-21E8-469D-261CE3F2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Mappings in the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3BA98-5936-3FFF-0BE1-FAF5ABB6E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/>
              <a:t>External/Conceptual Mapping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IN" sz="2000" dirty="0"/>
              <a:t>Translates user-specific views into the conceptual schema.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Ensures users only see relevant data.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Conceptual/Internal Mapping</a:t>
            </a:r>
            <a:endParaRPr lang="en-IN" sz="2000" dirty="0"/>
          </a:p>
          <a:p>
            <a:pPr lvl="1">
              <a:lnSpc>
                <a:spcPct val="150000"/>
              </a:lnSpc>
            </a:pPr>
            <a:r>
              <a:rPr lang="en-IN" sz="2000" dirty="0"/>
              <a:t>Maps conceptual schema to physical storage.</a:t>
            </a:r>
          </a:p>
          <a:p>
            <a:pPr lvl="1">
              <a:lnSpc>
                <a:spcPct val="150000"/>
              </a:lnSpc>
            </a:pPr>
            <a:r>
              <a:rPr lang="en-IN" sz="2000" dirty="0"/>
              <a:t>Ensures logical data models are efficiently stored and retrieved.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A856B-49A0-BFC8-F242-E71249B6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6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0CE3-8F05-9D3C-12FA-7F125C3C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b="1" dirty="0"/>
            </a:br>
            <a:r>
              <a:rPr lang="en-IN" b="1" dirty="0"/>
              <a:t>Benefits of Three-Schema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4B683-4194-0AC9-EA63-26BCA12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b="1" dirty="0"/>
              <a:t>Data Abstraction</a:t>
            </a:r>
            <a:r>
              <a:rPr lang="en-IN" sz="2000" dirty="0"/>
              <a:t>: Separates user views from storage details.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Data Independence</a:t>
            </a:r>
            <a:r>
              <a:rPr lang="en-IN" sz="2000" dirty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/>
              <a:t>Logical Independence</a:t>
            </a:r>
            <a:r>
              <a:rPr lang="en-IN" sz="2000" dirty="0"/>
              <a:t>: Changes in the conceptual schema don’t affect user views.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/>
              <a:t>Physical Independence</a:t>
            </a:r>
            <a:r>
              <a:rPr lang="en-IN" sz="2000" dirty="0"/>
              <a:t>: Changes in storage do not affect the logical schema.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Security</a:t>
            </a:r>
            <a:r>
              <a:rPr lang="en-IN" sz="2000" dirty="0"/>
              <a:t>: Users can be restricted to only certain external views.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0DBB0-B31B-50A9-3181-AFE2ED3C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0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7E5AB-FE1D-8C76-03CF-D5A95D96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Data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2CC02-684A-322D-8217-91F918CE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906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/>
              <a:t>Difficult to achieve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You can add, delete, or modify tables, attributes, or relationships in the conceptual schema without affecting user applications.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Example: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Student(</a:t>
            </a:r>
            <a:r>
              <a:rPr lang="en-IN" sz="2000" dirty="0" err="1"/>
              <a:t>RollNo</a:t>
            </a:r>
            <a:r>
              <a:rPr lang="en-IN" sz="2000" dirty="0"/>
              <a:t>, Name, Class)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Student(</a:t>
            </a:r>
            <a:r>
              <a:rPr lang="en-IN" sz="2000" dirty="0" err="1"/>
              <a:t>RollNo</a:t>
            </a:r>
            <a:r>
              <a:rPr lang="en-IN" sz="2000" dirty="0"/>
              <a:t>, Name, Class, Email)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User views that only need </a:t>
            </a:r>
            <a:r>
              <a:rPr lang="en-IN" sz="2000" dirty="0" err="1"/>
              <a:t>RollNo</a:t>
            </a:r>
            <a:r>
              <a:rPr lang="en-IN" sz="2000" dirty="0"/>
              <a:t>, Name, Class don’t need to change.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Applications using old views continue to work as expected.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B6E78-3065-6020-A9BE-274F9D20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3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0DC6-4B85-B6A3-8DD4-0F87AC10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Physical Data Independence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60B07-4B02-DA65-68EE-3E8D78720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dirty="0"/>
              <a:t>Easier to achieve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You can change how data is stored (e.g., using indexes, moving to a new disk, compression) without affecting the conceptual schema or applications.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 Example: Suppose initially the Student table is stored as a heap file (unordered).Later, for faster access, you store it using a B-tree index or partition the table.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Due to physical data independence: No changes are required in the conceptual schema or user programs.</a:t>
            </a:r>
          </a:p>
          <a:p>
            <a:pPr algn="just">
              <a:lnSpc>
                <a:spcPct val="150000"/>
              </a:lnSpc>
            </a:pPr>
            <a:r>
              <a:rPr lang="en-IN" sz="2000" dirty="0"/>
              <a:t>Queries like SELECT * FROM Student still work the same.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FC59D-4622-C8E6-7FFE-DBFEBA02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59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6EDA-7F57-4454-4FCD-73E1BBCB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C3C4-7D57-6BBC-DFF6-DD1EF4EE3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F058-9003-4658-AA47-7D4800AF7EA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9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60667</TotalTime>
  <Words>2131</Words>
  <Application>Microsoft Office PowerPoint</Application>
  <PresentationFormat>On-screen Show (4:3)</PresentationFormat>
  <Paragraphs>192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Open Sans</vt:lpstr>
      <vt:lpstr>Tahoma</vt:lpstr>
      <vt:lpstr>Times New Roman</vt:lpstr>
      <vt:lpstr>Office Theme</vt:lpstr>
      <vt:lpstr> What is Data Modeling </vt:lpstr>
      <vt:lpstr>  Why is Data Modeling Important?  </vt:lpstr>
      <vt:lpstr>PowerPoint Presentation</vt:lpstr>
      <vt:lpstr>  Conceptual vs. logical vs. physical data modeling  </vt:lpstr>
      <vt:lpstr> Conceptual Data Model </vt:lpstr>
      <vt:lpstr>PowerPoint Presentation</vt:lpstr>
      <vt:lpstr> Conceptual Data Model example </vt:lpstr>
      <vt:lpstr>Example: Conceptual Data Model</vt:lpstr>
      <vt:lpstr> Benefits of a Conceptual Data Model </vt:lpstr>
      <vt:lpstr> Logical Data Model </vt:lpstr>
      <vt:lpstr> Logical data model example </vt:lpstr>
      <vt:lpstr>Benefits of a logical data model</vt:lpstr>
      <vt:lpstr> What is a physical data model? </vt:lpstr>
      <vt:lpstr>PowerPoint Presentation</vt:lpstr>
      <vt:lpstr>Key Characteristics of Physical Data Model:</vt:lpstr>
      <vt:lpstr> Benefits of a physical data model </vt:lpstr>
      <vt:lpstr>PowerPoint Presentation</vt:lpstr>
      <vt:lpstr>Schemas versus Instances</vt:lpstr>
      <vt:lpstr>Schemas versus Instances</vt:lpstr>
      <vt:lpstr>Features Schema Vs. Instance</vt:lpstr>
      <vt:lpstr>The three-schema architecture</vt:lpstr>
      <vt:lpstr>Three-Schema Architecture</vt:lpstr>
      <vt:lpstr> Mappings in the Architecture </vt:lpstr>
      <vt:lpstr> Benefits of Three-Schema Architecture </vt:lpstr>
      <vt:lpstr>Logical Data Independence</vt:lpstr>
      <vt:lpstr>Physical Data Independence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Gaganpreet Kaur</cp:lastModifiedBy>
  <cp:revision>1976</cp:revision>
  <cp:lastPrinted>2023-08-27T18:54:37Z</cp:lastPrinted>
  <dcterms:created xsi:type="dcterms:W3CDTF">2010-04-09T07:36:15Z</dcterms:created>
  <dcterms:modified xsi:type="dcterms:W3CDTF">2025-08-04T07:21:05Z</dcterms:modified>
</cp:coreProperties>
</file>