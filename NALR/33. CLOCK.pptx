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6" r:id="rId30"/>
    <p:sldId id="287" r:id="rId31"/>
    <p:sldId id="288" r:id="rId32"/>
    <p:sldId id="289" r:id="rId33"/>
    <p:sldId id="292" r:id="rId34"/>
    <p:sldId id="293" r:id="rId35"/>
    <p:sldId id="296" r:id="rId36"/>
    <p:sldId id="297" r:id="rId37"/>
    <p:sldId id="300" r:id="rId38"/>
    <p:sldId id="301" r:id="rId39"/>
    <p:sldId id="302" r:id="rId40"/>
    <p:sldId id="303" r:id="rId41"/>
    <p:sldId id="304" r:id="rId42"/>
    <p:sldId id="305" r:id="rId43"/>
    <p:sldId id="312" r:id="rId44"/>
    <p:sldId id="313" r:id="rId45"/>
    <p:sldId id="316" r:id="rId46"/>
    <p:sldId id="317" r:id="rId47"/>
    <p:sldId id="318" r:id="rId48"/>
    <p:sldId id="319" r:id="rId49"/>
    <p:sldId id="322" r:id="rId50"/>
    <p:sldId id="323" r:id="rId51"/>
    <p:sldId id="324" r:id="rId52"/>
    <p:sldId id="325" r:id="rId53"/>
    <p:sldId id="326" r:id="rId54"/>
  </p:sldIdLst>
  <p:sldSz cx="12192000" cy="6858000"/>
  <p:notesSz cx="6858000" cy="9144000"/>
  <p:embeddedFontLst>
    <p:embeddedFont>
      <p:font typeface="Arial Black" panose="020B0A04020102020204" pitchFamily="34" charset="0"/>
      <p:regular r:id="rId56"/>
      <p:bold r:id="rId57"/>
      <p:italic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0" roundtripDataSignature="AMtx7mggQU6UwB6UXYSaIg/GiEjWpNTp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84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3.fntdata"/><Relationship Id="rId5" Type="http://schemas.openxmlformats.org/officeDocument/2006/relationships/slide" Target="slides/slide4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1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80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" name="Google Shape;99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9" name="Google Shape;129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7" name="Google Shape;1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9" name="Google Shape;15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9" name="Google Shape;18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3" name="Google Shape;213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9" name="Google Shape;21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5" name="Google Shape;225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1" name="Google Shape;23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7" name="Google Shape;237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3" name="Google Shape;2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9" name="Google Shape;249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5" name="Google Shape;25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1" name="Google Shape;261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9" name="Google Shape;27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5" name="Google Shape;285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1" name="Google Shape;29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7" name="Google Shape;297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5" name="Google Shape;31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1" name="Google Shape;321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9" name="Google Shape;33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5" name="Google Shape;345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3" name="Google Shape;36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9" name="Google Shape;369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5" name="Google Shape;37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1" name="Google Shape;381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7" name="Google Shape;38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3" name="Google Shape;393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5" name="Google Shape;43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1" name="Google Shape;441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9" name="Google Shape;45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5" name="Google Shape;465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1" name="Google Shape;47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7" name="Google Shape;477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5" name="Google Shape;49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1" name="Google Shape;501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7" name="Google Shape;50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3" name="Google Shape;513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3" name="Google Shape;513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78376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userDrawn="1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0" name="Google Shape;30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and Content">
  <p:cSld name="1_Title and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7"/>
          <p:cNvSpPr txBox="1">
            <a:spLocks noGrp="1"/>
          </p:cNvSpPr>
          <p:nvPr>
            <p:ph type="title"/>
          </p:nvPr>
        </p:nvSpPr>
        <p:spPr>
          <a:xfrm>
            <a:off x="304800" y="270933"/>
            <a:ext cx="11582400" cy="745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7"/>
          <p:cNvSpPr txBox="1">
            <a:spLocks noGrp="1"/>
          </p:cNvSpPr>
          <p:nvPr>
            <p:ph type="body" idx="1"/>
          </p:nvPr>
        </p:nvSpPr>
        <p:spPr>
          <a:xfrm>
            <a:off x="304800" y="1185333"/>
            <a:ext cx="11582400" cy="4991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7"/>
          <p:cNvSpPr txBox="1">
            <a:spLocks noGrp="1"/>
          </p:cNvSpPr>
          <p:nvPr>
            <p:ph type="dt" idx="10"/>
          </p:nvPr>
        </p:nvSpPr>
        <p:spPr>
          <a:xfrm>
            <a:off x="304800" y="638069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7"/>
          <p:cNvSpPr txBox="1">
            <a:spLocks noGrp="1"/>
          </p:cNvSpPr>
          <p:nvPr>
            <p:ph type="ftr" idx="11"/>
          </p:nvPr>
        </p:nvSpPr>
        <p:spPr>
          <a:xfrm>
            <a:off x="4038600" y="638069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7"/>
          <p:cNvSpPr txBox="1">
            <a:spLocks noGrp="1"/>
          </p:cNvSpPr>
          <p:nvPr>
            <p:ph type="sldNum" idx="12"/>
          </p:nvPr>
        </p:nvSpPr>
        <p:spPr>
          <a:xfrm>
            <a:off x="8610599" y="6356350"/>
            <a:ext cx="32765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37"/>
          <p:cNvSpPr/>
          <p:nvPr/>
        </p:nvSpPr>
        <p:spPr>
          <a:xfrm>
            <a:off x="3706812" y="981604"/>
            <a:ext cx="4879976" cy="4879976"/>
          </a:xfrm>
          <a:prstGeom prst="rect">
            <a:avLst/>
          </a:prstGeom>
          <a:blipFill rotWithShape="1">
            <a:blip r:embed="rId2">
              <a:alphaModFix amt="32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3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4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4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4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4" name="Google Shape;74;p4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4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2" name="Google Shape;82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Vertical Text" type="vertTx">
  <p:cSld name="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4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4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yjus.com/bank-exam/ibps-syllabus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7"/>
          <p:cNvSpPr txBox="1">
            <a:spLocks noGrp="1"/>
          </p:cNvSpPr>
          <p:nvPr>
            <p:ph type="body" idx="4294967295"/>
          </p:nvPr>
        </p:nvSpPr>
        <p:spPr>
          <a:xfrm>
            <a:off x="229476" y="590276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sz="54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5400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447287-64BD-9D27-B856-64B2193C2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85" y="1046586"/>
            <a:ext cx="3429000" cy="3429000"/>
          </a:xfrm>
          <a:prstGeom prst="ellipse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8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08" name="Google Shape;108;p48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8226"/>
              <a:buChar char="•"/>
            </a:pPr>
            <a:r>
              <a:rPr lang="en-US" sz="2900"/>
              <a:t>Speed of the hands</a:t>
            </a:r>
            <a:endParaRPr/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8226"/>
              <a:buChar char="•"/>
            </a:pPr>
            <a:r>
              <a:rPr lang="en-US" sz="2900"/>
              <a:t>A clock has three hooks and all three move at different rates. The speed of moving object depends on the distance travelled and the time taken to cover a specific range.</a:t>
            </a:r>
            <a:endParaRPr/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8226"/>
              <a:buChar char="•"/>
            </a:pPr>
            <a:r>
              <a:rPr lang="en-US" sz="2900"/>
              <a:t>The speed is calculated by:</a:t>
            </a:r>
            <a:endParaRPr/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8226"/>
              <a:buChar char="•"/>
            </a:pPr>
            <a:r>
              <a:rPr lang="en-US" sz="2900" b="1"/>
              <a:t>Speed = Distance/(Time taken)</a:t>
            </a:r>
            <a:endParaRPr sz="2900"/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8226"/>
              <a:buChar char="•"/>
            </a:pPr>
            <a:r>
              <a:rPr lang="en-US" sz="2900" b="1"/>
              <a:t>The speed of a minute hand:</a:t>
            </a:r>
            <a:endParaRPr sz="2900"/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8226"/>
              <a:buChar char="•"/>
            </a:pPr>
            <a:r>
              <a:rPr lang="en-US" sz="2900"/>
              <a:t>A minute hand travels </a:t>
            </a:r>
            <a:r>
              <a:rPr lang="en-US" sz="2900" b="1" i="1"/>
              <a:t>360°</a:t>
            </a:r>
            <a:r>
              <a:rPr lang="en-US" sz="2900"/>
              <a:t> in one hour. i.e. it travels through all the </a:t>
            </a:r>
            <a:r>
              <a:rPr lang="en-US" sz="2900" b="1" i="1"/>
              <a:t>12</a:t>
            </a:r>
            <a:r>
              <a:rPr lang="en-US" sz="2900"/>
              <a:t> divisions around the clock every hour. </a:t>
            </a:r>
            <a:r>
              <a:rPr lang="en-US" sz="2900" i="1"/>
              <a:t>(1 hour = 60 minutes)</a:t>
            </a:r>
            <a:endParaRPr sz="2900"/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8226"/>
              <a:buChar char="•"/>
            </a:pPr>
            <a:r>
              <a:rPr lang="en-US" sz="2900"/>
              <a:t>Speed of a minute hand = (360°)/(60 minutes)</a:t>
            </a:r>
            <a:endParaRPr/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8226"/>
              <a:buChar char="•"/>
            </a:pPr>
            <a:r>
              <a:rPr lang="en-US" sz="2900" b="1"/>
              <a:t>Speed of a minute hand = 6° per minute.</a:t>
            </a:r>
            <a:endParaRPr sz="2900"/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8226"/>
              <a:buChar char="•"/>
            </a:pPr>
            <a:r>
              <a:rPr lang="en-US" sz="2900" b="1"/>
              <a:t>The speed of an hour hand:</a:t>
            </a:r>
            <a:endParaRPr sz="2900"/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8226"/>
              <a:buChar char="•"/>
            </a:pPr>
            <a:r>
              <a:rPr lang="en-US" sz="2900"/>
              <a:t>An hour hand travels 30</a:t>
            </a:r>
            <a:r>
              <a:rPr lang="en-US" sz="2900" b="1"/>
              <a:t>° </a:t>
            </a:r>
            <a:r>
              <a:rPr lang="en-US" sz="2900"/>
              <a:t>in an hour. i.e. it covers a distance of 5 minutes (the gap between consecutive divisions) in 60 minutes.</a:t>
            </a:r>
            <a:endParaRPr/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8226"/>
              <a:buChar char="•"/>
            </a:pPr>
            <a:r>
              <a:rPr lang="en-US" sz="2900"/>
              <a:t>Speed of an hour hand = (30°)/(60 minutes)</a:t>
            </a:r>
            <a:endParaRPr/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8226"/>
              <a:buChar char="•"/>
            </a:pPr>
            <a:r>
              <a:rPr lang="en-US" sz="2900" b="1"/>
              <a:t>Speed of an hour hand =1/2 ° per minute.</a:t>
            </a:r>
            <a:endParaRPr sz="2900"/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8226"/>
              <a:buChar char="•"/>
            </a:pPr>
            <a:r>
              <a:rPr lang="en-US" sz="2900"/>
              <a:t>To know more about </a:t>
            </a:r>
            <a:r>
              <a:rPr lang="en-US" sz="2900" u="sng">
                <a:solidFill>
                  <a:schemeClr val="hlink"/>
                </a:solidFill>
                <a:hlinkClick r:id="rId3"/>
              </a:rPr>
              <a:t>IBPS Syllabus</a:t>
            </a:r>
            <a:r>
              <a:rPr lang="en-US" sz="2900"/>
              <a:t>, check at the linked article.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ct val="142857"/>
              <a:buNone/>
            </a:pPr>
            <a:endParaRPr b="1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9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14" name="Google Shape;114;p49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Comparison of Speed of hands</a:t>
            </a:r>
            <a:endParaRPr/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difference in the speed = 6</a:t>
            </a:r>
            <a:r>
              <a:rPr lang="en-US" b="1"/>
              <a:t>°</a:t>
            </a:r>
            <a:r>
              <a:rPr lang="en-US"/>
              <a:t>– (1/2°) = 5.5</a:t>
            </a:r>
            <a:r>
              <a:rPr lang="en-US" b="1"/>
              <a:t>°</a:t>
            </a:r>
            <a:r>
              <a:rPr lang="en-US"/>
              <a:t> per minute</a:t>
            </a:r>
            <a:endParaRPr/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Comparing the speed of the minute hand and an hour hand, one can conclude that the minute hand is always faster than the hour hand by 5.5</a:t>
            </a:r>
            <a:r>
              <a:rPr lang="en-US" b="1"/>
              <a:t>°</a:t>
            </a:r>
            <a:r>
              <a:rPr lang="en-US"/>
              <a:t> or an hour hand is always slower than the minute hand by 5.5</a:t>
            </a:r>
            <a:r>
              <a:rPr lang="en-US" b="1"/>
              <a:t>°</a:t>
            </a:r>
            <a:endParaRPr/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b="1"/>
              <a:t>Note: </a:t>
            </a:r>
            <a:r>
              <a:rPr lang="en-US" i="1"/>
              <a:t>The evaluation of the speed of second hands is not necessary as it travels a corresponding distance of 1 second in a second.</a:t>
            </a:r>
            <a:endParaRPr/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b="1"/>
              <a:t>Frequency of coincidence and collision of hands of a clock:</a:t>
            </a:r>
            <a:endParaRPr/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As we know the hands of clock moves at different speeds, they coincide and collide and also make different angle formations among themselves at various times in a day.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endParaRPr b="1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0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20" name="Google Shape;120;p50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b="1"/>
              <a:t>Finding the time when the angle is known:</a:t>
            </a:r>
            <a:endParaRPr/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When the angle between the hands are not perfect angles like 180</a:t>
            </a:r>
            <a:r>
              <a:rPr lang="en-US" b="1"/>
              <a:t>°</a:t>
            </a:r>
            <a:r>
              <a:rPr lang="en-US"/>
              <a:t>, 90</a:t>
            </a:r>
            <a:r>
              <a:rPr lang="en-US" b="1"/>
              <a:t>°</a:t>
            </a:r>
            <a:r>
              <a:rPr lang="en-US"/>
              <a:t> or 270</a:t>
            </a:r>
            <a:r>
              <a:rPr lang="en-US" b="1"/>
              <a:t>°</a:t>
            </a:r>
            <a:r>
              <a:rPr lang="en-US"/>
              <a:t>, the solving of the questions becomes difficult and time-consuming at the same time. The logic below provides a trick to address problems involving angles of hands for other than standard aspects.</a:t>
            </a:r>
            <a:endParaRPr/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b="1" i="1"/>
              <a:t>T = 2/11 [H*30±A]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endParaRPr b="1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26" name="Google Shape;126;p1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Q 1. If the real time is 4 : 40, then what is the time shown by the reflection?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7 : 20 		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(b) 2 : 50 		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(c) 6 : 20 		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(d) 7 : 50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1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32" name="Google Shape;132;p51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Q 1. If the real time is 4 : 40, then what is the time shown by the reflection?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(a) 7 : 20 </a:t>
            </a:r>
            <a:r>
              <a:rPr lang="en-US" b="1">
                <a:latin typeface="Arial"/>
                <a:ea typeface="Arial"/>
                <a:cs typeface="Arial"/>
                <a:sym typeface="Arial"/>
              </a:rPr>
              <a:t>		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(b) 2 : 50 		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(c) 6 : 20 		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(d) 7 : 50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38" name="Google Shape;138;p2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latin typeface="Arial Black"/>
                <a:ea typeface="Arial Black"/>
                <a:cs typeface="Arial Black"/>
                <a:sym typeface="Arial Black"/>
              </a:rPr>
              <a:t>Q 2</a:t>
            </a:r>
            <a:r>
              <a:rPr lang="en-US" b="1"/>
              <a:t>. If the real time is 12 : 30, then what is the time shown by the reflection?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/>
              <a:t>12 : 30 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(b) 11 : 30 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(c)  6 : 30 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(d) 1 : 30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2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44" name="Google Shape;144;p52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latin typeface="Arial Black"/>
                <a:ea typeface="Arial Black"/>
                <a:cs typeface="Arial Black"/>
                <a:sym typeface="Arial Black"/>
              </a:rPr>
              <a:t>Q 2</a:t>
            </a:r>
            <a:r>
              <a:rPr lang="en-US" b="1"/>
              <a:t>. If the real time is 12 : 30, then what is the time shown by the reflection?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/>
              <a:t>12 : 30 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solidFill>
                  <a:srgbClr val="FF0000"/>
                </a:solidFill>
              </a:rPr>
              <a:t>(b) 11 : 30 </a:t>
            </a:r>
            <a:r>
              <a:rPr lang="en-US" b="1"/>
              <a:t>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(c)  6 : 30 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(d) 1 : 30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50" name="Google Shape;150;p3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latin typeface="Arial Black"/>
                <a:ea typeface="Arial Black"/>
                <a:cs typeface="Arial Black"/>
                <a:sym typeface="Arial Black"/>
              </a:rPr>
              <a:t>Q 3</a:t>
            </a:r>
            <a:r>
              <a:rPr lang="en-US" b="1"/>
              <a:t>. If the real time is 11 : 35, then what is the time shown by the reflection?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/>
              <a:t>12 : 25 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(b) 11 : 25 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(c) 1 : 25 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(d) 1 : 55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3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56" name="Google Shape;156;p53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latin typeface="Arial Black"/>
                <a:ea typeface="Arial Black"/>
                <a:cs typeface="Arial Black"/>
                <a:sym typeface="Arial Black"/>
              </a:rPr>
              <a:t>Q 3</a:t>
            </a:r>
            <a:r>
              <a:rPr lang="en-US" b="1"/>
              <a:t>. If the real time is 11 : 35, then what is the time shown by the reflection?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solidFill>
                  <a:srgbClr val="FF0000"/>
                </a:solidFill>
              </a:rPr>
              <a:t>(a) 12 : 25 </a:t>
            </a:r>
            <a:r>
              <a:rPr lang="en-US" b="1"/>
              <a:t>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(b) 11 : 25 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(c) 1 : 25 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(d) 1 : 55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62" name="Google Shape;162;p4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latin typeface="Arial Black"/>
                <a:ea typeface="Arial Black"/>
                <a:cs typeface="Arial Black"/>
                <a:sym typeface="Arial Black"/>
              </a:rPr>
              <a:t>Q 4</a:t>
            </a:r>
            <a:r>
              <a:rPr lang="en-US" b="1"/>
              <a:t>. If the time shown by the reflection is 12 : 25, then what is the real time?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/>
              <a:t>12 : 25 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(b) 12 : 35 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(c) 11 : 35 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(d) 10 : 35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4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68" name="Google Shape;168;p54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latin typeface="Arial Black"/>
                <a:ea typeface="Arial Black"/>
                <a:cs typeface="Arial Black"/>
                <a:sym typeface="Arial Black"/>
              </a:rPr>
              <a:t>Q 4</a:t>
            </a:r>
            <a:r>
              <a:rPr lang="en-US" b="1"/>
              <a:t>. If the time shown by the reflection is 12 : 25, then what is the real time?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/>
              <a:t>12 : 25 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(b) 12 : 35 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solidFill>
                  <a:srgbClr val="FF0000"/>
                </a:solidFill>
              </a:rPr>
              <a:t>(c) 11 : 35 </a:t>
            </a:r>
            <a:r>
              <a:rPr lang="en-US" b="1"/>
              <a:t>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(d) 10 : 35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74" name="Google Shape;174;p5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latin typeface="Arial Black"/>
                <a:ea typeface="Arial Black"/>
                <a:cs typeface="Arial Black"/>
                <a:sym typeface="Arial Black"/>
              </a:rPr>
              <a:t>Q 5</a:t>
            </a:r>
            <a:r>
              <a:rPr lang="en-US" b="1"/>
              <a:t>. At what time between 4 and 5 o’clock are the hands of a clock together? </a:t>
            </a:r>
            <a:endParaRPr/>
          </a:p>
          <a:p>
            <a:pPr marL="457200" lvl="0" indent="-304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/>
              <a:t>20 min. past 4 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(b) 21(9/11) min past 4  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(c) 21(4/11)min past 4 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(d) 44(10/11)min past 4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5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80" name="Google Shape;180;p55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latin typeface="Arial Black"/>
                <a:ea typeface="Arial Black"/>
                <a:cs typeface="Arial Black"/>
                <a:sym typeface="Arial Black"/>
              </a:rPr>
              <a:t>Q 5</a:t>
            </a:r>
            <a:r>
              <a:rPr lang="en-US" b="1"/>
              <a:t>. At what time between 4 and 5 o’clock are the hands of a clock together? </a:t>
            </a:r>
            <a:endParaRPr/>
          </a:p>
          <a:p>
            <a:pPr marL="457200" lvl="0" indent="-304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/>
              <a:t>20 min. past 4 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solidFill>
                  <a:srgbClr val="FF0000"/>
                </a:solidFill>
              </a:rPr>
              <a:t>(b) 21(9/11) min past 4</a:t>
            </a:r>
            <a:r>
              <a:rPr lang="en-US" b="1"/>
              <a:t>  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(c) 21(4/11)min past 4 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(d) 44(10/11)min past 4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6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86" name="Google Shape;186;p56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latin typeface="Arial Black"/>
                <a:ea typeface="Arial Black"/>
                <a:cs typeface="Arial Black"/>
                <a:sym typeface="Arial Black"/>
              </a:rPr>
              <a:t>Q 6</a:t>
            </a:r>
            <a:r>
              <a:rPr lang="en-US" b="1"/>
              <a:t>. At what time between 9 and 10 will the hands of a clock be together?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(a) 45 minutes past 9 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(b) 50 minutes past 9 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(c) 49(1/11) minutes past 9 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(d) 48(2/11) minutes past 9 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92" name="Google Shape;192;p6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latin typeface="Arial Black"/>
                <a:ea typeface="Arial Black"/>
                <a:cs typeface="Arial Black"/>
                <a:sym typeface="Arial Black"/>
              </a:rPr>
              <a:t>Q 6</a:t>
            </a:r>
            <a:r>
              <a:rPr lang="en-US" b="1"/>
              <a:t>. At what time between 9 and 10 will the hands of a clock be together?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(a) 45 minutes past 9 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(b) 50 minutes past 9 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solidFill>
                  <a:srgbClr val="FF0000"/>
                </a:solidFill>
              </a:rPr>
              <a:t>(c) 49(1/11) minutes past 9 </a:t>
            </a:r>
            <a:endParaRPr>
              <a:solidFill>
                <a:srgbClr val="FF0000"/>
              </a:solidFill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(d) 48(2/11) minutes past 9 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98" name="Google Shape;198;p7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latin typeface="Arial Black"/>
                <a:ea typeface="Arial Black"/>
                <a:cs typeface="Arial Black"/>
                <a:sym typeface="Arial Black"/>
              </a:rPr>
              <a:t>Q 7</a:t>
            </a:r>
            <a:r>
              <a:rPr lang="en-US" b="1"/>
              <a:t>. At what time between 5 and 5:30 o’clock will the hands of a clock be at right angle?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 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/>
              <a:t>10(10/11)min past 5  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(b) 10(9/10)min past 5    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(c) 11(10/11)min past 5  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(d) None of these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7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204" name="Google Shape;204;p57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latin typeface="Arial Black"/>
                <a:ea typeface="Arial Black"/>
                <a:cs typeface="Arial Black"/>
                <a:sym typeface="Arial Black"/>
              </a:rPr>
              <a:t>Q 7</a:t>
            </a:r>
            <a:r>
              <a:rPr lang="en-US" b="1"/>
              <a:t>. At what time between 5 and 5:30 o’clock will the hands of a clock be at right angle?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solidFill>
                  <a:srgbClr val="FF0000"/>
                </a:solidFill>
              </a:rPr>
              <a:t>(a) 10(10/11)min past 5  </a:t>
            </a:r>
            <a:endParaRPr>
              <a:solidFill>
                <a:srgbClr val="FF0000"/>
              </a:solidFill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(b) 10(9/10)min past 5    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(c) 11(10/11)min past 5  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(d) None of these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210" name="Google Shape;210;p8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latin typeface="Arial Black"/>
                <a:ea typeface="Arial Black"/>
                <a:cs typeface="Arial Black"/>
                <a:sym typeface="Arial Black"/>
              </a:rPr>
              <a:t>Q 8</a:t>
            </a:r>
            <a:r>
              <a:rPr lang="en-US" b="1"/>
              <a:t>. At which of the following times between 3 and 4 o’clock when the angle between the hands of a watch is one-third of a right angle.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 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/>
              <a:t>10(10/11)min. past 3  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(b) 10(9/11)min. past 3  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(c) 11(9/11)min. past 3  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(d) 21(8/11)min. past 3  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8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216" name="Google Shape;216;p58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latin typeface="Arial Black"/>
                <a:ea typeface="Arial Black"/>
                <a:cs typeface="Arial Black"/>
                <a:sym typeface="Arial Black"/>
              </a:rPr>
              <a:t>Q 8</a:t>
            </a:r>
            <a:r>
              <a:rPr lang="en-US" b="1"/>
              <a:t>. At which of the following times between 3 and 4 o’clock when the angle between the hands of a watch is one-third of a right angle.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solidFill>
                  <a:srgbClr val="FF0000"/>
                </a:solidFill>
              </a:rPr>
              <a:t>(a) 10(10/11)min. past 3  </a:t>
            </a:r>
            <a:endParaRPr>
              <a:solidFill>
                <a:srgbClr val="FF0000"/>
              </a:solidFill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(b) 10(9/11)min. past 3  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(c) 11(9/11)min. past 3  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(d) 21(8/11)min. past 3  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222" name="Google Shape;222;p9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latin typeface="Arial Black"/>
                <a:ea typeface="Arial Black"/>
                <a:cs typeface="Arial Black"/>
                <a:sym typeface="Arial Black"/>
              </a:rPr>
              <a:t>Q 9</a:t>
            </a:r>
            <a:r>
              <a:rPr lang="en-US" b="1"/>
              <a:t>. How many times are the hands of a clock at right angles in a day?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/>
              <a:t>24 times 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(b) 48 times 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(c) 22 times 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(d) 44 times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9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228" name="Google Shape;228;p59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latin typeface="Arial Black"/>
                <a:ea typeface="Arial Black"/>
                <a:cs typeface="Arial Black"/>
                <a:sym typeface="Arial Black"/>
              </a:rPr>
              <a:t>Q 9</a:t>
            </a:r>
            <a:r>
              <a:rPr lang="en-US" b="1"/>
              <a:t>. How many times are the hands of a clock at right angles in a day?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/>
              <a:t>24 times 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(b) 48 times 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(c) 22 times 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solidFill>
                  <a:srgbClr val="FF0000"/>
                </a:solidFill>
              </a:rPr>
              <a:t>(d) 44 times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234" name="Google Shape;234;p10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b="1"/>
              <a:t>10. How many times in a day are the hands of a clock straight?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/>
              <a:t>48 times 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(b) 24 times 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(c) 44 times 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(d) 22 times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60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240" name="Google Shape;240;p60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 dirty="0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b="1" dirty="0"/>
              <a:t>10. How many times in a day are the hands of a clock straight?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48 times 		</a:t>
            </a:r>
            <a:endParaRPr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24 times 		</a:t>
            </a:r>
            <a:endParaRPr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(c) 44 times </a:t>
            </a:r>
            <a:r>
              <a:rPr lang="en-US" b="1" dirty="0"/>
              <a:t>		</a:t>
            </a:r>
            <a:endParaRPr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chemeClr val="tx1"/>
                </a:solidFill>
              </a:rPr>
              <a:t>(d) 22 times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246" name="Google Shape;246;p11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b="1"/>
              <a:t>11. How many times do the hands of a clock point opposite to each other in 12 hours?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/>
              <a:t>6 times 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(b) 10 times 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(c) 11 times 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(d) 12 times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61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252" name="Google Shape;252;p61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b="1"/>
              <a:t>11. How many times do the hands of a clock point opposite to each other in 12 hours?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/>
              <a:t>6 times 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(b) 10 times 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solidFill>
                  <a:srgbClr val="FF0000"/>
                </a:solidFill>
              </a:rPr>
              <a:t>(c) 11 times 	</a:t>
            </a:r>
            <a:r>
              <a:rPr lang="en-US" b="1"/>
              <a:t>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(d) 12 times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2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258" name="Google Shape;258;p12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latin typeface="Arial Black"/>
                <a:ea typeface="Arial Black"/>
                <a:cs typeface="Arial Black"/>
                <a:sym typeface="Arial Black"/>
              </a:rPr>
              <a:t>Q 12</a:t>
            </a:r>
            <a:r>
              <a:rPr lang="en-US" b="1"/>
              <a:t>. How many times in a day both hands of clock overlap to each other?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/>
              <a:t>24 times 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(b) 20 times 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(c) 21 times 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(d) 22 times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2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264" name="Google Shape;264;p62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latin typeface="Arial Black"/>
                <a:ea typeface="Arial Black"/>
                <a:cs typeface="Arial Black"/>
                <a:sym typeface="Arial Black"/>
              </a:rPr>
              <a:t>Q 12</a:t>
            </a:r>
            <a:r>
              <a:rPr lang="en-US" b="1"/>
              <a:t>. How many times in a day both hands of clock overlap to each other?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/>
              <a:t>24 times 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(b) 20 times 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(c) 21 times 		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solidFill>
                  <a:srgbClr val="FF0000"/>
                </a:solidFill>
              </a:rPr>
              <a:t>(d) 22 times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282" name="Google Shape;282;p14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 dirty="0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13</a:t>
            </a:r>
            <a:r>
              <a:rPr lang="en-US" b="1" dirty="0"/>
              <a:t>. How many times do the hands of a clock point opposite each other between 4 to 6 p.m.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2 times 		</a:t>
            </a:r>
            <a:endParaRPr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1 times 		</a:t>
            </a:r>
            <a:endParaRPr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3 times 		</a:t>
            </a:r>
            <a:endParaRPr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4 times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64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288" name="Google Shape;288;p64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 dirty="0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13</a:t>
            </a:r>
            <a:r>
              <a:rPr lang="en-US" b="1" dirty="0"/>
              <a:t>. How many times do the hands of a clock point opposite each other between 4 to 6 p.m.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2 times 		</a:t>
            </a:r>
            <a:endParaRPr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(b) 1 times </a:t>
            </a:r>
            <a:r>
              <a:rPr lang="en-US" b="1" dirty="0"/>
              <a:t>		</a:t>
            </a:r>
            <a:endParaRPr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3 times 		</a:t>
            </a:r>
            <a:endParaRPr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4 times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5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294" name="Google Shape;294;p15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 dirty="0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14</a:t>
            </a:r>
            <a:r>
              <a:rPr lang="en-US" b="1" dirty="0"/>
              <a:t>. At what angle are the two hands of a clock inclined at 15 minutes past 10?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150° 		</a:t>
            </a:r>
            <a:endParaRPr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157(1/2) 		</a:t>
            </a:r>
            <a:endParaRPr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142(1/2) 		</a:t>
            </a:r>
            <a:endParaRPr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None of these 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5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300" name="Google Shape;300;p65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 dirty="0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14</a:t>
            </a:r>
            <a:r>
              <a:rPr lang="en-US" b="1" dirty="0"/>
              <a:t>. At what angle are the two hands of a clock inclined at 15 minutes past 10?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150° 		</a:t>
            </a:r>
            <a:endParaRPr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157(1/2) 		</a:t>
            </a:r>
            <a:endParaRPr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(c) 142(1/2) </a:t>
            </a:r>
            <a:r>
              <a:rPr lang="en-US" b="1" dirty="0"/>
              <a:t>		</a:t>
            </a:r>
            <a:endParaRPr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None of these </a:t>
            </a:r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7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318" name="Google Shape;318;p17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 dirty="0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15</a:t>
            </a:r>
            <a:r>
              <a:rPr lang="en-US" b="1" dirty="0"/>
              <a:t>. At what angle are the two hands of a clock inclined at 20 minutes past 5?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30 			</a:t>
            </a:r>
            <a:endParaRPr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45			 </a:t>
            </a:r>
            <a:endParaRPr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50			 </a:t>
            </a:r>
            <a:endParaRPr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40</a:t>
            </a:r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7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324" name="Google Shape;324;p67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 dirty="0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15</a:t>
            </a:r>
            <a:r>
              <a:rPr lang="en-US" b="1" dirty="0"/>
              <a:t>. At what angle are the two hands of a clock inclined at 20 minutes past 5?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30 			</a:t>
            </a:r>
            <a:endParaRPr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45			 </a:t>
            </a:r>
            <a:endParaRPr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50			 </a:t>
            </a:r>
            <a:endParaRPr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(d) 40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9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342" name="Google Shape;342;p19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 dirty="0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16</a:t>
            </a:r>
            <a:r>
              <a:rPr lang="en-US" b="1" dirty="0"/>
              <a:t>. At what times are the hands of a clock at 100° after 6 o'clock? </a:t>
            </a:r>
            <a:endParaRPr b="1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50(9/11) min. past 6 		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40(10/11) min. past 6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14(6/11) min. past 6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None of these</a:t>
            </a:r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69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348" name="Google Shape;348;p69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 dirty="0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16</a:t>
            </a:r>
            <a:r>
              <a:rPr lang="en-US" b="1" dirty="0"/>
              <a:t>. At what times are the hands of a clock at 100° after 6 o'clock? </a:t>
            </a:r>
            <a:endParaRPr b="1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50(9/11) min. past 6 		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40(10/11) min. past 6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(c) 14(6/11) min. past 6 </a:t>
            </a:r>
            <a:endParaRPr dirty="0">
              <a:solidFill>
                <a:srgbClr val="FF0000"/>
              </a:solidFill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None of these</a:t>
            </a:r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1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366" name="Google Shape;366;p21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 dirty="0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17</a:t>
            </a:r>
            <a:r>
              <a:rPr lang="en-US" b="1" dirty="0"/>
              <a:t>. At what times are the hands of a clock at 135° after 3 o'clock?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40(10/11) min. past 3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15(10/11) min. past 3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37 min. past 3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None of these</a:t>
            </a: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b="1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71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372" name="Google Shape;372;p71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 dirty="0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17</a:t>
            </a:r>
            <a:r>
              <a:rPr lang="en-US" b="1" dirty="0"/>
              <a:t>. At what times are the hands of a clock at 135° after 3 o'clock?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(a) 40(10/11) min. past 3 </a:t>
            </a:r>
            <a:endParaRPr dirty="0">
              <a:solidFill>
                <a:srgbClr val="FF0000"/>
              </a:solidFill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15(10/11) min. past 3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37 min. past 3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None of these</a:t>
            </a: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b="1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2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378" name="Google Shape;378;p22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 dirty="0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18</a:t>
            </a:r>
            <a:r>
              <a:rPr lang="en-US" b="1" dirty="0"/>
              <a:t>. Find at what time between 8 and 9 o’clock will the hands of a clock be in the same straight line but not together. </a:t>
            </a:r>
            <a:endParaRPr b="1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10(10/11) past min 8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10(9/11) min past 8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11(10/11) min past 8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None of these </a:t>
            </a:r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72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384" name="Google Shape;384;p72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 dirty="0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18</a:t>
            </a:r>
            <a:r>
              <a:rPr lang="en-US" b="1" dirty="0"/>
              <a:t>. Find at what time between 8 and 9 o’clock will the hands of a clock be in the same straight line but not together. </a:t>
            </a:r>
            <a:endParaRPr b="1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(a) 10(10/11) past min 8</a:t>
            </a:r>
            <a:endParaRPr dirty="0">
              <a:solidFill>
                <a:srgbClr val="FF0000"/>
              </a:solidFill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10(9/11) min past 8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11(10/11) min past 8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None of these </a:t>
            </a:r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3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390" name="Google Shape;390;p23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 dirty="0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19</a:t>
            </a:r>
            <a:r>
              <a:rPr lang="en-US" b="1" dirty="0"/>
              <a:t>. At what times are the hands of a clock at right angles between 7 am and 8 am?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54(6/11) min past 7, 21(9/11) past 7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52(5/11) min past 7, 21(8/11) past 7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56(6/11) min past 7, 21(8/11) past 7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None of these </a:t>
            </a:r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73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396" name="Google Shape;396;p73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 dirty="0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19</a:t>
            </a:r>
            <a:r>
              <a:rPr lang="en-US" b="1" dirty="0"/>
              <a:t>. At what times are the hands of a clock at right angles between 7 am and 8 am?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(a) 54(6/11) min past 7, 21(9/11) past 7 </a:t>
            </a:r>
            <a:endParaRPr dirty="0">
              <a:solidFill>
                <a:srgbClr val="FF0000"/>
              </a:solidFill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52(5/11) min past 7, 21(8/11) past 7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56(6/11) min past 7, 21(8/11) past 7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None of these </a:t>
            </a:r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7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438" name="Google Shape;438;p27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 dirty="0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20</a:t>
            </a:r>
            <a:r>
              <a:rPr lang="en-US" b="1" dirty="0"/>
              <a:t>. At which of the following times between 4 and 5 are the hands of a clock 3 minutes a part? </a:t>
            </a:r>
            <a:endParaRPr b="1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18(6/11) min past 4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26(5/11) min  past 4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25(5/11) min past 4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25(3/11) min past 4</a:t>
            </a:r>
            <a:endParaRPr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77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444" name="Google Shape;444;p77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 dirty="0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20</a:t>
            </a:r>
            <a:r>
              <a:rPr lang="en-US" b="1" dirty="0"/>
              <a:t>. At which of the following times between 4 and 5 are the hands of a clock 3 minutes a part? </a:t>
            </a:r>
            <a:endParaRPr b="1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(a) 18(6/11) min past 4</a:t>
            </a:r>
            <a:endParaRPr dirty="0">
              <a:solidFill>
                <a:srgbClr val="FF0000"/>
              </a:solidFill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26(5/11) min  past 4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25(5/11) min past 4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25(3/11) min past 4</a:t>
            </a:r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9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462" name="Google Shape;462;p29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 dirty="0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21</a:t>
            </a:r>
            <a:r>
              <a:rPr lang="en-US" b="1" dirty="0"/>
              <a:t>. At what time between 3 and 4 is the </a:t>
            </a:r>
            <a:r>
              <a:rPr lang="en-US" b="1" dirty="0" err="1"/>
              <a:t>minutehand</a:t>
            </a:r>
            <a:r>
              <a:rPr lang="en-US" b="1" dirty="0"/>
              <a:t> 4 minutes behind the hour-hand? </a:t>
            </a:r>
            <a:endParaRPr b="1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12 min past 3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11 min past 3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19 min past 3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None of these </a:t>
            </a:r>
            <a:endParaRPr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79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468" name="Google Shape;468;p79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 dirty="0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21</a:t>
            </a:r>
            <a:r>
              <a:rPr lang="en-US" b="1" dirty="0"/>
              <a:t>. At what time between 3 and 4 is the </a:t>
            </a:r>
            <a:r>
              <a:rPr lang="en-US" b="1" dirty="0" err="1"/>
              <a:t>minutehand</a:t>
            </a:r>
            <a:r>
              <a:rPr lang="en-US" b="1" dirty="0"/>
              <a:t> 4 minutes behind the hour-hand? </a:t>
            </a:r>
            <a:endParaRPr b="1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(a) 12 min past 3 </a:t>
            </a:r>
            <a:endParaRPr dirty="0">
              <a:solidFill>
                <a:srgbClr val="FF0000"/>
              </a:solidFill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11 min past 3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19 min past 3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None of these </a:t>
            </a:r>
            <a:endParaRPr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0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474" name="Google Shape;474;p30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 dirty="0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22</a:t>
            </a:r>
            <a:r>
              <a:rPr lang="en-US" b="1" dirty="0"/>
              <a:t>. The minute hand of a clock overtakes the hour hand at intervals of 63 minutes of correct time. How much a day does the clock gain or lose?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56(8/77) min gain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56(8/77) min lose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57(8/77) min gain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57(8/77) min lose </a:t>
            </a:r>
            <a:endParaRPr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80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480" name="Google Shape;480;p80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 dirty="0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22</a:t>
            </a:r>
            <a:r>
              <a:rPr lang="en-US" b="1" dirty="0"/>
              <a:t>. The minute hand of a clock overtakes the hour hand at intervals of 63 minutes of correct time. How much a day does the clock gain or lose?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(a) 56(8/77) min gain</a:t>
            </a:r>
            <a:endParaRPr dirty="0">
              <a:solidFill>
                <a:srgbClr val="FF0000"/>
              </a:solidFill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56(8/77) min lose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57(8/77) min gain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57(8/77) min lose </a:t>
            </a:r>
            <a:endParaRPr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2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498" name="Google Shape;498;p32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 dirty="0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23</a:t>
            </a:r>
            <a:r>
              <a:rPr lang="en-US" b="1" dirty="0"/>
              <a:t>. A watch which gains uniformly, is 5 min slow at 8 o’clock in the morning on Sunday, and is 5 min 48 sec fast at 8 pm on following Sunday. When was it correct? </a:t>
            </a:r>
            <a:endParaRPr b="1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20 min past 7 pm on Tuesday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20 min past 7 pm on Wednesday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10 min past 7 pm on Tuesday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10 min past 7 pm on Wednesday</a:t>
            </a:r>
            <a:endParaRPr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82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504" name="Google Shape;504;p82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 dirty="0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23</a:t>
            </a:r>
            <a:r>
              <a:rPr lang="en-US" b="1" dirty="0"/>
              <a:t>. A watch which gains uniformly, is 5 min slow at 8 o’clock in the morning on Sunday, and is 5 min 48 sec fast at 8 pm on following Sunday. When was it correct? </a:t>
            </a:r>
            <a:endParaRPr b="1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chemeClr val="tx1"/>
                </a:solidFill>
              </a:rPr>
              <a:t>(a) 20 min past 7 pm on Tuesday </a:t>
            </a:r>
            <a:endParaRPr dirty="0">
              <a:solidFill>
                <a:schemeClr val="tx1"/>
              </a:solidFill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(b) 20 min past 7 pm on Wednesday </a:t>
            </a:r>
            <a:endParaRPr dirty="0">
              <a:solidFill>
                <a:srgbClr val="FF0000"/>
              </a:solidFill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10 min past 7 pm on Tuesday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10 min past 7 pm on Wednesday</a:t>
            </a:r>
            <a:endParaRPr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3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510" name="Google Shape;510;p33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 dirty="0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24</a:t>
            </a:r>
            <a:r>
              <a:rPr lang="en-US" b="1" dirty="0"/>
              <a:t>. A clock is set right at 8 am. The clock gains 10 minutes in 24 hours. What will be the true time when the clock indicates 1 pm on the following day? </a:t>
            </a:r>
            <a:endParaRPr b="1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28 </a:t>
            </a:r>
            <a:r>
              <a:rPr lang="en-US" b="1" dirty="0" err="1"/>
              <a:t>hrs</a:t>
            </a:r>
            <a:r>
              <a:rPr lang="en-US" b="1" dirty="0"/>
              <a:t>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28 </a:t>
            </a:r>
            <a:r>
              <a:rPr lang="en-US" b="1" dirty="0" err="1"/>
              <a:t>hrs</a:t>
            </a:r>
            <a:r>
              <a:rPr lang="en-US" b="1" dirty="0"/>
              <a:t> 48 min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28 </a:t>
            </a:r>
            <a:r>
              <a:rPr lang="en-US" b="1" dirty="0" err="1"/>
              <a:t>hrs</a:t>
            </a:r>
            <a:r>
              <a:rPr lang="en-US" b="1" dirty="0"/>
              <a:t> 42 min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None of these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83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516" name="Google Shape;516;p83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CLOCK</a:t>
            </a:r>
            <a:endParaRPr sz="1800" b="1" dirty="0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24</a:t>
            </a:r>
            <a:r>
              <a:rPr lang="en-US" b="1" dirty="0"/>
              <a:t>. A clock is set right at 8 am. The clock gains 10 minutes in 24 hours. What will be the true time when the clock indicates 1 pm on the following day? </a:t>
            </a:r>
            <a:endParaRPr b="1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28 </a:t>
            </a:r>
            <a:r>
              <a:rPr lang="en-US" b="1" dirty="0" err="1"/>
              <a:t>hrs</a:t>
            </a:r>
            <a:r>
              <a:rPr lang="en-US" b="1" dirty="0"/>
              <a:t>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(b) 28 </a:t>
            </a:r>
            <a:r>
              <a:rPr lang="en-US" b="1" dirty="0" err="1">
                <a:solidFill>
                  <a:srgbClr val="FF0000"/>
                </a:solidFill>
              </a:rPr>
              <a:t>hrs</a:t>
            </a:r>
            <a:r>
              <a:rPr lang="en-US" b="1" dirty="0">
                <a:solidFill>
                  <a:srgbClr val="FF0000"/>
                </a:solidFill>
              </a:rPr>
              <a:t> 48 min </a:t>
            </a:r>
            <a:endParaRPr dirty="0">
              <a:solidFill>
                <a:srgbClr val="FF0000"/>
              </a:solidFill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28 </a:t>
            </a:r>
            <a:r>
              <a:rPr lang="en-US" b="1" dirty="0" err="1"/>
              <a:t>hrs</a:t>
            </a:r>
            <a:r>
              <a:rPr lang="en-US" b="1" dirty="0"/>
              <a:t> 42 min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None of these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83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516" name="Google Shape;516;p83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sym typeface="Arial Black"/>
              </a:rPr>
              <a:t>                                          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endParaRPr lang="en-US" b="1" dirty="0">
              <a:solidFill>
                <a:srgbClr val="0C0C0C"/>
              </a:solidFill>
              <a:latin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endParaRPr lang="en-US" b="1" dirty="0">
              <a:solidFill>
                <a:srgbClr val="0C0C0C"/>
              </a:solidFill>
              <a:latin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endParaRPr lang="en-US" b="1" dirty="0">
              <a:solidFill>
                <a:srgbClr val="0C0C0C"/>
              </a:solidFill>
              <a:latin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endParaRPr lang="en-US" b="1" dirty="0">
              <a:solidFill>
                <a:srgbClr val="0C0C0C"/>
              </a:solidFill>
              <a:latin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endParaRPr lang="en-US" b="1" dirty="0">
              <a:solidFill>
                <a:srgbClr val="0C0C0C"/>
              </a:solidFill>
              <a:latin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sz="6000" b="1" dirty="0">
                <a:solidFill>
                  <a:srgbClr val="FF0000"/>
                </a:solidFill>
                <a:latin typeface="Arial Black"/>
                <a:sym typeface="Arial Black"/>
              </a:rPr>
              <a:t>            THANK YOU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sz="6000" b="1" dirty="0">
                <a:solidFill>
                  <a:srgbClr val="FF0000"/>
                </a:solidFill>
                <a:latin typeface="Arial Black"/>
                <a:sym typeface="Arial Black"/>
              </a:rPr>
              <a:t>                                                   </a:t>
            </a:r>
            <a:endParaRPr dirty="0">
              <a:solidFill>
                <a:srgbClr val="FF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30981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3135</Words>
  <Application>Microsoft Office PowerPoint</Application>
  <PresentationFormat>Widescreen</PresentationFormat>
  <Paragraphs>436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7" baseType="lpstr">
      <vt:lpstr>Arial Black</vt:lpstr>
      <vt:lpstr>Arial</vt:lpstr>
      <vt:lpstr>Calibri</vt:lpstr>
      <vt:lpstr>Office Theme</vt:lpstr>
      <vt:lpstr>PowerPoint Presentation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anuj gupta</dc:creator>
  <cp:lastModifiedBy>raj singh</cp:lastModifiedBy>
  <cp:revision>13</cp:revision>
  <dcterms:created xsi:type="dcterms:W3CDTF">2020-02-23T06:37:57Z</dcterms:created>
  <dcterms:modified xsi:type="dcterms:W3CDTF">2025-06-03T07:04:45Z</dcterms:modified>
</cp:coreProperties>
</file>