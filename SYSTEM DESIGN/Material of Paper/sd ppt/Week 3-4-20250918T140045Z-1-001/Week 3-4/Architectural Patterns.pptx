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8231175" cx="143303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93">
          <p15:clr>
            <a:srgbClr val="A4A3A4"/>
          </p15:clr>
        </p15:guide>
        <p15:guide id="4" pos="4579">
          <p15:clr>
            <a:srgbClr val="A4A3A4"/>
          </p15:clr>
        </p15:guide>
        <p15:guide id="5" orient="horz" pos="2079">
          <p15:clr>
            <a:srgbClr val="A4A3A4"/>
          </p15:clr>
        </p15:guide>
        <p15:guide id="6" orient="horz" pos="2496">
          <p15:clr>
            <a:srgbClr val="A4A3A4"/>
          </p15:clr>
        </p15:guide>
        <p15:guide id="7" orient="horz" pos="2245">
          <p15:clr>
            <a:srgbClr val="A4A3A4"/>
          </p15:clr>
        </p15:guide>
        <p15:guide id="8" orient="horz" pos="2694">
          <p15:clr>
            <a:srgbClr val="A4A3A4"/>
          </p15:clr>
        </p15:guide>
        <p15:guide id="9" orient="horz" pos="2162">
          <p15:clr>
            <a:srgbClr val="A4A3A4"/>
          </p15:clr>
        </p15:guide>
        <p15:guide id="10" orient="horz" pos="2594">
          <p15:clr>
            <a:srgbClr val="A4A3A4"/>
          </p15:clr>
        </p15:guide>
        <p15:guide id="11" pos="3785">
          <p15:clr>
            <a:srgbClr val="A4A3A4"/>
          </p15:clr>
        </p15:guide>
        <p15:guide id="12" pos="4514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qIpl/SaG4IVY55FS39cIxEPMT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93" orient="horz"/>
        <p:guide pos="4579"/>
        <p:guide pos="2079" orient="horz"/>
        <p:guide pos="2496" orient="horz"/>
        <p:guide pos="2245" orient="horz"/>
        <p:guide pos="2694" orient="horz"/>
        <p:guide pos="2162" orient="horz"/>
        <p:guide pos="2594" orient="horz"/>
        <p:guide pos="3785"/>
        <p:guide pos="451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0" name="Google Shape;40;p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2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" type="subTitle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6" y="2"/>
            <a:ext cx="14330363" cy="1006034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8"/>
          <p:cNvSpPr/>
          <p:nvPr/>
        </p:nvSpPr>
        <p:spPr>
          <a:xfrm flipH="1" rot="10800000">
            <a:off x="6" y="8048276"/>
            <a:ext cx="14330363" cy="2377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17" name="Google Shape;17;p18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8" name="Google Shape;18;p18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8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0" name="Google Shape;20;p1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1" name="Google Shape;21;p18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3" name="Google Shape;2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 txBox="1"/>
          <p:nvPr/>
        </p:nvSpPr>
        <p:spPr>
          <a:xfrm>
            <a:off x="3218190" y="6976175"/>
            <a:ext cx="7981707" cy="632967"/>
          </a:xfrm>
          <a:prstGeom prst="rect">
            <a:avLst/>
          </a:prstGeom>
          <a:noFill/>
          <a:ln>
            <a:noFill/>
          </a:ln>
        </p:spPr>
        <p:txBody>
          <a:bodyPr anchorCtr="0" anchor="t" bIns="44750" lIns="89525" spcFirstLastPara="1" rIns="89525" wrap="square" tIns="44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76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</a:t>
            </a:r>
            <a:br>
              <a:rPr b="0" i="0" lang="en-IN" sz="176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IN" sz="176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Punjab, India</a:t>
            </a:r>
            <a:endParaRPr b="0" i="0" sz="17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1"/>
          <p:cNvSpPr txBox="1"/>
          <p:nvPr>
            <p:ph idx="12" type="sldNum"/>
          </p:nvPr>
        </p:nvSpPr>
        <p:spPr>
          <a:xfrm>
            <a:off x="10205831" y="7556386"/>
            <a:ext cx="3274548" cy="429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50" lIns="89525" spcFirstLastPara="1" rIns="89525" wrap="square" tIns="44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3287315" y="6428509"/>
            <a:ext cx="7668029" cy="5476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4750" lIns="89525" spcFirstLastPara="1" rIns="89525" wrap="square" tIns="4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76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7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370049" y="2551184"/>
            <a:ext cx="11059612" cy="904220"/>
          </a:xfrm>
          <a:prstGeom prst="rect">
            <a:avLst/>
          </a:prstGeom>
          <a:noFill/>
          <a:ln>
            <a:noFill/>
          </a:ln>
        </p:spPr>
        <p:txBody>
          <a:bodyPr anchorCtr="0" anchor="t" bIns="44750" lIns="89525" spcFirstLastPara="1" rIns="89525" wrap="square" tIns="4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39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b="0" i="0" sz="3918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3759894" y="5826035"/>
            <a:ext cx="8357765" cy="452110"/>
          </a:xfrm>
          <a:prstGeom prst="rect">
            <a:avLst/>
          </a:prstGeom>
          <a:noFill/>
          <a:ln>
            <a:noFill/>
          </a:ln>
        </p:spPr>
        <p:txBody>
          <a:bodyPr anchorCtr="0" anchor="t" bIns="44750" lIns="89525" spcFirstLastPara="1" rIns="89525" wrap="square" tIns="44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35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Engineering- Computer Science &amp; Engineering </a:t>
            </a:r>
            <a:endParaRPr b="0" i="0" sz="2351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6021584" y="5449614"/>
            <a:ext cx="3458507" cy="361657"/>
          </a:xfrm>
          <a:prstGeom prst="rect">
            <a:avLst/>
          </a:prstGeom>
          <a:noFill/>
          <a:ln>
            <a:noFill/>
          </a:ln>
        </p:spPr>
        <p:txBody>
          <a:bodyPr anchorCtr="0" anchor="t" bIns="44750" lIns="89525" spcFirstLastPara="1" rIns="89525" wrap="square" tIns="44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76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Design(SD)(22CS024)</a:t>
            </a:r>
            <a:endParaRPr b="1" i="0" sz="2351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5075740" y="5599980"/>
            <a:ext cx="4696165" cy="452110"/>
          </a:xfrm>
          <a:prstGeom prst="rect">
            <a:avLst/>
          </a:prstGeom>
          <a:noFill/>
          <a:ln>
            <a:noFill/>
          </a:ln>
        </p:spPr>
        <p:txBody>
          <a:bodyPr anchorCtr="0" anchor="t" bIns="44750" lIns="89525" spcFirstLastPara="1" rIns="89525" wrap="square" tIns="4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51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Design Approaches in Software Engineering</a:t>
            </a:r>
            <a:endParaRPr/>
          </a:p>
        </p:txBody>
      </p:sp>
      <p:sp>
        <p:nvSpPr>
          <p:cNvPr id="54" name="Google Shape;54;p2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IN"/>
              <a:t>Design approaches define </a:t>
            </a:r>
            <a:r>
              <a:rPr b="1" lang="en-IN"/>
              <a:t>how</a:t>
            </a:r>
            <a:r>
              <a:rPr lang="en-IN"/>
              <a:t> a software system is structured and built from specifications or requirements. They guide the transition from user needs to working code and typically include two main stages: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1" lang="en-IN"/>
              <a:t>High-Level Design (HLD)</a:t>
            </a:r>
            <a:r>
              <a:rPr lang="en-IN"/>
              <a:t> – Architectural design, focusing on the system's structure.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1" lang="en-IN"/>
              <a:t>Low-Level Design (LLD)</a:t>
            </a:r>
            <a:r>
              <a:rPr lang="en-IN"/>
              <a:t> – Component-level design, focusing on internal logic and implementation details.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IN"/>
              <a:t>1. High-Level Design (HLD)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1" lang="en-IN"/>
              <a:t>High-Level Design</a:t>
            </a:r>
            <a:r>
              <a:rPr lang="en-IN"/>
              <a:t> outlines the </a:t>
            </a:r>
            <a:r>
              <a:rPr b="1" lang="en-IN"/>
              <a:t>overall architecture</a:t>
            </a:r>
            <a:r>
              <a:rPr lang="en-IN"/>
              <a:t> of the system. It breaks down the system into major modules or components and shows how they interact with each other.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IN"/>
              <a:t> Key Features: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Provides a </a:t>
            </a:r>
            <a:r>
              <a:rPr b="1" lang="en-IN"/>
              <a:t>bird’s-eye view</a:t>
            </a:r>
            <a:r>
              <a:rPr lang="en-IN"/>
              <a:t> of the system.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Defines </a:t>
            </a:r>
            <a:r>
              <a:rPr b="1" lang="en-IN"/>
              <a:t>system modules</a:t>
            </a:r>
            <a:r>
              <a:rPr lang="en-IN"/>
              <a:t>, </a:t>
            </a:r>
            <a:r>
              <a:rPr b="1" lang="en-IN"/>
              <a:t>data flow</a:t>
            </a:r>
            <a:r>
              <a:rPr lang="en-IN"/>
              <a:t>, and </a:t>
            </a:r>
            <a:r>
              <a:rPr b="1" lang="en-IN"/>
              <a:t>interfaces</a:t>
            </a:r>
            <a:r>
              <a:rPr lang="en-IN"/>
              <a:t>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Specifies </a:t>
            </a:r>
            <a:r>
              <a:rPr b="1" lang="en-IN"/>
              <a:t>technologies</a:t>
            </a:r>
            <a:r>
              <a:rPr lang="en-IN"/>
              <a:t>, </a:t>
            </a:r>
            <a:r>
              <a:rPr b="1" lang="en-IN"/>
              <a:t>tools</a:t>
            </a:r>
            <a:r>
              <a:rPr lang="en-IN"/>
              <a:t>, and </a:t>
            </a:r>
            <a:r>
              <a:rPr b="1" lang="en-IN"/>
              <a:t>design patterns</a:t>
            </a:r>
            <a:r>
              <a:rPr lang="en-IN"/>
              <a:t> used.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Used by </a:t>
            </a:r>
            <a:r>
              <a:rPr b="1" lang="en-IN"/>
              <a:t>architects and senior developers</a:t>
            </a:r>
            <a:r>
              <a:rPr lang="en-IN"/>
              <a:t> to align design with requirements.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IN"/>
              <a:t>Deliverables: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System Architecture Diagrams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Module Diagrams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ER Diagrams (Entity-Relationship)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Technology stack decisions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2. Low-Level Design (LLD)</a:t>
            </a:r>
            <a:endParaRPr/>
          </a:p>
        </p:txBody>
      </p:sp>
      <p:sp>
        <p:nvSpPr>
          <p:cNvPr id="72" name="Google Shape;72;p5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1" lang="en-IN"/>
              <a:t>Low-Level Design</a:t>
            </a:r>
            <a:r>
              <a:rPr lang="en-IN"/>
              <a:t> dives into the </a:t>
            </a:r>
            <a:r>
              <a:rPr b="1" lang="en-IN"/>
              <a:t>details of each module</a:t>
            </a:r>
            <a:r>
              <a:rPr lang="en-IN"/>
              <a:t> defined in HLD. It explains how individual components will work internally.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IN"/>
              <a:t>Key Features: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Focuses on </a:t>
            </a:r>
            <a:r>
              <a:rPr b="1" lang="en-IN"/>
              <a:t>class design</a:t>
            </a:r>
            <a:r>
              <a:rPr lang="en-IN"/>
              <a:t>, </a:t>
            </a:r>
            <a:r>
              <a:rPr b="1" lang="en-IN"/>
              <a:t>method definitions</a:t>
            </a:r>
            <a:r>
              <a:rPr lang="en-IN"/>
              <a:t>, and </a:t>
            </a:r>
            <a:r>
              <a:rPr b="1" lang="en-IN"/>
              <a:t>business logic</a:t>
            </a:r>
            <a:r>
              <a:rPr lang="en-IN"/>
              <a:t>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Specifies </a:t>
            </a:r>
            <a:r>
              <a:rPr b="1" lang="en-IN"/>
              <a:t>algorithms</a:t>
            </a:r>
            <a:r>
              <a:rPr lang="en-IN"/>
              <a:t>, </a:t>
            </a:r>
            <a:r>
              <a:rPr b="1" lang="en-IN"/>
              <a:t>data structures</a:t>
            </a:r>
            <a:r>
              <a:rPr lang="en-IN"/>
              <a:t>, and </a:t>
            </a:r>
            <a:r>
              <a:rPr b="1" lang="en-IN"/>
              <a:t>database schema</a:t>
            </a:r>
            <a:r>
              <a:rPr lang="en-IN"/>
              <a:t>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Guides developers in the actual </a:t>
            </a:r>
            <a:r>
              <a:rPr b="1" lang="en-IN"/>
              <a:t>coding process</a:t>
            </a:r>
            <a:r>
              <a:rPr lang="en-IN"/>
              <a:t>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Deliverables:</a:t>
            </a:r>
            <a:endParaRPr/>
          </a:p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Class Diagrams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Sequence Diagrams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Pseudocode / Flowcharts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Database Table Definitions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Comparison: High-Level Design vs Low-Level Design</a:t>
            </a:r>
            <a:endParaRPr/>
          </a:p>
        </p:txBody>
      </p:sp>
      <p:pic>
        <p:nvPicPr>
          <p:cNvPr id="84" name="Google Shape;84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875" y="1330675"/>
            <a:ext cx="13257900" cy="69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Architectural Pattern</a:t>
            </a:r>
            <a:endParaRPr/>
          </a:p>
        </p:txBody>
      </p:sp>
      <p:sp>
        <p:nvSpPr>
          <p:cNvPr id="90" name="Google Shape;90;p8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An </a:t>
            </a:r>
            <a:r>
              <a:rPr b="1" lang="en-IN"/>
              <a:t>Architectural Pattern</a:t>
            </a:r>
            <a:r>
              <a:rPr lang="en-IN"/>
              <a:t> is a reusable and general solution to a common problem in software architecture within a given context.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It provides a set of predefined subsystems, their responsibilities, and how they interact to solve architectural challenges.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Unlike a design pattern (which is more focused on solving smaller coding or design issues), an architectural pattern deals with high-level structures of software systems.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Architectural patterns help architects and developers organize software components, improve system quality attributes (like scalability, maintainability, performance), and provide a common vocabulary for designing complex systems.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Monolithic Architecture — a single unified codebase and deployment.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Microservices Architecture — a suite of independently deployable services.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Event-Driven Architecture — components communicate via asynchronous events.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10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Monolithic architecture vs microservices | Cloudflight" id="103" name="Google Shape;10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397" y="1344058"/>
            <a:ext cx="10799284" cy="5399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Monolithic Architecture</a:t>
            </a:r>
            <a:endParaRPr/>
          </a:p>
        </p:txBody>
      </p:sp>
      <p:sp>
        <p:nvSpPr>
          <p:cNvPr id="109" name="Google Shape;109;p11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IN"/>
              <a:t>In a monolithic architecture, the entire application is built as a single, unified unit. All components — user interface, business logic, data access — are tightly integrated and run as a single process.</a:t>
            </a:r>
            <a:endParaRPr/>
          </a:p>
          <a:p>
            <a:pPr indent="0" lvl="0" marL="254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IN"/>
              <a:t>Characteristics: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Single codebase and deployment unit.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Easy to develop and test in early stages.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Tightly coupled components.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Scaling means replicating the entire application.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12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b="1" lang="en-IN"/>
              <a:t>Pros: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Simpler to develop initially.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Easier to test and deploy for small applications.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Less operational complexity.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b="1" lang="en-IN"/>
              <a:t>Cons: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Hard to maintain and evolve as the application grows.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Difficult to scale individual components independently.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Deployment requires full application redeployment, increasing downtime risk.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Technology stack is uniform (hard to use different tech for different parts).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Microservices Architecture</a:t>
            </a:r>
            <a:endParaRPr/>
          </a:p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>
            <a:off x="430084" y="1399492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br>
              <a:rPr lang="en-IN"/>
            </a:br>
            <a:r>
              <a:rPr lang="en-IN"/>
              <a:t>Microservices break down an application into a collection of small, loosely coupled, independently deployable services. Each microservice corresponds to a specific business capability.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IN"/>
              <a:t>Characteristics: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Services communicate typically via, messaging, or RPC.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Each service has its own database or data management.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Each microservice can be developed, deployed, and scaled independently.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Technology heterogeneity allowed (different languages/frameworks per service).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IN"/>
              <a:t>Pros: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IN"/>
              <a:t>Easier to scale individual components.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IN"/>
              <a:t>Independent deployment reduces risk and speeds up release cycles.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IN"/>
              <a:t>Teams can work on different services independently.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IN"/>
              <a:t>Fault isolation; failure in one service doesn’t bring down the whole system.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IN"/>
              <a:t>Cons: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IN"/>
              <a:t>More complex to design and manage.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IN"/>
              <a:t>Requires robust service discovery, load balancing, and monitoring.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IN"/>
              <a:t>Distributed system challenges like network latency, data consistency.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IN"/>
              <a:t>More complex testing and debugging.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Event-Driven Architecture</a:t>
            </a:r>
            <a:endParaRPr/>
          </a:p>
        </p:txBody>
      </p:sp>
      <p:sp>
        <p:nvSpPr>
          <p:cNvPr id="134" name="Google Shape;134;p15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IN"/>
              <a:t>Event-Driven Architecture (EDA) is a design paradigm where components communicate by producing and consuming events asynchronously. Events represent changes in state or significant actions.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IN"/>
              <a:t>Characteristics: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Loose coupling between event producers and consumers.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Components respond to events (messages) rather than direct calls.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Typically uses message brokers or event buses (e.g., Kafka, RabbitMQ).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Enables real-time, asynchronous processing.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b="1" lang="en-IN"/>
              <a:t>Pros: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High scalability and responsiveness.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Decouples components, enabling independent evolution.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Good for applications with many asynchronous events (IoT, real-time analytics).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Fault tolerance through retries and event persistence.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b="1" lang="en-IN"/>
              <a:t>Cons: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Increased complexity in event management.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Harder to ensure data consistency.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Debugging and tracing event flows can be challenging.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IN"/>
              <a:t>Requires careful design to avoid event storms or message loss.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8463"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IN" sz="8463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Ahlawat</dc:creator>
</cp:coreProperties>
</file>