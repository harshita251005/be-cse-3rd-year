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0" roundtripDataSignature="AMtx7mg3AHsza9zYQ2VMQjryZTKFh/1X7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 name="Google Shape;44;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45" name="Google Shape;45;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4" name="Google Shape;54;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3" name="Google Shape;63;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3" name="Google Shape;73;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2" name="Google Shape;82;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1" name="Google Shape;91;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0" name="Google Shape;100;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9" name="Google Shape;109;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8" name="Google Shape;118;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7" name="Google Shape;127;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6" name="Google Shape;136;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5" name="Google Shape;145;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4" name="Google Shape;154;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3" name="Google Shape;163;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pic>
        <p:nvPicPr>
          <p:cNvPr descr="LOGO.gif" id="25" name="Google Shape;25;p16"/>
          <p:cNvPicPr preferRelativeResize="0"/>
          <p:nvPr/>
        </p:nvPicPr>
        <p:blipFill rotWithShape="1">
          <a:blip r:embed="rId2">
            <a:alphaModFix/>
          </a:blip>
          <a:srcRect b="10713" l="0" r="0" t="0"/>
          <a:stretch/>
        </p:blipFill>
        <p:spPr>
          <a:xfrm>
            <a:off x="6553200" y="228600"/>
            <a:ext cx="2057400" cy="635000"/>
          </a:xfrm>
          <a:prstGeom prst="rect">
            <a:avLst/>
          </a:prstGeom>
          <a:noFill/>
          <a:ln>
            <a:noFill/>
          </a:ln>
        </p:spPr>
      </p:pic>
      <p:grpSp>
        <p:nvGrpSpPr>
          <p:cNvPr id="26" name="Google Shape;26;p16"/>
          <p:cNvGrpSpPr/>
          <p:nvPr/>
        </p:nvGrpSpPr>
        <p:grpSpPr>
          <a:xfrm>
            <a:off x="6146800" y="0"/>
            <a:ext cx="2997200" cy="876300"/>
            <a:chOff x="6096000" y="3924300"/>
            <a:chExt cx="2997200" cy="876300"/>
          </a:xfrm>
        </p:grpSpPr>
        <p:sp>
          <p:nvSpPr>
            <p:cNvPr id="27" name="Google Shape;27;p16"/>
            <p:cNvSpPr/>
            <p:nvPr/>
          </p:nvSpPr>
          <p:spPr>
            <a:xfrm>
              <a:off x="6096000" y="3924300"/>
              <a:ext cx="2997200" cy="838200"/>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LOGO.gif" id="28" name="Google Shape;28;p16"/>
            <p:cNvPicPr preferRelativeResize="0"/>
            <p:nvPr/>
          </p:nvPicPr>
          <p:blipFill rotWithShape="1">
            <a:blip r:embed="rId2">
              <a:alphaModFix/>
            </a:blip>
            <a:srcRect b="10713" l="0" r="0" t="0"/>
            <a:stretch/>
          </p:blipFill>
          <p:spPr>
            <a:xfrm>
              <a:off x="6502400" y="4152900"/>
              <a:ext cx="2057400" cy="635000"/>
            </a:xfrm>
            <a:prstGeom prst="rect">
              <a:avLst/>
            </a:prstGeom>
            <a:noFill/>
            <a:ln>
              <a:noFill/>
            </a:ln>
          </p:spPr>
        </p:pic>
        <p:sp>
          <p:nvSpPr>
            <p:cNvPr id="29" name="Google Shape;29;p16"/>
            <p:cNvSpPr/>
            <p:nvPr/>
          </p:nvSpPr>
          <p:spPr>
            <a:xfrm>
              <a:off x="6477000" y="4114800"/>
              <a:ext cx="2076450" cy="685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pic>
        <p:nvPicPr>
          <p:cNvPr descr="logo.jpg" id="30" name="Google Shape;30;p16"/>
          <p:cNvPicPr preferRelativeResize="0"/>
          <p:nvPr/>
        </p:nvPicPr>
        <p:blipFill rotWithShape="1">
          <a:blip r:embed="rId3">
            <a:alphaModFix/>
          </a:blip>
          <a:srcRect b="0" l="0" r="0" t="0"/>
          <a:stretch/>
        </p:blipFill>
        <p:spPr>
          <a:xfrm>
            <a:off x="6553200" y="228600"/>
            <a:ext cx="1920875" cy="609600"/>
          </a:xfrm>
          <a:prstGeom prst="rect">
            <a:avLst/>
          </a:prstGeom>
          <a:noFill/>
          <a:ln>
            <a:noFill/>
          </a:ln>
        </p:spPr>
      </p:pic>
      <p:sp>
        <p:nvSpPr>
          <p:cNvPr id="31" name="Google Shape;31;p16"/>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3200">
                <a:latin typeface="Times New Roman"/>
                <a:ea typeface="Times New Roman"/>
                <a:cs typeface="Times New Roman"/>
                <a:sym typeface="Times New Roman"/>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2" name="Google Shape;32;p16"/>
          <p:cNvSpPr txBox="1"/>
          <p:nvPr>
            <p:ph idx="1" type="body"/>
          </p:nvPr>
        </p:nvSpPr>
        <p:spPr>
          <a:xfrm>
            <a:off x="457200" y="1371600"/>
            <a:ext cx="8229600" cy="4525963"/>
          </a:xfrm>
          <a:prstGeom prst="rect">
            <a:avLst/>
          </a:prstGeom>
          <a:noFill/>
          <a:ln>
            <a:noFill/>
          </a:ln>
        </p:spPr>
        <p:txBody>
          <a:bodyPr anchorCtr="0" anchor="t" bIns="45700" lIns="91425" spcFirstLastPara="1" rIns="91425" wrap="square" tIns="45700">
            <a:noAutofit/>
          </a:bodyPr>
          <a:lstStyle>
            <a:lvl1pPr indent="-368300" lvl="0" marL="457200" algn="l">
              <a:spcBef>
                <a:spcPts val="440"/>
              </a:spcBef>
              <a:spcAft>
                <a:spcPts val="0"/>
              </a:spcAft>
              <a:buClr>
                <a:schemeClr val="dk1"/>
              </a:buClr>
              <a:buSzPts val="2200"/>
              <a:buChar char="•"/>
              <a:defRPr sz="2200">
                <a:latin typeface="Times New Roman"/>
                <a:ea typeface="Times New Roman"/>
                <a:cs typeface="Times New Roman"/>
                <a:sym typeface="Times New Roman"/>
              </a:defRPr>
            </a:lvl1pPr>
            <a:lvl2pPr indent="-368300" lvl="1" marL="914400" algn="l">
              <a:spcBef>
                <a:spcPts val="440"/>
              </a:spcBef>
              <a:spcAft>
                <a:spcPts val="0"/>
              </a:spcAft>
              <a:buClr>
                <a:schemeClr val="dk1"/>
              </a:buClr>
              <a:buSzPts val="2200"/>
              <a:buChar char="–"/>
              <a:defRPr sz="2200">
                <a:latin typeface="Times New Roman"/>
                <a:ea typeface="Times New Roman"/>
                <a:cs typeface="Times New Roman"/>
                <a:sym typeface="Times New Roman"/>
              </a:defRPr>
            </a:lvl2pPr>
            <a:lvl3pPr indent="-368300" lvl="2" marL="1371600" algn="l">
              <a:spcBef>
                <a:spcPts val="440"/>
              </a:spcBef>
              <a:spcAft>
                <a:spcPts val="0"/>
              </a:spcAft>
              <a:buClr>
                <a:schemeClr val="dk1"/>
              </a:buClr>
              <a:buSzPts val="2200"/>
              <a:buChar char="•"/>
              <a:defRPr sz="2200">
                <a:latin typeface="Times New Roman"/>
                <a:ea typeface="Times New Roman"/>
                <a:cs typeface="Times New Roman"/>
                <a:sym typeface="Times New Roman"/>
              </a:defRPr>
            </a:lvl3pPr>
            <a:lvl4pPr indent="-368300" lvl="3" marL="1828800" algn="l">
              <a:spcBef>
                <a:spcPts val="440"/>
              </a:spcBef>
              <a:spcAft>
                <a:spcPts val="0"/>
              </a:spcAft>
              <a:buClr>
                <a:schemeClr val="dk1"/>
              </a:buClr>
              <a:buSzPts val="2200"/>
              <a:buChar char="–"/>
              <a:defRPr sz="2200">
                <a:latin typeface="Times New Roman"/>
                <a:ea typeface="Times New Roman"/>
                <a:cs typeface="Times New Roman"/>
                <a:sym typeface="Times New Roman"/>
              </a:defRPr>
            </a:lvl4pPr>
            <a:lvl5pPr indent="-368300" lvl="4" marL="2286000" algn="l">
              <a:spcBef>
                <a:spcPts val="440"/>
              </a:spcBef>
              <a:spcAft>
                <a:spcPts val="0"/>
              </a:spcAft>
              <a:buClr>
                <a:schemeClr val="dk1"/>
              </a:buClr>
              <a:buSzPts val="2200"/>
              <a:buChar char="»"/>
              <a:defRPr sz="2200">
                <a:latin typeface="Times New Roman"/>
                <a:ea typeface="Times New Roman"/>
                <a:cs typeface="Times New Roman"/>
                <a:sym typeface="Times New Roman"/>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3" name="Google Shape;33;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0070C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0070C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0070C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0070C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0070C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0070C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0070C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0070C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0070C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6" name="Shape 36"/>
        <p:cNvGrpSpPr/>
        <p:nvPr/>
      </p:nvGrpSpPr>
      <p:grpSpPr>
        <a:xfrm>
          <a:off x="0" y="0"/>
          <a:ext cx="0" cy="0"/>
          <a:chOff x="0" y="0"/>
          <a:chExt cx="0" cy="0"/>
        </a:xfrm>
      </p:grpSpPr>
      <p:sp>
        <p:nvSpPr>
          <p:cNvPr id="37" name="Google Shape;37;p17"/>
          <p:cNvSpPr txBox="1"/>
          <p:nvPr>
            <p:ph type="ctrTitle"/>
          </p:nvPr>
        </p:nvSpPr>
        <p:spPr>
          <a:xfrm>
            <a:off x="0" y="1"/>
            <a:ext cx="5486400" cy="914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sz="3200">
                <a:latin typeface="Times New Roman"/>
                <a:ea typeface="Times New Roman"/>
                <a:cs typeface="Times New Roman"/>
                <a:sym typeface="Times New Roman"/>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8" name="Google Shape;38;p17"/>
          <p:cNvSpPr txBox="1"/>
          <p:nvPr>
            <p:ph idx="1" type="subTitle"/>
          </p:nvPr>
        </p:nvSpPr>
        <p:spPr>
          <a:xfrm>
            <a:off x="533400" y="1371600"/>
            <a:ext cx="8153400" cy="47244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39" name="Google Shape;39;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0070C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0070C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0070C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0070C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0070C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0070C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0070C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0070C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0070C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jp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5"/>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30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30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30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30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30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30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30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30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3000" u="none" cap="none" strike="noStrike">
                <a:solidFill>
                  <a:schemeClr val="dk1"/>
                </a:solidFill>
                <a:latin typeface="Calibri"/>
                <a:ea typeface="Calibri"/>
                <a:cs typeface="Calibri"/>
                <a:sym typeface="Calibri"/>
              </a:defRPr>
            </a:lvl9pPr>
          </a:lstStyle>
          <a:p/>
        </p:txBody>
      </p:sp>
      <p:sp>
        <p:nvSpPr>
          <p:cNvPr id="11" name="Google Shape;11;p15"/>
          <p:cNvSpPr txBox="1"/>
          <p:nvPr>
            <p:ph idx="1" type="body"/>
          </p:nvPr>
        </p:nvSpPr>
        <p:spPr>
          <a:xfrm>
            <a:off x="457200" y="1371600"/>
            <a:ext cx="8229600" cy="4525963"/>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0070C0"/>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0070C0"/>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1" i="0" sz="1200" u="none" cap="none" strike="noStrike">
                <a:solidFill>
                  <a:srgbClr val="0070C0"/>
                </a:solidFill>
                <a:latin typeface="Times New Roman"/>
                <a:ea typeface="Times New Roman"/>
                <a:cs typeface="Times New Roman"/>
                <a:sym typeface="Times New Roman"/>
              </a:defRPr>
            </a:lvl1pPr>
            <a:lvl2pPr indent="0" lvl="1" marL="0" marR="0" rtl="0" algn="r">
              <a:spcBef>
                <a:spcPts val="0"/>
              </a:spcBef>
              <a:spcAft>
                <a:spcPts val="0"/>
              </a:spcAft>
              <a:buNone/>
              <a:defRPr b="1" i="0" sz="1200" u="none" cap="none" strike="noStrike">
                <a:solidFill>
                  <a:srgbClr val="0070C0"/>
                </a:solidFill>
                <a:latin typeface="Times New Roman"/>
                <a:ea typeface="Times New Roman"/>
                <a:cs typeface="Times New Roman"/>
                <a:sym typeface="Times New Roman"/>
              </a:defRPr>
            </a:lvl2pPr>
            <a:lvl3pPr indent="0" lvl="2" marL="0" marR="0" rtl="0" algn="r">
              <a:spcBef>
                <a:spcPts val="0"/>
              </a:spcBef>
              <a:spcAft>
                <a:spcPts val="0"/>
              </a:spcAft>
              <a:buNone/>
              <a:defRPr b="1" i="0" sz="1200" u="none" cap="none" strike="noStrike">
                <a:solidFill>
                  <a:srgbClr val="0070C0"/>
                </a:solidFill>
                <a:latin typeface="Times New Roman"/>
                <a:ea typeface="Times New Roman"/>
                <a:cs typeface="Times New Roman"/>
                <a:sym typeface="Times New Roman"/>
              </a:defRPr>
            </a:lvl3pPr>
            <a:lvl4pPr indent="0" lvl="3" marL="0" marR="0" rtl="0" algn="r">
              <a:spcBef>
                <a:spcPts val="0"/>
              </a:spcBef>
              <a:spcAft>
                <a:spcPts val="0"/>
              </a:spcAft>
              <a:buNone/>
              <a:defRPr b="1" i="0" sz="1200" u="none" cap="none" strike="noStrike">
                <a:solidFill>
                  <a:srgbClr val="0070C0"/>
                </a:solidFill>
                <a:latin typeface="Times New Roman"/>
                <a:ea typeface="Times New Roman"/>
                <a:cs typeface="Times New Roman"/>
                <a:sym typeface="Times New Roman"/>
              </a:defRPr>
            </a:lvl4pPr>
            <a:lvl5pPr indent="0" lvl="4" marL="0" marR="0" rtl="0" algn="r">
              <a:spcBef>
                <a:spcPts val="0"/>
              </a:spcBef>
              <a:spcAft>
                <a:spcPts val="0"/>
              </a:spcAft>
              <a:buNone/>
              <a:defRPr b="1" i="0" sz="1200" u="none" cap="none" strike="noStrike">
                <a:solidFill>
                  <a:srgbClr val="0070C0"/>
                </a:solidFill>
                <a:latin typeface="Times New Roman"/>
                <a:ea typeface="Times New Roman"/>
                <a:cs typeface="Times New Roman"/>
                <a:sym typeface="Times New Roman"/>
              </a:defRPr>
            </a:lvl5pPr>
            <a:lvl6pPr indent="0" lvl="5" marL="0" marR="0" rtl="0" algn="r">
              <a:spcBef>
                <a:spcPts val="0"/>
              </a:spcBef>
              <a:spcAft>
                <a:spcPts val="0"/>
              </a:spcAft>
              <a:buNone/>
              <a:defRPr b="1" i="0" sz="1200" u="none" cap="none" strike="noStrike">
                <a:solidFill>
                  <a:srgbClr val="0070C0"/>
                </a:solidFill>
                <a:latin typeface="Times New Roman"/>
                <a:ea typeface="Times New Roman"/>
                <a:cs typeface="Times New Roman"/>
                <a:sym typeface="Times New Roman"/>
              </a:defRPr>
            </a:lvl6pPr>
            <a:lvl7pPr indent="0" lvl="6" marL="0" marR="0" rtl="0" algn="r">
              <a:spcBef>
                <a:spcPts val="0"/>
              </a:spcBef>
              <a:spcAft>
                <a:spcPts val="0"/>
              </a:spcAft>
              <a:buNone/>
              <a:defRPr b="1" i="0" sz="1200" u="none" cap="none" strike="noStrike">
                <a:solidFill>
                  <a:srgbClr val="0070C0"/>
                </a:solidFill>
                <a:latin typeface="Times New Roman"/>
                <a:ea typeface="Times New Roman"/>
                <a:cs typeface="Times New Roman"/>
                <a:sym typeface="Times New Roman"/>
              </a:defRPr>
            </a:lvl7pPr>
            <a:lvl8pPr indent="0" lvl="7" marL="0" marR="0" rtl="0" algn="r">
              <a:spcBef>
                <a:spcPts val="0"/>
              </a:spcBef>
              <a:spcAft>
                <a:spcPts val="0"/>
              </a:spcAft>
              <a:buNone/>
              <a:defRPr b="1" i="0" sz="1200" u="none" cap="none" strike="noStrike">
                <a:solidFill>
                  <a:srgbClr val="0070C0"/>
                </a:solidFill>
                <a:latin typeface="Times New Roman"/>
                <a:ea typeface="Times New Roman"/>
                <a:cs typeface="Times New Roman"/>
                <a:sym typeface="Times New Roman"/>
              </a:defRPr>
            </a:lvl8pPr>
            <a:lvl9pPr indent="0" lvl="8" marL="0" marR="0" rtl="0" algn="r">
              <a:spcBef>
                <a:spcPts val="0"/>
              </a:spcBef>
              <a:spcAft>
                <a:spcPts val="0"/>
              </a:spcAft>
              <a:buNone/>
              <a:defRPr b="1" i="0" sz="1200" u="none" cap="none" strike="noStrike">
                <a:solidFill>
                  <a:srgbClr val="0070C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
        <p:nvSpPr>
          <p:cNvPr id="15" name="Google Shape;15;p15"/>
          <p:cNvSpPr/>
          <p:nvPr/>
        </p:nvSpPr>
        <p:spPr>
          <a:xfrm>
            <a:off x="0" y="0"/>
            <a:ext cx="9144000" cy="838200"/>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 name="Google Shape;16;p15"/>
          <p:cNvSpPr/>
          <p:nvPr/>
        </p:nvSpPr>
        <p:spPr>
          <a:xfrm flipH="1" rot="10800000">
            <a:off x="0" y="6705600"/>
            <a:ext cx="9144000" cy="19811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LOGO.gif" id="17" name="Google Shape;17;p15"/>
          <p:cNvPicPr preferRelativeResize="0"/>
          <p:nvPr/>
        </p:nvPicPr>
        <p:blipFill rotWithShape="1">
          <a:blip r:embed="rId1">
            <a:alphaModFix/>
          </a:blip>
          <a:srcRect b="10713" l="0" r="0" t="0"/>
          <a:stretch/>
        </p:blipFill>
        <p:spPr>
          <a:xfrm>
            <a:off x="6553200" y="228600"/>
            <a:ext cx="2057400" cy="635000"/>
          </a:xfrm>
          <a:prstGeom prst="rect">
            <a:avLst/>
          </a:prstGeom>
          <a:noFill/>
          <a:ln>
            <a:noFill/>
          </a:ln>
        </p:spPr>
      </p:pic>
      <p:pic>
        <p:nvPicPr>
          <p:cNvPr descr="LOGO.gif" id="18" name="Google Shape;18;p15"/>
          <p:cNvPicPr preferRelativeResize="0"/>
          <p:nvPr/>
        </p:nvPicPr>
        <p:blipFill rotWithShape="1">
          <a:blip r:embed="rId1">
            <a:alphaModFix/>
          </a:blip>
          <a:srcRect b="10713" l="0" r="0" t="0"/>
          <a:stretch/>
        </p:blipFill>
        <p:spPr>
          <a:xfrm>
            <a:off x="6553200" y="228600"/>
            <a:ext cx="2057400" cy="635000"/>
          </a:xfrm>
          <a:prstGeom prst="rect">
            <a:avLst/>
          </a:prstGeom>
          <a:noFill/>
          <a:ln>
            <a:noFill/>
          </a:ln>
        </p:spPr>
      </p:pic>
      <p:grpSp>
        <p:nvGrpSpPr>
          <p:cNvPr id="19" name="Google Shape;19;p15"/>
          <p:cNvGrpSpPr/>
          <p:nvPr/>
        </p:nvGrpSpPr>
        <p:grpSpPr>
          <a:xfrm>
            <a:off x="6146800" y="0"/>
            <a:ext cx="2997200" cy="876300"/>
            <a:chOff x="6096000" y="3924300"/>
            <a:chExt cx="2997200" cy="876300"/>
          </a:xfrm>
        </p:grpSpPr>
        <p:sp>
          <p:nvSpPr>
            <p:cNvPr id="20" name="Google Shape;20;p15"/>
            <p:cNvSpPr/>
            <p:nvPr/>
          </p:nvSpPr>
          <p:spPr>
            <a:xfrm>
              <a:off x="6096000" y="3924300"/>
              <a:ext cx="2997200" cy="838200"/>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LOGO.gif" id="21" name="Google Shape;21;p15"/>
            <p:cNvPicPr preferRelativeResize="0"/>
            <p:nvPr/>
          </p:nvPicPr>
          <p:blipFill rotWithShape="1">
            <a:blip r:embed="rId1">
              <a:alphaModFix/>
            </a:blip>
            <a:srcRect b="10713" l="0" r="0" t="0"/>
            <a:stretch/>
          </p:blipFill>
          <p:spPr>
            <a:xfrm>
              <a:off x="6502400" y="4152900"/>
              <a:ext cx="2057400" cy="635000"/>
            </a:xfrm>
            <a:prstGeom prst="rect">
              <a:avLst/>
            </a:prstGeom>
            <a:noFill/>
            <a:ln>
              <a:noFill/>
            </a:ln>
          </p:spPr>
        </p:pic>
        <p:sp>
          <p:nvSpPr>
            <p:cNvPr id="22" name="Google Shape;22;p15"/>
            <p:cNvSpPr/>
            <p:nvPr/>
          </p:nvSpPr>
          <p:spPr>
            <a:xfrm>
              <a:off x="6477000" y="4114800"/>
              <a:ext cx="2076450" cy="685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pic>
        <p:nvPicPr>
          <p:cNvPr descr="logo.jpg" id="23" name="Google Shape;23;p15"/>
          <p:cNvPicPr preferRelativeResize="0"/>
          <p:nvPr/>
        </p:nvPicPr>
        <p:blipFill rotWithShape="1">
          <a:blip r:embed="rId2">
            <a:alphaModFix/>
          </a:blip>
          <a:srcRect b="0" l="0" r="0" t="0"/>
          <a:stretch/>
        </p:blipFill>
        <p:spPr>
          <a:xfrm>
            <a:off x="6553200" y="228600"/>
            <a:ext cx="1920875" cy="6096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sp>
        <p:nvSpPr>
          <p:cNvPr id="47" name="Google Shape;47;p1"/>
          <p:cNvSpPr txBox="1"/>
          <p:nvPr/>
        </p:nvSpPr>
        <p:spPr>
          <a:xfrm>
            <a:off x="304800" y="2133599"/>
            <a:ext cx="8610600" cy="1988003"/>
          </a:xfrm>
          <a:prstGeom prst="rect">
            <a:avLst/>
          </a:prstGeom>
          <a:noFill/>
          <a:ln>
            <a:noFill/>
          </a:ln>
        </p:spPr>
        <p:txBody>
          <a:bodyPr anchorCtr="0" anchor="ctr" bIns="45700" lIns="91425" spcFirstLastPara="1" rIns="91425" wrap="square" tIns="33100">
            <a:noAutofit/>
          </a:bodyPr>
          <a:lstStyle/>
          <a:p>
            <a:pPr indent="0" lvl="0" marL="0" marR="0" rtl="0" algn="ctr">
              <a:spcBef>
                <a:spcPts val="0"/>
              </a:spcBef>
              <a:spcAft>
                <a:spcPts val="0"/>
              </a:spcAft>
              <a:buNone/>
            </a:pPr>
            <a:r>
              <a:rPr b="1" lang="en-US" sz="4800">
                <a:solidFill>
                  <a:srgbClr val="3A30FA"/>
                </a:solidFill>
                <a:latin typeface="Times New Roman"/>
                <a:ea typeface="Times New Roman"/>
                <a:cs typeface="Times New Roman"/>
                <a:sym typeface="Times New Roman"/>
              </a:rPr>
              <a:t>Legal and Economic Challenges in Data Protection</a:t>
            </a:r>
            <a:endParaRPr/>
          </a:p>
          <a:p>
            <a:pPr indent="0" lvl="0" marL="0" marR="0" rtl="0" algn="ctr">
              <a:spcBef>
                <a:spcPts val="0"/>
              </a:spcBef>
              <a:spcAft>
                <a:spcPts val="0"/>
              </a:spcAft>
              <a:buNone/>
            </a:pPr>
            <a:r>
              <a:rPr b="1" lang="en-US" sz="1800">
                <a:solidFill>
                  <a:srgbClr val="3A30FA"/>
                </a:solidFill>
                <a:latin typeface="Times New Roman"/>
                <a:ea typeface="Times New Roman"/>
                <a:cs typeface="Times New Roman"/>
                <a:sym typeface="Times New Roman"/>
              </a:rPr>
              <a:t>Data Recovery and Protection, Backup Strategies and Recovery Considerations</a:t>
            </a:r>
            <a:endParaRPr/>
          </a:p>
          <a:p>
            <a:pPr indent="0" lvl="0" marL="0" marR="0" rtl="0" algn="ctr">
              <a:spcBef>
                <a:spcPts val="0"/>
              </a:spcBef>
              <a:spcAft>
                <a:spcPts val="0"/>
              </a:spcAft>
              <a:buNone/>
            </a:pPr>
            <a:r>
              <a:t/>
            </a:r>
            <a:endParaRPr b="1" sz="4800">
              <a:solidFill>
                <a:srgbClr val="3A30FA"/>
              </a:solidFill>
              <a:latin typeface="Times New Roman"/>
              <a:ea typeface="Times New Roman"/>
              <a:cs typeface="Times New Roman"/>
              <a:sym typeface="Times New Roman"/>
            </a:endParaRPr>
          </a:p>
        </p:txBody>
      </p:sp>
      <p:sp>
        <p:nvSpPr>
          <p:cNvPr id="48" name="Google Shape;48;p1"/>
          <p:cNvSpPr txBox="1"/>
          <p:nvPr/>
        </p:nvSpPr>
        <p:spPr>
          <a:xfrm>
            <a:off x="1828800" y="4121603"/>
            <a:ext cx="6172200" cy="873572"/>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lang="en-US" sz="1800">
                <a:solidFill>
                  <a:srgbClr val="FF0000"/>
                </a:solidFill>
                <a:latin typeface="Times New Roman"/>
                <a:ea typeface="Times New Roman"/>
                <a:cs typeface="Times New Roman"/>
                <a:sym typeface="Times New Roman"/>
              </a:rPr>
              <a:t>Department of Computer Science and Engineering</a:t>
            </a:r>
            <a:endParaRPr/>
          </a:p>
          <a:p>
            <a:pPr indent="0" lvl="0" marL="0" marR="0" rtl="0" algn="ctr">
              <a:lnSpc>
                <a:spcPct val="150000"/>
              </a:lnSpc>
              <a:spcBef>
                <a:spcPts val="0"/>
              </a:spcBef>
              <a:spcAft>
                <a:spcPts val="0"/>
              </a:spcAft>
              <a:buNone/>
            </a:pPr>
            <a:r>
              <a:rPr lang="en-US" sz="1800">
                <a:solidFill>
                  <a:srgbClr val="FF0000"/>
                </a:solidFill>
                <a:latin typeface="Times New Roman"/>
                <a:ea typeface="Times New Roman"/>
                <a:cs typeface="Times New Roman"/>
                <a:sym typeface="Times New Roman"/>
              </a:rPr>
              <a:t>Chitkara University, Punjab</a:t>
            </a:r>
            <a:endParaRPr/>
          </a:p>
        </p:txBody>
      </p:sp>
      <p:sp>
        <p:nvSpPr>
          <p:cNvPr id="49" name="Google Shape;49;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Cloud Computing</a:t>
            </a:r>
            <a:endParaRPr/>
          </a:p>
        </p:txBody>
      </p:sp>
      <p:sp>
        <p:nvSpPr>
          <p:cNvPr id="50" name="Google Shape;50;p1"/>
          <p:cNvSpPr txBox="1"/>
          <p:nvPr>
            <p:ph idx="11" type="ftr"/>
          </p:nvPr>
        </p:nvSpPr>
        <p:spPr>
          <a:xfrm>
            <a:off x="3581400" y="6355443"/>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Sem.- 5</a:t>
            </a:r>
            <a:endParaRPr/>
          </a:p>
        </p:txBody>
      </p:sp>
      <p:sp>
        <p:nvSpPr>
          <p:cNvPr id="51" name="Google Shape;51;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2"/>
          <p:cNvSpPr txBox="1"/>
          <p:nvPr>
            <p:ph idx="1" type="body"/>
          </p:nvPr>
        </p:nvSpPr>
        <p:spPr>
          <a:xfrm>
            <a:off x="304800" y="1219200"/>
            <a:ext cx="8534400" cy="5137150"/>
          </a:xfrm>
          <a:prstGeom prst="rect">
            <a:avLst/>
          </a:prstGeom>
          <a:noFill/>
          <a:ln>
            <a:noFill/>
          </a:ln>
        </p:spPr>
        <p:txBody>
          <a:bodyPr anchorCtr="0" anchor="t" bIns="45700" lIns="91425" spcFirstLastPara="1" rIns="91425" wrap="square" tIns="45700">
            <a:normAutofit/>
          </a:bodyPr>
          <a:lstStyle/>
          <a:p>
            <a:pPr indent="-285750" lvl="0" marL="298450" marR="99695" rtl="0" algn="just">
              <a:lnSpc>
                <a:spcPct val="170000"/>
              </a:lnSpc>
              <a:spcBef>
                <a:spcPts val="0"/>
              </a:spcBef>
              <a:spcAft>
                <a:spcPts val="0"/>
              </a:spcAft>
              <a:buClr>
                <a:schemeClr val="dk1"/>
              </a:buClr>
              <a:buSzPts val="2000"/>
              <a:buChar char="•"/>
            </a:pPr>
            <a:r>
              <a:rPr lang="en-US" sz="2000"/>
              <a:t>Introduction to Data Protection </a:t>
            </a:r>
            <a:endParaRPr/>
          </a:p>
          <a:p>
            <a:pPr indent="-285750" lvl="0" marL="298450" marR="99695" rtl="0" algn="just">
              <a:lnSpc>
                <a:spcPct val="170000"/>
              </a:lnSpc>
              <a:spcBef>
                <a:spcPts val="10"/>
              </a:spcBef>
              <a:spcAft>
                <a:spcPts val="0"/>
              </a:spcAft>
              <a:buClr>
                <a:schemeClr val="dk1"/>
              </a:buClr>
              <a:buSzPts val="2000"/>
              <a:buChar char="•"/>
            </a:pPr>
            <a:r>
              <a:rPr lang="en-US" sz="2000"/>
              <a:t>Legal Frameworks for Data Protection </a:t>
            </a:r>
            <a:endParaRPr/>
          </a:p>
          <a:p>
            <a:pPr indent="-285750" lvl="0" marL="298450" marR="99695" rtl="0" algn="just">
              <a:lnSpc>
                <a:spcPct val="170000"/>
              </a:lnSpc>
              <a:spcBef>
                <a:spcPts val="10"/>
              </a:spcBef>
              <a:spcAft>
                <a:spcPts val="0"/>
              </a:spcAft>
              <a:buClr>
                <a:schemeClr val="dk1"/>
              </a:buClr>
              <a:buSzPts val="2000"/>
              <a:buChar char="•"/>
            </a:pPr>
            <a:r>
              <a:rPr lang="en-US" sz="2000"/>
              <a:t>Economic Implications of Data Protection </a:t>
            </a:r>
            <a:endParaRPr/>
          </a:p>
          <a:p>
            <a:pPr indent="-285750" lvl="0" marL="298450" marR="99695" rtl="0" algn="just">
              <a:lnSpc>
                <a:spcPct val="170000"/>
              </a:lnSpc>
              <a:spcBef>
                <a:spcPts val="10"/>
              </a:spcBef>
              <a:spcAft>
                <a:spcPts val="0"/>
              </a:spcAft>
              <a:buClr>
                <a:schemeClr val="dk1"/>
              </a:buClr>
              <a:buSzPts val="2000"/>
              <a:buChar char="•"/>
            </a:pPr>
            <a:r>
              <a:rPr lang="en-US" sz="2000"/>
              <a:t>Legal &amp; Economic Challenges in Data Protection</a:t>
            </a:r>
            <a:endParaRPr/>
          </a:p>
          <a:p>
            <a:pPr indent="-285750" lvl="0" marL="298450" marR="99695" rtl="0" algn="just">
              <a:lnSpc>
                <a:spcPct val="170000"/>
              </a:lnSpc>
              <a:spcBef>
                <a:spcPts val="10"/>
              </a:spcBef>
              <a:spcAft>
                <a:spcPts val="0"/>
              </a:spcAft>
              <a:buClr>
                <a:schemeClr val="dk1"/>
              </a:buClr>
              <a:buSzPts val="2000"/>
              <a:buChar char="•"/>
            </a:pPr>
            <a:r>
              <a:rPr lang="en-US" sz="2000"/>
              <a:t>Data Recovery and Protection Concepts</a:t>
            </a:r>
            <a:endParaRPr/>
          </a:p>
          <a:p>
            <a:pPr indent="-285750" lvl="0" marL="298450" marR="99695" rtl="0" algn="just">
              <a:lnSpc>
                <a:spcPct val="170000"/>
              </a:lnSpc>
              <a:spcBef>
                <a:spcPts val="10"/>
              </a:spcBef>
              <a:spcAft>
                <a:spcPts val="0"/>
              </a:spcAft>
              <a:buClr>
                <a:schemeClr val="dk1"/>
              </a:buClr>
              <a:buSzPts val="2000"/>
              <a:buChar char="•"/>
            </a:pPr>
            <a:r>
              <a:rPr lang="en-US" sz="2000"/>
              <a:t>Legal &amp; Economic Considerations in Data Recovery</a:t>
            </a:r>
            <a:endParaRPr/>
          </a:p>
          <a:p>
            <a:pPr indent="-285750" lvl="0" marL="298450" marR="99695" rtl="0" algn="just">
              <a:lnSpc>
                <a:spcPct val="170000"/>
              </a:lnSpc>
              <a:spcBef>
                <a:spcPts val="10"/>
              </a:spcBef>
              <a:spcAft>
                <a:spcPts val="0"/>
              </a:spcAft>
              <a:buClr>
                <a:schemeClr val="dk1"/>
              </a:buClr>
              <a:buSzPts val="2000"/>
              <a:buChar char="•"/>
            </a:pPr>
            <a:r>
              <a:rPr lang="en-US" sz="2000"/>
              <a:t>Backup Strategies</a:t>
            </a:r>
            <a:endParaRPr/>
          </a:p>
          <a:p>
            <a:pPr indent="-285750" lvl="0" marL="298450" marR="99695" rtl="0" algn="just">
              <a:lnSpc>
                <a:spcPct val="170000"/>
              </a:lnSpc>
              <a:spcBef>
                <a:spcPts val="10"/>
              </a:spcBef>
              <a:spcAft>
                <a:spcPts val="0"/>
              </a:spcAft>
              <a:buClr>
                <a:schemeClr val="dk1"/>
              </a:buClr>
              <a:buSzPts val="2000"/>
              <a:buChar char="•"/>
            </a:pPr>
            <a:r>
              <a:rPr lang="en-US" sz="2000"/>
              <a:t>Recovery Considerations</a:t>
            </a:r>
            <a:endParaRPr/>
          </a:p>
          <a:p>
            <a:pPr indent="-285750" lvl="0" marL="298450" marR="99695" rtl="0" algn="just">
              <a:lnSpc>
                <a:spcPct val="170000"/>
              </a:lnSpc>
              <a:spcBef>
                <a:spcPts val="10"/>
              </a:spcBef>
              <a:spcAft>
                <a:spcPts val="0"/>
              </a:spcAft>
              <a:buClr>
                <a:schemeClr val="dk1"/>
              </a:buClr>
              <a:buSzPts val="2000"/>
              <a:buChar char="•"/>
            </a:pPr>
            <a:r>
              <a:rPr lang="en-US" sz="2000"/>
              <a:t>Emerging Technologies in Data Protection</a:t>
            </a:r>
            <a:endParaRPr sz="2000">
              <a:solidFill>
                <a:srgbClr val="000000"/>
              </a:solidFill>
              <a:latin typeface="Cambria"/>
              <a:ea typeface="Cambria"/>
              <a:cs typeface="Cambria"/>
              <a:sym typeface="Cambria"/>
            </a:endParaRPr>
          </a:p>
          <a:p>
            <a:pPr indent="-158750" lvl="0" marL="298450" marR="99695" rtl="0" algn="just">
              <a:lnSpc>
                <a:spcPct val="170000"/>
              </a:lnSpc>
              <a:spcBef>
                <a:spcPts val="10"/>
              </a:spcBef>
              <a:spcAft>
                <a:spcPts val="0"/>
              </a:spcAft>
              <a:buClr>
                <a:schemeClr val="dk1"/>
              </a:buClr>
              <a:buSzPts val="2000"/>
              <a:buNone/>
            </a:pPr>
            <a:r>
              <a:t/>
            </a:r>
            <a:endParaRPr sz="2000">
              <a:solidFill>
                <a:srgbClr val="000000"/>
              </a:solidFill>
              <a:latin typeface="Cambria"/>
              <a:ea typeface="Cambria"/>
              <a:cs typeface="Cambria"/>
              <a:sym typeface="Cambria"/>
            </a:endParaRPr>
          </a:p>
          <a:p>
            <a:pPr indent="-165100" lvl="0" marL="298450" marR="99695" rtl="0" algn="just">
              <a:lnSpc>
                <a:spcPct val="170000"/>
              </a:lnSpc>
              <a:spcBef>
                <a:spcPts val="10"/>
              </a:spcBef>
              <a:spcAft>
                <a:spcPts val="0"/>
              </a:spcAft>
              <a:buClr>
                <a:schemeClr val="dk1"/>
              </a:buClr>
              <a:buSzPts val="1900"/>
              <a:buNone/>
            </a:pPr>
            <a:r>
              <a:t/>
            </a:r>
            <a:endParaRPr b="0" sz="1900">
              <a:solidFill>
                <a:srgbClr val="000000"/>
              </a:solidFill>
              <a:latin typeface="Cambria"/>
              <a:ea typeface="Cambria"/>
              <a:cs typeface="Cambria"/>
              <a:sym typeface="Cambria"/>
            </a:endParaRPr>
          </a:p>
          <a:p>
            <a:pPr indent="-165100" lvl="0" marL="298450" marR="99695" rtl="0" algn="just">
              <a:lnSpc>
                <a:spcPct val="170000"/>
              </a:lnSpc>
              <a:spcBef>
                <a:spcPts val="10"/>
              </a:spcBef>
              <a:spcAft>
                <a:spcPts val="0"/>
              </a:spcAft>
              <a:buClr>
                <a:schemeClr val="dk1"/>
              </a:buClr>
              <a:buSzPts val="1900"/>
              <a:buNone/>
            </a:pPr>
            <a:r>
              <a:t/>
            </a:r>
            <a:endParaRPr b="0" sz="1900">
              <a:solidFill>
                <a:srgbClr val="000000"/>
              </a:solidFill>
              <a:latin typeface="Cambria"/>
              <a:ea typeface="Cambria"/>
              <a:cs typeface="Cambria"/>
              <a:sym typeface="Cambria"/>
            </a:endParaRPr>
          </a:p>
          <a:p>
            <a:pPr indent="-165100" lvl="0" marL="298450" marR="99695" rtl="0" algn="just">
              <a:lnSpc>
                <a:spcPct val="170000"/>
              </a:lnSpc>
              <a:spcBef>
                <a:spcPts val="10"/>
              </a:spcBef>
              <a:spcAft>
                <a:spcPts val="0"/>
              </a:spcAft>
              <a:buClr>
                <a:schemeClr val="dk1"/>
              </a:buClr>
              <a:buSzPts val="1900"/>
              <a:buNone/>
            </a:pPr>
            <a:r>
              <a:t/>
            </a:r>
            <a:endParaRPr b="0" sz="1900">
              <a:solidFill>
                <a:srgbClr val="000000"/>
              </a:solidFill>
              <a:latin typeface="Cambria"/>
              <a:ea typeface="Cambria"/>
              <a:cs typeface="Cambria"/>
              <a:sym typeface="Cambria"/>
            </a:endParaRPr>
          </a:p>
          <a:p>
            <a:pPr indent="-165100" lvl="0" marL="298450" marR="99695" rtl="0" algn="just">
              <a:lnSpc>
                <a:spcPct val="170000"/>
              </a:lnSpc>
              <a:spcBef>
                <a:spcPts val="10"/>
              </a:spcBef>
              <a:spcAft>
                <a:spcPts val="0"/>
              </a:spcAft>
              <a:buClr>
                <a:schemeClr val="dk1"/>
              </a:buClr>
              <a:buSzPts val="1900"/>
              <a:buNone/>
            </a:pPr>
            <a:r>
              <a:t/>
            </a:r>
            <a:endParaRPr b="0" sz="1900">
              <a:solidFill>
                <a:srgbClr val="000000"/>
              </a:solidFill>
              <a:latin typeface="Cambria"/>
              <a:ea typeface="Cambria"/>
              <a:cs typeface="Cambria"/>
              <a:sym typeface="Cambria"/>
            </a:endParaRPr>
          </a:p>
          <a:p>
            <a:pPr indent="-165100" lvl="0" marL="298450" marR="99695" rtl="0" algn="just">
              <a:lnSpc>
                <a:spcPct val="170000"/>
              </a:lnSpc>
              <a:spcBef>
                <a:spcPts val="10"/>
              </a:spcBef>
              <a:spcAft>
                <a:spcPts val="0"/>
              </a:spcAft>
              <a:buClr>
                <a:schemeClr val="dk1"/>
              </a:buClr>
              <a:buSzPts val="1900"/>
              <a:buNone/>
            </a:pPr>
            <a:r>
              <a:t/>
            </a:r>
            <a:endParaRPr b="0" sz="1900">
              <a:solidFill>
                <a:srgbClr val="000000"/>
              </a:solidFill>
              <a:latin typeface="Cambria"/>
              <a:ea typeface="Cambria"/>
              <a:cs typeface="Cambria"/>
              <a:sym typeface="Cambria"/>
            </a:endParaRPr>
          </a:p>
          <a:p>
            <a:pPr indent="-165100" lvl="0" marL="298450" marR="99695" rtl="0" algn="just">
              <a:lnSpc>
                <a:spcPct val="170000"/>
              </a:lnSpc>
              <a:spcBef>
                <a:spcPts val="10"/>
              </a:spcBef>
              <a:spcAft>
                <a:spcPts val="0"/>
              </a:spcAft>
              <a:buClr>
                <a:schemeClr val="dk1"/>
              </a:buClr>
              <a:buSzPts val="1900"/>
              <a:buNone/>
            </a:pPr>
            <a:r>
              <a:t/>
            </a:r>
            <a:endParaRPr b="0" sz="1900">
              <a:solidFill>
                <a:srgbClr val="000000"/>
              </a:solidFill>
              <a:latin typeface="Cambria"/>
              <a:ea typeface="Cambria"/>
              <a:cs typeface="Cambria"/>
              <a:sym typeface="Cambria"/>
            </a:endParaRPr>
          </a:p>
          <a:p>
            <a:pPr indent="-165100" lvl="0" marL="298450" marR="99695" rtl="0" algn="just">
              <a:lnSpc>
                <a:spcPct val="170000"/>
              </a:lnSpc>
              <a:spcBef>
                <a:spcPts val="10"/>
              </a:spcBef>
              <a:spcAft>
                <a:spcPts val="0"/>
              </a:spcAft>
              <a:buClr>
                <a:schemeClr val="dk1"/>
              </a:buClr>
              <a:buSzPts val="1900"/>
              <a:buNone/>
            </a:pPr>
            <a:r>
              <a:t/>
            </a:r>
            <a:endParaRPr b="0" sz="1900">
              <a:solidFill>
                <a:srgbClr val="000000"/>
              </a:solidFill>
              <a:latin typeface="Cambria"/>
              <a:ea typeface="Cambria"/>
              <a:cs typeface="Cambria"/>
              <a:sym typeface="Cambria"/>
            </a:endParaRPr>
          </a:p>
          <a:p>
            <a:pPr indent="-165100" lvl="0" marL="298450" marR="99695" rtl="0" algn="just">
              <a:lnSpc>
                <a:spcPct val="170000"/>
              </a:lnSpc>
              <a:spcBef>
                <a:spcPts val="10"/>
              </a:spcBef>
              <a:spcAft>
                <a:spcPts val="0"/>
              </a:spcAft>
              <a:buClr>
                <a:schemeClr val="dk1"/>
              </a:buClr>
              <a:buSzPts val="1900"/>
              <a:buNone/>
            </a:pPr>
            <a:r>
              <a:t/>
            </a:r>
            <a:endParaRPr b="0" sz="1900">
              <a:solidFill>
                <a:srgbClr val="000000"/>
              </a:solidFill>
              <a:latin typeface="Cambria"/>
              <a:ea typeface="Cambria"/>
              <a:cs typeface="Cambria"/>
              <a:sym typeface="Cambria"/>
            </a:endParaRPr>
          </a:p>
          <a:p>
            <a:pPr indent="-165100" lvl="0" marL="298450" marR="99695" rtl="0" algn="just">
              <a:lnSpc>
                <a:spcPct val="170000"/>
              </a:lnSpc>
              <a:spcBef>
                <a:spcPts val="10"/>
              </a:spcBef>
              <a:spcAft>
                <a:spcPts val="0"/>
              </a:spcAft>
              <a:buClr>
                <a:schemeClr val="dk1"/>
              </a:buClr>
              <a:buSzPts val="1900"/>
              <a:buNone/>
            </a:pPr>
            <a:r>
              <a:t/>
            </a:r>
            <a:endParaRPr b="0" sz="1900">
              <a:solidFill>
                <a:srgbClr val="000000"/>
              </a:solidFill>
              <a:latin typeface="Cambria"/>
              <a:ea typeface="Cambria"/>
              <a:cs typeface="Cambria"/>
              <a:sym typeface="Cambria"/>
            </a:endParaRPr>
          </a:p>
          <a:p>
            <a:pPr indent="-165100" lvl="0" marL="298450" marR="99695" rtl="0" algn="just">
              <a:lnSpc>
                <a:spcPct val="170000"/>
              </a:lnSpc>
              <a:spcBef>
                <a:spcPts val="10"/>
              </a:spcBef>
              <a:spcAft>
                <a:spcPts val="0"/>
              </a:spcAft>
              <a:buClr>
                <a:schemeClr val="dk1"/>
              </a:buClr>
              <a:buSzPts val="1900"/>
              <a:buNone/>
            </a:pPr>
            <a:r>
              <a:t/>
            </a:r>
            <a:endParaRPr b="0" sz="1900">
              <a:solidFill>
                <a:srgbClr val="000000"/>
              </a:solidFill>
              <a:latin typeface="Cambria"/>
              <a:ea typeface="Cambria"/>
              <a:cs typeface="Cambria"/>
              <a:sym typeface="Cambria"/>
            </a:endParaRPr>
          </a:p>
          <a:p>
            <a:pPr indent="-165100" lvl="0" marL="298450" marR="99695" rtl="0" algn="just">
              <a:lnSpc>
                <a:spcPct val="170000"/>
              </a:lnSpc>
              <a:spcBef>
                <a:spcPts val="10"/>
              </a:spcBef>
              <a:spcAft>
                <a:spcPts val="0"/>
              </a:spcAft>
              <a:buClr>
                <a:schemeClr val="dk1"/>
              </a:buClr>
              <a:buSzPts val="1900"/>
              <a:buNone/>
            </a:pPr>
            <a:r>
              <a:t/>
            </a:r>
            <a:endParaRPr b="0" sz="1900">
              <a:solidFill>
                <a:srgbClr val="000000"/>
              </a:solidFill>
              <a:latin typeface="Cambria"/>
              <a:ea typeface="Cambria"/>
              <a:cs typeface="Cambria"/>
              <a:sym typeface="Cambria"/>
            </a:endParaRPr>
          </a:p>
          <a:p>
            <a:pPr indent="-165100" lvl="0" marL="298450" marR="99695" rtl="0" algn="just">
              <a:lnSpc>
                <a:spcPct val="170000"/>
              </a:lnSpc>
              <a:spcBef>
                <a:spcPts val="10"/>
              </a:spcBef>
              <a:spcAft>
                <a:spcPts val="0"/>
              </a:spcAft>
              <a:buClr>
                <a:schemeClr val="dk1"/>
              </a:buClr>
              <a:buSzPts val="1900"/>
              <a:buNone/>
            </a:pPr>
            <a:r>
              <a:t/>
            </a:r>
            <a:endParaRPr b="0" sz="1900">
              <a:solidFill>
                <a:srgbClr val="000000"/>
              </a:solidFill>
              <a:latin typeface="Cambria"/>
              <a:ea typeface="Cambria"/>
              <a:cs typeface="Cambria"/>
              <a:sym typeface="Cambria"/>
            </a:endParaRPr>
          </a:p>
          <a:p>
            <a:pPr indent="-165100" lvl="0" marL="298450" marR="99695" rtl="0" algn="just">
              <a:lnSpc>
                <a:spcPct val="170000"/>
              </a:lnSpc>
              <a:spcBef>
                <a:spcPts val="10"/>
              </a:spcBef>
              <a:spcAft>
                <a:spcPts val="0"/>
              </a:spcAft>
              <a:buClr>
                <a:schemeClr val="dk1"/>
              </a:buClr>
              <a:buSzPts val="1900"/>
              <a:buNone/>
            </a:pPr>
            <a:r>
              <a:t/>
            </a:r>
            <a:endParaRPr b="0" sz="1900">
              <a:solidFill>
                <a:srgbClr val="000000"/>
              </a:solidFill>
              <a:latin typeface="Cambria"/>
              <a:ea typeface="Cambria"/>
              <a:cs typeface="Cambria"/>
              <a:sym typeface="Cambria"/>
            </a:endParaRPr>
          </a:p>
          <a:p>
            <a:pPr indent="-165100" lvl="0" marL="298450" marR="99695" rtl="0" algn="just">
              <a:lnSpc>
                <a:spcPct val="170000"/>
              </a:lnSpc>
              <a:spcBef>
                <a:spcPts val="10"/>
              </a:spcBef>
              <a:spcAft>
                <a:spcPts val="0"/>
              </a:spcAft>
              <a:buClr>
                <a:schemeClr val="dk1"/>
              </a:buClr>
              <a:buSzPts val="1900"/>
              <a:buNone/>
            </a:pPr>
            <a:r>
              <a:t/>
            </a:r>
            <a:endParaRPr b="0" sz="1900">
              <a:solidFill>
                <a:srgbClr val="000000"/>
              </a:solidFill>
              <a:latin typeface="Cambria"/>
              <a:ea typeface="Cambria"/>
              <a:cs typeface="Cambria"/>
              <a:sym typeface="Cambria"/>
            </a:endParaRPr>
          </a:p>
          <a:p>
            <a:pPr indent="-203200" lvl="0" marL="342900" rtl="0" algn="l">
              <a:spcBef>
                <a:spcPts val="440"/>
              </a:spcBef>
              <a:spcAft>
                <a:spcPts val="0"/>
              </a:spcAft>
              <a:buClr>
                <a:schemeClr val="dk1"/>
              </a:buClr>
              <a:buSzPts val="2200"/>
              <a:buNone/>
            </a:pPr>
            <a:r>
              <a:t/>
            </a:r>
            <a:endParaRPr/>
          </a:p>
        </p:txBody>
      </p:sp>
      <p:sp>
        <p:nvSpPr>
          <p:cNvPr id="57" name="Google Shape;57;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8" name="Google Shape;58;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Cloud Computing</a:t>
            </a:r>
            <a:endParaRPr/>
          </a:p>
        </p:txBody>
      </p:sp>
      <p:sp>
        <p:nvSpPr>
          <p:cNvPr id="59" name="Google Shape;59;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Sem.- 5</a:t>
            </a:r>
            <a:endParaRPr/>
          </a:p>
        </p:txBody>
      </p:sp>
      <p:sp>
        <p:nvSpPr>
          <p:cNvPr id="60" name="Google Shape;60;p2"/>
          <p:cNvSpPr txBox="1"/>
          <p:nvPr/>
        </p:nvSpPr>
        <p:spPr>
          <a:xfrm>
            <a:off x="457200" y="158296"/>
            <a:ext cx="459377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0000"/>
              </a:buClr>
              <a:buSzPts val="3200"/>
              <a:buFont typeface="Cambria"/>
              <a:buNone/>
            </a:pPr>
            <a:r>
              <a:rPr b="1" lang="en-US" sz="3200">
                <a:solidFill>
                  <a:srgbClr val="000000"/>
                </a:solidFill>
                <a:latin typeface="Cambria"/>
                <a:ea typeface="Cambria"/>
                <a:cs typeface="Cambria"/>
                <a:sym typeface="Cambria"/>
              </a:rPr>
              <a:t>Contents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6" name="Google Shape;66;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Cloud Computing</a:t>
            </a:r>
            <a:endParaRPr/>
          </a:p>
        </p:txBody>
      </p:sp>
      <p:sp>
        <p:nvSpPr>
          <p:cNvPr id="67" name="Google Shape;67;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Sem.- 5</a:t>
            </a:r>
            <a:endParaRPr/>
          </a:p>
        </p:txBody>
      </p:sp>
      <p:sp>
        <p:nvSpPr>
          <p:cNvPr id="68" name="Google Shape;68;p3"/>
          <p:cNvSpPr txBox="1"/>
          <p:nvPr/>
        </p:nvSpPr>
        <p:spPr>
          <a:xfrm>
            <a:off x="304800" y="215056"/>
            <a:ext cx="7130143" cy="5539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000">
                <a:solidFill>
                  <a:srgbClr val="000000"/>
                </a:solidFill>
                <a:latin typeface="Cambria"/>
                <a:ea typeface="Cambria"/>
                <a:cs typeface="Cambria"/>
                <a:sym typeface="Cambria"/>
              </a:rPr>
              <a:t>Data Protection </a:t>
            </a:r>
            <a:endParaRPr/>
          </a:p>
        </p:txBody>
      </p:sp>
      <p:sp>
        <p:nvSpPr>
          <p:cNvPr id="69" name="Google Shape;69;p3"/>
          <p:cNvSpPr txBox="1"/>
          <p:nvPr/>
        </p:nvSpPr>
        <p:spPr>
          <a:xfrm>
            <a:off x="533400" y="1160571"/>
            <a:ext cx="7848600" cy="458074"/>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chemeClr val="dk1"/>
              </a:buClr>
              <a:buSzPts val="1800"/>
              <a:buFont typeface="Arial"/>
              <a:buNone/>
            </a:pPr>
            <a:r>
              <a:t/>
            </a:r>
            <a:endParaRPr sz="1800">
              <a:solidFill>
                <a:schemeClr val="dk1"/>
              </a:solidFill>
              <a:latin typeface="Times New Roman"/>
              <a:ea typeface="Times New Roman"/>
              <a:cs typeface="Times New Roman"/>
              <a:sym typeface="Times New Roman"/>
            </a:endParaRPr>
          </a:p>
        </p:txBody>
      </p:sp>
      <p:sp>
        <p:nvSpPr>
          <p:cNvPr id="70" name="Google Shape;70;p3"/>
          <p:cNvSpPr txBox="1"/>
          <p:nvPr/>
        </p:nvSpPr>
        <p:spPr>
          <a:xfrm>
            <a:off x="228601" y="990600"/>
            <a:ext cx="8381999" cy="6059608"/>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None/>
            </a:pPr>
            <a:r>
              <a:rPr lang="en-US" sz="1800">
                <a:solidFill>
                  <a:schemeClr val="dk1"/>
                </a:solidFill>
                <a:latin typeface="Times New Roman"/>
                <a:ea typeface="Times New Roman"/>
                <a:cs typeface="Times New Roman"/>
                <a:sym typeface="Times New Roman"/>
              </a:rPr>
              <a:t>The proliferation of cloud computing has transformed how organizations store, process, and manage data. However, as businesses increasingly depend on cloud-based infrastructure, concerns around data protection, recovery, and backup have become more complex. Data is now distributed across global networks, creating legal and economic challenges that demand a balance between innovation, compliance, and security.</a:t>
            </a:r>
            <a:endParaRPr/>
          </a:p>
          <a:p>
            <a:pPr indent="457200" lvl="0" marL="457200" marR="0" rtl="0" algn="just">
              <a:lnSpc>
                <a:spcPct val="150000"/>
              </a:lnSpc>
              <a:spcBef>
                <a:spcPts val="1200"/>
              </a:spcBef>
              <a:spcAft>
                <a:spcPts val="0"/>
              </a:spcAft>
              <a:buNone/>
            </a:pPr>
            <a:r>
              <a:rPr b="1" lang="en-US" sz="1800">
                <a:solidFill>
                  <a:schemeClr val="dk1"/>
                </a:solidFill>
                <a:latin typeface="Times New Roman"/>
                <a:ea typeface="Times New Roman"/>
                <a:cs typeface="Times New Roman"/>
                <a:sym typeface="Times New Roman"/>
              </a:rPr>
              <a:t>Data protection </a:t>
            </a:r>
            <a:r>
              <a:rPr lang="en-US" sz="1800">
                <a:solidFill>
                  <a:schemeClr val="dk1"/>
                </a:solidFill>
                <a:latin typeface="Times New Roman"/>
                <a:ea typeface="Times New Roman"/>
                <a:cs typeface="Times New Roman"/>
                <a:sym typeface="Times New Roman"/>
              </a:rPr>
              <a:t>refers to the set of laws, policies, and practices designed to ensure that personal or sensitive information is collected, stored, processed, and shared in a secure and lawful way.</a:t>
            </a:r>
            <a:endParaRPr/>
          </a:p>
          <a:p>
            <a:pPr indent="457200" lvl="0" marL="457200" marR="0" rtl="0" algn="just">
              <a:lnSpc>
                <a:spcPct val="150000"/>
              </a:lnSpc>
              <a:spcBef>
                <a:spcPts val="1200"/>
              </a:spcBef>
              <a:spcAft>
                <a:spcPts val="0"/>
              </a:spcAft>
              <a:buNone/>
            </a:pPr>
            <a:r>
              <a:rPr lang="en-US" sz="1800">
                <a:solidFill>
                  <a:schemeClr val="dk1"/>
                </a:solidFill>
                <a:latin typeface="Times New Roman"/>
                <a:ea typeface="Times New Roman"/>
                <a:cs typeface="Times New Roman"/>
                <a:sym typeface="Times New Roman"/>
              </a:rPr>
              <a:t>In simple terms, data protection means keeping people’s information safe and used fairly.</a:t>
            </a:r>
            <a:endParaRPr/>
          </a:p>
          <a:p>
            <a:pPr indent="457200" lvl="0" marL="457200" marR="0" rtl="0" algn="just">
              <a:lnSpc>
                <a:spcPct val="150000"/>
              </a:lnSpc>
              <a:spcBef>
                <a:spcPts val="1200"/>
              </a:spcBef>
              <a:spcAft>
                <a:spcPts val="0"/>
              </a:spcAft>
              <a:buNone/>
            </a:pPr>
            <a:r>
              <a:t/>
            </a:r>
            <a:endParaRPr sz="1800">
              <a:solidFill>
                <a:schemeClr val="dk1"/>
              </a:solidFill>
              <a:latin typeface="Times New Roman"/>
              <a:ea typeface="Times New Roman"/>
              <a:cs typeface="Times New Roman"/>
              <a:sym typeface="Times New Roman"/>
            </a:endParaRPr>
          </a:p>
          <a:p>
            <a:pPr indent="457200" lvl="0" marL="457200" marR="0" rtl="0" algn="just">
              <a:lnSpc>
                <a:spcPct val="150000"/>
              </a:lnSpc>
              <a:spcBef>
                <a:spcPts val="1200"/>
              </a:spcBef>
              <a:spcAft>
                <a:spcPts val="0"/>
              </a:spcAft>
              <a:buClr>
                <a:schemeClr val="dk1"/>
              </a:buClr>
              <a:buSzPts val="1800"/>
              <a:buFont typeface="Arial"/>
              <a:buNone/>
            </a:pPr>
            <a:r>
              <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76" name="Google Shape;76;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Cloud Computing</a:t>
            </a:r>
            <a:endParaRPr/>
          </a:p>
        </p:txBody>
      </p:sp>
      <p:sp>
        <p:nvSpPr>
          <p:cNvPr id="77" name="Google Shape;77;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Sem.- 5</a:t>
            </a:r>
            <a:endParaRPr/>
          </a:p>
        </p:txBody>
      </p:sp>
      <p:sp>
        <p:nvSpPr>
          <p:cNvPr id="78" name="Google Shape;78;p4"/>
          <p:cNvSpPr txBox="1"/>
          <p:nvPr/>
        </p:nvSpPr>
        <p:spPr>
          <a:xfrm>
            <a:off x="152400" y="207249"/>
            <a:ext cx="6400800" cy="98488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000000"/>
                </a:solidFill>
                <a:latin typeface="Cambria"/>
                <a:ea typeface="Cambria"/>
                <a:cs typeface="Cambria"/>
                <a:sym typeface="Cambria"/>
              </a:rPr>
              <a:t>Legal Frameworks for Data Protection </a:t>
            </a:r>
            <a:endParaRPr/>
          </a:p>
          <a:p>
            <a:pPr indent="0" lvl="0" marL="0" marR="0" rtl="0" algn="l">
              <a:spcBef>
                <a:spcPts val="0"/>
              </a:spcBef>
              <a:spcAft>
                <a:spcPts val="0"/>
              </a:spcAft>
              <a:buNone/>
            </a:pPr>
            <a:r>
              <a:t/>
            </a:r>
            <a:endParaRPr b="1" sz="3000">
              <a:solidFill>
                <a:srgbClr val="000000"/>
              </a:solidFill>
              <a:latin typeface="Cambria"/>
              <a:ea typeface="Cambria"/>
              <a:cs typeface="Cambria"/>
              <a:sym typeface="Cambria"/>
            </a:endParaRPr>
          </a:p>
        </p:txBody>
      </p:sp>
      <p:sp>
        <p:nvSpPr>
          <p:cNvPr id="79" name="Google Shape;79;p4"/>
          <p:cNvSpPr txBox="1"/>
          <p:nvPr/>
        </p:nvSpPr>
        <p:spPr>
          <a:xfrm>
            <a:off x="264816" y="1074509"/>
            <a:ext cx="8421984" cy="5262979"/>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Clr>
                <a:schemeClr val="dk1"/>
              </a:buClr>
              <a:buSzPts val="1800"/>
              <a:buFont typeface="Times New Roman"/>
              <a:buNone/>
            </a:pPr>
            <a:r>
              <a:rPr lang="en-US" sz="1800">
                <a:solidFill>
                  <a:schemeClr val="dk1"/>
                </a:solidFill>
                <a:latin typeface="Times New Roman"/>
                <a:ea typeface="Times New Roman"/>
                <a:cs typeface="Times New Roman"/>
                <a:sym typeface="Times New Roman"/>
              </a:rPr>
              <a:t>A data protection legal framework is a structured system of rules designed to ensure the privacy, security, and lawful use of personal data. It provides the foundation for protecting individuals’ rights in the digital environment and holding organizations accountable for how they manage data.</a:t>
            </a:r>
            <a:endParaRPr/>
          </a:p>
          <a:p>
            <a:pPr indent="457200" lvl="0" marL="457200" marR="0" rtl="0" algn="just">
              <a:lnSpc>
                <a:spcPct val="150000"/>
              </a:lnSpc>
              <a:spcBef>
                <a:spcPts val="1200"/>
              </a:spcBef>
              <a:spcAft>
                <a:spcPts val="0"/>
              </a:spcAft>
              <a:buClr>
                <a:schemeClr val="dk1"/>
              </a:buClr>
              <a:buSzPts val="1800"/>
              <a:buFont typeface="Times New Roman"/>
              <a:buNone/>
            </a:pPr>
            <a:r>
              <a:rPr b="1" lang="en-US" sz="1800">
                <a:solidFill>
                  <a:schemeClr val="dk1"/>
                </a:solidFill>
                <a:latin typeface="Times New Roman"/>
                <a:ea typeface="Times New Roman"/>
                <a:cs typeface="Times New Roman"/>
                <a:sym typeface="Times New Roman"/>
              </a:rPr>
              <a:t>Objectives </a:t>
            </a:r>
            <a:endParaRPr/>
          </a:p>
          <a:p>
            <a:pPr indent="-342900" lvl="0" marL="1149350" marR="0" rtl="0" algn="just">
              <a:spcBef>
                <a:spcPts val="120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Protect individual privacy and prevent misuse of personal data.</a:t>
            </a:r>
            <a:endParaRPr/>
          </a:p>
          <a:p>
            <a:pPr indent="-342900" lvl="0" marL="1149350" marR="0" rtl="0" algn="just">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Regulate data collection and processing by public and private entities.</a:t>
            </a:r>
            <a:endParaRPr/>
          </a:p>
          <a:p>
            <a:pPr indent="-342900" lvl="0" marL="1149350" marR="0" rtl="0" algn="just">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Define accountability for organizations that mange or process data.</a:t>
            </a:r>
            <a:endParaRPr/>
          </a:p>
          <a:p>
            <a:pPr indent="-342900" lvl="0" marL="1149350" marR="0" rtl="0" algn="just">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Enable enforcement through data protection authorities and penalties for non-compliance.</a:t>
            </a:r>
            <a:endParaRPr/>
          </a:p>
          <a:p>
            <a:pPr indent="-342900" lvl="0" marL="1149350" marR="0" rtl="0" algn="just">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Facilitate international cooperation for cross-border data flows under lawful conditions.</a:t>
            </a:r>
            <a:endParaRPr/>
          </a:p>
          <a:p>
            <a:pPr indent="457200" lvl="0" marL="457200" marR="0" rtl="0" algn="just">
              <a:lnSpc>
                <a:spcPct val="150000"/>
              </a:lnSpc>
              <a:spcBef>
                <a:spcPts val="0"/>
              </a:spcBef>
              <a:spcAft>
                <a:spcPts val="0"/>
              </a:spcAft>
              <a:buClr>
                <a:schemeClr val="dk1"/>
              </a:buClr>
              <a:buSzPts val="1800"/>
              <a:buFont typeface="Arial"/>
              <a:buNone/>
            </a:pPr>
            <a:r>
              <a:t/>
            </a:r>
            <a:endParaRPr b="1" sz="1800">
              <a:solidFill>
                <a:schemeClr val="dk1"/>
              </a:solidFill>
              <a:latin typeface="Times New Roman"/>
              <a:ea typeface="Times New Roman"/>
              <a:cs typeface="Times New Roman"/>
              <a:sym typeface="Times New Roman"/>
            </a:endParaRPr>
          </a:p>
          <a:p>
            <a:pPr indent="0" lvl="0" marL="457200" marR="0" rtl="0" algn="just">
              <a:spcBef>
                <a:spcPts val="1200"/>
              </a:spcBef>
              <a:spcAft>
                <a:spcPts val="0"/>
              </a:spcAft>
              <a:buNone/>
            </a:pPr>
            <a:r>
              <a:rPr lang="en-US" sz="1800">
                <a:solidFill>
                  <a:schemeClr val="dk1"/>
                </a:solidFill>
                <a:latin typeface="Times New Roman"/>
                <a:ea typeface="Times New Roman"/>
                <a:cs typeface="Times New Roman"/>
                <a:sym typeface="Times New Roman"/>
              </a:rPr>
              <a:t>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5"/>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85" name="Google Shape;85;p5"/>
          <p:cNvSpPr txBox="1"/>
          <p:nvPr>
            <p:ph idx="1" type="body"/>
          </p:nvPr>
        </p:nvSpPr>
        <p:spPr>
          <a:xfrm>
            <a:off x="457200" y="1371600"/>
            <a:ext cx="8229600" cy="45259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None/>
            </a:pPr>
            <a:r>
              <a:rPr b="1" lang="en-US" sz="1800"/>
              <a:t>Examples of Major Legal Frameworks</a:t>
            </a:r>
            <a:endParaRPr/>
          </a:p>
          <a:p>
            <a:pPr indent="0" lvl="0" marL="0" rtl="0" algn="l">
              <a:spcBef>
                <a:spcPts val="360"/>
              </a:spcBef>
              <a:spcAft>
                <a:spcPts val="0"/>
              </a:spcAft>
              <a:buClr>
                <a:schemeClr val="dk1"/>
              </a:buClr>
              <a:buSzPts val="1800"/>
              <a:buNone/>
            </a:pPr>
            <a:r>
              <a:t/>
            </a:r>
            <a:endParaRPr b="1" sz="1800"/>
          </a:p>
          <a:p>
            <a:pPr indent="-342900" lvl="0" marL="342900" rtl="0" algn="l">
              <a:spcBef>
                <a:spcPts val="360"/>
              </a:spcBef>
              <a:spcAft>
                <a:spcPts val="0"/>
              </a:spcAft>
              <a:buClr>
                <a:schemeClr val="dk1"/>
              </a:buClr>
              <a:buSzPts val="1800"/>
              <a:buChar char="•"/>
            </a:pPr>
            <a:r>
              <a:rPr b="1" lang="en-US" sz="1800"/>
              <a:t>GDPR (General Data Protection Regulation, EU)</a:t>
            </a:r>
            <a:r>
              <a:rPr lang="en-US" sz="1800"/>
              <a:t> – the most comprehensive and influential global data protection law.</a:t>
            </a:r>
            <a:endParaRPr/>
          </a:p>
          <a:p>
            <a:pPr indent="-342900" lvl="0" marL="342900" rtl="0" algn="l">
              <a:spcBef>
                <a:spcPts val="360"/>
              </a:spcBef>
              <a:spcAft>
                <a:spcPts val="0"/>
              </a:spcAft>
              <a:buClr>
                <a:schemeClr val="dk1"/>
              </a:buClr>
              <a:buSzPts val="1800"/>
              <a:buChar char="•"/>
            </a:pPr>
            <a:r>
              <a:rPr b="1" lang="en-US" sz="1800"/>
              <a:t>CCPA/CPRA (California Consumer Privacy Act / Privacy Rights Act, USA)</a:t>
            </a:r>
            <a:r>
              <a:rPr lang="en-US" sz="1800"/>
              <a:t> – focuses on consumer rights and transparency.</a:t>
            </a:r>
            <a:endParaRPr/>
          </a:p>
          <a:p>
            <a:pPr indent="-342900" lvl="0" marL="342900" rtl="0" algn="l">
              <a:spcBef>
                <a:spcPts val="360"/>
              </a:spcBef>
              <a:spcAft>
                <a:spcPts val="0"/>
              </a:spcAft>
              <a:buClr>
                <a:schemeClr val="dk1"/>
              </a:buClr>
              <a:buSzPts val="1800"/>
              <a:buChar char="•"/>
            </a:pPr>
            <a:r>
              <a:rPr b="1" lang="en-US" sz="1800"/>
              <a:t>Digital Personal Data Protection Act, 2023 (India)</a:t>
            </a:r>
            <a:r>
              <a:rPr lang="en-US" sz="1800"/>
              <a:t> – establishes consent-based processing and data fiduciary accountability.</a:t>
            </a:r>
            <a:endParaRPr/>
          </a:p>
          <a:p>
            <a:pPr indent="-342900" lvl="0" marL="342900" rtl="0" algn="l">
              <a:spcBef>
                <a:spcPts val="360"/>
              </a:spcBef>
              <a:spcAft>
                <a:spcPts val="0"/>
              </a:spcAft>
              <a:buClr>
                <a:schemeClr val="dk1"/>
              </a:buClr>
              <a:buSzPts val="1800"/>
              <a:buChar char="•"/>
            </a:pPr>
            <a:r>
              <a:rPr b="1" lang="en-US" sz="1800"/>
              <a:t>UK Data Protection Act, 2018</a:t>
            </a:r>
            <a:r>
              <a:rPr lang="en-US" sz="1800"/>
              <a:t> – implements and supplements the GDPR in the UK.</a:t>
            </a:r>
            <a:endParaRPr/>
          </a:p>
          <a:p>
            <a:pPr indent="-342900" lvl="0" marL="342900" rtl="0" algn="l">
              <a:spcBef>
                <a:spcPts val="360"/>
              </a:spcBef>
              <a:spcAft>
                <a:spcPts val="0"/>
              </a:spcAft>
              <a:buClr>
                <a:schemeClr val="dk1"/>
              </a:buClr>
              <a:buSzPts val="1800"/>
              <a:buChar char="•"/>
            </a:pPr>
            <a:r>
              <a:rPr b="1" lang="en-US" sz="1800"/>
              <a:t>APEC Privacy Framework (Asia-Pacific)</a:t>
            </a:r>
            <a:r>
              <a:rPr lang="en-US" sz="1800"/>
              <a:t> – promotes cross-border data flow with privacy protection principles.</a:t>
            </a:r>
            <a:endParaRPr/>
          </a:p>
          <a:p>
            <a:pPr indent="-203200" lvl="0" marL="342900" rtl="0" algn="l">
              <a:spcBef>
                <a:spcPts val="440"/>
              </a:spcBef>
              <a:spcAft>
                <a:spcPts val="0"/>
              </a:spcAft>
              <a:buClr>
                <a:schemeClr val="dk1"/>
              </a:buClr>
              <a:buSzPts val="2200"/>
              <a:buNone/>
            </a:pPr>
            <a:r>
              <a:t/>
            </a:r>
            <a:endParaRPr/>
          </a:p>
        </p:txBody>
      </p:sp>
      <p:sp>
        <p:nvSpPr>
          <p:cNvPr id="86" name="Google Shape;86;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Cloud Computing</a:t>
            </a:r>
            <a:endParaRPr/>
          </a:p>
        </p:txBody>
      </p:sp>
      <p:sp>
        <p:nvSpPr>
          <p:cNvPr id="87" name="Google Shape;87;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Sem.- 5</a:t>
            </a:r>
            <a:endParaRPr/>
          </a:p>
        </p:txBody>
      </p:sp>
      <p:sp>
        <p:nvSpPr>
          <p:cNvPr id="88" name="Google Shape;88;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6"/>
          <p:cNvSpPr txBox="1"/>
          <p:nvPr>
            <p:ph type="title"/>
          </p:nvPr>
        </p:nvSpPr>
        <p:spPr>
          <a:xfrm>
            <a:off x="152400" y="0"/>
            <a:ext cx="7239000" cy="838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400">
                <a:solidFill>
                  <a:srgbClr val="000000"/>
                </a:solidFill>
                <a:latin typeface="Cambria"/>
                <a:ea typeface="Cambria"/>
                <a:cs typeface="Cambria"/>
                <a:sym typeface="Cambria"/>
              </a:rPr>
              <a:t>Economic Implications of Data Protection</a:t>
            </a:r>
            <a:endParaRPr/>
          </a:p>
        </p:txBody>
      </p:sp>
      <p:sp>
        <p:nvSpPr>
          <p:cNvPr id="94" name="Google Shape;94;p6"/>
          <p:cNvSpPr txBox="1"/>
          <p:nvPr>
            <p:ph idx="1" type="body"/>
          </p:nvPr>
        </p:nvSpPr>
        <p:spPr>
          <a:xfrm>
            <a:off x="457200" y="1371600"/>
            <a:ext cx="8229600" cy="4525963"/>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1800"/>
              <a:buChar char="•"/>
            </a:pPr>
            <a:r>
              <a:rPr lang="en-US" sz="1800"/>
              <a:t>Data protection laws have significant economic impacts on organizations and national economies. Compliance with regulations like the </a:t>
            </a:r>
            <a:r>
              <a:rPr b="1" lang="en-US" sz="1800"/>
              <a:t>GDPR</a:t>
            </a:r>
            <a:r>
              <a:rPr lang="en-US" sz="1800"/>
              <a:t> and </a:t>
            </a:r>
            <a:r>
              <a:rPr b="1" lang="en-US" sz="1800"/>
              <a:t>India’s DPDP Act</a:t>
            </a:r>
            <a:r>
              <a:rPr lang="en-US" sz="1800"/>
              <a:t> requires investments in secure IT infrastructure, legal expertise, and employee training, increasing operational costs—especially for small businesses.</a:t>
            </a:r>
            <a:endParaRPr/>
          </a:p>
          <a:p>
            <a:pPr indent="-228600" lvl="0" marL="342900" rtl="0" algn="just">
              <a:spcBef>
                <a:spcPts val="360"/>
              </a:spcBef>
              <a:spcAft>
                <a:spcPts val="0"/>
              </a:spcAft>
              <a:buClr>
                <a:schemeClr val="dk1"/>
              </a:buClr>
              <a:buSzPts val="1800"/>
              <a:buNone/>
            </a:pPr>
            <a:r>
              <a:t/>
            </a:r>
            <a:endParaRPr sz="1800"/>
          </a:p>
          <a:p>
            <a:pPr indent="-342900" lvl="0" marL="342900" rtl="0" algn="just">
              <a:spcBef>
                <a:spcPts val="360"/>
              </a:spcBef>
              <a:spcAft>
                <a:spcPts val="0"/>
              </a:spcAft>
              <a:buClr>
                <a:schemeClr val="dk1"/>
              </a:buClr>
              <a:buSzPts val="1800"/>
              <a:buChar char="•"/>
            </a:pPr>
            <a:r>
              <a:rPr lang="en-US" sz="1800"/>
              <a:t>Non-compliance can result in heavy fines, lawsuits, and reputational damage, as seen in major data breaches like Equifax.</a:t>
            </a:r>
            <a:endParaRPr/>
          </a:p>
          <a:p>
            <a:pPr indent="-228600" lvl="0" marL="342900" rtl="0" algn="just">
              <a:spcBef>
                <a:spcPts val="360"/>
              </a:spcBef>
              <a:spcAft>
                <a:spcPts val="0"/>
              </a:spcAft>
              <a:buClr>
                <a:schemeClr val="dk1"/>
              </a:buClr>
              <a:buSzPts val="1800"/>
              <a:buNone/>
            </a:pPr>
            <a:r>
              <a:t/>
            </a:r>
            <a:endParaRPr sz="1800"/>
          </a:p>
          <a:p>
            <a:pPr indent="-342900" lvl="0" marL="342900" rtl="0" algn="just">
              <a:spcBef>
                <a:spcPts val="360"/>
              </a:spcBef>
              <a:spcAft>
                <a:spcPts val="0"/>
              </a:spcAft>
              <a:buClr>
                <a:schemeClr val="dk1"/>
              </a:buClr>
              <a:buSzPts val="1800"/>
              <a:buChar char="•"/>
            </a:pPr>
            <a:r>
              <a:rPr lang="en-US" sz="1800"/>
              <a:t>However, strong data protection frameworks also </a:t>
            </a:r>
            <a:r>
              <a:rPr b="1" lang="en-US" sz="1800"/>
              <a:t>enhance consumer trust</a:t>
            </a:r>
            <a:r>
              <a:rPr lang="en-US" sz="1800"/>
              <a:t>, </a:t>
            </a:r>
            <a:r>
              <a:rPr b="1" lang="en-US" sz="1800"/>
              <a:t>promote secure digital transactions</a:t>
            </a:r>
            <a:r>
              <a:rPr lang="en-US" sz="1800"/>
              <a:t>, and </a:t>
            </a:r>
            <a:r>
              <a:rPr b="1" lang="en-US" sz="1800"/>
              <a:t>strengthen long-term competitiveness</a:t>
            </a:r>
            <a:r>
              <a:rPr lang="en-US" sz="1800"/>
              <a:t>.</a:t>
            </a:r>
            <a:endParaRPr/>
          </a:p>
          <a:p>
            <a:pPr indent="-228600" lvl="0" marL="342900" rtl="0" algn="just">
              <a:spcBef>
                <a:spcPts val="360"/>
              </a:spcBef>
              <a:spcAft>
                <a:spcPts val="0"/>
              </a:spcAft>
              <a:buClr>
                <a:schemeClr val="dk1"/>
              </a:buClr>
              <a:buSzPts val="1800"/>
              <a:buNone/>
            </a:pPr>
            <a:r>
              <a:t/>
            </a:r>
            <a:endParaRPr sz="1800"/>
          </a:p>
          <a:p>
            <a:pPr indent="-342900" lvl="0" marL="342900" rtl="0" algn="just">
              <a:spcBef>
                <a:spcPts val="440"/>
              </a:spcBef>
              <a:spcAft>
                <a:spcPts val="0"/>
              </a:spcAft>
              <a:buClr>
                <a:schemeClr val="dk1"/>
              </a:buClr>
              <a:buSzPts val="1800"/>
              <a:buChar char="•"/>
            </a:pPr>
            <a:r>
              <a:rPr lang="en-US" sz="1800"/>
              <a:t>Economically, the challenge lies in balancing the </a:t>
            </a:r>
            <a:r>
              <a:rPr b="1" lang="en-US" sz="1800"/>
              <a:t>cost of compliance</a:t>
            </a:r>
            <a:r>
              <a:rPr lang="en-US" sz="1800"/>
              <a:t> with the </a:t>
            </a:r>
            <a:r>
              <a:rPr b="1" lang="en-US" sz="1800"/>
              <a:t>benefits of privacy, trust, and innovation</a:t>
            </a:r>
            <a:r>
              <a:rPr lang="en-US" sz="1800"/>
              <a:t>, ensuring sustainable growth in the digital economy</a:t>
            </a:r>
            <a:r>
              <a:rPr lang="en-US"/>
              <a:t>.</a:t>
            </a:r>
            <a:endParaRPr/>
          </a:p>
        </p:txBody>
      </p:sp>
      <p:sp>
        <p:nvSpPr>
          <p:cNvPr id="95" name="Google Shape;95;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Cloud Computing</a:t>
            </a:r>
            <a:endParaRPr/>
          </a:p>
        </p:txBody>
      </p:sp>
      <p:sp>
        <p:nvSpPr>
          <p:cNvPr id="96" name="Google Shape;96;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Sem.- 5</a:t>
            </a:r>
            <a:endParaRPr/>
          </a:p>
        </p:txBody>
      </p:sp>
      <p:sp>
        <p:nvSpPr>
          <p:cNvPr id="97" name="Google Shape;97;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7"/>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solidFill>
                  <a:srgbClr val="000000"/>
                </a:solidFill>
                <a:latin typeface="Cambria"/>
                <a:ea typeface="Cambria"/>
                <a:cs typeface="Cambria"/>
                <a:sym typeface="Cambria"/>
              </a:rPr>
              <a:t>Legal &amp; Economic Challenges</a:t>
            </a:r>
            <a:endParaRPr/>
          </a:p>
        </p:txBody>
      </p:sp>
      <p:sp>
        <p:nvSpPr>
          <p:cNvPr id="103" name="Google Shape;103;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Cloud Computing</a:t>
            </a:r>
            <a:endParaRPr/>
          </a:p>
        </p:txBody>
      </p:sp>
      <p:sp>
        <p:nvSpPr>
          <p:cNvPr id="104" name="Google Shape;104;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Sem.- 5</a:t>
            </a:r>
            <a:endParaRPr/>
          </a:p>
        </p:txBody>
      </p:sp>
      <p:sp>
        <p:nvSpPr>
          <p:cNvPr id="105" name="Google Shape;105;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06" name="Google Shape;106;p7"/>
          <p:cNvSpPr txBox="1"/>
          <p:nvPr>
            <p:ph idx="1" type="body"/>
          </p:nvPr>
        </p:nvSpPr>
        <p:spPr>
          <a:xfrm>
            <a:off x="228600" y="909616"/>
            <a:ext cx="8458200" cy="5447645"/>
          </a:xfrm>
          <a:prstGeom prst="rect">
            <a:avLst/>
          </a:prstGeom>
          <a:noFill/>
          <a:ln>
            <a:noFill/>
          </a:ln>
        </p:spPr>
        <p:txBody>
          <a:bodyPr anchorCtr="0" anchor="ctr" bIns="45700" lIns="91425" spcFirstLastPara="1" rIns="91425" wrap="square" tIns="45700">
            <a:spAutoFit/>
          </a:bodyPr>
          <a:lstStyle/>
          <a:p>
            <a:pPr indent="0" lvl="0" marL="0" rtl="0" algn="just">
              <a:spcBef>
                <a:spcPts val="0"/>
              </a:spcBef>
              <a:spcAft>
                <a:spcPts val="0"/>
              </a:spcAft>
              <a:buClr>
                <a:schemeClr val="dk1"/>
              </a:buClr>
              <a:buSzPts val="2400"/>
              <a:buNone/>
            </a:pPr>
            <a:r>
              <a:rPr b="1" lang="en-US" sz="2400"/>
              <a:t>Legal Challenges</a:t>
            </a:r>
            <a:endParaRPr/>
          </a:p>
          <a:p>
            <a:pPr indent="-228600" lvl="0" marL="342900" marR="0" rtl="0" algn="just">
              <a:lnSpc>
                <a:spcPct val="100000"/>
              </a:lnSpc>
              <a:spcBef>
                <a:spcPts val="0"/>
              </a:spcBef>
              <a:spcAft>
                <a:spcPts val="0"/>
              </a:spcAft>
              <a:buClr>
                <a:schemeClr val="dk1"/>
              </a:buClr>
              <a:buSzPts val="1800"/>
              <a:buNone/>
            </a:pPr>
            <a:r>
              <a:t/>
            </a:r>
            <a:endParaRPr b="1" i="0" sz="1800" u="none" cap="none" strike="noStrike">
              <a:solidFill>
                <a:schemeClr val="dk1"/>
              </a:solidFill>
              <a:latin typeface="Arial"/>
              <a:ea typeface="Arial"/>
              <a:cs typeface="Arial"/>
              <a:sym typeface="Arial"/>
            </a:endParaRPr>
          </a:p>
          <a:p>
            <a:pPr indent="-342900" lvl="0" marL="342900" marR="0" rtl="0" algn="just">
              <a:lnSpc>
                <a:spcPct val="100000"/>
              </a:lnSpc>
              <a:spcBef>
                <a:spcPts val="0"/>
              </a:spcBef>
              <a:spcAft>
                <a:spcPts val="0"/>
              </a:spcAft>
              <a:buClr>
                <a:schemeClr val="dk1"/>
              </a:buClr>
              <a:buSzPts val="1800"/>
              <a:buChar char="•"/>
            </a:pPr>
            <a:r>
              <a:rPr b="1" i="0" lang="en-US" sz="1800" u="none" cap="none" strike="noStrike">
                <a:solidFill>
                  <a:schemeClr val="dk1"/>
                </a:solidFill>
              </a:rPr>
              <a:t>Data Sovereignty and Cross-Border Transfers:</a:t>
            </a:r>
            <a:r>
              <a:rPr b="0" i="0" lang="en-US" sz="1800" u="none" cap="none" strike="noStrike">
                <a:solidFill>
                  <a:schemeClr val="dk1"/>
                </a:solidFill>
              </a:rPr>
              <a:t> Many countries, under regulations such as the </a:t>
            </a:r>
            <a:r>
              <a:rPr b="1" i="0" lang="en-US" sz="1800" u="none" cap="none" strike="noStrike">
                <a:solidFill>
                  <a:schemeClr val="dk1"/>
                </a:solidFill>
              </a:rPr>
              <a:t>General Data Protection Regulation (GDPR)</a:t>
            </a:r>
            <a:r>
              <a:rPr b="0" i="0" lang="en-US" sz="1800" u="none" cap="none" strike="noStrike">
                <a:solidFill>
                  <a:schemeClr val="dk1"/>
                </a:solidFill>
              </a:rPr>
              <a:t> and India’s </a:t>
            </a:r>
            <a:r>
              <a:rPr b="1" i="0" lang="en-US" sz="1800" u="none" cap="none" strike="noStrike">
                <a:solidFill>
                  <a:schemeClr val="dk1"/>
                </a:solidFill>
              </a:rPr>
              <a:t>Digital Personal Data Protection Act (DPDP) 2023</a:t>
            </a:r>
            <a:r>
              <a:rPr b="0" i="0" lang="en-US" sz="1800" u="none" cap="none" strike="noStrike">
                <a:solidFill>
                  <a:schemeClr val="dk1"/>
                </a:solidFill>
              </a:rPr>
              <a:t>, restrict data transfer outside national borders. Cloud providers operating globally must ensure compliance with diverse, and sometimes conflicting, laws.</a:t>
            </a:r>
            <a:endParaRPr/>
          </a:p>
          <a:p>
            <a:pPr indent="-228600" lvl="0" marL="342900" marR="0" rtl="0" algn="just">
              <a:lnSpc>
                <a:spcPct val="100000"/>
              </a:lnSpc>
              <a:spcBef>
                <a:spcPts val="0"/>
              </a:spcBef>
              <a:spcAft>
                <a:spcPts val="0"/>
              </a:spcAft>
              <a:buClr>
                <a:schemeClr val="dk1"/>
              </a:buClr>
              <a:buSzPts val="1800"/>
              <a:buNone/>
            </a:pPr>
            <a:r>
              <a:t/>
            </a:r>
            <a:endParaRPr b="0" i="0" sz="1800" u="none" cap="none" strike="noStrike">
              <a:solidFill>
                <a:schemeClr val="dk1"/>
              </a:solidFill>
            </a:endParaRPr>
          </a:p>
          <a:p>
            <a:pPr indent="-342900" lvl="0" marL="342900" marR="0" rtl="0" algn="just">
              <a:lnSpc>
                <a:spcPct val="100000"/>
              </a:lnSpc>
              <a:spcBef>
                <a:spcPts val="0"/>
              </a:spcBef>
              <a:spcAft>
                <a:spcPts val="0"/>
              </a:spcAft>
              <a:buClr>
                <a:schemeClr val="dk1"/>
              </a:buClr>
              <a:buSzPts val="1800"/>
              <a:buChar char="•"/>
            </a:pPr>
            <a:r>
              <a:rPr b="1" i="0" lang="en-US" sz="1800" u="none" cap="none" strike="noStrike">
                <a:solidFill>
                  <a:schemeClr val="dk1"/>
                </a:solidFill>
              </a:rPr>
              <a:t>Data Ownership and Accountability:</a:t>
            </a:r>
            <a:r>
              <a:rPr b="0" i="0" lang="en-US" sz="1800" u="none" cap="none" strike="noStrike">
                <a:solidFill>
                  <a:schemeClr val="dk1"/>
                </a:solidFill>
              </a:rPr>
              <a:t> Determining who owns and controls data stored in the cloud can be legally ambiguous. The shared responsibility model between cloud providers and clients can create accountability gaps in case of a breach.</a:t>
            </a:r>
            <a:endParaRPr/>
          </a:p>
          <a:p>
            <a:pPr indent="-228600" lvl="0" marL="342900" marR="0" rtl="0" algn="just">
              <a:lnSpc>
                <a:spcPct val="100000"/>
              </a:lnSpc>
              <a:spcBef>
                <a:spcPts val="0"/>
              </a:spcBef>
              <a:spcAft>
                <a:spcPts val="0"/>
              </a:spcAft>
              <a:buClr>
                <a:schemeClr val="dk1"/>
              </a:buClr>
              <a:buSzPts val="1800"/>
              <a:buNone/>
            </a:pPr>
            <a:r>
              <a:t/>
            </a:r>
            <a:endParaRPr b="1" i="0" sz="1800" u="none" cap="none" strike="noStrike">
              <a:solidFill>
                <a:schemeClr val="dk1"/>
              </a:solidFill>
            </a:endParaRPr>
          </a:p>
          <a:p>
            <a:pPr indent="-342900" lvl="0" marL="342900" marR="0" rtl="0" algn="just">
              <a:lnSpc>
                <a:spcPct val="100000"/>
              </a:lnSpc>
              <a:spcBef>
                <a:spcPts val="0"/>
              </a:spcBef>
              <a:spcAft>
                <a:spcPts val="0"/>
              </a:spcAft>
              <a:buClr>
                <a:schemeClr val="dk1"/>
              </a:buClr>
              <a:buSzPts val="1800"/>
              <a:buChar char="•"/>
            </a:pPr>
            <a:r>
              <a:rPr b="1" i="0" lang="en-US" sz="1800" u="none" cap="none" strike="noStrike">
                <a:solidFill>
                  <a:schemeClr val="dk1"/>
                </a:solidFill>
              </a:rPr>
              <a:t>Consent and Privacy Obligations:</a:t>
            </a:r>
            <a:r>
              <a:rPr b="0" i="0" lang="en-US" sz="1800" u="none" cap="none" strike="noStrike">
                <a:solidFill>
                  <a:schemeClr val="dk1"/>
                </a:solidFill>
              </a:rPr>
              <a:t> Organizations must obtain explicit consent for data processing and ensure that cloud providers maintain equivalent privacy safeguards. Failure to do so can lead to severe penalties and reputational damage.</a:t>
            </a:r>
            <a:endParaRPr/>
          </a:p>
          <a:p>
            <a:pPr indent="-228600" lvl="0" marL="342900" marR="0" rtl="0" algn="just">
              <a:lnSpc>
                <a:spcPct val="100000"/>
              </a:lnSpc>
              <a:spcBef>
                <a:spcPts val="0"/>
              </a:spcBef>
              <a:spcAft>
                <a:spcPts val="0"/>
              </a:spcAft>
              <a:buClr>
                <a:schemeClr val="dk1"/>
              </a:buClr>
              <a:buSzPts val="1800"/>
              <a:buNone/>
            </a:pPr>
            <a:r>
              <a:t/>
            </a:r>
            <a:endParaRPr b="1" i="0" sz="1800" u="none" cap="none" strike="noStrike">
              <a:solidFill>
                <a:schemeClr val="dk1"/>
              </a:solidFill>
            </a:endParaRPr>
          </a:p>
          <a:p>
            <a:pPr indent="-342900" lvl="0" marL="342900" marR="0" rtl="0" algn="just">
              <a:lnSpc>
                <a:spcPct val="100000"/>
              </a:lnSpc>
              <a:spcBef>
                <a:spcPts val="0"/>
              </a:spcBef>
              <a:spcAft>
                <a:spcPts val="0"/>
              </a:spcAft>
              <a:buClr>
                <a:schemeClr val="dk1"/>
              </a:buClr>
              <a:buSzPts val="1800"/>
              <a:buChar char="•"/>
            </a:pPr>
            <a:r>
              <a:rPr b="1" i="0" lang="en-US" sz="1800" u="none" cap="none" strike="noStrike">
                <a:solidFill>
                  <a:schemeClr val="dk1"/>
                </a:solidFill>
              </a:rPr>
              <a:t>Incident Reporting and Liability:</a:t>
            </a:r>
            <a:r>
              <a:rPr b="0" i="0" lang="en-US" sz="1800" u="none" cap="none" strike="noStrike">
                <a:solidFill>
                  <a:schemeClr val="dk1"/>
                </a:solidFill>
              </a:rPr>
              <a:t> Legal frameworks mandate timely breach notifications. However, when data is managed by multiple third parties, establishing responsibility and ensuring prompt reporting can be challenging.</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8"/>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112" name="Google Shape;112;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Cloud Computing</a:t>
            </a:r>
            <a:endParaRPr/>
          </a:p>
        </p:txBody>
      </p:sp>
      <p:sp>
        <p:nvSpPr>
          <p:cNvPr id="113" name="Google Shape;113;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Sem.- 5</a:t>
            </a:r>
            <a:endParaRPr/>
          </a:p>
        </p:txBody>
      </p:sp>
      <p:sp>
        <p:nvSpPr>
          <p:cNvPr id="114" name="Google Shape;114;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15" name="Google Shape;115;p8"/>
          <p:cNvSpPr txBox="1"/>
          <p:nvPr>
            <p:ph idx="1" type="body"/>
          </p:nvPr>
        </p:nvSpPr>
        <p:spPr>
          <a:xfrm>
            <a:off x="266700" y="1154669"/>
            <a:ext cx="8610600" cy="4154984"/>
          </a:xfrm>
          <a:prstGeom prst="rect">
            <a:avLst/>
          </a:prstGeom>
          <a:noFill/>
          <a:ln>
            <a:noFill/>
          </a:ln>
        </p:spPr>
        <p:txBody>
          <a:bodyPr anchorCtr="0" anchor="ctr" bIns="45700" lIns="91425" spcFirstLastPara="1" rIns="91425" wrap="square" tIns="45700">
            <a:spAutoFit/>
          </a:bodyPr>
          <a:lstStyle/>
          <a:p>
            <a:pPr indent="0" lvl="0" marL="0" rtl="0" algn="just">
              <a:spcBef>
                <a:spcPts val="0"/>
              </a:spcBef>
              <a:spcAft>
                <a:spcPts val="0"/>
              </a:spcAft>
              <a:buClr>
                <a:schemeClr val="dk1"/>
              </a:buClr>
              <a:buSzPts val="2400"/>
              <a:buNone/>
            </a:pPr>
            <a:r>
              <a:rPr b="1" lang="en-US" sz="2400"/>
              <a:t>Economic Challenges</a:t>
            </a:r>
            <a:endParaRPr/>
          </a:p>
          <a:p>
            <a:pPr indent="0" lvl="0" marL="0" rtl="0" algn="just">
              <a:spcBef>
                <a:spcPts val="0"/>
              </a:spcBef>
              <a:spcAft>
                <a:spcPts val="0"/>
              </a:spcAft>
              <a:buClr>
                <a:schemeClr val="dk1"/>
              </a:buClr>
              <a:buSzPts val="2400"/>
              <a:buNone/>
            </a:pPr>
            <a:r>
              <a:t/>
            </a:r>
            <a:endParaRPr b="1" i="0" sz="2400" u="none" cap="none" strike="noStrike">
              <a:solidFill>
                <a:schemeClr val="dk1"/>
              </a:solidFill>
            </a:endParaRPr>
          </a:p>
          <a:p>
            <a:pPr indent="-342900" lvl="0" marL="342900" marR="0" rtl="0" algn="just">
              <a:lnSpc>
                <a:spcPct val="100000"/>
              </a:lnSpc>
              <a:spcBef>
                <a:spcPts val="0"/>
              </a:spcBef>
              <a:spcAft>
                <a:spcPts val="0"/>
              </a:spcAft>
              <a:buClr>
                <a:schemeClr val="dk1"/>
              </a:buClr>
              <a:buSzPts val="1800"/>
              <a:buChar char="•"/>
            </a:pPr>
            <a:r>
              <a:rPr b="1" i="0" lang="en-US" sz="1800" u="none" cap="none" strike="noStrike">
                <a:solidFill>
                  <a:schemeClr val="dk1"/>
                </a:solidFill>
              </a:rPr>
              <a:t>Compliance Costs:</a:t>
            </a:r>
            <a:r>
              <a:rPr b="0" i="0" lang="en-US" sz="1800" u="none" cap="none" strike="noStrike">
                <a:solidFill>
                  <a:schemeClr val="dk1"/>
                </a:solidFill>
              </a:rPr>
              <a:t> Implementing encryption, access control, and audit mechanisms that align with international data protection laws increases operational expenses.</a:t>
            </a:r>
            <a:endParaRPr/>
          </a:p>
          <a:p>
            <a:pPr indent="0" lvl="0" marL="0" marR="0" rtl="0" algn="just">
              <a:lnSpc>
                <a:spcPct val="100000"/>
              </a:lnSpc>
              <a:spcBef>
                <a:spcPts val="0"/>
              </a:spcBef>
              <a:spcAft>
                <a:spcPts val="0"/>
              </a:spcAft>
              <a:buClr>
                <a:schemeClr val="dk1"/>
              </a:buClr>
              <a:buSzPts val="1800"/>
              <a:buNone/>
            </a:pPr>
            <a:r>
              <a:t/>
            </a:r>
            <a:endParaRPr b="0" i="0" sz="1800" u="none" cap="none" strike="noStrike">
              <a:solidFill>
                <a:schemeClr val="dk1"/>
              </a:solidFill>
            </a:endParaRPr>
          </a:p>
          <a:p>
            <a:pPr indent="-342900" lvl="0" marL="342900" marR="0" rtl="0" algn="just">
              <a:lnSpc>
                <a:spcPct val="100000"/>
              </a:lnSpc>
              <a:spcBef>
                <a:spcPts val="0"/>
              </a:spcBef>
              <a:spcAft>
                <a:spcPts val="0"/>
              </a:spcAft>
              <a:buClr>
                <a:schemeClr val="dk1"/>
              </a:buClr>
              <a:buSzPts val="1800"/>
              <a:buChar char="•"/>
            </a:pPr>
            <a:r>
              <a:rPr b="1" i="0" lang="en-US" sz="1800" u="none" cap="none" strike="noStrike">
                <a:solidFill>
                  <a:schemeClr val="dk1"/>
                </a:solidFill>
              </a:rPr>
              <a:t>Data Breach Costs:</a:t>
            </a:r>
            <a:r>
              <a:rPr b="0" i="0" lang="en-US" sz="1800" u="none" cap="none" strike="noStrike">
                <a:solidFill>
                  <a:schemeClr val="dk1"/>
                </a:solidFill>
              </a:rPr>
              <a:t> The economic losses from breaches include regulatory fines, legal fees, compensation claims, and reputational harm.</a:t>
            </a:r>
            <a:endParaRPr/>
          </a:p>
          <a:p>
            <a:pPr indent="-228600" lvl="0" marL="342900" marR="0" rtl="0" algn="just">
              <a:lnSpc>
                <a:spcPct val="100000"/>
              </a:lnSpc>
              <a:spcBef>
                <a:spcPts val="0"/>
              </a:spcBef>
              <a:spcAft>
                <a:spcPts val="0"/>
              </a:spcAft>
              <a:buClr>
                <a:schemeClr val="dk1"/>
              </a:buClr>
              <a:buSzPts val="1800"/>
              <a:buNone/>
            </a:pPr>
            <a:r>
              <a:t/>
            </a:r>
            <a:endParaRPr b="1" i="0" sz="1800" u="none" cap="none" strike="noStrike">
              <a:solidFill>
                <a:schemeClr val="dk1"/>
              </a:solidFill>
            </a:endParaRPr>
          </a:p>
          <a:p>
            <a:pPr indent="-342900" lvl="0" marL="342900" marR="0" rtl="0" algn="just">
              <a:lnSpc>
                <a:spcPct val="100000"/>
              </a:lnSpc>
              <a:spcBef>
                <a:spcPts val="0"/>
              </a:spcBef>
              <a:spcAft>
                <a:spcPts val="0"/>
              </a:spcAft>
              <a:buClr>
                <a:schemeClr val="dk1"/>
              </a:buClr>
              <a:buSzPts val="1800"/>
              <a:buChar char="•"/>
            </a:pPr>
            <a:r>
              <a:rPr b="1" i="0" lang="en-US" sz="1800" u="none" cap="none" strike="noStrike">
                <a:solidFill>
                  <a:schemeClr val="dk1"/>
                </a:solidFill>
              </a:rPr>
              <a:t>Vendor Dependency:</a:t>
            </a:r>
            <a:r>
              <a:rPr b="0" i="0" lang="en-US" sz="1800" u="none" cap="none" strike="noStrike">
                <a:solidFill>
                  <a:schemeClr val="dk1"/>
                </a:solidFill>
              </a:rPr>
              <a:t> Overreliance on a single cloud provider can lead to vendor lock-in, where migration or recovery becomes costly and technically difficult.</a:t>
            </a:r>
            <a:endParaRPr/>
          </a:p>
          <a:p>
            <a:pPr indent="-228600" lvl="0" marL="342900" marR="0" rtl="0" algn="just">
              <a:lnSpc>
                <a:spcPct val="100000"/>
              </a:lnSpc>
              <a:spcBef>
                <a:spcPts val="0"/>
              </a:spcBef>
              <a:spcAft>
                <a:spcPts val="0"/>
              </a:spcAft>
              <a:buClr>
                <a:schemeClr val="dk1"/>
              </a:buClr>
              <a:buSzPts val="1800"/>
              <a:buNone/>
            </a:pPr>
            <a:r>
              <a:t/>
            </a:r>
            <a:endParaRPr b="1" i="0" sz="1800" u="none" cap="none" strike="noStrike">
              <a:solidFill>
                <a:schemeClr val="dk1"/>
              </a:solidFill>
            </a:endParaRPr>
          </a:p>
          <a:p>
            <a:pPr indent="-342900" lvl="0" marL="342900" marR="0" rtl="0" algn="just">
              <a:lnSpc>
                <a:spcPct val="100000"/>
              </a:lnSpc>
              <a:spcBef>
                <a:spcPts val="0"/>
              </a:spcBef>
              <a:spcAft>
                <a:spcPts val="0"/>
              </a:spcAft>
              <a:buClr>
                <a:schemeClr val="dk1"/>
              </a:buClr>
              <a:buSzPts val="1800"/>
              <a:buChar char="•"/>
            </a:pPr>
            <a:r>
              <a:rPr b="1" i="0" lang="en-US" sz="1800" u="none" cap="none" strike="noStrike">
                <a:solidFill>
                  <a:schemeClr val="dk1"/>
                </a:solidFill>
              </a:rPr>
              <a:t>Balancing Cost and Security:</a:t>
            </a:r>
            <a:r>
              <a:rPr b="0" i="0" lang="en-US" sz="1800" u="none" cap="none" strike="noStrike">
                <a:solidFill>
                  <a:schemeClr val="dk1"/>
                </a:solidFill>
              </a:rPr>
              <a:t> Small and medium-sized enterprises (SMEs) often struggle to allocate sufficient funds for advanced protection systems while remaining competitive.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9"/>
          <p:cNvSpPr txBox="1"/>
          <p:nvPr>
            <p:ph type="title"/>
          </p:nvPr>
        </p:nvSpPr>
        <p:spPr>
          <a:xfrm>
            <a:off x="0" y="0"/>
            <a:ext cx="6553200" cy="838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solidFill>
                  <a:srgbClr val="000000"/>
                </a:solidFill>
                <a:latin typeface="Cambria"/>
                <a:ea typeface="Cambria"/>
                <a:cs typeface="Cambria"/>
                <a:sym typeface="Cambria"/>
              </a:rPr>
              <a:t>Data Recovery and Protection Concepts</a:t>
            </a:r>
            <a:endParaRPr/>
          </a:p>
        </p:txBody>
      </p:sp>
      <p:sp>
        <p:nvSpPr>
          <p:cNvPr id="121" name="Google Shape;121;p9"/>
          <p:cNvSpPr txBox="1"/>
          <p:nvPr>
            <p:ph idx="1" type="body"/>
          </p:nvPr>
        </p:nvSpPr>
        <p:spPr>
          <a:xfrm>
            <a:off x="437827" y="1066800"/>
            <a:ext cx="8229600" cy="4525963"/>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1800"/>
              <a:buNone/>
            </a:pPr>
            <a:r>
              <a:rPr lang="en-US" sz="1800"/>
              <a:t>Data recovery in cloud environments involves restoring lost, corrupted, or compromised data to ensure business continuity.</a:t>
            </a:r>
            <a:endParaRPr/>
          </a:p>
          <a:p>
            <a:pPr indent="0" lvl="0" marL="0" rtl="0" algn="just">
              <a:spcBef>
                <a:spcPts val="360"/>
              </a:spcBef>
              <a:spcAft>
                <a:spcPts val="0"/>
              </a:spcAft>
              <a:buClr>
                <a:schemeClr val="dk1"/>
              </a:buClr>
              <a:buSzPts val="1800"/>
              <a:buNone/>
            </a:pPr>
            <a:r>
              <a:t/>
            </a:r>
            <a:endParaRPr sz="1800"/>
          </a:p>
          <a:p>
            <a:pPr indent="-342900" lvl="0" marL="342900" rtl="0" algn="just">
              <a:spcBef>
                <a:spcPts val="360"/>
              </a:spcBef>
              <a:spcAft>
                <a:spcPts val="0"/>
              </a:spcAft>
              <a:buClr>
                <a:schemeClr val="dk1"/>
              </a:buClr>
              <a:buSzPts val="1800"/>
              <a:buChar char="•"/>
            </a:pPr>
            <a:r>
              <a:rPr b="1" lang="en-US" sz="1800"/>
              <a:t>Redundancy and Replication:</a:t>
            </a:r>
            <a:r>
              <a:rPr lang="en-US" sz="1800"/>
              <a:t> Cloud providers often use multiple geographically dispersed data centers to ensure redundancy. However, this raises legal questions about jurisdictional control and compliance.</a:t>
            </a:r>
            <a:endParaRPr/>
          </a:p>
          <a:p>
            <a:pPr indent="-342900" lvl="0" marL="342900" rtl="0" algn="just">
              <a:spcBef>
                <a:spcPts val="360"/>
              </a:spcBef>
              <a:spcAft>
                <a:spcPts val="0"/>
              </a:spcAft>
              <a:buClr>
                <a:schemeClr val="dk1"/>
              </a:buClr>
              <a:buSzPts val="1800"/>
              <a:buChar char="•"/>
            </a:pPr>
            <a:r>
              <a:rPr b="1" lang="en-US" sz="1800"/>
              <a:t>Encryption and Access Controls:</a:t>
            </a:r>
            <a:r>
              <a:rPr lang="en-US" sz="1800"/>
              <a:t> Encryption protects data during transmission and storage, but recovery processes must be designed to maintain encryption integrity. Unauthorized recovery or access can breach legal and contractual obligations.</a:t>
            </a:r>
            <a:endParaRPr/>
          </a:p>
          <a:p>
            <a:pPr indent="-342900" lvl="0" marL="342900" rtl="0" algn="just">
              <a:spcBef>
                <a:spcPts val="360"/>
              </a:spcBef>
              <a:spcAft>
                <a:spcPts val="0"/>
              </a:spcAft>
              <a:buClr>
                <a:schemeClr val="dk1"/>
              </a:buClr>
              <a:buSzPts val="1800"/>
              <a:buChar char="•"/>
            </a:pPr>
            <a:r>
              <a:rPr b="1" lang="en-US" sz="1800"/>
              <a:t>Compliance-Aware Recovery:</a:t>
            </a:r>
            <a:r>
              <a:rPr lang="en-US" sz="1800"/>
              <a:t> Recovery mechanisms must adhere to data retention and deletion rules. For instance, GDPR’s “right to be forgotten” requires that deleted data not be recovered inadvertently.</a:t>
            </a:r>
            <a:endParaRPr/>
          </a:p>
          <a:p>
            <a:pPr indent="-203200" lvl="0" marL="342900" rtl="0" algn="l">
              <a:spcBef>
                <a:spcPts val="440"/>
              </a:spcBef>
              <a:spcAft>
                <a:spcPts val="0"/>
              </a:spcAft>
              <a:buClr>
                <a:schemeClr val="dk1"/>
              </a:buClr>
              <a:buSzPts val="2200"/>
              <a:buNone/>
            </a:pPr>
            <a:r>
              <a:t/>
            </a:r>
            <a:endParaRPr/>
          </a:p>
        </p:txBody>
      </p:sp>
      <p:sp>
        <p:nvSpPr>
          <p:cNvPr id="122" name="Google Shape;122;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Cloud Computing</a:t>
            </a:r>
            <a:endParaRPr/>
          </a:p>
        </p:txBody>
      </p:sp>
      <p:sp>
        <p:nvSpPr>
          <p:cNvPr id="123" name="Google Shape;123;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Sem.- 5</a:t>
            </a:r>
            <a:endParaRPr/>
          </a:p>
        </p:txBody>
      </p:sp>
      <p:sp>
        <p:nvSpPr>
          <p:cNvPr id="124" name="Google Shape;124;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0"/>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2400"/>
              <a:t>Legal and Economic Considerations in Data Recovery </a:t>
            </a:r>
            <a:endParaRPr/>
          </a:p>
        </p:txBody>
      </p:sp>
      <p:sp>
        <p:nvSpPr>
          <p:cNvPr id="130" name="Google Shape;130;p10"/>
          <p:cNvSpPr txBox="1"/>
          <p:nvPr>
            <p:ph idx="1" type="body"/>
          </p:nvPr>
        </p:nvSpPr>
        <p:spPr>
          <a:xfrm>
            <a:off x="762000" y="1371600"/>
            <a:ext cx="7620000" cy="45259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None/>
            </a:pPr>
            <a:r>
              <a:rPr b="1" lang="en-US" sz="1800"/>
              <a:t>Legal Considerations:</a:t>
            </a:r>
            <a:endParaRPr sz="1800"/>
          </a:p>
          <a:p>
            <a:pPr indent="-342900" lvl="0" marL="342900" rtl="0" algn="l">
              <a:spcBef>
                <a:spcPts val="360"/>
              </a:spcBef>
              <a:spcAft>
                <a:spcPts val="0"/>
              </a:spcAft>
              <a:buClr>
                <a:schemeClr val="dk1"/>
              </a:buClr>
              <a:buSzPts val="1800"/>
              <a:buChar char="•"/>
            </a:pPr>
            <a:r>
              <a:rPr lang="en-US" sz="1800"/>
              <a:t>Must comply with data privacy laws (e.g., GDPR, DPDP Act).</a:t>
            </a:r>
            <a:endParaRPr/>
          </a:p>
          <a:p>
            <a:pPr indent="-342900" lvl="0" marL="342900" rtl="0" algn="l">
              <a:spcBef>
                <a:spcPts val="360"/>
              </a:spcBef>
              <a:spcAft>
                <a:spcPts val="0"/>
              </a:spcAft>
              <a:buClr>
                <a:schemeClr val="dk1"/>
              </a:buClr>
              <a:buSzPts val="1800"/>
              <a:buChar char="•"/>
            </a:pPr>
            <a:r>
              <a:rPr lang="en-US" sz="1800"/>
              <a:t>Ensure confidentiality and integrity during recovery.</a:t>
            </a:r>
            <a:endParaRPr/>
          </a:p>
          <a:p>
            <a:pPr indent="-342900" lvl="0" marL="342900" rtl="0" algn="l">
              <a:spcBef>
                <a:spcPts val="360"/>
              </a:spcBef>
              <a:spcAft>
                <a:spcPts val="0"/>
              </a:spcAft>
              <a:buClr>
                <a:schemeClr val="dk1"/>
              </a:buClr>
              <a:buSzPts val="1800"/>
              <a:buChar char="•"/>
            </a:pPr>
            <a:r>
              <a:rPr lang="en-US" sz="1800"/>
              <a:t>Respect data retention/deletion and “right to be forgotten.”</a:t>
            </a:r>
            <a:endParaRPr/>
          </a:p>
          <a:p>
            <a:pPr indent="-342900" lvl="0" marL="342900" rtl="0" algn="l">
              <a:spcBef>
                <a:spcPts val="360"/>
              </a:spcBef>
              <a:spcAft>
                <a:spcPts val="0"/>
              </a:spcAft>
              <a:buClr>
                <a:schemeClr val="dk1"/>
              </a:buClr>
              <a:buSzPts val="1800"/>
              <a:buChar char="•"/>
            </a:pPr>
            <a:r>
              <a:rPr lang="en-US" sz="1800"/>
              <a:t>Maintain chain of custody for legal investigations.</a:t>
            </a:r>
            <a:endParaRPr/>
          </a:p>
          <a:p>
            <a:pPr indent="-228600" lvl="0" marL="34290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rPr b="1" lang="en-US" sz="1800"/>
              <a:t>Economic Considerations:</a:t>
            </a:r>
            <a:endParaRPr sz="1800"/>
          </a:p>
          <a:p>
            <a:pPr indent="-342900" lvl="0" marL="342900" rtl="0" algn="l">
              <a:spcBef>
                <a:spcPts val="360"/>
              </a:spcBef>
              <a:spcAft>
                <a:spcPts val="0"/>
              </a:spcAft>
              <a:buClr>
                <a:schemeClr val="dk1"/>
              </a:buClr>
              <a:buSzPts val="1800"/>
              <a:buChar char="•"/>
            </a:pPr>
            <a:r>
              <a:rPr lang="en-US" sz="1800"/>
              <a:t>Recovery solutions involve high setup and maintenance costs.</a:t>
            </a:r>
            <a:endParaRPr/>
          </a:p>
          <a:p>
            <a:pPr indent="-342900" lvl="0" marL="342900" rtl="0" algn="l">
              <a:spcBef>
                <a:spcPts val="360"/>
              </a:spcBef>
              <a:spcAft>
                <a:spcPts val="0"/>
              </a:spcAft>
              <a:buClr>
                <a:schemeClr val="dk1"/>
              </a:buClr>
              <a:buSzPts val="1800"/>
              <a:buChar char="•"/>
            </a:pPr>
            <a:r>
              <a:rPr lang="en-US" sz="1800"/>
              <a:t>Downtime and data loss can cause major financial losses.</a:t>
            </a:r>
            <a:endParaRPr/>
          </a:p>
          <a:p>
            <a:pPr indent="-342900" lvl="0" marL="342900" rtl="0" algn="l">
              <a:spcBef>
                <a:spcPts val="360"/>
              </a:spcBef>
              <a:spcAft>
                <a:spcPts val="0"/>
              </a:spcAft>
              <a:buClr>
                <a:schemeClr val="dk1"/>
              </a:buClr>
              <a:buSzPts val="1800"/>
              <a:buChar char="•"/>
            </a:pPr>
            <a:r>
              <a:rPr lang="en-US" sz="1800"/>
              <a:t>Investment in robust backup reduces long-term economic risk.</a:t>
            </a:r>
            <a:endParaRPr/>
          </a:p>
          <a:p>
            <a:pPr indent="-342900" lvl="0" marL="342900" rtl="0" algn="l">
              <a:spcBef>
                <a:spcPts val="360"/>
              </a:spcBef>
              <a:spcAft>
                <a:spcPts val="0"/>
              </a:spcAft>
              <a:buClr>
                <a:schemeClr val="dk1"/>
              </a:buClr>
              <a:buSzPts val="1800"/>
              <a:buChar char="•"/>
            </a:pPr>
            <a:r>
              <a:rPr lang="en-US" sz="1800"/>
              <a:t>Balancing cost and compliance ensures sustainable recovery.</a:t>
            </a:r>
            <a:endParaRPr/>
          </a:p>
          <a:p>
            <a:pPr indent="-203200" lvl="0" marL="342900" rtl="0" algn="l">
              <a:spcBef>
                <a:spcPts val="440"/>
              </a:spcBef>
              <a:spcAft>
                <a:spcPts val="0"/>
              </a:spcAft>
              <a:buClr>
                <a:schemeClr val="dk1"/>
              </a:buClr>
              <a:buSzPts val="2200"/>
              <a:buNone/>
            </a:pPr>
            <a:r>
              <a:t/>
            </a:r>
            <a:endParaRPr/>
          </a:p>
        </p:txBody>
      </p:sp>
      <p:sp>
        <p:nvSpPr>
          <p:cNvPr id="131" name="Google Shape;131;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Cloud Computing</a:t>
            </a:r>
            <a:endParaRPr/>
          </a:p>
        </p:txBody>
      </p:sp>
      <p:sp>
        <p:nvSpPr>
          <p:cNvPr id="132" name="Google Shape;132;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Sem.- 5</a:t>
            </a:r>
            <a:endParaRPr/>
          </a:p>
        </p:txBody>
      </p:sp>
      <p:sp>
        <p:nvSpPr>
          <p:cNvPr id="133" name="Google Shape;133;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t>Backup Strategies</a:t>
            </a:r>
            <a:endParaRPr/>
          </a:p>
        </p:txBody>
      </p:sp>
      <p:sp>
        <p:nvSpPr>
          <p:cNvPr id="139" name="Google Shape;139;p11"/>
          <p:cNvSpPr txBox="1"/>
          <p:nvPr>
            <p:ph idx="1" type="body"/>
          </p:nvPr>
        </p:nvSpPr>
        <p:spPr>
          <a:xfrm>
            <a:off x="457200" y="1371600"/>
            <a:ext cx="8229600" cy="4525963"/>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1800"/>
              <a:buNone/>
            </a:pPr>
            <a:r>
              <a:rPr lang="en-US" sz="1800"/>
              <a:t>Effective backup strategies are essential to minimize data loss and downtime. Common strategies include:</a:t>
            </a:r>
            <a:endParaRPr/>
          </a:p>
          <a:p>
            <a:pPr indent="-228600" lvl="0" marL="342900" rtl="0" algn="just">
              <a:spcBef>
                <a:spcPts val="360"/>
              </a:spcBef>
              <a:spcAft>
                <a:spcPts val="0"/>
              </a:spcAft>
              <a:buClr>
                <a:schemeClr val="dk1"/>
              </a:buClr>
              <a:buSzPts val="1800"/>
              <a:buNone/>
            </a:pPr>
            <a:r>
              <a:t/>
            </a:r>
            <a:endParaRPr b="1" sz="1800"/>
          </a:p>
          <a:p>
            <a:pPr indent="-342900" lvl="0" marL="342900" rtl="0" algn="just">
              <a:spcBef>
                <a:spcPts val="360"/>
              </a:spcBef>
              <a:spcAft>
                <a:spcPts val="0"/>
              </a:spcAft>
              <a:buClr>
                <a:schemeClr val="dk1"/>
              </a:buClr>
              <a:buSzPts val="1800"/>
              <a:buChar char="•"/>
            </a:pPr>
            <a:r>
              <a:rPr b="1" lang="en-US" sz="1800"/>
              <a:t>Full, Incremental, and Differential Backups:</a:t>
            </a:r>
            <a:r>
              <a:rPr lang="en-US" sz="1800"/>
              <a:t> These methods vary in frequency and storage requirements, offering trade-offs between speed, cost, and completeness.</a:t>
            </a:r>
            <a:endParaRPr/>
          </a:p>
          <a:p>
            <a:pPr indent="-342900" lvl="0" marL="342900" rtl="0" algn="just">
              <a:spcBef>
                <a:spcPts val="360"/>
              </a:spcBef>
              <a:spcAft>
                <a:spcPts val="0"/>
              </a:spcAft>
              <a:buClr>
                <a:schemeClr val="dk1"/>
              </a:buClr>
              <a:buSzPts val="1800"/>
              <a:buChar char="•"/>
            </a:pPr>
            <a:r>
              <a:rPr b="1" lang="en-US" sz="1800"/>
              <a:t>On-Premises vs. Cloud Backups:</a:t>
            </a:r>
            <a:r>
              <a:rPr lang="en-US" sz="1800"/>
              <a:t> While cloud-based backups offer scalability and automation, organizations must verify that providers meet compliance standards.</a:t>
            </a:r>
            <a:endParaRPr/>
          </a:p>
          <a:p>
            <a:pPr indent="-342900" lvl="0" marL="342900" rtl="0" algn="just">
              <a:spcBef>
                <a:spcPts val="360"/>
              </a:spcBef>
              <a:spcAft>
                <a:spcPts val="0"/>
              </a:spcAft>
              <a:buClr>
                <a:schemeClr val="dk1"/>
              </a:buClr>
              <a:buSzPts val="1800"/>
              <a:buChar char="•"/>
            </a:pPr>
            <a:r>
              <a:rPr b="1" lang="en-US" sz="1800"/>
              <a:t>Hybrid Backup Solutions:</a:t>
            </a:r>
            <a:r>
              <a:rPr lang="en-US" sz="1800"/>
              <a:t> Combining local and cloud backups ensures resilience against regional outages or ransomware attacks.</a:t>
            </a:r>
            <a:endParaRPr/>
          </a:p>
          <a:p>
            <a:pPr indent="-342900" lvl="0" marL="342900" rtl="0" algn="just">
              <a:spcBef>
                <a:spcPts val="360"/>
              </a:spcBef>
              <a:spcAft>
                <a:spcPts val="0"/>
              </a:spcAft>
              <a:buClr>
                <a:schemeClr val="dk1"/>
              </a:buClr>
              <a:buSzPts val="1800"/>
              <a:buChar char="•"/>
            </a:pPr>
            <a:r>
              <a:rPr b="1" lang="en-US" sz="1800"/>
              <a:t>Encryption and Key Management:</a:t>
            </a:r>
            <a:r>
              <a:rPr lang="en-US" sz="1800"/>
              <a:t> Backup data must be encrypted, and cryptographic keys should be managed securely to prevent unauthorized access during recovery.</a:t>
            </a:r>
            <a:endParaRPr/>
          </a:p>
          <a:p>
            <a:pPr indent="-203200" lvl="0" marL="342900" rtl="0" algn="l">
              <a:spcBef>
                <a:spcPts val="440"/>
              </a:spcBef>
              <a:spcAft>
                <a:spcPts val="0"/>
              </a:spcAft>
              <a:buClr>
                <a:schemeClr val="dk1"/>
              </a:buClr>
              <a:buSzPts val="2200"/>
              <a:buNone/>
            </a:pPr>
            <a:r>
              <a:t/>
            </a:r>
            <a:endParaRPr/>
          </a:p>
        </p:txBody>
      </p:sp>
      <p:sp>
        <p:nvSpPr>
          <p:cNvPr id="140" name="Google Shape;140;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Cloud Computing</a:t>
            </a:r>
            <a:endParaRPr/>
          </a:p>
        </p:txBody>
      </p:sp>
      <p:sp>
        <p:nvSpPr>
          <p:cNvPr id="141" name="Google Shape;141;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Sem.- 5</a:t>
            </a:r>
            <a:endParaRPr/>
          </a:p>
        </p:txBody>
      </p:sp>
      <p:sp>
        <p:nvSpPr>
          <p:cNvPr id="142" name="Google Shape;142;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2"/>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t>Recovery Considerations</a:t>
            </a:r>
            <a:endParaRPr/>
          </a:p>
        </p:txBody>
      </p:sp>
      <p:sp>
        <p:nvSpPr>
          <p:cNvPr id="148" name="Google Shape;148;p12"/>
          <p:cNvSpPr txBox="1"/>
          <p:nvPr>
            <p:ph idx="1" type="body"/>
          </p:nvPr>
        </p:nvSpPr>
        <p:spPr>
          <a:xfrm>
            <a:off x="457200" y="1371600"/>
            <a:ext cx="8229600" cy="4525963"/>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1800"/>
              <a:buNone/>
            </a:pPr>
            <a:r>
              <a:rPr lang="en-US" sz="1800"/>
              <a:t>Recovery planning involves establishing measurable recovery objectives and integrating them into the overall data protection framework:</a:t>
            </a:r>
            <a:endParaRPr/>
          </a:p>
          <a:p>
            <a:pPr indent="0" lvl="0" marL="0" rtl="0" algn="just">
              <a:spcBef>
                <a:spcPts val="360"/>
              </a:spcBef>
              <a:spcAft>
                <a:spcPts val="0"/>
              </a:spcAft>
              <a:buClr>
                <a:schemeClr val="dk1"/>
              </a:buClr>
              <a:buSzPts val="1800"/>
              <a:buNone/>
            </a:pPr>
            <a:r>
              <a:t/>
            </a:r>
            <a:endParaRPr sz="1800"/>
          </a:p>
          <a:p>
            <a:pPr indent="-342900" lvl="0" marL="342900" rtl="0" algn="just">
              <a:spcBef>
                <a:spcPts val="360"/>
              </a:spcBef>
              <a:spcAft>
                <a:spcPts val="0"/>
              </a:spcAft>
              <a:buClr>
                <a:schemeClr val="dk1"/>
              </a:buClr>
              <a:buSzPts val="1800"/>
              <a:buChar char="•"/>
            </a:pPr>
            <a:r>
              <a:rPr b="1" lang="en-US" sz="1800"/>
              <a:t>Recovery Time Objective (RTO) and Recovery Point Objective (RPO):</a:t>
            </a:r>
            <a:r>
              <a:rPr lang="en-US" sz="1800"/>
              <a:t> These metrics determine acceptable downtime and data loss thresholds.</a:t>
            </a:r>
            <a:endParaRPr/>
          </a:p>
          <a:p>
            <a:pPr indent="-342900" lvl="0" marL="342900" rtl="0" algn="just">
              <a:spcBef>
                <a:spcPts val="360"/>
              </a:spcBef>
              <a:spcAft>
                <a:spcPts val="0"/>
              </a:spcAft>
              <a:buClr>
                <a:schemeClr val="dk1"/>
              </a:buClr>
              <a:buSzPts val="1800"/>
              <a:buChar char="•"/>
            </a:pPr>
            <a:r>
              <a:rPr b="1" lang="en-US" sz="1800"/>
              <a:t>Testing and Validation:</a:t>
            </a:r>
            <a:r>
              <a:rPr lang="en-US" sz="1800"/>
              <a:t> Regular recovery testing ensures that backups are functional and compliant with evolving regulations.</a:t>
            </a:r>
            <a:endParaRPr/>
          </a:p>
          <a:p>
            <a:pPr indent="-342900" lvl="0" marL="342900" rtl="0" algn="just">
              <a:spcBef>
                <a:spcPts val="360"/>
              </a:spcBef>
              <a:spcAft>
                <a:spcPts val="0"/>
              </a:spcAft>
              <a:buClr>
                <a:schemeClr val="dk1"/>
              </a:buClr>
              <a:buSzPts val="1800"/>
              <a:buChar char="•"/>
            </a:pPr>
            <a:r>
              <a:rPr b="1" lang="en-US" sz="1800"/>
              <a:t>Business Continuity and Disaster Recovery (BCDR):</a:t>
            </a:r>
            <a:r>
              <a:rPr lang="en-US" sz="1800"/>
              <a:t> Cloud-based BCDR solutions enable organizations to recover operations swiftly, but they must align with contractual service-level agreements (SLAs).</a:t>
            </a:r>
            <a:endParaRPr/>
          </a:p>
          <a:p>
            <a:pPr indent="-342900" lvl="0" marL="342900" rtl="0" algn="just">
              <a:spcBef>
                <a:spcPts val="360"/>
              </a:spcBef>
              <a:spcAft>
                <a:spcPts val="0"/>
              </a:spcAft>
              <a:buClr>
                <a:schemeClr val="dk1"/>
              </a:buClr>
              <a:buSzPts val="1800"/>
              <a:buChar char="•"/>
            </a:pPr>
            <a:r>
              <a:rPr b="1" lang="en-US" sz="1800"/>
              <a:t>Shared Responsibility in Recovery:</a:t>
            </a:r>
            <a:r>
              <a:rPr lang="en-US" sz="1800"/>
              <a:t> While cloud providers maintain infrastructure reliability, customers remain responsible for securing and recovering their own data.</a:t>
            </a:r>
            <a:endParaRPr/>
          </a:p>
          <a:p>
            <a:pPr indent="-228600" lvl="0" marL="342900" rtl="0" algn="just">
              <a:spcBef>
                <a:spcPts val="360"/>
              </a:spcBef>
              <a:spcAft>
                <a:spcPts val="0"/>
              </a:spcAft>
              <a:buClr>
                <a:schemeClr val="dk1"/>
              </a:buClr>
              <a:buSzPts val="1800"/>
              <a:buNone/>
            </a:pPr>
            <a:r>
              <a:t/>
            </a:r>
            <a:endParaRPr sz="1800"/>
          </a:p>
        </p:txBody>
      </p:sp>
      <p:sp>
        <p:nvSpPr>
          <p:cNvPr id="149" name="Google Shape;149;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Cloud Computing</a:t>
            </a:r>
            <a:endParaRPr/>
          </a:p>
        </p:txBody>
      </p:sp>
      <p:sp>
        <p:nvSpPr>
          <p:cNvPr id="150" name="Google Shape;150;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Sem.- 5</a:t>
            </a:r>
            <a:endParaRPr/>
          </a:p>
        </p:txBody>
      </p:sp>
      <p:sp>
        <p:nvSpPr>
          <p:cNvPr id="151" name="Google Shape;151;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3"/>
          <p:cNvSpPr txBox="1"/>
          <p:nvPr>
            <p:ph type="title"/>
          </p:nvPr>
        </p:nvSpPr>
        <p:spPr>
          <a:xfrm>
            <a:off x="0" y="473074"/>
            <a:ext cx="6477000" cy="365125"/>
          </a:xfrm>
          <a:prstGeom prst="rect">
            <a:avLst/>
          </a:prstGeom>
          <a:noFill/>
          <a:ln>
            <a:noFill/>
          </a:ln>
        </p:spPr>
        <p:txBody>
          <a:bodyPr anchorCtr="0" anchor="ctr" bIns="45700" lIns="91425" spcFirstLastPara="1" rIns="91425" wrap="square" tIns="45700">
            <a:noAutofit/>
          </a:bodyPr>
          <a:lstStyle/>
          <a:p>
            <a:pPr indent="0" lvl="0" marL="0" rtl="0" algn="just">
              <a:spcBef>
                <a:spcPts val="0"/>
              </a:spcBef>
              <a:spcAft>
                <a:spcPts val="0"/>
              </a:spcAft>
              <a:buNone/>
            </a:pPr>
            <a:r>
              <a:rPr b="1" lang="en-US" sz="2400"/>
              <a:t>Emerging Technologies in Data Protection</a:t>
            </a:r>
            <a:br>
              <a:rPr lang="en-US">
                <a:solidFill>
                  <a:srgbClr val="000000"/>
                </a:solidFill>
                <a:latin typeface="Cambria"/>
                <a:ea typeface="Cambria"/>
                <a:cs typeface="Cambria"/>
                <a:sym typeface="Cambria"/>
              </a:rPr>
            </a:br>
            <a:endParaRPr/>
          </a:p>
        </p:txBody>
      </p:sp>
      <p:sp>
        <p:nvSpPr>
          <p:cNvPr id="157" name="Google Shape;157;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Cloud Computing</a:t>
            </a:r>
            <a:endParaRPr/>
          </a:p>
        </p:txBody>
      </p:sp>
      <p:sp>
        <p:nvSpPr>
          <p:cNvPr id="158" name="Google Shape;158;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Sem.- 5</a:t>
            </a:r>
            <a:endParaRPr/>
          </a:p>
        </p:txBody>
      </p:sp>
      <p:sp>
        <p:nvSpPr>
          <p:cNvPr id="159" name="Google Shape;159;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60" name="Google Shape;160;p13"/>
          <p:cNvSpPr txBox="1"/>
          <p:nvPr>
            <p:ph idx="1" type="body"/>
          </p:nvPr>
        </p:nvSpPr>
        <p:spPr>
          <a:xfrm>
            <a:off x="381000" y="1371600"/>
            <a:ext cx="8382000" cy="3782061"/>
          </a:xfrm>
          <a:prstGeom prst="rect">
            <a:avLst/>
          </a:prstGeom>
          <a:noFill/>
          <a:ln>
            <a:noFill/>
          </a:ln>
        </p:spPr>
        <p:txBody>
          <a:bodyPr anchorCtr="0" anchor="ctr" bIns="45700" lIns="91425" spcFirstLastPara="1" rIns="91425" wrap="square" tIns="45700">
            <a:spAutoFit/>
          </a:bodyPr>
          <a:lstStyle/>
          <a:p>
            <a:pPr indent="-114300" lvl="0" marL="0" marR="0" rtl="0" algn="just">
              <a:lnSpc>
                <a:spcPct val="150000"/>
              </a:lnSpc>
              <a:spcBef>
                <a:spcPts val="0"/>
              </a:spcBef>
              <a:spcAft>
                <a:spcPts val="0"/>
              </a:spcAft>
              <a:buClr>
                <a:schemeClr val="dk1"/>
              </a:buClr>
              <a:buSzPts val="1800"/>
              <a:buFont typeface="Times New Roman"/>
              <a:buChar char="•"/>
            </a:pPr>
            <a:r>
              <a:rPr b="1" i="0" lang="en-US" sz="1800" u="none" cap="none" strike="noStrike">
                <a:solidFill>
                  <a:schemeClr val="dk1"/>
                </a:solidFill>
              </a:rPr>
              <a:t>Artificial Intelligence (AI) &amp; Machine Learning (ML):</a:t>
            </a:r>
            <a:r>
              <a:rPr b="0" i="0" lang="en-US" sz="1800" u="none" cap="none" strike="noStrike">
                <a:solidFill>
                  <a:schemeClr val="dk1"/>
                </a:solidFill>
              </a:rPr>
              <a:t> Detect and respond to cyber threats in real time.</a:t>
            </a:r>
            <a:endParaRPr/>
          </a:p>
          <a:p>
            <a:pPr indent="-114300" lvl="0" marL="0" marR="0" rtl="0" algn="just">
              <a:lnSpc>
                <a:spcPct val="150000"/>
              </a:lnSpc>
              <a:spcBef>
                <a:spcPts val="0"/>
              </a:spcBef>
              <a:spcAft>
                <a:spcPts val="0"/>
              </a:spcAft>
              <a:buClr>
                <a:schemeClr val="dk1"/>
              </a:buClr>
              <a:buSzPts val="1800"/>
              <a:buFont typeface="Times New Roman"/>
              <a:buChar char="•"/>
            </a:pPr>
            <a:r>
              <a:rPr b="1" i="0" lang="en-US" sz="1800" u="none" cap="none" strike="noStrike">
                <a:solidFill>
                  <a:schemeClr val="dk1"/>
                </a:solidFill>
              </a:rPr>
              <a:t>Blockchain:</a:t>
            </a:r>
            <a:r>
              <a:rPr b="0" i="0" lang="en-US" sz="1800" u="none" cap="none" strike="noStrike">
                <a:solidFill>
                  <a:schemeClr val="dk1"/>
                </a:solidFill>
              </a:rPr>
              <a:t> Ensures data integrity and transparency through immutable records.</a:t>
            </a:r>
            <a:endParaRPr/>
          </a:p>
          <a:p>
            <a:pPr indent="-114300" lvl="0" marL="0" marR="0" rtl="0" algn="just">
              <a:lnSpc>
                <a:spcPct val="150000"/>
              </a:lnSpc>
              <a:spcBef>
                <a:spcPts val="0"/>
              </a:spcBef>
              <a:spcAft>
                <a:spcPts val="0"/>
              </a:spcAft>
              <a:buClr>
                <a:schemeClr val="dk1"/>
              </a:buClr>
              <a:buSzPts val="1800"/>
              <a:buFont typeface="Times New Roman"/>
              <a:buChar char="•"/>
            </a:pPr>
            <a:r>
              <a:rPr b="1" i="0" lang="en-US" sz="1800" u="none" cap="none" strike="noStrike">
                <a:solidFill>
                  <a:schemeClr val="dk1"/>
                </a:solidFill>
              </a:rPr>
              <a:t>Advanced Encryption:</a:t>
            </a:r>
            <a:r>
              <a:rPr b="0" i="0" lang="en-US" sz="1800" u="none" cap="none" strike="noStrike">
                <a:solidFill>
                  <a:schemeClr val="dk1"/>
                </a:solidFill>
              </a:rPr>
              <a:t> Homomorphic and quantum-resistant encryption protect data during processing.</a:t>
            </a:r>
            <a:endParaRPr/>
          </a:p>
          <a:p>
            <a:pPr indent="-114300" lvl="0" marL="0" marR="0" rtl="0" algn="just">
              <a:lnSpc>
                <a:spcPct val="150000"/>
              </a:lnSpc>
              <a:spcBef>
                <a:spcPts val="0"/>
              </a:spcBef>
              <a:spcAft>
                <a:spcPts val="0"/>
              </a:spcAft>
              <a:buClr>
                <a:schemeClr val="dk1"/>
              </a:buClr>
              <a:buSzPts val="1800"/>
              <a:buFont typeface="Times New Roman"/>
              <a:buChar char="•"/>
            </a:pPr>
            <a:r>
              <a:rPr b="1" i="0" lang="en-US" sz="1800" u="none" cap="none" strike="noStrike">
                <a:solidFill>
                  <a:schemeClr val="dk1"/>
                </a:solidFill>
              </a:rPr>
              <a:t>Zero-Trust Security Model:</a:t>
            </a:r>
            <a:r>
              <a:rPr b="0" i="0" lang="en-US" sz="1800" u="none" cap="none" strike="noStrike">
                <a:solidFill>
                  <a:schemeClr val="dk1"/>
                </a:solidFill>
              </a:rPr>
              <a:t> Continuously verifies users and devices to prevent unauthorized access.</a:t>
            </a:r>
            <a:endParaRPr/>
          </a:p>
          <a:p>
            <a:pPr indent="-114300" lvl="0" marL="0" marR="0" rtl="0" algn="just">
              <a:lnSpc>
                <a:spcPct val="150000"/>
              </a:lnSpc>
              <a:spcBef>
                <a:spcPts val="0"/>
              </a:spcBef>
              <a:spcAft>
                <a:spcPts val="0"/>
              </a:spcAft>
              <a:buClr>
                <a:schemeClr val="dk1"/>
              </a:buClr>
              <a:buSzPts val="1800"/>
              <a:buFont typeface="Times New Roman"/>
              <a:buChar char="•"/>
            </a:pPr>
            <a:r>
              <a:rPr b="1" i="0" lang="en-US" sz="1800" u="none" cap="none" strike="noStrike">
                <a:solidFill>
                  <a:schemeClr val="dk1"/>
                </a:solidFill>
              </a:rPr>
              <a:t>Cloud-Based Backup &amp; Recovery:</a:t>
            </a:r>
            <a:r>
              <a:rPr b="0" i="0" lang="en-US" sz="1800" u="none" cap="none" strike="noStrike">
                <a:solidFill>
                  <a:schemeClr val="dk1"/>
                </a:solidFill>
              </a:rPr>
              <a:t> Enhances data resilience and supports quick restoration after breaches.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66" name="Google Shape;166;p14"/>
          <p:cNvSpPr/>
          <p:nvPr/>
        </p:nvSpPr>
        <p:spPr>
          <a:xfrm>
            <a:off x="0" y="857250"/>
            <a:ext cx="9144000" cy="3515189"/>
          </a:xfrm>
          <a:prstGeom prst="rect">
            <a:avLst/>
          </a:prstGeom>
          <a:solidFill>
            <a:srgbClr val="974806">
              <a:alpha val="6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rgbClr val="FFFFFF"/>
                </a:solidFill>
                <a:latin typeface="Calibri"/>
                <a:ea typeface="Calibri"/>
                <a:cs typeface="Calibri"/>
                <a:sym typeface="Calibri"/>
              </a:rPr>
              <a:t> </a:t>
            </a:r>
            <a:endParaRPr/>
          </a:p>
        </p:txBody>
      </p:sp>
      <p:sp>
        <p:nvSpPr>
          <p:cNvPr id="167" name="Google Shape;167;p14"/>
          <p:cNvSpPr txBox="1"/>
          <p:nvPr/>
        </p:nvSpPr>
        <p:spPr>
          <a:xfrm>
            <a:off x="609600" y="2362200"/>
            <a:ext cx="8043861" cy="92333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FFFFFF"/>
              </a:buClr>
              <a:buSzPts val="6000"/>
              <a:buFont typeface="Arial"/>
              <a:buNone/>
            </a:pPr>
            <a:r>
              <a:rPr lang="en-US" sz="6000">
                <a:solidFill>
                  <a:srgbClr val="FFFFFF"/>
                </a:solidFill>
                <a:latin typeface="Arial"/>
                <a:ea typeface="Arial"/>
                <a:cs typeface="Arial"/>
                <a:sym typeface="Arial"/>
              </a:rPr>
              <a:t>THANK YOU</a:t>
            </a:r>
            <a:endParaRPr/>
          </a:p>
        </p:txBody>
      </p:sp>
      <p:sp>
        <p:nvSpPr>
          <p:cNvPr id="168" name="Google Shape;168;p14"/>
          <p:cNvSpPr/>
          <p:nvPr/>
        </p:nvSpPr>
        <p:spPr>
          <a:xfrm>
            <a:off x="1981200" y="1767959"/>
            <a:ext cx="1822847" cy="2419350"/>
          </a:xfrm>
          <a:custGeom>
            <a:rect b="b" l="l" r="r" t="t"/>
            <a:pathLst>
              <a:path extrusionOk="0" h="3225800" w="2430463">
                <a:moveTo>
                  <a:pt x="2430463" y="2413000"/>
                </a:moveTo>
                <a:lnTo>
                  <a:pt x="1612900" y="3225800"/>
                </a:lnTo>
                <a:lnTo>
                  <a:pt x="0" y="1612900"/>
                </a:lnTo>
                <a:lnTo>
                  <a:pt x="1612900" y="0"/>
                </a:lnTo>
                <a:lnTo>
                  <a:pt x="2430463" y="817563"/>
                </a:lnTo>
              </a:path>
            </a:pathLst>
          </a:custGeom>
          <a:noFill/>
          <a:ln cap="flat" cmpd="sng" w="381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169" name="Google Shape;169;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Sem.- 5</a:t>
            </a:r>
            <a:endParaRPr/>
          </a:p>
        </p:txBody>
      </p:sp>
      <p:sp>
        <p:nvSpPr>
          <p:cNvPr id="170" name="Google Shape;170;p14"/>
          <p:cNvSpPr txBox="1"/>
          <p:nvPr/>
        </p:nvSpPr>
        <p:spPr>
          <a:xfrm>
            <a:off x="609600" y="6508750"/>
            <a:ext cx="21336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1200">
              <a:solidFill>
                <a:srgbClr val="0070C0"/>
              </a:solidFill>
              <a:latin typeface="Times New Roman"/>
              <a:ea typeface="Times New Roman"/>
              <a:cs typeface="Times New Roman"/>
              <a:sym typeface="Times New Roman"/>
            </a:endParaRPr>
          </a:p>
        </p:txBody>
      </p:sp>
      <p:sp>
        <p:nvSpPr>
          <p:cNvPr id="171" name="Google Shape;171;p14"/>
          <p:cNvSpPr txBox="1"/>
          <p:nvPr/>
        </p:nvSpPr>
        <p:spPr>
          <a:xfrm>
            <a:off x="598714" y="6372225"/>
            <a:ext cx="21336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200">
                <a:solidFill>
                  <a:srgbClr val="0070C0"/>
                </a:solidFill>
                <a:latin typeface="Times New Roman"/>
                <a:ea typeface="Times New Roman"/>
                <a:cs typeface="Times New Roman"/>
                <a:sym typeface="Times New Roman"/>
              </a:rPr>
              <a:t>Cloud Computing</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2021-07-05T10:09:00Z</dcterms:created>
  <dc:creator>ABC</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1033-11.2.0.10463</vt:lpwstr>
  </property>
  <property fmtid="{D5CDD505-2E9C-101B-9397-08002B2CF9AE}" pid="3" name="ICV">
    <vt:lpwstr>C66E8A929365439D9183C5235316B3C9</vt:lpwstr>
  </property>
</Properties>
</file>