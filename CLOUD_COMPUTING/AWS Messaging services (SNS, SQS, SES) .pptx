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8" r:id="rId3"/>
    <p:sldId id="272" r:id="rId4"/>
    <p:sldId id="273" r:id="rId5"/>
    <p:sldId id="274"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71" r:id="rId23"/>
  </p:sldIdLst>
  <p:sldSz cx="14330363" cy="8231188"/>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593">
          <p15:clr>
            <a:srgbClr val="A4A3A4"/>
          </p15:clr>
        </p15:guide>
        <p15:guide id="4" pos="4579">
          <p15:clr>
            <a:srgbClr val="A4A3A4"/>
          </p15:clr>
        </p15:guide>
        <p15:guide id="5" orient="horz" pos="2079">
          <p15:clr>
            <a:srgbClr val="A4A3A4"/>
          </p15:clr>
        </p15:guide>
        <p15:guide id="6" orient="horz" pos="2496">
          <p15:clr>
            <a:srgbClr val="A4A3A4"/>
          </p15:clr>
        </p15:guide>
        <p15:guide id="7" orient="horz" pos="2245">
          <p15:clr>
            <a:srgbClr val="A4A3A4"/>
          </p15:clr>
        </p15:guide>
        <p15:guide id="8" orient="horz" pos="2694">
          <p15:clr>
            <a:srgbClr val="A4A3A4"/>
          </p15:clr>
        </p15:guide>
        <p15:guide id="9" orient="horz" pos="2162">
          <p15:clr>
            <a:srgbClr val="A4A3A4"/>
          </p15:clr>
        </p15:guide>
        <p15:guide id="10" orient="horz" pos="2594">
          <p15:clr>
            <a:srgbClr val="A4A3A4"/>
          </p15:clr>
        </p15:guide>
        <p15:guide id="11" pos="3785">
          <p15:clr>
            <a:srgbClr val="A4A3A4"/>
          </p15:clr>
        </p15:guide>
        <p15:guide id="12" pos="451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RPMHTb6G7R4Gox/v4d2vD/Z93Z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86"/>
  </p:normalViewPr>
  <p:slideViewPr>
    <p:cSldViewPr snapToGrid="0">
      <p:cViewPr>
        <p:scale>
          <a:sx n="95" d="100"/>
          <a:sy n="95" d="100"/>
        </p:scale>
        <p:origin x="480" y="144"/>
      </p:cViewPr>
      <p:guideLst>
        <p:guide orient="horz" pos="2160"/>
        <p:guide pos="3840"/>
        <p:guide orient="horz" pos="2593"/>
        <p:guide pos="4579"/>
        <p:guide orient="horz" pos="2079"/>
        <p:guide orient="horz" pos="2496"/>
        <p:guide orient="horz" pos="2245"/>
        <p:guide orient="horz" pos="2694"/>
        <p:guide orient="horz" pos="2162"/>
        <p:guide orient="horz" pos="2594"/>
        <p:guide pos="3785"/>
        <p:guide pos="451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45" name="Google Shape;45;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
        <p:nvSpPr>
          <p:cNvPr id="46" name="Google Shape;46;p1: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US"/>
              <a:t>1</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4" name="Google Shape;64;p2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4" name="Google Shape;64;p21: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1447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55" name="Google Shape;155;p15:notes"/>
          <p:cNvSpPr>
            <a:spLocks noGrp="1" noRot="1" noChangeAspect="1"/>
          </p:cNvSpPr>
          <p:nvPr>
            <p:ph type="sldImg" idx="2"/>
          </p:nvPr>
        </p:nvSpPr>
        <p:spPr>
          <a:xfrm>
            <a:off x="444500" y="685800"/>
            <a:ext cx="5969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pic>
        <p:nvPicPr>
          <p:cNvPr id="25" name="Google Shape;25;p17" descr="LOGO.gif"/>
          <p:cNvPicPr preferRelativeResize="0"/>
          <p:nvPr/>
        </p:nvPicPr>
        <p:blipFill rotWithShape="1">
          <a:blip r:embed="rId2">
            <a:alphaModFix/>
          </a:blip>
          <a:srcRect b="10713"/>
          <a:stretch/>
        </p:blipFill>
        <p:spPr>
          <a:xfrm>
            <a:off x="10270103" y="274375"/>
            <a:ext cx="3224332" cy="762147"/>
          </a:xfrm>
          <a:prstGeom prst="rect">
            <a:avLst/>
          </a:prstGeom>
          <a:noFill/>
          <a:ln>
            <a:noFill/>
          </a:ln>
        </p:spPr>
      </p:pic>
      <p:grpSp>
        <p:nvGrpSpPr>
          <p:cNvPr id="26" name="Google Shape;26;p17"/>
          <p:cNvGrpSpPr/>
          <p:nvPr/>
        </p:nvGrpSpPr>
        <p:grpSpPr>
          <a:xfrm>
            <a:off x="9633189" y="2"/>
            <a:ext cx="4697174" cy="1051763"/>
            <a:chOff x="6096000" y="3924300"/>
            <a:chExt cx="2997200" cy="876300"/>
          </a:xfrm>
        </p:grpSpPr>
        <p:sp>
          <p:nvSpPr>
            <p:cNvPr id="27" name="Google Shape;27;p1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17"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29" name="Google Shape;29;p1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17" descr="logo.jpg"/>
          <p:cNvPicPr preferRelativeResize="0"/>
          <p:nvPr/>
        </p:nvPicPr>
        <p:blipFill rotWithShape="1">
          <a:blip r:embed="rId3">
            <a:alphaModFix/>
          </a:blip>
          <a:srcRect/>
          <a:stretch/>
        </p:blipFill>
        <p:spPr>
          <a:xfrm>
            <a:off x="10270101" y="274378"/>
            <a:ext cx="3010371" cy="731662"/>
          </a:xfrm>
          <a:prstGeom prst="rect">
            <a:avLst/>
          </a:prstGeom>
          <a:noFill/>
          <a:ln>
            <a:noFill/>
          </a:ln>
        </p:spPr>
      </p:pic>
      <p:sp>
        <p:nvSpPr>
          <p:cNvPr id="31" name="Google Shape;31;p17"/>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17"/>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17"/>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7"/>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
        <p:cNvGrpSpPr/>
        <p:nvPr/>
      </p:nvGrpSpPr>
      <p:grpSpPr>
        <a:xfrm>
          <a:off x="0" y="0"/>
          <a:ext cx="0" cy="0"/>
          <a:chOff x="0" y="0"/>
          <a:chExt cx="0" cy="0"/>
        </a:xfrm>
      </p:grpSpPr>
      <p:sp>
        <p:nvSpPr>
          <p:cNvPr id="37" name="Google Shape;37;p19"/>
          <p:cNvSpPr txBox="1">
            <a:spLocks noGrp="1"/>
          </p:cNvSpPr>
          <p:nvPr>
            <p:ph type="ctrTitle"/>
          </p:nvPr>
        </p:nvSpPr>
        <p:spPr>
          <a:xfrm>
            <a:off x="10" y="3"/>
            <a:ext cx="8598218" cy="109749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 name="Google Shape;38;p19"/>
          <p:cNvSpPr txBox="1">
            <a:spLocks noGrp="1"/>
          </p:cNvSpPr>
          <p:nvPr>
            <p:ph type="subTitle" idx="1"/>
          </p:nvPr>
        </p:nvSpPr>
        <p:spPr>
          <a:xfrm>
            <a:off x="835942" y="1646241"/>
            <a:ext cx="12777907" cy="5670373"/>
          </a:xfrm>
          <a:prstGeom prst="rect">
            <a:avLst/>
          </a:prstGeom>
          <a:noFill/>
          <a:ln>
            <a:noFill/>
          </a:ln>
        </p:spPr>
        <p:txBody>
          <a:bodyPr spcFirstLastPara="1" wrap="square" lIns="91425" tIns="45700" rIns="91425" bIns="45700" anchor="t" anchorCtr="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9" name="Google Shape;39;p19"/>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9"/>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1" y="2"/>
            <a:ext cx="10150674" cy="100603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6"/>
          <p:cNvSpPr txBox="1">
            <a:spLocks noGrp="1"/>
          </p:cNvSpPr>
          <p:nvPr>
            <p:ph type="body" idx="1"/>
          </p:nvPr>
        </p:nvSpPr>
        <p:spPr>
          <a:xfrm>
            <a:off x="716522" y="1646250"/>
            <a:ext cx="12897326" cy="543220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716518" y="7629104"/>
            <a:ext cx="3343752" cy="43823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4896212" y="7629104"/>
            <a:ext cx="4537948" cy="43823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98989"/>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16"/>
          <p:cNvSpPr/>
          <p:nvPr/>
        </p:nvSpPr>
        <p:spPr>
          <a:xfrm>
            <a:off x="6" y="2"/>
            <a:ext cx="14330363" cy="1006034"/>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16"/>
          <p:cNvSpPr/>
          <p:nvPr/>
        </p:nvSpPr>
        <p:spPr>
          <a:xfrm rot="10800000" flipH="1">
            <a:off x="6" y="8048276"/>
            <a:ext cx="14330363" cy="23778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Google Shape;17;p16" descr="LOGO.gif"/>
          <p:cNvPicPr preferRelativeResize="0"/>
          <p:nvPr/>
        </p:nvPicPr>
        <p:blipFill rotWithShape="1">
          <a:blip r:embed="rId4">
            <a:alphaModFix/>
          </a:blip>
          <a:srcRect b="10713"/>
          <a:stretch/>
        </p:blipFill>
        <p:spPr>
          <a:xfrm>
            <a:off x="10270103" y="274375"/>
            <a:ext cx="3224332" cy="762147"/>
          </a:xfrm>
          <a:prstGeom prst="rect">
            <a:avLst/>
          </a:prstGeom>
          <a:noFill/>
          <a:ln>
            <a:noFill/>
          </a:ln>
        </p:spPr>
      </p:pic>
      <p:pic>
        <p:nvPicPr>
          <p:cNvPr id="18" name="Google Shape;18;p16" descr="LOGO.gif"/>
          <p:cNvPicPr preferRelativeResize="0"/>
          <p:nvPr/>
        </p:nvPicPr>
        <p:blipFill rotWithShape="1">
          <a:blip r:embed="rId4">
            <a:alphaModFix/>
          </a:blip>
          <a:srcRect b="10713"/>
          <a:stretch/>
        </p:blipFill>
        <p:spPr>
          <a:xfrm>
            <a:off x="10270103" y="274375"/>
            <a:ext cx="3224332" cy="762147"/>
          </a:xfrm>
          <a:prstGeom prst="rect">
            <a:avLst/>
          </a:prstGeom>
          <a:noFill/>
          <a:ln>
            <a:noFill/>
          </a:ln>
        </p:spPr>
      </p:pic>
      <p:grpSp>
        <p:nvGrpSpPr>
          <p:cNvPr id="19" name="Google Shape;19;p16"/>
          <p:cNvGrpSpPr/>
          <p:nvPr/>
        </p:nvGrpSpPr>
        <p:grpSpPr>
          <a:xfrm>
            <a:off x="9633189" y="2"/>
            <a:ext cx="4697174" cy="1051763"/>
            <a:chOff x="6096000" y="3924300"/>
            <a:chExt cx="2997200" cy="876300"/>
          </a:xfrm>
        </p:grpSpPr>
        <p:sp>
          <p:nvSpPr>
            <p:cNvPr id="20" name="Google Shape;20;p16"/>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1" name="Google Shape;21;p16" descr="LOGO.gif"/>
            <p:cNvPicPr preferRelativeResize="0"/>
            <p:nvPr/>
          </p:nvPicPr>
          <p:blipFill rotWithShape="1">
            <a:blip r:embed="rId4">
              <a:alphaModFix/>
            </a:blip>
            <a:srcRect b="10713"/>
            <a:stretch/>
          </p:blipFill>
          <p:spPr>
            <a:xfrm>
              <a:off x="6502400" y="4152900"/>
              <a:ext cx="2057400" cy="635000"/>
            </a:xfrm>
            <a:prstGeom prst="rect">
              <a:avLst/>
            </a:prstGeom>
            <a:noFill/>
            <a:ln>
              <a:noFill/>
            </a:ln>
          </p:spPr>
        </p:pic>
        <p:sp>
          <p:nvSpPr>
            <p:cNvPr id="22" name="Google Shape;22;p16"/>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23" name="Google Shape;23;p16" descr="logo.jpg"/>
          <p:cNvPicPr preferRelativeResize="0"/>
          <p:nvPr/>
        </p:nvPicPr>
        <p:blipFill rotWithShape="1">
          <a:blip r:embed="rId5">
            <a:alphaModFix/>
          </a:blip>
          <a:srcRect/>
          <a:stretch/>
        </p:blipFill>
        <p:spPr>
          <a:xfrm>
            <a:off x="10270101" y="274378"/>
            <a:ext cx="3010371" cy="7316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
          <p:cNvSpPr txBox="1"/>
          <p:nvPr/>
        </p:nvSpPr>
        <p:spPr>
          <a:xfrm>
            <a:off x="3134773" y="7036631"/>
            <a:ext cx="8150394" cy="64633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Chitkara University Institute of Engineering and Technology,</a:t>
            </a:r>
            <a:br>
              <a:rPr lang="en-US" sz="1800" b="0" i="0" u="none" strike="noStrike" cap="none">
                <a:solidFill>
                  <a:schemeClr val="dk1"/>
                </a:solidFill>
                <a:latin typeface="Times New Roman"/>
                <a:ea typeface="Times New Roman"/>
                <a:cs typeface="Times New Roman"/>
                <a:sym typeface="Times New Roman"/>
              </a:rPr>
            </a:br>
            <a:r>
              <a:rPr lang="en-US" sz="1800" b="1" i="0" u="none" strike="noStrike" cap="none">
                <a:solidFill>
                  <a:schemeClr val="dk1"/>
                </a:solidFill>
                <a:latin typeface="Times New Roman"/>
                <a:ea typeface="Times New Roman"/>
                <a:cs typeface="Times New Roman"/>
                <a:sym typeface="Times New Roman"/>
              </a:rPr>
              <a:t>Chitkara University, Punjab, India</a:t>
            </a:r>
            <a:endParaRPr sz="1800" b="0" i="0" u="none" strike="noStrike" cap="none">
              <a:solidFill>
                <a:schemeClr val="dk1"/>
              </a:solidFill>
              <a:latin typeface="Times New Roman"/>
              <a:ea typeface="Times New Roman"/>
              <a:cs typeface="Times New Roman"/>
              <a:sym typeface="Times New Roman"/>
            </a:endParaRPr>
          </a:p>
        </p:txBody>
      </p:sp>
      <p:sp>
        <p:nvSpPr>
          <p:cNvPr id="49" name="Google Shape;49;p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latin typeface="Times New Roman"/>
                <a:ea typeface="Times New Roman"/>
                <a:cs typeface="Times New Roman"/>
                <a:sym typeface="Times New Roman"/>
              </a:rPr>
              <a:t>1</a:t>
            </a:fld>
            <a:endParaRPr>
              <a:latin typeface="Times New Roman"/>
              <a:ea typeface="Times New Roman"/>
              <a:cs typeface="Times New Roman"/>
              <a:sym typeface="Times New Roman"/>
            </a:endParaRPr>
          </a:p>
        </p:txBody>
      </p:sp>
      <p:sp>
        <p:nvSpPr>
          <p:cNvPr id="50" name="Google Shape;50;p1"/>
          <p:cNvSpPr/>
          <p:nvPr/>
        </p:nvSpPr>
        <p:spPr>
          <a:xfrm>
            <a:off x="3205359" y="6477391"/>
            <a:ext cx="7830086" cy="55923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Computer Science &amp; Engineering</a:t>
            </a:r>
            <a:endParaRPr sz="1400" b="0" i="0" u="none" strike="noStrike" cap="none">
              <a:solidFill>
                <a:srgbClr val="000000"/>
              </a:solidFill>
              <a:latin typeface="Arial"/>
              <a:ea typeface="Arial"/>
              <a:cs typeface="Arial"/>
              <a:sym typeface="Arial"/>
            </a:endParaRPr>
          </a:p>
        </p:txBody>
      </p:sp>
      <p:sp>
        <p:nvSpPr>
          <p:cNvPr id="51" name="Google Shape;51;p1"/>
          <p:cNvSpPr/>
          <p:nvPr/>
        </p:nvSpPr>
        <p:spPr>
          <a:xfrm>
            <a:off x="1" y="2024154"/>
            <a:ext cx="14330362" cy="1200288"/>
          </a:xfrm>
          <a:prstGeom prst="rect">
            <a:avLst/>
          </a:prstGeom>
          <a:noFill/>
          <a:ln>
            <a:noFill/>
          </a:ln>
        </p:spPr>
        <p:txBody>
          <a:bodyPr spcFirstLastPara="1" wrap="square" lIns="91425" tIns="45700" rIns="91425" bIns="45700" anchor="t" anchorCtr="0">
            <a:spAutoFit/>
          </a:bodyPr>
          <a:lstStyle/>
          <a:p>
            <a:pPr marL="0" marR="0" algn="ctr">
              <a:spcBef>
                <a:spcPts val="0"/>
              </a:spcBef>
              <a:spcAft>
                <a:spcPts val="0"/>
              </a:spcAft>
            </a:pPr>
            <a:r>
              <a:rPr lang="en-US" sz="3600" b="1" kern="100" dirty="0">
                <a:effectLst/>
                <a:latin typeface="+mj-lt"/>
                <a:ea typeface="Calibri" panose="020F0502020204030204" pitchFamily="34" charset="0"/>
                <a:cs typeface="Times New Roman" panose="02020603050405020304" pitchFamily="18" charset="0"/>
              </a:rPr>
              <a:t>Elastic Beanstalk, AWS Messaging services (SNS, SQS, SES) and Data Security.</a:t>
            </a:r>
          </a:p>
        </p:txBody>
      </p:sp>
      <p:sp>
        <p:nvSpPr>
          <p:cNvPr id="52" name="Google Shape;52;p1"/>
          <p:cNvSpPr/>
          <p:nvPr/>
        </p:nvSpPr>
        <p:spPr>
          <a:xfrm>
            <a:off x="3583781" y="3865685"/>
            <a:ext cx="853440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imes New Roman"/>
                <a:ea typeface="Times New Roman"/>
                <a:cs typeface="Times New Roman"/>
                <a:sym typeface="Times New Roman"/>
              </a:rPr>
              <a:t>Bachelor of Engineering - Computer Science &amp; Engineering </a:t>
            </a:r>
            <a:endParaRPr sz="2400" b="0" i="0" u="none" strike="noStrike" cap="none">
              <a:solidFill>
                <a:schemeClr val="dk1"/>
              </a:solidFill>
              <a:latin typeface="Times New Roman"/>
              <a:ea typeface="Times New Roman"/>
              <a:cs typeface="Times New Roman"/>
              <a:sym typeface="Times New Roman"/>
            </a:endParaRPr>
          </a:p>
        </p:txBody>
      </p:sp>
      <p:sp>
        <p:nvSpPr>
          <p:cNvPr id="53" name="Google Shape;53;p1"/>
          <p:cNvSpPr/>
          <p:nvPr/>
        </p:nvSpPr>
        <p:spPr>
          <a:xfrm>
            <a:off x="3814525" y="4892675"/>
            <a:ext cx="6195300" cy="738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600" b="1" i="0" u="none" strike="noStrike" cap="none">
                <a:solidFill>
                  <a:srgbClr val="000000"/>
                </a:solidFill>
                <a:latin typeface="Times New Roman"/>
                <a:ea typeface="Times New Roman"/>
                <a:cs typeface="Times New Roman"/>
                <a:sym typeface="Times New Roman"/>
              </a:rPr>
              <a:t>Cloud Computing (CC)(23CS009)</a:t>
            </a:r>
            <a:endParaRPr sz="3200" b="1" i="0" u="none" strike="noStrike" cap="none">
              <a:solidFill>
                <a:schemeClr val="dk1"/>
              </a:solidFill>
              <a:latin typeface="Times New Roman"/>
              <a:ea typeface="Times New Roman"/>
              <a:cs typeface="Times New Roman"/>
              <a:sym typeface="Times New Roman"/>
            </a:endParaRPr>
          </a:p>
        </p:txBody>
      </p:sp>
      <p:sp>
        <p:nvSpPr>
          <p:cNvPr id="54" name="Google Shape;54;p1"/>
          <p:cNvSpPr/>
          <p:nvPr/>
        </p:nvSpPr>
        <p:spPr>
          <a:xfrm>
            <a:off x="5031581" y="5631350"/>
            <a:ext cx="4795414"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21"/>
          <p:cNvSpPr txBox="1">
            <a:spLocks noGrp="1"/>
          </p:cNvSpPr>
          <p:nvPr>
            <p:ph type="ctrTitle"/>
          </p:nvPr>
        </p:nvSpPr>
        <p:spPr>
          <a:xfrm>
            <a:off x="442950" y="0"/>
            <a:ext cx="8155200" cy="1097400"/>
          </a:xfrm>
          <a:prstGeom prst="rect">
            <a:avLst/>
          </a:prstGeom>
          <a:noFill/>
          <a:ln>
            <a:noFill/>
          </a:ln>
        </p:spPr>
        <p:txBody>
          <a:bodyPr spcFirstLastPara="1" wrap="square" lIns="91425" tIns="45700" rIns="91425" bIns="45700" anchor="ctr" anchorCtr="0">
            <a:noAutofit/>
          </a:bodyPr>
          <a:lstStyle/>
          <a:p>
            <a:pPr marL="457200" lvl="0" indent="457200" algn="just" rtl="0">
              <a:lnSpc>
                <a:spcPct val="150000"/>
              </a:lnSpc>
              <a:spcBef>
                <a:spcPts val="1200"/>
              </a:spcBef>
              <a:spcAft>
                <a:spcPts val="1200"/>
              </a:spcAft>
              <a:buClr>
                <a:schemeClr val="dk1"/>
              </a:buClr>
              <a:buSzPts val="1100"/>
              <a:buFont typeface="Arial"/>
              <a:buNone/>
            </a:pPr>
            <a:r>
              <a:rPr lang="en-US" sz="3200" b="1" dirty="0">
                <a:latin typeface="Times New Roman"/>
                <a:cs typeface="Times New Roman"/>
                <a:sym typeface="Times New Roman"/>
              </a:rPr>
              <a:t>Elastic Beanstalk</a:t>
            </a:r>
            <a:endParaRPr sz="3200" dirty="0"/>
          </a:p>
        </p:txBody>
      </p:sp>
      <p:sp>
        <p:nvSpPr>
          <p:cNvPr id="67" name="Google Shape;67;p21"/>
          <p:cNvSpPr txBox="1">
            <a:spLocks noGrp="1"/>
          </p:cNvSpPr>
          <p:nvPr>
            <p:ph type="subTitle" idx="1"/>
          </p:nvPr>
        </p:nvSpPr>
        <p:spPr>
          <a:xfrm>
            <a:off x="442950" y="1646250"/>
            <a:ext cx="13170900" cy="5670300"/>
          </a:xfrm>
          <a:prstGeom prst="rect">
            <a:avLst/>
          </a:prstGeom>
          <a:noFill/>
          <a:ln>
            <a:noFill/>
          </a:ln>
        </p:spPr>
        <p:txBody>
          <a:bodyPr spcFirstLastPara="1" wrap="square" lIns="91425" tIns="45700" rIns="91425" bIns="45700" anchor="t" anchorCtr="0">
            <a:noAutofit/>
          </a:bodyPr>
          <a:lstStyle/>
          <a:p>
            <a:pPr marL="482600" lvl="0" indent="-457200" algn="just" rtl="0">
              <a:lnSpc>
                <a:spcPct val="100000"/>
              </a:lnSpc>
              <a:spcBef>
                <a:spcPts val="1200"/>
              </a:spcBef>
              <a:spcAft>
                <a:spcPts val="0"/>
              </a:spcAft>
              <a:buSzPts val="3200"/>
              <a:buFont typeface="Arial" panose="020B0604020202020204" pitchFamily="34" charset="0"/>
              <a:buChar char="•"/>
            </a:pPr>
            <a:r>
              <a:rPr lang="en-US" sz="2800" b="0" i="0" u="none" strike="noStrike" dirty="0">
                <a:solidFill>
                  <a:srgbClr val="0F141A"/>
                </a:solidFill>
                <a:effectLst/>
                <a:latin typeface="Amazon Ember"/>
              </a:rPr>
              <a:t>With Elastic Beanstalk you can deploy web applications into the AWS Cloud on a variety of supported platforms. You build and deploy your applications. Elastic Beanstalk provisions Amazon EC2 instances, configures load balancing, sets up health monitoring, and dynamically scales your environment.</a:t>
            </a:r>
          </a:p>
          <a:p>
            <a:pPr marL="482600" lvl="0" indent="-457200" algn="just" rtl="0">
              <a:lnSpc>
                <a:spcPct val="100000"/>
              </a:lnSpc>
              <a:spcBef>
                <a:spcPts val="1200"/>
              </a:spcBef>
              <a:spcAft>
                <a:spcPts val="0"/>
              </a:spcAft>
              <a:buSzPts val="3200"/>
              <a:buFont typeface="Arial" panose="020B0604020202020204" pitchFamily="34" charset="0"/>
              <a:buChar char="•"/>
            </a:pPr>
            <a:r>
              <a:rPr lang="en-US" sz="2800" b="0" i="0" u="none" strike="noStrike" dirty="0">
                <a:solidFill>
                  <a:srgbClr val="0F141A"/>
                </a:solidFill>
                <a:effectLst/>
                <a:latin typeface="Amazon Ember"/>
              </a:rPr>
              <a:t>In addition to </a:t>
            </a:r>
            <a:r>
              <a:rPr lang="en-US" sz="2800" b="0" i="1" u="none" strike="noStrike" dirty="0">
                <a:solidFill>
                  <a:srgbClr val="0F141A"/>
                </a:solidFill>
                <a:effectLst/>
                <a:latin typeface="Amazon Ember"/>
              </a:rPr>
              <a:t>web server</a:t>
            </a:r>
            <a:r>
              <a:rPr lang="en-US" sz="2800" b="0" i="0" u="none" strike="noStrike" dirty="0">
                <a:solidFill>
                  <a:srgbClr val="0F141A"/>
                </a:solidFill>
                <a:effectLst/>
                <a:latin typeface="Amazon Ember"/>
              </a:rPr>
              <a:t> environments, Elastic Beanstalk also provides </a:t>
            </a:r>
            <a:r>
              <a:rPr lang="en-US" sz="2800" b="0" i="1" u="none" strike="noStrike" dirty="0">
                <a:solidFill>
                  <a:srgbClr val="0F141A"/>
                </a:solidFill>
                <a:effectLst/>
                <a:latin typeface="Amazon Ember"/>
              </a:rPr>
              <a:t>worker</a:t>
            </a:r>
            <a:r>
              <a:rPr lang="en-US" sz="2800" b="0" i="0" u="none" strike="noStrike" dirty="0">
                <a:solidFill>
                  <a:srgbClr val="0F141A"/>
                </a:solidFill>
                <a:effectLst/>
                <a:latin typeface="Amazon Ember"/>
              </a:rPr>
              <a:t> environments which you can use to process messages from an Amazon SQS queue, useful for asynchronous or long-running tasks.</a:t>
            </a:r>
            <a:endParaRPr sz="4300" dirty="0">
              <a:solidFill>
                <a:schemeClr val="dk1"/>
              </a:solidFill>
            </a:endParaRPr>
          </a:p>
        </p:txBody>
      </p:sp>
      <p:sp>
        <p:nvSpPr>
          <p:cNvPr id="68" name="Google Shape;68;p2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8" name="Google Shape;68;p21"/>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pic>
        <p:nvPicPr>
          <p:cNvPr id="1026" name="Picture 2" descr="Illustrative diagram showing the relationship between an Elastic Beanstalk application and web/worker environments.">
            <a:extLst>
              <a:ext uri="{FF2B5EF4-FFF2-40B4-BE49-F238E27FC236}">
                <a16:creationId xmlns:a16="http://schemas.microsoft.com/office/drawing/2014/main" id="{78F61E8F-B4C5-FEED-46E0-10D2AB638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093" y="1148220"/>
            <a:ext cx="6700000" cy="6700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4044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432A7-CB31-2A00-4CFE-BCDF77EDF3E5}"/>
              </a:ext>
            </a:extLst>
          </p:cNvPr>
          <p:cNvSpPr>
            <a:spLocks noGrp="1"/>
          </p:cNvSpPr>
          <p:nvPr>
            <p:ph type="ctrTitle"/>
          </p:nvPr>
        </p:nvSpPr>
        <p:spPr/>
        <p:txBody>
          <a:bodyPr/>
          <a:lstStyle/>
          <a:p>
            <a:r>
              <a:rPr lang="en-US" b="1" i="0" u="none" strike="noStrike" dirty="0">
                <a:solidFill>
                  <a:srgbClr val="0F141A"/>
                </a:solidFill>
                <a:effectLst/>
                <a:latin typeface="Amazon Ember"/>
              </a:rPr>
              <a:t>Understanding concepts in Elastic Beanstalk</a:t>
            </a:r>
            <a:endParaRPr lang="en-US" dirty="0"/>
          </a:p>
        </p:txBody>
      </p:sp>
      <p:sp>
        <p:nvSpPr>
          <p:cNvPr id="3" name="Subtitle 2">
            <a:extLst>
              <a:ext uri="{FF2B5EF4-FFF2-40B4-BE49-F238E27FC236}">
                <a16:creationId xmlns:a16="http://schemas.microsoft.com/office/drawing/2014/main" id="{F82B4B5D-D202-F3FA-8653-58591E18269C}"/>
              </a:ext>
            </a:extLst>
          </p:cNvPr>
          <p:cNvSpPr>
            <a:spLocks noGrp="1"/>
          </p:cNvSpPr>
          <p:nvPr>
            <p:ph type="subTitle" idx="1"/>
          </p:nvPr>
        </p:nvSpPr>
        <p:spPr>
          <a:xfrm>
            <a:off x="835942" y="1646241"/>
            <a:ext cx="12777903" cy="6090990"/>
          </a:xfrm>
        </p:spPr>
        <p:txBody>
          <a:bodyPr/>
          <a:lstStyle/>
          <a:p>
            <a:pPr marL="482600" indent="-457200" algn="l" rtl="0">
              <a:buFont typeface="Arial" panose="020B0604020202020204" pitchFamily="34" charset="0"/>
              <a:buChar char="•"/>
            </a:pPr>
            <a:r>
              <a:rPr lang="en-US" sz="2400" b="1" i="0" u="none" strike="noStrike" dirty="0">
                <a:solidFill>
                  <a:srgbClr val="0F141A"/>
                </a:solidFill>
                <a:effectLst/>
                <a:latin typeface="Amazon Ember"/>
              </a:rPr>
              <a:t>Application</a:t>
            </a:r>
            <a:endParaRPr lang="en-US" sz="2400" b="0" i="0" u="none" strike="noStrike" dirty="0">
              <a:solidFill>
                <a:srgbClr val="0F141A"/>
              </a:solidFill>
              <a:effectLst/>
              <a:latin typeface="var(--font-family-base-ww9h6o, &quot;Amazon Ember&quot;, &quot;Helvetica Neue&quot;, Roboto, Arial, sans-serif)"/>
            </a:endParaRPr>
          </a:p>
          <a:p>
            <a:pPr algn="l"/>
            <a:r>
              <a:rPr lang="en-US" sz="2400" b="0" i="0" u="none" strike="noStrike" dirty="0">
                <a:solidFill>
                  <a:srgbClr val="0F141A"/>
                </a:solidFill>
                <a:effectLst/>
                <a:latin typeface="Amazon Ember"/>
              </a:rPr>
              <a:t>     An Elastic Beanstalk </a:t>
            </a:r>
            <a:r>
              <a:rPr lang="en-US" sz="2400" b="0" i="1" u="none" strike="noStrike" dirty="0">
                <a:solidFill>
                  <a:srgbClr val="0F141A"/>
                </a:solidFill>
                <a:effectLst/>
                <a:latin typeface="Amazon Ember"/>
              </a:rPr>
              <a:t>application</a:t>
            </a:r>
            <a:r>
              <a:rPr lang="en-US" sz="2400" b="0" i="0" u="none" strike="noStrike" dirty="0">
                <a:solidFill>
                  <a:srgbClr val="0F141A"/>
                </a:solidFill>
                <a:effectLst/>
                <a:latin typeface="Amazon Ember"/>
              </a:rPr>
              <a:t> is a container for Elastic Beanstalk components, including </a:t>
            </a:r>
            <a:r>
              <a:rPr lang="en-US" sz="2400" b="0" i="1" u="none" strike="noStrike" dirty="0">
                <a:solidFill>
                  <a:srgbClr val="0F141A"/>
                </a:solidFill>
                <a:effectLst/>
                <a:latin typeface="Amazon Ember"/>
              </a:rPr>
              <a:t>environments</a:t>
            </a:r>
            <a:r>
              <a:rPr lang="en-US" sz="2400" b="0" i="0" u="none" strike="noStrike" dirty="0">
                <a:solidFill>
                  <a:srgbClr val="0F141A"/>
                </a:solidFill>
                <a:effectLst/>
                <a:latin typeface="Amazon Ember"/>
              </a:rPr>
              <a:t>, </a:t>
            </a:r>
            <a:r>
              <a:rPr lang="en-US" sz="2400" b="0" i="1" u="none" strike="noStrike" dirty="0">
                <a:solidFill>
                  <a:srgbClr val="0F141A"/>
                </a:solidFill>
                <a:effectLst/>
                <a:latin typeface="Amazon Ember"/>
              </a:rPr>
              <a:t>versions</a:t>
            </a:r>
            <a:r>
              <a:rPr lang="en-US" sz="2400" b="0" i="0" u="none" strike="noStrike" dirty="0">
                <a:solidFill>
                  <a:srgbClr val="0F141A"/>
                </a:solidFill>
                <a:effectLst/>
                <a:latin typeface="Amazon Ember"/>
              </a:rPr>
              <a:t>, and </a:t>
            </a:r>
            <a:r>
              <a:rPr lang="en-US" sz="2400" b="0" i="1" u="none" strike="noStrike" dirty="0">
                <a:solidFill>
                  <a:srgbClr val="0F141A"/>
                </a:solidFill>
                <a:effectLst/>
                <a:latin typeface="Amazon Ember"/>
              </a:rPr>
              <a:t>environment configurations</a:t>
            </a:r>
            <a:r>
              <a:rPr lang="en-US" sz="2400" b="0" i="0" u="none" strike="noStrike" dirty="0">
                <a:solidFill>
                  <a:srgbClr val="0F141A"/>
                </a:solidFill>
                <a:effectLst/>
                <a:latin typeface="Amazon Ember"/>
              </a:rPr>
              <a:t>. </a:t>
            </a:r>
          </a:p>
          <a:p>
            <a:pPr marL="482600" indent="-457200" algn="l">
              <a:buFont typeface="Arial" panose="020B0604020202020204" pitchFamily="34" charset="0"/>
              <a:buChar char="•"/>
            </a:pPr>
            <a:r>
              <a:rPr lang="en-US" sz="2400" b="1" i="0" u="none" strike="noStrike" dirty="0">
                <a:solidFill>
                  <a:srgbClr val="0F141A"/>
                </a:solidFill>
                <a:effectLst/>
                <a:latin typeface="Amazon Ember"/>
              </a:rPr>
              <a:t>Application version</a:t>
            </a:r>
            <a:endParaRPr lang="en-US" sz="2400" b="0" i="0" u="none" strike="noStrike" dirty="0">
              <a:solidFill>
                <a:srgbClr val="0F141A"/>
              </a:solidFill>
              <a:effectLst/>
              <a:latin typeface="var(--font-family-base-ww9h6o, &quot;Amazon Ember&quot;, &quot;Helvetica Neue&quot;, Roboto, Arial, sans-serif)"/>
            </a:endParaRPr>
          </a:p>
          <a:p>
            <a:pPr algn="l"/>
            <a:r>
              <a:rPr lang="en-US" sz="2400" b="0" i="0" u="none" strike="noStrike" dirty="0">
                <a:solidFill>
                  <a:srgbClr val="0F141A"/>
                </a:solidFill>
                <a:effectLst/>
                <a:latin typeface="Amazon Ember"/>
              </a:rPr>
              <a:t>    In Elastic Beanstalk, an </a:t>
            </a:r>
            <a:r>
              <a:rPr lang="en-US" sz="2400" b="0" i="1" u="none" strike="noStrike" dirty="0">
                <a:solidFill>
                  <a:srgbClr val="0F141A"/>
                </a:solidFill>
                <a:effectLst/>
                <a:latin typeface="Amazon Ember"/>
              </a:rPr>
              <a:t>application version</a:t>
            </a:r>
            <a:r>
              <a:rPr lang="en-US" sz="2400" b="0" i="0" u="none" strike="noStrike" dirty="0">
                <a:solidFill>
                  <a:srgbClr val="0F141A"/>
                </a:solidFill>
                <a:effectLst/>
                <a:latin typeface="Amazon Ember"/>
              </a:rPr>
              <a:t> refers to a specific, labeled iteration of deployable code for a web application. An application version points to an Amazon Simple Storage Service (Amazon S3) object that contains the deployable code, such as a Java WAR file. </a:t>
            </a:r>
          </a:p>
          <a:p>
            <a:pPr algn="l"/>
            <a:r>
              <a:rPr lang="en-US" sz="2400" b="0" i="0" u="none" strike="noStrike" dirty="0">
                <a:solidFill>
                  <a:srgbClr val="0F141A"/>
                </a:solidFill>
                <a:effectLst/>
                <a:latin typeface="Amazon Ember"/>
              </a:rPr>
              <a:t>    An application version is part of an application. Applications can have many versions and each application version is unique. </a:t>
            </a:r>
          </a:p>
          <a:p>
            <a:pPr marL="482600" indent="-457200" algn="just">
              <a:buFont typeface="Arial" panose="020B0604020202020204" pitchFamily="34" charset="0"/>
              <a:buChar char="•"/>
            </a:pPr>
            <a:r>
              <a:rPr lang="en-US" sz="2400" b="1" i="0" u="none" strike="noStrike" dirty="0">
                <a:solidFill>
                  <a:srgbClr val="0F141A"/>
                </a:solidFill>
                <a:effectLst/>
                <a:latin typeface="Amazon Ember"/>
              </a:rPr>
              <a:t>Environment</a:t>
            </a:r>
            <a:endParaRPr lang="en-US" sz="2400"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	An </a:t>
            </a:r>
            <a:r>
              <a:rPr lang="en-US" sz="2400" b="0" i="1" u="none" strike="noStrike" dirty="0">
                <a:solidFill>
                  <a:srgbClr val="0F141A"/>
                </a:solidFill>
                <a:effectLst/>
                <a:latin typeface="Amazon Ember"/>
              </a:rPr>
              <a:t>environment</a:t>
            </a:r>
            <a:r>
              <a:rPr lang="en-US" sz="2400" b="0" i="0" u="none" strike="noStrike" dirty="0">
                <a:solidFill>
                  <a:srgbClr val="0F141A"/>
                </a:solidFill>
                <a:effectLst/>
                <a:latin typeface="Amazon Ember"/>
              </a:rPr>
              <a:t> is a collection of AWS resources running an application version. Each environment runs only one application version at a time, however, you can run the same application version or different application versions in many environments simultaneously. </a:t>
            </a:r>
          </a:p>
          <a:p>
            <a:pPr algn="l"/>
            <a:endParaRPr lang="en-US" sz="2400" dirty="0"/>
          </a:p>
        </p:txBody>
      </p:sp>
      <p:sp>
        <p:nvSpPr>
          <p:cNvPr id="4" name="Slide Number Placeholder 3">
            <a:extLst>
              <a:ext uri="{FF2B5EF4-FFF2-40B4-BE49-F238E27FC236}">
                <a16:creationId xmlns:a16="http://schemas.microsoft.com/office/drawing/2014/main" id="{1603FFFB-14C1-8980-DCE5-6CF133EA12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853211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D80C63D-64C2-599D-897A-69BB5EFB0036}"/>
              </a:ext>
            </a:extLst>
          </p:cNvPr>
          <p:cNvSpPr>
            <a:spLocks noGrp="1"/>
          </p:cNvSpPr>
          <p:nvPr>
            <p:ph type="subTitle" idx="1"/>
          </p:nvPr>
        </p:nvSpPr>
        <p:spPr>
          <a:xfrm>
            <a:off x="835938" y="1094912"/>
            <a:ext cx="12987638" cy="6785064"/>
          </a:xfrm>
        </p:spPr>
        <p:txBody>
          <a:bodyPr/>
          <a:lstStyle/>
          <a:p>
            <a:pPr marL="482600" indent="-457200" algn="just">
              <a:buFont typeface="Arial" panose="020B0604020202020204" pitchFamily="34" charset="0"/>
              <a:buChar char="•"/>
            </a:pPr>
            <a:r>
              <a:rPr lang="en-US" sz="2400" b="1" i="0" u="none" strike="noStrike" dirty="0">
                <a:solidFill>
                  <a:srgbClr val="0F141A"/>
                </a:solidFill>
                <a:effectLst/>
                <a:latin typeface="Amazon Ember"/>
              </a:rPr>
              <a:t>Environment tier</a:t>
            </a:r>
            <a:endParaRPr lang="en-US" sz="2400"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  	 When you launch an Elastic Beanstalk environment, you first choose an environment tier. The environment tier designates the type of application that the environment runs and determines what resources Elastic Beanstalk provisions to support it. An application that serves HTTP requests runs in a </a:t>
            </a:r>
            <a:r>
              <a:rPr lang="en-US" sz="2400" b="0" i="0" strike="noStrike" dirty="0">
                <a:solidFill>
                  <a:schemeClr val="tx1"/>
                </a:solidFill>
                <a:effectLst/>
                <a:latin typeface="Amazon Ember"/>
              </a:rPr>
              <a:t>web server environment tier</a:t>
            </a:r>
            <a:r>
              <a:rPr lang="en-US" sz="2400" b="0" i="0" u="none" strike="noStrike" dirty="0">
                <a:solidFill>
                  <a:srgbClr val="0F141A"/>
                </a:solidFill>
                <a:effectLst/>
                <a:latin typeface="Amazon Ember"/>
              </a:rPr>
              <a:t>. A backend environment that pulls tasks from an Amazon Simple Queue Service (Amazon SQS) queue runs in a worker environment tier.</a:t>
            </a:r>
          </a:p>
          <a:p>
            <a:pPr marL="482600" indent="-457200" algn="just" rtl="0">
              <a:buFont typeface="Arial" panose="020B0604020202020204" pitchFamily="34" charset="0"/>
              <a:buChar char="•"/>
            </a:pPr>
            <a:r>
              <a:rPr lang="en-US" sz="2400" b="1" i="0" u="none" strike="noStrike" dirty="0">
                <a:solidFill>
                  <a:srgbClr val="0F141A"/>
                </a:solidFill>
                <a:effectLst/>
                <a:latin typeface="Amazon Ember"/>
              </a:rPr>
              <a:t>Environment configuration</a:t>
            </a:r>
            <a:endParaRPr lang="en-US" sz="2400"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	An </a:t>
            </a:r>
            <a:r>
              <a:rPr lang="en-US" sz="2400" b="0" i="1" u="none" strike="noStrike" dirty="0">
                <a:solidFill>
                  <a:srgbClr val="0F141A"/>
                </a:solidFill>
                <a:effectLst/>
                <a:latin typeface="Amazon Ember"/>
              </a:rPr>
              <a:t>environment configuration</a:t>
            </a:r>
            <a:r>
              <a:rPr lang="en-US" sz="2400" b="0" i="0" u="none" strike="noStrike" dirty="0">
                <a:solidFill>
                  <a:srgbClr val="0F141A"/>
                </a:solidFill>
                <a:effectLst/>
                <a:latin typeface="Amazon Ember"/>
              </a:rPr>
              <a:t> identifies a collection of parameters and settings that define how an environment and its associated resources behave. </a:t>
            </a:r>
          </a:p>
          <a:p>
            <a:pPr marL="482600" indent="-457200" algn="just">
              <a:buFont typeface="Arial" panose="020B0604020202020204" pitchFamily="34" charset="0"/>
              <a:buChar char="•"/>
            </a:pPr>
            <a:r>
              <a:rPr lang="en-US" sz="2400" b="1" i="0" u="none" strike="noStrike" dirty="0">
                <a:solidFill>
                  <a:srgbClr val="0F141A"/>
                </a:solidFill>
                <a:effectLst/>
                <a:latin typeface="Amazon Ember"/>
              </a:rPr>
              <a:t>Saved configuration</a:t>
            </a:r>
            <a:endParaRPr lang="en-US" sz="2400"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	A </a:t>
            </a:r>
            <a:r>
              <a:rPr lang="en-US" sz="2400" b="0" i="1" u="none" strike="noStrike" dirty="0">
                <a:solidFill>
                  <a:srgbClr val="0F141A"/>
                </a:solidFill>
                <a:effectLst/>
                <a:latin typeface="Amazon Ember"/>
              </a:rPr>
              <a:t>saved configuration</a:t>
            </a:r>
            <a:r>
              <a:rPr lang="en-US" sz="2400" b="0" i="0" u="none" strike="noStrike" dirty="0">
                <a:solidFill>
                  <a:srgbClr val="0F141A"/>
                </a:solidFill>
                <a:effectLst/>
                <a:latin typeface="Amazon Ember"/>
              </a:rPr>
              <a:t> is a template that you can use as a starting point for creating unique environment configurations. You can create and modify saved configurations, and apply them to environments, using the Elastic Beanstalk console, EB CLI, AWS CLI, or API. The API and the AWS CLI refer to saved configurations as </a:t>
            </a:r>
            <a:r>
              <a:rPr lang="en-US" sz="2400" b="0" i="1" u="none" strike="noStrike" dirty="0">
                <a:solidFill>
                  <a:srgbClr val="0F141A"/>
                </a:solidFill>
                <a:effectLst/>
                <a:latin typeface="Amazon Ember"/>
              </a:rPr>
              <a:t>configuration templates</a:t>
            </a:r>
            <a:r>
              <a:rPr lang="en-US" sz="2400" b="0" i="0" u="none" strike="noStrike" dirty="0">
                <a:solidFill>
                  <a:srgbClr val="0F141A"/>
                </a:solidFill>
                <a:effectLst/>
                <a:latin typeface="Amazon Ember"/>
              </a:rPr>
              <a:t>.</a:t>
            </a:r>
          </a:p>
          <a:p>
            <a:pPr algn="just"/>
            <a:endParaRPr lang="en-US" sz="2400" b="0" i="0" u="none" strike="noStrike" dirty="0">
              <a:solidFill>
                <a:srgbClr val="0F141A"/>
              </a:solidFill>
              <a:effectLst/>
              <a:latin typeface="Amazon Ember"/>
            </a:endParaRPr>
          </a:p>
          <a:p>
            <a:pPr algn="just"/>
            <a:endParaRPr lang="en-US" sz="2400" dirty="0"/>
          </a:p>
        </p:txBody>
      </p:sp>
      <p:sp>
        <p:nvSpPr>
          <p:cNvPr id="4" name="Slide Number Placeholder 3">
            <a:extLst>
              <a:ext uri="{FF2B5EF4-FFF2-40B4-BE49-F238E27FC236}">
                <a16:creationId xmlns:a16="http://schemas.microsoft.com/office/drawing/2014/main" id="{2384121B-F19A-F417-A7BA-56E40E6C2DB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263865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F226AC2-264F-2C23-83FE-ABDB7551729E}"/>
              </a:ext>
            </a:extLst>
          </p:cNvPr>
          <p:cNvSpPr>
            <a:spLocks noGrp="1"/>
          </p:cNvSpPr>
          <p:nvPr>
            <p:ph type="subTitle" idx="1"/>
          </p:nvPr>
        </p:nvSpPr>
        <p:spPr/>
        <p:txBody>
          <a:bodyPr/>
          <a:lstStyle/>
          <a:p>
            <a:pPr marL="482600" indent="-457200" algn="just" rtl="0">
              <a:buFont typeface="Arial" panose="020B0604020202020204" pitchFamily="34" charset="0"/>
              <a:buChar char="•"/>
            </a:pPr>
            <a:r>
              <a:rPr lang="en-US" sz="2400" b="1" i="0" u="none" strike="noStrike" dirty="0">
                <a:solidFill>
                  <a:srgbClr val="0F141A"/>
                </a:solidFill>
                <a:effectLst/>
                <a:latin typeface="Amazon Ember"/>
              </a:rPr>
              <a:t>Platform</a:t>
            </a:r>
            <a:endParaRPr lang="en-US" sz="2400"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	A </a:t>
            </a:r>
            <a:r>
              <a:rPr lang="en-US" sz="2400" b="0" i="1" u="none" strike="noStrike" dirty="0">
                <a:solidFill>
                  <a:srgbClr val="0F141A"/>
                </a:solidFill>
                <a:effectLst/>
                <a:latin typeface="Amazon Ember"/>
              </a:rPr>
              <a:t>platform</a:t>
            </a:r>
            <a:r>
              <a:rPr lang="en-US" sz="2400" b="0" i="0" u="none" strike="noStrike" dirty="0">
                <a:solidFill>
                  <a:srgbClr val="0F141A"/>
                </a:solidFill>
                <a:effectLst/>
                <a:latin typeface="Amazon Ember"/>
              </a:rPr>
              <a:t> is a combination of an operating system, programming language runtime, web server, application server, and Elastic Beanstalk components. You design and target your web application to a platform. Elastic Beanstalk provides a variety of platforms on which you can build your applications.</a:t>
            </a:r>
          </a:p>
          <a:p>
            <a:pPr algn="just"/>
            <a:endParaRPr lang="en-US" sz="2400" dirty="0"/>
          </a:p>
        </p:txBody>
      </p:sp>
      <p:sp>
        <p:nvSpPr>
          <p:cNvPr id="4" name="Slide Number Placeholder 3">
            <a:extLst>
              <a:ext uri="{FF2B5EF4-FFF2-40B4-BE49-F238E27FC236}">
                <a16:creationId xmlns:a16="http://schemas.microsoft.com/office/drawing/2014/main" id="{258FF639-4081-C211-05C2-475749FBD6C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268677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8C3F2-C65A-D39A-87FC-DFAC025302A4}"/>
              </a:ext>
            </a:extLst>
          </p:cNvPr>
          <p:cNvSpPr>
            <a:spLocks noGrp="1"/>
          </p:cNvSpPr>
          <p:nvPr>
            <p:ph type="ctrTitle"/>
          </p:nvPr>
        </p:nvSpPr>
        <p:spPr/>
        <p:txBody>
          <a:bodyPr/>
          <a:lstStyle/>
          <a:p>
            <a:r>
              <a:rPr lang="en-US" b="1" i="0" u="none" strike="noStrike" dirty="0">
                <a:solidFill>
                  <a:srgbClr val="0F141A"/>
                </a:solidFill>
                <a:effectLst/>
                <a:latin typeface="Amazon Ember"/>
              </a:rPr>
              <a:t>Elastic Beanstalk web server environments</a:t>
            </a:r>
            <a:endParaRPr lang="en-US" dirty="0"/>
          </a:p>
        </p:txBody>
      </p:sp>
      <p:sp>
        <p:nvSpPr>
          <p:cNvPr id="3" name="Subtitle 2">
            <a:extLst>
              <a:ext uri="{FF2B5EF4-FFF2-40B4-BE49-F238E27FC236}">
                <a16:creationId xmlns:a16="http://schemas.microsoft.com/office/drawing/2014/main" id="{80F42C07-8653-78F7-2EDE-D959AF4866C6}"/>
              </a:ext>
            </a:extLst>
          </p:cNvPr>
          <p:cNvSpPr>
            <a:spLocks noGrp="1"/>
          </p:cNvSpPr>
          <p:nvPr>
            <p:ph type="subTitle" idx="1"/>
          </p:nvPr>
        </p:nvSpPr>
        <p:spPr/>
        <p:txBody>
          <a:bodyPr/>
          <a:lstStyle/>
          <a:p>
            <a:pPr algn="just"/>
            <a:r>
              <a:rPr lang="en-US" sz="2400" b="0" i="0" u="none" strike="noStrike" dirty="0">
                <a:solidFill>
                  <a:srgbClr val="0F141A"/>
                </a:solidFill>
                <a:effectLst/>
                <a:latin typeface="Amazon Ember"/>
              </a:rPr>
              <a:t>The following diagram shows an example Elastic Beanstalk architecture for a web server environment tier, and shows how the components in that type of environment tier work together.</a:t>
            </a:r>
          </a:p>
          <a:p>
            <a:pPr algn="just"/>
            <a:endParaRPr lang="en-US" sz="2400" dirty="0">
              <a:solidFill>
                <a:srgbClr val="0F141A"/>
              </a:solidFill>
              <a:latin typeface="Amazon Ember"/>
            </a:endParaRPr>
          </a:p>
          <a:p>
            <a:pPr algn="just"/>
            <a:endParaRPr lang="en-US" sz="2400" dirty="0"/>
          </a:p>
          <a:p>
            <a:pPr algn="just"/>
            <a:endParaRPr lang="en-US" sz="2400" dirty="0"/>
          </a:p>
        </p:txBody>
      </p:sp>
      <p:sp>
        <p:nvSpPr>
          <p:cNvPr id="4" name="Slide Number Placeholder 3">
            <a:extLst>
              <a:ext uri="{FF2B5EF4-FFF2-40B4-BE49-F238E27FC236}">
                <a16:creationId xmlns:a16="http://schemas.microsoft.com/office/drawing/2014/main" id="{FCF90E45-82D5-5228-0797-A1E09C6C8A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6" name="Picture 5">
            <a:extLst>
              <a:ext uri="{FF2B5EF4-FFF2-40B4-BE49-F238E27FC236}">
                <a16:creationId xmlns:a16="http://schemas.microsoft.com/office/drawing/2014/main" id="{DF19D235-AB8A-811A-B192-8C64BA58C64C}"/>
              </a:ext>
            </a:extLst>
          </p:cNvPr>
          <p:cNvPicPr>
            <a:picLocks noChangeAspect="1"/>
          </p:cNvPicPr>
          <p:nvPr/>
        </p:nvPicPr>
        <p:blipFill>
          <a:blip r:embed="rId2"/>
          <a:stretch>
            <a:fillRect/>
          </a:stretch>
        </p:blipFill>
        <p:spPr>
          <a:xfrm>
            <a:off x="4088981" y="2621832"/>
            <a:ext cx="5955972" cy="4466979"/>
          </a:xfrm>
          <a:prstGeom prst="rect">
            <a:avLst/>
          </a:prstGeom>
        </p:spPr>
      </p:pic>
    </p:spTree>
    <p:extLst>
      <p:ext uri="{BB962C8B-B14F-4D97-AF65-F5344CB8AC3E}">
        <p14:creationId xmlns:p14="http://schemas.microsoft.com/office/powerpoint/2010/main" val="749769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EB9E6D1-0DBD-F8E8-2871-FF52A18064EF}"/>
              </a:ext>
            </a:extLst>
          </p:cNvPr>
          <p:cNvSpPr>
            <a:spLocks noGrp="1"/>
          </p:cNvSpPr>
          <p:nvPr>
            <p:ph type="subTitle" idx="1"/>
          </p:nvPr>
        </p:nvSpPr>
        <p:spPr>
          <a:xfrm>
            <a:off x="716518" y="1208007"/>
            <a:ext cx="13081764" cy="6421097"/>
          </a:xfrm>
        </p:spPr>
        <p:txBody>
          <a:bodyPr/>
          <a:lstStyle/>
          <a:p>
            <a:pPr marL="482600" indent="-457200" algn="just">
              <a:buFont typeface="Arial" panose="020B0604020202020204" pitchFamily="34" charset="0"/>
              <a:buChar char="•"/>
            </a:pPr>
            <a:r>
              <a:rPr lang="en-US" sz="2000" b="0" i="0" u="none" strike="noStrike" dirty="0">
                <a:solidFill>
                  <a:srgbClr val="0F141A"/>
                </a:solidFill>
                <a:effectLst/>
                <a:latin typeface="Amazon Ember"/>
              </a:rPr>
              <a:t>The environment is the heart of the application. In the diagram, the environment is shown within the top-level solid line. When you create an environment, Elastic Beanstalk provisions the resources required to run your application. AWS resources created for an environment include one elastic load balancer (ELB in the diagram), an Auto Scaling group, and one or more Amazon Elastic Compute Cloud (Amazon EC2) instances.</a:t>
            </a:r>
          </a:p>
          <a:p>
            <a:pPr marL="482600" indent="-457200" algn="just">
              <a:buFont typeface="Arial" panose="020B0604020202020204" pitchFamily="34" charset="0"/>
              <a:buChar char="•"/>
            </a:pPr>
            <a:r>
              <a:rPr lang="en-US" sz="2000" b="0" i="0" u="none" strike="noStrike" dirty="0">
                <a:solidFill>
                  <a:srgbClr val="0F141A"/>
                </a:solidFill>
                <a:effectLst/>
                <a:latin typeface="Amazon Ember"/>
              </a:rPr>
              <a:t>The load balancer sits in front of the Amazon EC2 instances, which are part of an Auto Scaling group. Amazon EC2 Auto Scaling automatically starts additional Amazon EC2 instances to accommodate increasing load on your application. If the load on your application decreases, Amazon EC2 Auto Scaling stops instances, but always leaves at least one instance running.</a:t>
            </a:r>
            <a:endParaRPr lang="en-US" sz="2000" dirty="0">
              <a:solidFill>
                <a:srgbClr val="0F141A"/>
              </a:solidFill>
              <a:latin typeface="Amazon Ember"/>
            </a:endParaRPr>
          </a:p>
          <a:p>
            <a:pPr algn="l">
              <a:buFont typeface="Arial" panose="020B0604020202020204" pitchFamily="34" charset="0"/>
              <a:buChar char="•"/>
            </a:pPr>
            <a:r>
              <a:rPr lang="en-US" sz="2000" b="0" i="0" u="none" strike="noStrike" dirty="0">
                <a:solidFill>
                  <a:srgbClr val="0F141A"/>
                </a:solidFill>
                <a:effectLst/>
                <a:latin typeface="Amazon Ember"/>
              </a:rPr>
              <a:t>Each Amazon EC2 instance that runs your application uses one of these container types. In addition, a software component called the </a:t>
            </a:r>
            <a:r>
              <a:rPr lang="en-US" sz="2000" b="0" i="1" u="none" strike="noStrike" dirty="0">
                <a:solidFill>
                  <a:srgbClr val="0F141A"/>
                </a:solidFill>
                <a:effectLst/>
                <a:latin typeface="Amazon Ember"/>
              </a:rPr>
              <a:t>host manager (HM)</a:t>
            </a:r>
            <a:r>
              <a:rPr lang="en-US" sz="2000" b="0" i="0" u="none" strike="noStrike" dirty="0">
                <a:solidFill>
                  <a:srgbClr val="0F141A"/>
                </a:solidFill>
                <a:effectLst/>
                <a:latin typeface="Amazon Ember"/>
              </a:rPr>
              <a:t> runs on each Amazon EC2 instance. The host manager is responsible for the following:</a:t>
            </a:r>
          </a:p>
          <a:p>
            <a:pPr algn="l">
              <a:buFont typeface="Wingdings" pitchFamily="2" charset="2"/>
              <a:buChar char="§"/>
            </a:pPr>
            <a:r>
              <a:rPr lang="en-US" sz="2000" b="0" i="0" u="none" strike="noStrike" dirty="0">
                <a:solidFill>
                  <a:srgbClr val="0F141A"/>
                </a:solidFill>
                <a:effectLst/>
                <a:latin typeface="Amazon Ember"/>
              </a:rPr>
              <a:t>Deploying the application</a:t>
            </a:r>
          </a:p>
          <a:p>
            <a:pPr algn="l">
              <a:buFont typeface="Wingdings" pitchFamily="2" charset="2"/>
              <a:buChar char="§"/>
            </a:pPr>
            <a:r>
              <a:rPr lang="en-US" sz="2000" b="0" i="0" u="none" strike="noStrike" dirty="0">
                <a:solidFill>
                  <a:srgbClr val="0F141A"/>
                </a:solidFill>
                <a:effectLst/>
                <a:latin typeface="Amazon Ember"/>
              </a:rPr>
              <a:t>Aggregating events and metrics for retrieval via the console, the API, or the command line</a:t>
            </a:r>
          </a:p>
          <a:p>
            <a:pPr algn="l">
              <a:buFont typeface="Wingdings" pitchFamily="2" charset="2"/>
              <a:buChar char="§"/>
            </a:pPr>
            <a:r>
              <a:rPr lang="en-US" sz="2000" b="0" i="0" u="none" strike="noStrike" dirty="0">
                <a:solidFill>
                  <a:srgbClr val="0F141A"/>
                </a:solidFill>
                <a:effectLst/>
                <a:latin typeface="Amazon Ember"/>
              </a:rPr>
              <a:t>Generating instance-level events</a:t>
            </a:r>
          </a:p>
          <a:p>
            <a:pPr algn="l">
              <a:buFont typeface="Wingdings" pitchFamily="2" charset="2"/>
              <a:buChar char="§"/>
            </a:pPr>
            <a:r>
              <a:rPr lang="en-US" sz="2000" b="0" i="0" u="none" strike="noStrike" dirty="0">
                <a:solidFill>
                  <a:srgbClr val="0F141A"/>
                </a:solidFill>
                <a:effectLst/>
                <a:latin typeface="Amazon Ember"/>
              </a:rPr>
              <a:t>Monitoring the application log files for critical errors</a:t>
            </a:r>
          </a:p>
          <a:p>
            <a:pPr algn="l">
              <a:buFont typeface="Wingdings" pitchFamily="2" charset="2"/>
              <a:buChar char="§"/>
            </a:pPr>
            <a:r>
              <a:rPr lang="en-US" sz="2000" b="0" i="0" u="none" strike="noStrike" dirty="0">
                <a:solidFill>
                  <a:srgbClr val="0F141A"/>
                </a:solidFill>
                <a:effectLst/>
                <a:latin typeface="Amazon Ember"/>
              </a:rPr>
              <a:t>Monitoring the application server</a:t>
            </a:r>
          </a:p>
          <a:p>
            <a:pPr algn="l">
              <a:buFont typeface="Wingdings" pitchFamily="2" charset="2"/>
              <a:buChar char="§"/>
            </a:pPr>
            <a:r>
              <a:rPr lang="en-US" sz="2000" b="0" i="0" u="none" strike="noStrike" dirty="0">
                <a:solidFill>
                  <a:srgbClr val="0F141A"/>
                </a:solidFill>
                <a:effectLst/>
                <a:latin typeface="Amazon Ember"/>
              </a:rPr>
              <a:t>Patching instance components</a:t>
            </a:r>
          </a:p>
          <a:p>
            <a:pPr algn="l">
              <a:buFont typeface="Wingdings" pitchFamily="2" charset="2"/>
              <a:buChar char="§"/>
            </a:pPr>
            <a:r>
              <a:rPr lang="en-US" sz="2000" b="0" i="0" u="none" strike="noStrike" dirty="0">
                <a:solidFill>
                  <a:srgbClr val="0F141A"/>
                </a:solidFill>
                <a:effectLst/>
                <a:latin typeface="Amazon Ember"/>
              </a:rPr>
              <a:t>Rotating your application's log files and publishing them to Amazon S3</a:t>
            </a:r>
          </a:p>
          <a:p>
            <a:pPr marL="482600" indent="-457200" algn="just">
              <a:buFont typeface="Arial" panose="020B0604020202020204" pitchFamily="34" charset="0"/>
              <a:buChar char="•"/>
            </a:pPr>
            <a:endParaRPr lang="en-US" sz="3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1DA2A7F-0A34-F41A-C7F2-AD3A83CB53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284216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DA748-5968-7634-ABEA-1FA8386506BB}"/>
              </a:ext>
            </a:extLst>
          </p:cNvPr>
          <p:cNvSpPr>
            <a:spLocks noGrp="1"/>
          </p:cNvSpPr>
          <p:nvPr>
            <p:ph type="ctrTitle"/>
          </p:nvPr>
        </p:nvSpPr>
        <p:spPr/>
        <p:txBody>
          <a:bodyPr/>
          <a:lstStyle/>
          <a:p>
            <a:r>
              <a:rPr lang="en-US" sz="3200" b="1" dirty="0">
                <a:effectLst/>
                <a:latin typeface="Calibri" panose="020F0502020204030204" pitchFamily="34" charset="0"/>
                <a:ea typeface="Calibri" panose="020F0502020204030204" pitchFamily="34" charset="0"/>
                <a:cs typeface="Times New Roman" panose="02020603050405020304" pitchFamily="18" charset="0"/>
              </a:rPr>
              <a:t>AWS Messaging services (SNS, SQS, SES) </a:t>
            </a:r>
            <a:endParaRPr lang="en-US" sz="4400" b="1" dirty="0"/>
          </a:p>
        </p:txBody>
      </p:sp>
      <p:sp>
        <p:nvSpPr>
          <p:cNvPr id="3" name="Subtitle 2">
            <a:extLst>
              <a:ext uri="{FF2B5EF4-FFF2-40B4-BE49-F238E27FC236}">
                <a16:creationId xmlns:a16="http://schemas.microsoft.com/office/drawing/2014/main" id="{A0F8CA47-DA77-1B52-A470-9BA57C3A8E43}"/>
              </a:ext>
            </a:extLst>
          </p:cNvPr>
          <p:cNvSpPr>
            <a:spLocks noGrp="1"/>
          </p:cNvSpPr>
          <p:nvPr>
            <p:ph type="subTitle" idx="1"/>
          </p:nvPr>
        </p:nvSpPr>
        <p:spPr>
          <a:xfrm>
            <a:off x="835942" y="1646241"/>
            <a:ext cx="12777903" cy="6300971"/>
          </a:xfrm>
        </p:spPr>
        <p:txBody>
          <a:bodyPr/>
          <a:lstStyle/>
          <a:p>
            <a:pPr algn="just"/>
            <a:r>
              <a:rPr lang="en-US" sz="2800" b="1" i="0" u="none" strike="noStrike" dirty="0">
                <a:solidFill>
                  <a:srgbClr val="0F141A"/>
                </a:solidFill>
                <a:effectLst/>
                <a:latin typeface="Amazon Ember"/>
              </a:rPr>
              <a:t>Amazon SNS</a:t>
            </a:r>
          </a:p>
          <a:p>
            <a:pPr algn="just"/>
            <a:r>
              <a:rPr lang="en-US" sz="2400" b="0" i="0" u="none" strike="noStrike" dirty="0">
                <a:solidFill>
                  <a:srgbClr val="0F141A"/>
                </a:solidFill>
                <a:effectLst/>
                <a:latin typeface="Amazon Ember"/>
              </a:rPr>
              <a:t>Amazon Simple Notification Service (Amazon SNS) is a fully managed service that provides message delivery from publishers (producers) to subscribers (consumers). Publishers communicate asynchronously with subscribers by sending messages to a </a:t>
            </a:r>
            <a:r>
              <a:rPr lang="en-US" sz="2400" b="0" i="1" u="none" strike="noStrike" dirty="0">
                <a:solidFill>
                  <a:srgbClr val="0F141A"/>
                </a:solidFill>
                <a:effectLst/>
                <a:latin typeface="Amazon Ember"/>
              </a:rPr>
              <a:t>topic</a:t>
            </a:r>
            <a:r>
              <a:rPr lang="en-US" sz="2400" b="0" i="0" u="none" strike="noStrike" dirty="0">
                <a:solidFill>
                  <a:srgbClr val="0F141A"/>
                </a:solidFill>
                <a:effectLst/>
                <a:latin typeface="Amazon Ember"/>
              </a:rPr>
              <a:t>, which is a logical access point and communication channel.</a:t>
            </a:r>
          </a:p>
          <a:p>
            <a:pPr algn="just"/>
            <a:r>
              <a:rPr lang="en-US" sz="2400" b="1" dirty="0">
                <a:solidFill>
                  <a:srgbClr val="0F141A"/>
                </a:solidFill>
                <a:latin typeface="Amazon Ember"/>
              </a:rPr>
              <a:t>How it works?</a:t>
            </a:r>
            <a:endParaRPr lang="en-US" sz="2400" b="1" i="0" u="none" strike="noStrike" dirty="0">
              <a:solidFill>
                <a:srgbClr val="0F141A"/>
              </a:solidFill>
              <a:effectLst/>
              <a:latin typeface="Amazon Ember"/>
            </a:endParaRPr>
          </a:p>
          <a:p>
            <a:pPr algn="l"/>
            <a:r>
              <a:rPr lang="en-US" sz="2800" b="0" i="0" u="none" strike="noStrike" dirty="0">
                <a:solidFill>
                  <a:srgbClr val="0F141A"/>
                </a:solidFill>
                <a:effectLst/>
                <a:latin typeface="Amazon Ember"/>
              </a:rPr>
              <a:t>I</a:t>
            </a:r>
            <a:r>
              <a:rPr lang="en-US" sz="2400" b="0" i="0" u="none" strike="noStrike" dirty="0">
                <a:solidFill>
                  <a:srgbClr val="0F141A"/>
                </a:solidFill>
                <a:effectLst/>
                <a:latin typeface="Amazon Ember"/>
              </a:rPr>
              <a:t>n SNS, publishers send messages to a topic, which acts as a communication channel. The topic acts as a logical access point, ensuring messages are delivered to multiple subscribers across different platforms.</a:t>
            </a:r>
          </a:p>
          <a:p>
            <a:pPr algn="l"/>
            <a:r>
              <a:rPr lang="en-US" sz="2400" b="0" i="0" u="none" strike="noStrike" dirty="0">
                <a:solidFill>
                  <a:srgbClr val="0F141A"/>
                </a:solidFill>
                <a:effectLst/>
                <a:latin typeface="Amazon Ember"/>
              </a:rPr>
              <a:t>Subscribers to an SNS topic can receive messages through different endpoints, depending on their use case, such as:</a:t>
            </a:r>
          </a:p>
          <a:p>
            <a:pPr algn="l">
              <a:buFont typeface="Arial" panose="020B0604020202020204" pitchFamily="34" charset="0"/>
              <a:buChar char="•"/>
            </a:pPr>
            <a:r>
              <a:rPr lang="en-US" sz="2400" b="0" i="0" u="none" strike="noStrike" dirty="0">
                <a:solidFill>
                  <a:srgbClr val="0F141A"/>
                </a:solidFill>
                <a:effectLst/>
                <a:latin typeface="Amazon Ember"/>
              </a:rPr>
              <a:t>Amazon SQS</a:t>
            </a:r>
          </a:p>
          <a:p>
            <a:pPr algn="l">
              <a:buFont typeface="Arial" panose="020B0604020202020204" pitchFamily="34" charset="0"/>
              <a:buChar char="•"/>
            </a:pPr>
            <a:r>
              <a:rPr lang="en-US" sz="2400" b="0" i="0" u="none" strike="noStrike" dirty="0">
                <a:solidFill>
                  <a:srgbClr val="0F141A"/>
                </a:solidFill>
                <a:effectLst/>
                <a:latin typeface="Amazon Ember"/>
              </a:rPr>
              <a:t>Lambda</a:t>
            </a:r>
          </a:p>
          <a:p>
            <a:pPr algn="l">
              <a:buFont typeface="Arial" panose="020B0604020202020204" pitchFamily="34" charset="0"/>
              <a:buChar char="•"/>
            </a:pPr>
            <a:r>
              <a:rPr lang="en-US" sz="2400" b="0" i="0" u="none" strike="noStrike" dirty="0">
                <a:solidFill>
                  <a:srgbClr val="0F141A"/>
                </a:solidFill>
                <a:effectLst/>
                <a:latin typeface="Amazon Ember"/>
              </a:rPr>
              <a:t>HTTP(S) endpoints</a:t>
            </a:r>
          </a:p>
          <a:p>
            <a:pPr algn="just"/>
            <a:endParaRPr lang="en-US" dirty="0"/>
          </a:p>
        </p:txBody>
      </p:sp>
      <p:sp>
        <p:nvSpPr>
          <p:cNvPr id="4" name="Slide Number Placeholder 3">
            <a:extLst>
              <a:ext uri="{FF2B5EF4-FFF2-40B4-BE49-F238E27FC236}">
                <a16:creationId xmlns:a16="http://schemas.microsoft.com/office/drawing/2014/main" id="{F08DEAA1-7EAB-97C9-285F-C85DE07ECD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408779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E35BBA0-7F61-3E67-2C8B-B160197AE532}"/>
              </a:ext>
            </a:extLst>
          </p:cNvPr>
          <p:cNvSpPr>
            <a:spLocks noGrp="1"/>
          </p:cNvSpPr>
          <p:nvPr>
            <p:ph type="subTitle" idx="1"/>
          </p:nvPr>
        </p:nvSpPr>
        <p:spPr/>
        <p:txBody>
          <a:bodyPr/>
          <a:lstStyle/>
          <a:p>
            <a:pPr algn="l">
              <a:buFont typeface="Arial" panose="020B0604020202020204" pitchFamily="34" charset="0"/>
              <a:buChar char="•"/>
            </a:pPr>
            <a:endParaRPr lang="en-US" sz="2800" b="0" i="0" u="none" strike="noStrike" dirty="0">
              <a:solidFill>
                <a:srgbClr val="0F141A"/>
              </a:solidFill>
              <a:effectLst/>
              <a:latin typeface="Amazon Ember"/>
            </a:endParaRPr>
          </a:p>
          <a:p>
            <a:pPr algn="l">
              <a:buFont typeface="Arial" panose="020B0604020202020204" pitchFamily="34" charset="0"/>
              <a:buChar char="•"/>
            </a:pPr>
            <a:r>
              <a:rPr lang="en-US" sz="2800" b="0" i="0" u="none" strike="noStrike" dirty="0">
                <a:solidFill>
                  <a:srgbClr val="0F141A"/>
                </a:solidFill>
                <a:effectLst/>
                <a:latin typeface="Amazon Ember"/>
              </a:rPr>
              <a:t>Email</a:t>
            </a:r>
          </a:p>
          <a:p>
            <a:pPr algn="l">
              <a:buFont typeface="Arial" panose="020B0604020202020204" pitchFamily="34" charset="0"/>
              <a:buChar char="•"/>
            </a:pPr>
            <a:r>
              <a:rPr lang="en-US" sz="2800" b="0" i="0" u="none" strike="noStrike" dirty="0">
                <a:solidFill>
                  <a:srgbClr val="0F141A"/>
                </a:solidFill>
                <a:effectLst/>
                <a:latin typeface="Amazon Ember"/>
              </a:rPr>
              <a:t>Mobile push notifications</a:t>
            </a:r>
          </a:p>
          <a:p>
            <a:pPr algn="l">
              <a:buFont typeface="Arial" panose="020B0604020202020204" pitchFamily="34" charset="0"/>
              <a:buChar char="•"/>
            </a:pPr>
            <a:r>
              <a:rPr lang="en-US" sz="2800" b="0" i="0" u="none" strike="noStrike" dirty="0">
                <a:solidFill>
                  <a:srgbClr val="0F141A"/>
                </a:solidFill>
                <a:effectLst/>
                <a:latin typeface="Amazon Ember"/>
              </a:rPr>
              <a:t>Mobile text messages (SMS)</a:t>
            </a:r>
          </a:p>
          <a:p>
            <a:pPr algn="l">
              <a:buFont typeface="Arial" panose="020B0604020202020204" pitchFamily="34" charset="0"/>
              <a:buChar char="•"/>
            </a:pPr>
            <a:r>
              <a:rPr lang="en-US" sz="2800" b="0" i="0" u="none" strike="noStrike" dirty="0">
                <a:solidFill>
                  <a:srgbClr val="0F141A"/>
                </a:solidFill>
                <a:effectLst/>
                <a:latin typeface="Amazon Ember"/>
              </a:rPr>
              <a:t>Amazon Data Firehose</a:t>
            </a:r>
          </a:p>
          <a:p>
            <a:pPr algn="l">
              <a:buFont typeface="Arial" panose="020B0604020202020204" pitchFamily="34" charset="0"/>
              <a:buChar char="•"/>
            </a:pPr>
            <a:r>
              <a:rPr lang="en-US" sz="2800" b="0" i="0" u="none" strike="noStrike" dirty="0">
                <a:solidFill>
                  <a:srgbClr val="0F141A"/>
                </a:solidFill>
                <a:effectLst/>
                <a:latin typeface="Amazon Ember"/>
              </a:rPr>
              <a:t>Service providers (For example, Datadog, MongoDB, Splunk)</a:t>
            </a:r>
          </a:p>
          <a:p>
            <a:pPr algn="l"/>
            <a:r>
              <a:rPr lang="en-US" sz="2800" b="0" i="0" u="none" strike="noStrike" dirty="0">
                <a:solidFill>
                  <a:srgbClr val="0F141A"/>
                </a:solidFill>
                <a:effectLst/>
                <a:latin typeface="Amazon Ember"/>
              </a:rPr>
              <a:t>SNS supports both Application-to-Application (A2A) and Application-to-Person (A2P) messaging, giving flexibility to send messages between different applications or directly to mobile phones, email addresses, and more.</a:t>
            </a:r>
          </a:p>
          <a:p>
            <a:pPr algn="l"/>
            <a:endParaRPr lang="en-US" dirty="0"/>
          </a:p>
        </p:txBody>
      </p:sp>
      <p:sp>
        <p:nvSpPr>
          <p:cNvPr id="4" name="Slide Number Placeholder 3">
            <a:extLst>
              <a:ext uri="{FF2B5EF4-FFF2-40B4-BE49-F238E27FC236}">
                <a16:creationId xmlns:a16="http://schemas.microsoft.com/office/drawing/2014/main" id="{24AA91D3-383B-C9C0-9A2E-5B7821BBF7C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953523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0B75E70-DCEE-8438-CB3F-1C3317BC36D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3074" name="Picture 2">
            <a:extLst>
              <a:ext uri="{FF2B5EF4-FFF2-40B4-BE49-F238E27FC236}">
                <a16:creationId xmlns:a16="http://schemas.microsoft.com/office/drawing/2014/main" id="{F3B86DCA-EC10-B711-94F7-999FF092C6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5047" y="1316914"/>
            <a:ext cx="10919011" cy="6750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7124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E5151A1-F359-221F-BB17-BAEE7DA09F84}"/>
              </a:ext>
            </a:extLst>
          </p:cNvPr>
          <p:cNvSpPr>
            <a:spLocks noGrp="1"/>
          </p:cNvSpPr>
          <p:nvPr>
            <p:ph type="subTitle" idx="1"/>
          </p:nvPr>
        </p:nvSpPr>
        <p:spPr/>
        <p:txBody>
          <a:bodyPr/>
          <a:lstStyle/>
          <a:p>
            <a:pPr algn="l" rtl="0"/>
            <a:r>
              <a:rPr lang="en-US" b="1" i="0" u="none" strike="noStrike" dirty="0">
                <a:solidFill>
                  <a:srgbClr val="0F141A"/>
                </a:solidFill>
                <a:effectLst/>
                <a:latin typeface="Amazon Ember"/>
              </a:rPr>
              <a:t>Accessing Amazon SNS</a:t>
            </a:r>
            <a:endParaRPr lang="en-US" b="0" i="0" u="none" strike="noStrike" dirty="0">
              <a:solidFill>
                <a:srgbClr val="0F141A"/>
              </a:solidFill>
              <a:effectLst/>
              <a:latin typeface="var(--font-family-base-ww9h6o, &quot;Amazon Ember&quot;, &quot;Helvetica Neue&quot;, Roboto, Arial, sans-serif)"/>
            </a:endParaRPr>
          </a:p>
          <a:p>
            <a:pPr algn="just"/>
            <a:r>
              <a:rPr lang="en-US" sz="2400" b="0" i="0" u="none" strike="noStrike" dirty="0">
                <a:solidFill>
                  <a:srgbClr val="0F141A"/>
                </a:solidFill>
                <a:effectLst/>
                <a:latin typeface="Amazon Ember"/>
              </a:rPr>
              <a:t>You can access and manage Amazon SNS through the console, AWS CLI, or AWS SDKs, depending on your preferred method of interaction. The console offers a graphical interface for basic tasks, while the AWS CLI and SDKs provide advanced configuration and automation capabilities for more complex use cases.</a:t>
            </a:r>
          </a:p>
          <a:p>
            <a:pPr algn="l"/>
            <a:r>
              <a:rPr lang="en-US" b="1" i="0" u="none" strike="noStrike" dirty="0">
                <a:solidFill>
                  <a:srgbClr val="0F141A"/>
                </a:solidFill>
                <a:effectLst/>
                <a:latin typeface="Amazon Ember"/>
              </a:rPr>
              <a:t>Create an Amazon SNS topic and publish messages</a:t>
            </a:r>
          </a:p>
          <a:p>
            <a:pPr algn="just"/>
            <a:r>
              <a:rPr lang="en-US" sz="2400" b="0" i="0" u="none" strike="noStrike" dirty="0">
                <a:solidFill>
                  <a:srgbClr val="0F141A"/>
                </a:solidFill>
                <a:effectLst/>
                <a:latin typeface="Amazon Ember"/>
              </a:rPr>
              <a:t>This topic provides the foundational steps for managing Amazon SNS resources, specifically focusing on topics, subscriptions, and message publishing. First, you will set up the necessary access permissions for Amazon SNS, ensuring that you have the correct permissions to create and manage Amazon SNS resources. Next, you will create a new Amazon SNS topic, which serves as the central hub for managing and delivering messages to subscribers. After creating the topic, you will proceed to create a subscription to this topic, allowing specific endpoints to receive the messages published to it.</a:t>
            </a:r>
          </a:p>
          <a:p>
            <a:br>
              <a:rPr lang="en-US" dirty="0"/>
            </a:br>
            <a:endParaRPr lang="en-US" dirty="0"/>
          </a:p>
        </p:txBody>
      </p:sp>
      <p:sp>
        <p:nvSpPr>
          <p:cNvPr id="4" name="Slide Number Placeholder 3">
            <a:extLst>
              <a:ext uri="{FF2B5EF4-FFF2-40B4-BE49-F238E27FC236}">
                <a16:creationId xmlns:a16="http://schemas.microsoft.com/office/drawing/2014/main" id="{321CA110-4B16-AEA9-7870-8BDA804B894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279555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A92F0-A938-099D-E329-2074DF80A57B}"/>
              </a:ext>
            </a:extLst>
          </p:cNvPr>
          <p:cNvSpPr>
            <a:spLocks noGrp="1"/>
          </p:cNvSpPr>
          <p:nvPr>
            <p:ph type="ctrTitle"/>
          </p:nvPr>
        </p:nvSpPr>
        <p:spPr/>
        <p:txBody>
          <a:bodyPr/>
          <a:lstStyle/>
          <a:p>
            <a:r>
              <a:rPr lang="en-US" b="1" dirty="0"/>
              <a:t>Amazon SQS</a:t>
            </a:r>
          </a:p>
        </p:txBody>
      </p:sp>
      <p:sp>
        <p:nvSpPr>
          <p:cNvPr id="3" name="Subtitle 2">
            <a:extLst>
              <a:ext uri="{FF2B5EF4-FFF2-40B4-BE49-F238E27FC236}">
                <a16:creationId xmlns:a16="http://schemas.microsoft.com/office/drawing/2014/main" id="{5795C4C3-7219-E8F2-FB54-2BB9E3136260}"/>
              </a:ext>
            </a:extLst>
          </p:cNvPr>
          <p:cNvSpPr>
            <a:spLocks noGrp="1"/>
          </p:cNvSpPr>
          <p:nvPr>
            <p:ph type="subTitle" idx="1"/>
          </p:nvPr>
        </p:nvSpPr>
        <p:spPr>
          <a:xfrm>
            <a:off x="835942" y="1646241"/>
            <a:ext cx="12777903" cy="6220288"/>
          </a:xfrm>
        </p:spPr>
        <p:txBody>
          <a:bodyPr/>
          <a:lstStyle/>
          <a:p>
            <a:pPr algn="just"/>
            <a:r>
              <a:rPr lang="en-US" sz="2400" b="0" i="0" u="none" strike="noStrike" dirty="0">
                <a:solidFill>
                  <a:srgbClr val="0F141A"/>
                </a:solidFill>
                <a:effectLst/>
                <a:latin typeface="Amazon Ember"/>
              </a:rPr>
              <a:t>Amazon Simple Queue Service (Amazon SQS) offers a secure, durable, and available hosted queue that lets you integrate and decouple distributed software systems and components. Amazon SQS offers common constructs such as </a:t>
            </a:r>
            <a:r>
              <a:rPr lang="en-US" sz="2400" b="0" i="0" u="none" strike="noStrike" dirty="0">
                <a:solidFill>
                  <a:schemeClr val="tx1"/>
                </a:solidFill>
                <a:effectLst/>
                <a:latin typeface="Amazon Ember"/>
              </a:rPr>
              <a:t>dead-letter queues and cost allocation tags. </a:t>
            </a:r>
            <a:r>
              <a:rPr lang="en-US" sz="2400" b="0" i="0" u="none" strike="noStrike" dirty="0">
                <a:solidFill>
                  <a:srgbClr val="0F141A"/>
                </a:solidFill>
                <a:effectLst/>
                <a:latin typeface="Amazon Ember"/>
              </a:rPr>
              <a:t>It provides a generic web services API that you can access using any programming language that the AWS SDK supports.</a:t>
            </a:r>
            <a:endParaRPr lang="en-US" sz="2400" dirty="0">
              <a:solidFill>
                <a:srgbClr val="0F141A"/>
              </a:solidFill>
              <a:latin typeface="Amazon Ember"/>
            </a:endParaRPr>
          </a:p>
          <a:p>
            <a:pPr algn="l" rtl="0"/>
            <a:r>
              <a:rPr lang="en-US" sz="2400" b="1" i="0" u="none" strike="noStrike" dirty="0">
                <a:solidFill>
                  <a:srgbClr val="0F141A"/>
                </a:solidFill>
                <a:effectLst/>
                <a:latin typeface="Amazon Ember"/>
              </a:rPr>
              <a:t>Benefits of using Amazon SQS</a:t>
            </a:r>
            <a:endParaRPr lang="en-US" sz="2400" b="1" i="0" u="none" strike="noStrike" dirty="0">
              <a:solidFill>
                <a:srgbClr val="0F141A"/>
              </a:solidFill>
              <a:effectLst/>
              <a:latin typeface="var(--font-family-base-ww9h6o, &quot;Amazon Ember&quot;, &quot;Helvetica Neue&quot;, Roboto, Arial, sans-serif)"/>
            </a:endParaRPr>
          </a:p>
          <a:p>
            <a:pPr algn="just">
              <a:buFont typeface="Arial" panose="020B0604020202020204" pitchFamily="34" charset="0"/>
              <a:buChar char="•"/>
            </a:pPr>
            <a:r>
              <a:rPr lang="en-US" sz="2400" b="1" i="0" u="none" strike="noStrike" dirty="0">
                <a:solidFill>
                  <a:srgbClr val="0F141A"/>
                </a:solidFill>
                <a:effectLst/>
                <a:latin typeface="Amazon Ember"/>
              </a:rPr>
              <a:t>Security</a:t>
            </a:r>
            <a:r>
              <a:rPr lang="en-US" sz="2400" b="0" i="0" u="none" strike="noStrike" dirty="0">
                <a:solidFill>
                  <a:srgbClr val="0F141A"/>
                </a:solidFill>
                <a:effectLst/>
                <a:latin typeface="Amazon Ember"/>
              </a:rPr>
              <a:t> – You control who can send messages to and receive messages from an Amazon SQS queue. You can choose to transmit sensitive data by protecting the contents of messages in queues by using default Amazon SQS managed server-side encryption (SSE), or by using custom SSE keys managed in AWS Key Management Service (AWS KMS).</a:t>
            </a:r>
          </a:p>
          <a:p>
            <a:pPr algn="just">
              <a:buFont typeface="Arial" panose="020B0604020202020204" pitchFamily="34" charset="0"/>
              <a:buChar char="•"/>
            </a:pPr>
            <a:r>
              <a:rPr lang="en-US" sz="2400" b="1" i="0" u="none" strike="noStrike" dirty="0">
                <a:solidFill>
                  <a:srgbClr val="0F141A"/>
                </a:solidFill>
                <a:effectLst/>
                <a:latin typeface="Amazon Ember"/>
              </a:rPr>
              <a:t>Durability</a:t>
            </a:r>
            <a:r>
              <a:rPr lang="en-US" sz="2400" b="0" i="0" u="none" strike="noStrike" dirty="0">
                <a:solidFill>
                  <a:srgbClr val="0F141A"/>
                </a:solidFill>
                <a:effectLst/>
                <a:latin typeface="Amazon Ember"/>
              </a:rPr>
              <a:t> – For the safety of your messages, Amazon SQS stores them on multiple servers. Standard queues support at-least-once message delivery, and FIFO queues support exactly-once message processing and high-throughput mode.</a:t>
            </a:r>
          </a:p>
          <a:p>
            <a:pPr algn="just">
              <a:buFont typeface="Arial" panose="020B0604020202020204" pitchFamily="34" charset="0"/>
              <a:buChar char="•"/>
            </a:pPr>
            <a:r>
              <a:rPr lang="en-US" sz="2400" b="1" i="0" u="none" strike="noStrike" dirty="0">
                <a:solidFill>
                  <a:srgbClr val="0F141A"/>
                </a:solidFill>
                <a:effectLst/>
                <a:latin typeface="Amazon Ember"/>
              </a:rPr>
              <a:t>Availability</a:t>
            </a:r>
            <a:r>
              <a:rPr lang="en-US" sz="2400" b="0" i="0" u="none" strike="noStrike" dirty="0">
                <a:solidFill>
                  <a:srgbClr val="0F141A"/>
                </a:solidFill>
                <a:effectLst/>
                <a:latin typeface="Amazon Ember"/>
              </a:rPr>
              <a:t> – Amazon SQS uses redundant infrastructure to provide highly-concurrent access to messages and high availability for producing and consuming messages. </a:t>
            </a:r>
          </a:p>
          <a:p>
            <a:pPr algn="just"/>
            <a:endParaRPr lang="en-US" sz="2400" dirty="0"/>
          </a:p>
        </p:txBody>
      </p:sp>
      <p:sp>
        <p:nvSpPr>
          <p:cNvPr id="4" name="Slide Number Placeholder 3">
            <a:extLst>
              <a:ext uri="{FF2B5EF4-FFF2-40B4-BE49-F238E27FC236}">
                <a16:creationId xmlns:a16="http://schemas.microsoft.com/office/drawing/2014/main" id="{2E518D91-4A5B-5EB4-29FB-CF2B0A5B5C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1788811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BBC9222-7251-F559-F82A-1F53911F2BE5}"/>
              </a:ext>
            </a:extLst>
          </p:cNvPr>
          <p:cNvSpPr>
            <a:spLocks noGrp="1"/>
          </p:cNvSpPr>
          <p:nvPr>
            <p:ph type="subTitle" idx="1"/>
          </p:nvPr>
        </p:nvSpPr>
        <p:spPr/>
        <p:txBody>
          <a:bodyPr/>
          <a:lstStyle/>
          <a:p>
            <a:pPr algn="just">
              <a:buFont typeface="Arial" panose="020B0604020202020204" pitchFamily="34" charset="0"/>
              <a:buChar char="•"/>
            </a:pPr>
            <a:r>
              <a:rPr lang="en-US" sz="2400" b="1" i="0" u="none" strike="noStrike" dirty="0">
                <a:solidFill>
                  <a:srgbClr val="0F141A"/>
                </a:solidFill>
                <a:effectLst/>
                <a:latin typeface="Amazon Ember"/>
              </a:rPr>
              <a:t>Scalability</a:t>
            </a:r>
            <a:r>
              <a:rPr lang="en-US" sz="2400" b="0" i="0" u="none" strike="noStrike" dirty="0">
                <a:solidFill>
                  <a:srgbClr val="0F141A"/>
                </a:solidFill>
                <a:effectLst/>
                <a:latin typeface="Amazon Ember"/>
              </a:rPr>
              <a:t> – Amazon SQS can process each buffered request independently, scaling transparently to handle any load increases or spikes without any provisioning instructions.</a:t>
            </a:r>
          </a:p>
          <a:p>
            <a:pPr algn="just">
              <a:buFont typeface="Arial" panose="020B0604020202020204" pitchFamily="34" charset="0"/>
              <a:buChar char="•"/>
            </a:pPr>
            <a:r>
              <a:rPr lang="en-US" sz="2400" b="1" i="0" u="none" strike="noStrike" dirty="0">
                <a:solidFill>
                  <a:srgbClr val="0F141A"/>
                </a:solidFill>
                <a:effectLst/>
                <a:latin typeface="Amazon Ember"/>
              </a:rPr>
              <a:t>Reliability</a:t>
            </a:r>
            <a:r>
              <a:rPr lang="en-US" sz="2400" b="0" i="0" u="none" strike="noStrike" dirty="0">
                <a:solidFill>
                  <a:srgbClr val="0F141A"/>
                </a:solidFill>
                <a:effectLst/>
                <a:latin typeface="Amazon Ember"/>
              </a:rPr>
              <a:t> – Amazon SQS locks your messages during processing, so that multiple producers can send and multiple consumers can receive messages at the same time. </a:t>
            </a:r>
          </a:p>
          <a:p>
            <a:pPr algn="just">
              <a:buFont typeface="Arial" panose="020B0604020202020204" pitchFamily="34" charset="0"/>
              <a:buChar char="•"/>
            </a:pPr>
            <a:r>
              <a:rPr lang="en-US" sz="2400" b="1" i="0" u="none" strike="noStrike" dirty="0">
                <a:solidFill>
                  <a:srgbClr val="0F141A"/>
                </a:solidFill>
                <a:effectLst/>
                <a:latin typeface="Amazon Ember"/>
              </a:rPr>
              <a:t>Customization</a:t>
            </a:r>
            <a:r>
              <a:rPr lang="en-US" sz="2400" b="0" i="0" u="none" strike="noStrike" dirty="0">
                <a:solidFill>
                  <a:srgbClr val="0F141A"/>
                </a:solidFill>
                <a:effectLst/>
                <a:latin typeface="Amazon Ember"/>
              </a:rPr>
              <a:t> – Your queues don't have to be exactly alike—for example, you can set a default delay on a queue. You can store the contents of messages larger than 1 MiB using Amazon Simple Storage Service (Amazon S3) or Amazon DynamoDB, with Amazon SQS holding a pointer to the Amazon S3 object, or you can split a large message into smaller messages.</a:t>
            </a:r>
          </a:p>
          <a:p>
            <a:endParaRPr lang="en-US" sz="2400" dirty="0"/>
          </a:p>
        </p:txBody>
      </p:sp>
      <p:sp>
        <p:nvSpPr>
          <p:cNvPr id="4" name="Slide Number Placeholder 3">
            <a:extLst>
              <a:ext uri="{FF2B5EF4-FFF2-40B4-BE49-F238E27FC236}">
                <a16:creationId xmlns:a16="http://schemas.microsoft.com/office/drawing/2014/main" id="{C02ECFAB-7A31-BB98-D056-D2A8DC55AF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3370336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65F8-1E2C-D716-A8D7-5D4438351DC6}"/>
              </a:ext>
            </a:extLst>
          </p:cNvPr>
          <p:cNvSpPr>
            <a:spLocks noGrp="1"/>
          </p:cNvSpPr>
          <p:nvPr>
            <p:ph type="ctrTitle"/>
          </p:nvPr>
        </p:nvSpPr>
        <p:spPr/>
        <p:txBody>
          <a:bodyPr/>
          <a:lstStyle/>
          <a:p>
            <a:r>
              <a:rPr lang="en-US" b="1" i="0" u="none" strike="noStrike" dirty="0">
                <a:solidFill>
                  <a:srgbClr val="0F141A"/>
                </a:solidFill>
                <a:effectLst/>
                <a:latin typeface="Amazon Ember"/>
              </a:rPr>
              <a:t>Basic Amazon SQS architecture</a:t>
            </a:r>
            <a:br>
              <a:rPr lang="en-US" b="1" i="0" u="none" strike="noStrike" dirty="0">
                <a:solidFill>
                  <a:srgbClr val="0F141A"/>
                </a:solidFill>
                <a:effectLst/>
                <a:latin typeface="Amazon Ember"/>
              </a:rPr>
            </a:br>
            <a:endParaRPr lang="en-US" dirty="0"/>
          </a:p>
        </p:txBody>
      </p:sp>
      <p:sp>
        <p:nvSpPr>
          <p:cNvPr id="4" name="Slide Number Placeholder 3">
            <a:extLst>
              <a:ext uri="{FF2B5EF4-FFF2-40B4-BE49-F238E27FC236}">
                <a16:creationId xmlns:a16="http://schemas.microsoft.com/office/drawing/2014/main" id="{8C32576D-23CE-2105-95BA-3F2D2C0714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4100" name="Picture 4" descr="Three main parts in a distributed messaging system: the components of your distributed system, your queue (distributed on Amazon SQS servers), and the messages in the queue.">
            <a:extLst>
              <a:ext uri="{FF2B5EF4-FFF2-40B4-BE49-F238E27FC236}">
                <a16:creationId xmlns:a16="http://schemas.microsoft.com/office/drawing/2014/main" id="{26F11DC5-F3FF-615D-AFF3-898AF64CD9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6475" y="2086907"/>
            <a:ext cx="10477411" cy="4461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029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B9B76D8-B79A-389A-7CBC-2F38E2B930D0}"/>
              </a:ext>
            </a:extLst>
          </p:cNvPr>
          <p:cNvSpPr>
            <a:spLocks noGrp="1"/>
          </p:cNvSpPr>
          <p:nvPr>
            <p:ph type="subTitle" idx="1"/>
          </p:nvPr>
        </p:nvSpPr>
        <p:spPr/>
        <p:txBody>
          <a:bodyPr/>
          <a:lstStyle/>
          <a:p>
            <a:pPr algn="just"/>
            <a:r>
              <a:rPr lang="en-US" sz="2400" b="1" i="0" u="none" strike="noStrike" dirty="0">
                <a:solidFill>
                  <a:srgbClr val="0F141A"/>
                </a:solidFill>
                <a:effectLst/>
                <a:latin typeface="Amazon Ember"/>
              </a:rPr>
              <a:t>Distributed queues</a:t>
            </a:r>
          </a:p>
          <a:p>
            <a:pPr algn="just"/>
            <a:r>
              <a:rPr lang="en-US" sz="2400" b="0" i="0" u="none" strike="noStrike" dirty="0">
                <a:solidFill>
                  <a:srgbClr val="0F141A"/>
                </a:solidFill>
                <a:effectLst/>
                <a:latin typeface="Amazon Ember"/>
              </a:rPr>
              <a:t>There are three main parts in a distributed messaging system: the </a:t>
            </a:r>
            <a:r>
              <a:rPr lang="en-US" sz="2400" b="1" i="0" u="none" strike="noStrike" dirty="0">
                <a:solidFill>
                  <a:srgbClr val="0F141A"/>
                </a:solidFill>
                <a:effectLst/>
                <a:latin typeface="Amazon Ember"/>
              </a:rPr>
              <a:t>components of your distributed system</a:t>
            </a:r>
            <a:r>
              <a:rPr lang="en-US" sz="2400" b="0" i="0" u="none" strike="noStrike" dirty="0">
                <a:solidFill>
                  <a:srgbClr val="0F141A"/>
                </a:solidFill>
                <a:effectLst/>
                <a:latin typeface="Amazon Ember"/>
              </a:rPr>
              <a:t>, your </a:t>
            </a:r>
            <a:r>
              <a:rPr lang="en-US" sz="2400" b="1" i="0" u="none" strike="noStrike" dirty="0">
                <a:solidFill>
                  <a:srgbClr val="0F141A"/>
                </a:solidFill>
                <a:effectLst/>
                <a:latin typeface="Amazon Ember"/>
              </a:rPr>
              <a:t>queue</a:t>
            </a:r>
            <a:r>
              <a:rPr lang="en-US" sz="2400" b="0" i="0" u="none" strike="noStrike" dirty="0">
                <a:solidFill>
                  <a:srgbClr val="0F141A"/>
                </a:solidFill>
                <a:effectLst/>
                <a:latin typeface="Amazon Ember"/>
              </a:rPr>
              <a:t> (distributed on Amazon SQS servers), and the </a:t>
            </a:r>
            <a:r>
              <a:rPr lang="en-US" sz="2400" b="1" i="0" u="none" strike="noStrike" dirty="0">
                <a:solidFill>
                  <a:srgbClr val="0F141A"/>
                </a:solidFill>
                <a:effectLst/>
                <a:latin typeface="Amazon Ember"/>
              </a:rPr>
              <a:t>messages in the queue</a:t>
            </a:r>
            <a:r>
              <a:rPr lang="en-US" sz="2400" b="0" i="0" u="none" strike="noStrike" dirty="0">
                <a:solidFill>
                  <a:srgbClr val="0F141A"/>
                </a:solidFill>
                <a:effectLst/>
                <a:latin typeface="Amazon Ember"/>
              </a:rPr>
              <a:t>.</a:t>
            </a:r>
          </a:p>
          <a:p>
            <a:pPr algn="just"/>
            <a:r>
              <a:rPr lang="en-US" sz="2400" b="0" i="0" u="none" strike="noStrike" dirty="0">
                <a:solidFill>
                  <a:srgbClr val="0F141A"/>
                </a:solidFill>
                <a:effectLst/>
                <a:latin typeface="Amazon Ember"/>
              </a:rPr>
              <a:t>In the diagram, your system has several </a:t>
            </a:r>
            <a:r>
              <a:rPr lang="en-US" sz="2400" b="0" i="1" u="none" strike="noStrike" dirty="0">
                <a:solidFill>
                  <a:srgbClr val="0F141A"/>
                </a:solidFill>
                <a:effectLst/>
                <a:latin typeface="Amazon Ember"/>
              </a:rPr>
              <a:t>producers</a:t>
            </a:r>
            <a:r>
              <a:rPr lang="en-US" sz="2400" b="0" i="0" u="none" strike="noStrike" dirty="0">
                <a:solidFill>
                  <a:srgbClr val="0F141A"/>
                </a:solidFill>
                <a:effectLst/>
                <a:latin typeface="Amazon Ember"/>
              </a:rPr>
              <a:t> (components that send messages to the queue) and </a:t>
            </a:r>
            <a:r>
              <a:rPr lang="en-US" sz="2400" b="0" i="1" u="none" strike="noStrike" dirty="0">
                <a:solidFill>
                  <a:srgbClr val="0F141A"/>
                </a:solidFill>
                <a:effectLst/>
                <a:latin typeface="Amazon Ember"/>
              </a:rPr>
              <a:t>consumers</a:t>
            </a:r>
            <a:r>
              <a:rPr lang="en-US" sz="2400" b="0" i="0" u="none" strike="noStrike" dirty="0">
                <a:solidFill>
                  <a:srgbClr val="0F141A"/>
                </a:solidFill>
                <a:effectLst/>
                <a:latin typeface="Amazon Ember"/>
              </a:rPr>
              <a:t> (components that receive messages from the queue). The queue (which holds messages A through E) redundantly stores the messages across multiple Amazon SQS servers.</a:t>
            </a:r>
          </a:p>
          <a:p>
            <a:pPr algn="just"/>
            <a:br>
              <a:rPr lang="en-US" sz="2400" dirty="0"/>
            </a:br>
            <a:endParaRPr lang="en-US" sz="2400" dirty="0"/>
          </a:p>
        </p:txBody>
      </p:sp>
      <p:sp>
        <p:nvSpPr>
          <p:cNvPr id="4" name="Slide Number Placeholder 3">
            <a:extLst>
              <a:ext uri="{FF2B5EF4-FFF2-40B4-BE49-F238E27FC236}">
                <a16:creationId xmlns:a16="http://schemas.microsoft.com/office/drawing/2014/main" id="{3498F882-8F7A-B771-B2FD-AB8FF85696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891116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27E8-D666-BC57-155A-68018341713F}"/>
              </a:ext>
            </a:extLst>
          </p:cNvPr>
          <p:cNvSpPr>
            <a:spLocks noGrp="1"/>
          </p:cNvSpPr>
          <p:nvPr>
            <p:ph type="ctrTitle"/>
          </p:nvPr>
        </p:nvSpPr>
        <p:spPr/>
        <p:txBody>
          <a:bodyPr/>
          <a:lstStyle/>
          <a:p>
            <a:r>
              <a:rPr lang="en-US" b="1" dirty="0"/>
              <a:t>Message Lifecycle</a:t>
            </a:r>
          </a:p>
        </p:txBody>
      </p:sp>
      <p:sp>
        <p:nvSpPr>
          <p:cNvPr id="4" name="Slide Number Placeholder 3">
            <a:extLst>
              <a:ext uri="{FF2B5EF4-FFF2-40B4-BE49-F238E27FC236}">
                <a16:creationId xmlns:a16="http://schemas.microsoft.com/office/drawing/2014/main" id="{3A9731DF-DB55-8C4A-790D-18E2CF595C0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pic>
        <p:nvPicPr>
          <p:cNvPr id="5122" name="Picture 2" descr="The lifecycle of an Amazon SQS message in a queue, from creation to deletion.">
            <a:extLst>
              <a:ext uri="{FF2B5EF4-FFF2-40B4-BE49-F238E27FC236}">
                <a16:creationId xmlns:a16="http://schemas.microsoft.com/office/drawing/2014/main" id="{BC1A0465-4A8A-E1FC-C3F8-E904754A2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9295" y="1265646"/>
            <a:ext cx="7296617" cy="658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4748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79441C-E505-BB6A-BEA9-5D06D2319D35}"/>
              </a:ext>
            </a:extLst>
          </p:cNvPr>
          <p:cNvSpPr>
            <a:spLocks noGrp="1"/>
          </p:cNvSpPr>
          <p:nvPr>
            <p:ph type="subTitle" idx="1"/>
          </p:nvPr>
        </p:nvSpPr>
        <p:spPr/>
        <p:txBody>
          <a:bodyPr/>
          <a:lstStyle/>
          <a:p>
            <a:pPr algn="just"/>
            <a:r>
              <a:rPr lang="en-US" sz="2400" b="0" i="0" u="none" strike="noStrike" dirty="0">
                <a:solidFill>
                  <a:srgbClr val="0F141A"/>
                </a:solidFill>
                <a:effectLst/>
                <a:latin typeface="Amazon Ember"/>
              </a:rPr>
              <a:t>The scenario describes the lifecycle of an Amazon SQS message in a queue, from creation to deletion.</a:t>
            </a:r>
          </a:p>
          <a:p>
            <a:pPr algn="just"/>
            <a:endParaRPr lang="en-US" sz="2400" dirty="0">
              <a:solidFill>
                <a:srgbClr val="0F141A"/>
              </a:solidFill>
              <a:latin typeface="Amazon Ember"/>
            </a:endParaRPr>
          </a:p>
          <a:p>
            <a:pPr algn="just">
              <a:buFont typeface="Arial" panose="020B0604020202020204" pitchFamily="34" charset="0"/>
              <a:buChar char="•"/>
            </a:pPr>
            <a:r>
              <a:rPr lang="en-US" sz="2400" b="0" i="0" u="none" strike="noStrike" dirty="0">
                <a:solidFill>
                  <a:srgbClr val="0F141A"/>
                </a:solidFill>
                <a:effectLst/>
                <a:latin typeface="Amazon Ember"/>
              </a:rPr>
              <a:t>A producer (Component 1) sends message A to a queue, and the message is distributed across the Amazon SQS servers redundantly.</a:t>
            </a:r>
          </a:p>
          <a:p>
            <a:pPr algn="just">
              <a:buFont typeface="Arial" panose="020B0604020202020204" pitchFamily="34" charset="0"/>
              <a:buChar char="•"/>
            </a:pPr>
            <a:r>
              <a:rPr lang="en-US" sz="2400" b="0" i="0" u="none" strike="noStrike" dirty="0">
                <a:solidFill>
                  <a:srgbClr val="0F141A"/>
                </a:solidFill>
                <a:effectLst/>
                <a:latin typeface="Amazon Ember"/>
              </a:rPr>
              <a:t>When a consumer (Component 2) is ready to process messages, it consumes messages from the queue, and message A is returned. While message A is being processed, it remains in the queue and isn't returned to subsequent receive requests for the duration of the </a:t>
            </a:r>
            <a:r>
              <a:rPr lang="en-US" sz="2400" b="0" i="0" u="none" strike="noStrike" dirty="0">
                <a:solidFill>
                  <a:schemeClr val="tx1"/>
                </a:solidFill>
                <a:effectLst/>
                <a:latin typeface="Amazon Ember"/>
              </a:rPr>
              <a:t>visibility timeout.</a:t>
            </a:r>
            <a:endParaRPr lang="en-US" sz="2400" dirty="0">
              <a:solidFill>
                <a:schemeClr val="tx1"/>
              </a:solidFill>
              <a:latin typeface="Amazon Ember"/>
            </a:endParaRPr>
          </a:p>
          <a:p>
            <a:pPr algn="just">
              <a:buFont typeface="Arial" panose="020B0604020202020204" pitchFamily="34" charset="0"/>
              <a:buChar char="•"/>
            </a:pPr>
            <a:r>
              <a:rPr lang="en-US" sz="2400" b="0" i="0" u="none" strike="noStrike" dirty="0">
                <a:solidFill>
                  <a:srgbClr val="0F141A"/>
                </a:solidFill>
                <a:effectLst/>
                <a:latin typeface="Amazon Ember"/>
              </a:rPr>
              <a:t>The consumer (Component 2) deletes message A from the queue to prevent the message from being received and processed again when the visibility timeout expires.</a:t>
            </a:r>
            <a:endParaRPr lang="en-US" sz="4000" b="0" i="0" u="none" strike="noStrike" dirty="0">
              <a:solidFill>
                <a:srgbClr val="0F141A"/>
              </a:solidFill>
              <a:effectLst/>
              <a:latin typeface="Amazon Ember"/>
            </a:endParaRPr>
          </a:p>
          <a:p>
            <a:pPr algn="just"/>
            <a:endParaRPr lang="en-US" sz="2400" dirty="0"/>
          </a:p>
        </p:txBody>
      </p:sp>
      <p:sp>
        <p:nvSpPr>
          <p:cNvPr id="4" name="Slide Number Placeholder 3">
            <a:extLst>
              <a:ext uri="{FF2B5EF4-FFF2-40B4-BE49-F238E27FC236}">
                <a16:creationId xmlns:a16="http://schemas.microsoft.com/office/drawing/2014/main" id="{C1118AE5-3712-E675-DD1A-F83C6D1D6B8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extLst>
      <p:ext uri="{BB962C8B-B14F-4D97-AF65-F5344CB8AC3E}">
        <p14:creationId xmlns:p14="http://schemas.microsoft.com/office/powerpoint/2010/main" val="1716163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801EC-D00A-92ED-6EBA-A1A92DB87DF0}"/>
              </a:ext>
            </a:extLst>
          </p:cNvPr>
          <p:cNvSpPr>
            <a:spLocks noGrp="1"/>
          </p:cNvSpPr>
          <p:nvPr>
            <p:ph type="ctrTitle"/>
          </p:nvPr>
        </p:nvSpPr>
        <p:spPr/>
        <p:txBody>
          <a:bodyPr/>
          <a:lstStyle/>
          <a:p>
            <a:r>
              <a:rPr lang="en-US" sz="3200" b="1" dirty="0"/>
              <a:t>Amazon SES</a:t>
            </a:r>
          </a:p>
        </p:txBody>
      </p:sp>
      <p:sp>
        <p:nvSpPr>
          <p:cNvPr id="3" name="Subtitle 2">
            <a:extLst>
              <a:ext uri="{FF2B5EF4-FFF2-40B4-BE49-F238E27FC236}">
                <a16:creationId xmlns:a16="http://schemas.microsoft.com/office/drawing/2014/main" id="{6FBD1FF6-105E-92DD-BDC5-72E0E6144A7E}"/>
              </a:ext>
            </a:extLst>
          </p:cNvPr>
          <p:cNvSpPr>
            <a:spLocks noGrp="1"/>
          </p:cNvSpPr>
          <p:nvPr>
            <p:ph type="subTitle" idx="1"/>
          </p:nvPr>
        </p:nvSpPr>
        <p:spPr/>
        <p:txBody>
          <a:bodyPr/>
          <a:lstStyle/>
          <a:p>
            <a:pPr algn="just"/>
            <a:r>
              <a:rPr lang="en-US" sz="2400" b="0" i="0" u="none" strike="noStrike" dirty="0">
                <a:solidFill>
                  <a:srgbClr val="0F141A"/>
                </a:solidFill>
                <a:effectLst/>
                <a:latin typeface="Amazon Ember"/>
              </a:rPr>
              <a:t>Amazon Simple Email Service (Amazon SES) is a cloud-based email sending service designed to help digital marketers and application developers send marketing, notification, and transactional emails. It is a reliable, cost-effective service for businesses of all sizes that use email to keep in contact with their customers.</a:t>
            </a:r>
          </a:p>
          <a:p>
            <a:pPr algn="just"/>
            <a:endParaRPr lang="en-US" sz="2400" dirty="0">
              <a:solidFill>
                <a:srgbClr val="0F141A"/>
              </a:solidFill>
              <a:latin typeface="Amazon Ember"/>
            </a:endParaRPr>
          </a:p>
          <a:p>
            <a:pPr algn="just"/>
            <a:endParaRPr lang="en-US" sz="2400" dirty="0"/>
          </a:p>
        </p:txBody>
      </p:sp>
      <p:sp>
        <p:nvSpPr>
          <p:cNvPr id="4" name="Slide Number Placeholder 3">
            <a:extLst>
              <a:ext uri="{FF2B5EF4-FFF2-40B4-BE49-F238E27FC236}">
                <a16:creationId xmlns:a16="http://schemas.microsoft.com/office/drawing/2014/main" id="{8200EFC9-17CD-A94B-C70E-4B358D9D689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5" name="Picture 4">
            <a:extLst>
              <a:ext uri="{FF2B5EF4-FFF2-40B4-BE49-F238E27FC236}">
                <a16:creationId xmlns:a16="http://schemas.microsoft.com/office/drawing/2014/main" id="{9F3E2372-8175-F274-D2E9-B26BCC92CF67}"/>
              </a:ext>
            </a:extLst>
          </p:cNvPr>
          <p:cNvPicPr>
            <a:picLocks noChangeAspect="1"/>
          </p:cNvPicPr>
          <p:nvPr/>
        </p:nvPicPr>
        <p:blipFill>
          <a:blip r:embed="rId2"/>
          <a:stretch>
            <a:fillRect/>
          </a:stretch>
        </p:blipFill>
        <p:spPr>
          <a:xfrm>
            <a:off x="3294925" y="3686082"/>
            <a:ext cx="8367133" cy="2445778"/>
          </a:xfrm>
          <a:prstGeom prst="rect">
            <a:avLst/>
          </a:prstGeom>
        </p:spPr>
      </p:pic>
    </p:spTree>
    <p:extLst>
      <p:ext uri="{BB962C8B-B14F-4D97-AF65-F5344CB8AC3E}">
        <p14:creationId xmlns:p14="http://schemas.microsoft.com/office/powerpoint/2010/main" val="260180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193D-0873-F5C5-7C8B-B7F22436BCA2}"/>
              </a:ext>
            </a:extLst>
          </p:cNvPr>
          <p:cNvSpPr>
            <a:spLocks noGrp="1"/>
          </p:cNvSpPr>
          <p:nvPr>
            <p:ph type="ctrTitle"/>
          </p:nvPr>
        </p:nvSpPr>
        <p:spPr/>
        <p:txBody>
          <a:bodyPr/>
          <a:lstStyle/>
          <a:p>
            <a:r>
              <a:rPr lang="en-US" b="1" dirty="0"/>
              <a:t>Data Security</a:t>
            </a:r>
          </a:p>
        </p:txBody>
      </p:sp>
      <p:sp>
        <p:nvSpPr>
          <p:cNvPr id="3" name="Subtitle 2">
            <a:extLst>
              <a:ext uri="{FF2B5EF4-FFF2-40B4-BE49-F238E27FC236}">
                <a16:creationId xmlns:a16="http://schemas.microsoft.com/office/drawing/2014/main" id="{709B6359-D187-4E46-2426-5D76E6AFF80F}"/>
              </a:ext>
            </a:extLst>
          </p:cNvPr>
          <p:cNvSpPr>
            <a:spLocks noGrp="1"/>
          </p:cNvSpPr>
          <p:nvPr>
            <p:ph type="subTitle" idx="1"/>
          </p:nvPr>
        </p:nvSpPr>
        <p:spPr>
          <a:xfrm>
            <a:off x="835942" y="1646241"/>
            <a:ext cx="12777903" cy="6220288"/>
          </a:xfrm>
        </p:spPr>
        <p:txBody>
          <a:bodyPr/>
          <a:lstStyle/>
          <a:p>
            <a:pPr algn="just"/>
            <a:r>
              <a:rPr lang="en-US" sz="2400" b="0" i="0" u="none" strike="noStrike" dirty="0">
                <a:solidFill>
                  <a:srgbClr val="232B37"/>
                </a:solidFill>
                <a:effectLst/>
                <a:latin typeface="Amazon Ember Display"/>
              </a:rPr>
              <a:t>At AWS, security is our top priority and security in the cloud is a </a:t>
            </a:r>
            <a:r>
              <a:rPr lang="en-US" sz="2400" b="0" i="0" u="none" strike="noStrike" dirty="0">
                <a:solidFill>
                  <a:schemeClr val="tx1"/>
                </a:solidFill>
                <a:effectLst/>
                <a:latin typeface="Amazon Ember Display"/>
              </a:rPr>
              <a:t>shared responsibility </a:t>
            </a:r>
            <a:r>
              <a:rPr lang="en-US" sz="2400" b="0" i="0" u="none" strike="noStrike" dirty="0">
                <a:solidFill>
                  <a:srgbClr val="232B37"/>
                </a:solidFill>
                <a:effectLst/>
                <a:latin typeface="Amazon Ember Display"/>
              </a:rPr>
              <a:t>between AWS and our customer. Financial services providers, healthcare providers, and governmental agencies are among the customers, who trust us with some of their most sensitive information. </a:t>
            </a:r>
          </a:p>
          <a:p>
            <a:pPr algn="just"/>
            <a:r>
              <a:rPr lang="en-US" sz="2400" b="0" i="0" u="none" strike="noStrike" dirty="0">
                <a:solidFill>
                  <a:srgbClr val="0F141A"/>
                </a:solidFill>
                <a:effectLst/>
                <a:latin typeface="Amazon Ember"/>
              </a:rPr>
              <a:t>Before architecting any workload, foundational practices that influence security should be in place. For example, data classification provides a way to categorize data based on levels of sensitivity, and encryption protects data by way of rendering it unintelligible to unauthorized access. These methods are important because they support objectives such as preventing mishandling or complying with regulatory obligations.</a:t>
            </a:r>
          </a:p>
          <a:p>
            <a:pPr marL="596900" indent="-571500" algn="just">
              <a:buFont typeface="Arial" panose="020B0604020202020204" pitchFamily="34" charset="0"/>
              <a:buChar char="•"/>
            </a:pPr>
            <a:r>
              <a:rPr lang="en-US" sz="2400" b="1" dirty="0">
                <a:solidFill>
                  <a:srgbClr val="0F141A"/>
                </a:solidFill>
                <a:latin typeface="Amazon Ember"/>
              </a:rPr>
              <a:t>Data classification</a:t>
            </a:r>
            <a:r>
              <a:rPr lang="en-US" sz="2400" dirty="0">
                <a:solidFill>
                  <a:srgbClr val="0F141A"/>
                </a:solidFill>
                <a:latin typeface="Amazon Ember"/>
              </a:rPr>
              <a:t>: </a:t>
            </a:r>
            <a:r>
              <a:rPr lang="en-US" sz="2400" b="0" i="0" u="none" strike="noStrike" dirty="0">
                <a:solidFill>
                  <a:srgbClr val="0F141A"/>
                </a:solidFill>
                <a:effectLst/>
                <a:latin typeface="Amazon Ember"/>
              </a:rPr>
              <a:t>Data classification provides a way to categorize organizational data based on criticality and sensitivity in order to help you determine appropriate protection and retention controls.</a:t>
            </a:r>
          </a:p>
          <a:p>
            <a:pPr marL="596900" indent="-571500" algn="just">
              <a:buFont typeface="Arial" panose="020B0604020202020204" pitchFamily="34" charset="0"/>
              <a:buChar char="•"/>
            </a:pPr>
            <a:r>
              <a:rPr lang="en-US" sz="2400" b="1" i="0" u="none" strike="noStrike" dirty="0">
                <a:solidFill>
                  <a:srgbClr val="0F141A"/>
                </a:solidFill>
                <a:effectLst/>
                <a:latin typeface="Amazon Ember"/>
              </a:rPr>
              <a:t>Protecting data at rest</a:t>
            </a:r>
            <a:r>
              <a:rPr lang="en-US" sz="2400" dirty="0">
                <a:solidFill>
                  <a:srgbClr val="0F141A"/>
                </a:solidFill>
                <a:latin typeface="Amazon Ember"/>
              </a:rPr>
              <a:t>: </a:t>
            </a:r>
            <a:r>
              <a:rPr lang="en-US" sz="2400" b="0" i="1" u="none" strike="noStrike" dirty="0">
                <a:solidFill>
                  <a:srgbClr val="0F141A"/>
                </a:solidFill>
                <a:effectLst/>
                <a:latin typeface="Amazon Ember"/>
              </a:rPr>
              <a:t>Data at rest</a:t>
            </a:r>
            <a:r>
              <a:rPr lang="en-US" sz="2400" b="0" i="0" u="none" strike="noStrike" dirty="0">
                <a:solidFill>
                  <a:srgbClr val="0F141A"/>
                </a:solidFill>
                <a:effectLst/>
                <a:latin typeface="Amazon Ember"/>
              </a:rPr>
              <a:t> represents any data that you persist in non-volatile storage for any duration in your workload. This includes block storage, object storage, databases, archives, IoT devices, and any other storage medium on which data is persisted. Protecting your data at rest reduces the risk of unauthorized access, when encryption and appropriate access controls are implemented.</a:t>
            </a:r>
            <a:endParaRPr lang="en-US" sz="4000" dirty="0"/>
          </a:p>
        </p:txBody>
      </p:sp>
      <p:sp>
        <p:nvSpPr>
          <p:cNvPr id="4" name="Slide Number Placeholder 3">
            <a:extLst>
              <a:ext uri="{FF2B5EF4-FFF2-40B4-BE49-F238E27FC236}">
                <a16:creationId xmlns:a16="http://schemas.microsoft.com/office/drawing/2014/main" id="{70660365-A7E2-7F51-64D9-E755A4C69D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1527559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B0797F0-54C5-9423-0288-D78A32FBCF0B}"/>
              </a:ext>
            </a:extLst>
          </p:cNvPr>
          <p:cNvSpPr>
            <a:spLocks noGrp="1"/>
          </p:cNvSpPr>
          <p:nvPr>
            <p:ph type="subTitle" idx="1"/>
          </p:nvPr>
        </p:nvSpPr>
        <p:spPr/>
        <p:txBody>
          <a:bodyPr/>
          <a:lstStyle/>
          <a:p>
            <a:pPr marL="482600" indent="-457200" algn="just">
              <a:buFont typeface="Arial" panose="020B0604020202020204" pitchFamily="34" charset="0"/>
              <a:buChar char="•"/>
            </a:pPr>
            <a:r>
              <a:rPr lang="en-US" sz="2400" b="1" i="0" u="none" strike="noStrike" dirty="0">
                <a:solidFill>
                  <a:srgbClr val="0F141A"/>
                </a:solidFill>
                <a:effectLst/>
                <a:latin typeface="Amazon Ember"/>
              </a:rPr>
              <a:t>Protecting data in transit: </a:t>
            </a:r>
            <a:r>
              <a:rPr lang="en-US" sz="2400" b="0" i="1" u="none" strike="noStrike" dirty="0">
                <a:solidFill>
                  <a:srgbClr val="0F141A"/>
                </a:solidFill>
                <a:effectLst/>
                <a:latin typeface="Amazon Ember"/>
              </a:rPr>
              <a:t>Data in transit</a:t>
            </a:r>
            <a:r>
              <a:rPr lang="en-US" sz="2400" b="0" i="0" u="none" strike="noStrike" dirty="0">
                <a:solidFill>
                  <a:srgbClr val="0F141A"/>
                </a:solidFill>
                <a:effectLst/>
                <a:latin typeface="Amazon Ember"/>
              </a:rPr>
              <a:t> is any data that is sent from one system to another. This includes communication between resources within your workload as well as communication between other services and your end users. By providing the appropriate level of protection for your data in transit, you protect the confidentiality and integrity of your workload’s data.</a:t>
            </a:r>
            <a:endParaRPr lang="en-US" sz="2400" dirty="0"/>
          </a:p>
        </p:txBody>
      </p:sp>
      <p:sp>
        <p:nvSpPr>
          <p:cNvPr id="4" name="Slide Number Placeholder 3">
            <a:extLst>
              <a:ext uri="{FF2B5EF4-FFF2-40B4-BE49-F238E27FC236}">
                <a16:creationId xmlns:a16="http://schemas.microsoft.com/office/drawing/2014/main" id="{9623F152-EDCC-1B51-2BC1-8876D44BE4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7341740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15"/>
          <p:cNvSpPr txBox="1">
            <a:spLocks noGrp="1"/>
          </p:cNvSpPr>
          <p:nvPr>
            <p:ph type="sldNum" idx="12"/>
          </p:nvPr>
        </p:nvSpPr>
        <p:spPr>
          <a:xfrm>
            <a:off x="10270093" y="7629104"/>
            <a:ext cx="3343752" cy="43823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22</a:t>
            </a:fld>
            <a:endParaRPr/>
          </a:p>
        </p:txBody>
      </p:sp>
      <p:pic>
        <p:nvPicPr>
          <p:cNvPr id="159" name="Google Shape;159;p15" descr="How To Write A Thank You Note In Five Easy Steps"/>
          <p:cNvPicPr preferRelativeResize="0"/>
          <p:nvPr/>
        </p:nvPicPr>
        <p:blipFill rotWithShape="1">
          <a:blip r:embed="rId3">
            <a:alphaModFix/>
          </a:blip>
          <a:srcRect/>
          <a:stretch/>
        </p:blipFill>
        <p:spPr>
          <a:xfrm>
            <a:off x="2287588" y="1366838"/>
            <a:ext cx="9753600" cy="549592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2023</Words>
  <Application>Microsoft Macintosh PowerPoint</Application>
  <PresentationFormat>Custom</PresentationFormat>
  <Paragraphs>110</Paragraphs>
  <Slides>22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Amazon Ember</vt:lpstr>
      <vt:lpstr>Amazon Ember Display</vt:lpstr>
      <vt:lpstr>Arial</vt:lpstr>
      <vt:lpstr>Calibri</vt:lpstr>
      <vt:lpstr>Times New Roman</vt:lpstr>
      <vt:lpstr>var(--font-family-base-ww9h6o, "Amazon Ember", "Helvetica Neue", Roboto, Arial, sans-serif)</vt:lpstr>
      <vt:lpstr>Wingdings</vt:lpstr>
      <vt:lpstr>Office Theme</vt:lpstr>
      <vt:lpstr>PowerPoint Presentation</vt:lpstr>
      <vt:lpstr>Elastic Beanstalk</vt:lpstr>
      <vt:lpstr>PowerPoint Presentation</vt:lpstr>
      <vt:lpstr>Understanding concepts in Elastic Beanstalk</vt:lpstr>
      <vt:lpstr>PowerPoint Presentation</vt:lpstr>
      <vt:lpstr>PowerPoint Presentation</vt:lpstr>
      <vt:lpstr>Elastic Beanstalk web server environments</vt:lpstr>
      <vt:lpstr>PowerPoint Presentation</vt:lpstr>
      <vt:lpstr>AWS Messaging services (SNS, SQS, SES) </vt:lpstr>
      <vt:lpstr>PowerPoint Presentation</vt:lpstr>
      <vt:lpstr>PowerPoint Presentation</vt:lpstr>
      <vt:lpstr>PowerPoint Presentation</vt:lpstr>
      <vt:lpstr>Amazon SQS</vt:lpstr>
      <vt:lpstr>PowerPoint Presentation</vt:lpstr>
      <vt:lpstr>Basic Amazon SQS architecture </vt:lpstr>
      <vt:lpstr>PowerPoint Presentation</vt:lpstr>
      <vt:lpstr>Message Lifecycle</vt:lpstr>
      <vt:lpstr>PowerPoint Presentation</vt:lpstr>
      <vt:lpstr>Amazon SES</vt:lpstr>
      <vt:lpstr>Data Security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Microsoft Office User</cp:lastModifiedBy>
  <cp:revision>3</cp:revision>
  <dcterms:created xsi:type="dcterms:W3CDTF">2010-04-09T07:36:15Z</dcterms:created>
  <dcterms:modified xsi:type="dcterms:W3CDTF">2025-11-05T12:19:02Z</dcterms:modified>
</cp:coreProperties>
</file>