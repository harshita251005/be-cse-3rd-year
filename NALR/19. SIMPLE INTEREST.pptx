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9" r:id="rId2"/>
    <p:sldId id="409" r:id="rId3"/>
    <p:sldId id="410" r:id="rId4"/>
    <p:sldId id="396" r:id="rId5"/>
    <p:sldId id="411" r:id="rId6"/>
    <p:sldId id="358" r:id="rId7"/>
    <p:sldId id="413" r:id="rId8"/>
    <p:sldId id="359" r:id="rId9"/>
    <p:sldId id="467" r:id="rId10"/>
    <p:sldId id="360" r:id="rId11"/>
    <p:sldId id="415" r:id="rId12"/>
    <p:sldId id="361" r:id="rId13"/>
    <p:sldId id="416" r:id="rId14"/>
    <p:sldId id="363" r:id="rId15"/>
    <p:sldId id="418" r:id="rId16"/>
    <p:sldId id="364" r:id="rId17"/>
    <p:sldId id="419" r:id="rId18"/>
    <p:sldId id="365" r:id="rId19"/>
    <p:sldId id="420" r:id="rId20"/>
    <p:sldId id="368" r:id="rId21"/>
    <p:sldId id="423" r:id="rId22"/>
    <p:sldId id="370" r:id="rId23"/>
    <p:sldId id="425" r:id="rId24"/>
    <p:sldId id="371" r:id="rId25"/>
    <p:sldId id="426" r:id="rId26"/>
    <p:sldId id="373" r:id="rId27"/>
    <p:sldId id="428" r:id="rId28"/>
    <p:sldId id="375" r:id="rId29"/>
    <p:sldId id="430" r:id="rId30"/>
    <p:sldId id="376" r:id="rId31"/>
    <p:sldId id="431" r:id="rId32"/>
    <p:sldId id="377" r:id="rId33"/>
    <p:sldId id="432" r:id="rId34"/>
    <p:sldId id="378" r:id="rId35"/>
    <p:sldId id="433" r:id="rId36"/>
    <p:sldId id="379" r:id="rId37"/>
    <p:sldId id="434" r:id="rId38"/>
    <p:sldId id="381" r:id="rId39"/>
    <p:sldId id="436" r:id="rId40"/>
    <p:sldId id="382" r:id="rId41"/>
    <p:sldId id="437" r:id="rId42"/>
    <p:sldId id="383" r:id="rId43"/>
    <p:sldId id="468" r:id="rId44"/>
    <p:sldId id="387" r:id="rId45"/>
    <p:sldId id="442" r:id="rId46"/>
    <p:sldId id="388" r:id="rId47"/>
    <p:sldId id="443" r:id="rId48"/>
    <p:sldId id="390" r:id="rId49"/>
    <p:sldId id="445" r:id="rId50"/>
    <p:sldId id="393" r:id="rId51"/>
    <p:sldId id="448" r:id="rId52"/>
    <p:sldId id="394" r:id="rId53"/>
    <p:sldId id="449" r:id="rId54"/>
    <p:sldId id="362" r:id="rId55"/>
    <p:sldId id="417" r:id="rId56"/>
    <p:sldId id="401" r:id="rId57"/>
    <p:sldId id="458" r:id="rId58"/>
    <p:sldId id="398" r:id="rId59"/>
    <p:sldId id="453" r:id="rId60"/>
    <p:sldId id="403" r:id="rId61"/>
    <p:sldId id="460" r:id="rId62"/>
    <p:sldId id="405" r:id="rId63"/>
    <p:sldId id="462" r:id="rId64"/>
    <p:sldId id="407" r:id="rId65"/>
    <p:sldId id="464" r:id="rId66"/>
    <p:sldId id="408" r:id="rId67"/>
    <p:sldId id="463" r:id="rId68"/>
    <p:sldId id="466"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4" d="100"/>
          <a:sy n="64" d="100"/>
        </p:scale>
        <p:origin x="97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31-05-2025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31-05-2025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31-05-2025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9476" y="594535"/>
            <a:ext cx="11733048" cy="5344511"/>
          </a:xfrm>
        </p:spPr>
        <p:txBody>
          <a:bodyPr>
            <a:normAutofit/>
          </a:bodyPr>
          <a:lstStyle/>
          <a:p>
            <a:pPr algn="ctr">
              <a:buNone/>
            </a:pPr>
            <a:endParaRPr lang="en-US" sz="6600" b="1" dirty="0">
              <a:solidFill>
                <a:srgbClr val="FF0000"/>
              </a:solidFill>
              <a:latin typeface="Arial Black" pitchFamily="34" charset="0"/>
            </a:endParaRPr>
          </a:p>
          <a:p>
            <a:pPr algn="ctr">
              <a:buNone/>
            </a:pPr>
            <a:endParaRPr lang="en-US" sz="6600" b="1" dirty="0">
              <a:solidFill>
                <a:srgbClr val="FF0000"/>
              </a:solidFill>
              <a:latin typeface="Arial Black" pitchFamily="34" charset="0"/>
            </a:endParaRPr>
          </a:p>
          <a:p>
            <a:pPr algn="ctr">
              <a:buNone/>
            </a:pPr>
            <a:r>
              <a:rPr lang="en-US" sz="6600" b="1" dirty="0">
                <a:solidFill>
                  <a:srgbClr val="FF0000"/>
                </a:solidFill>
                <a:latin typeface="Arial Black" pitchFamily="34" charset="0"/>
              </a:rPr>
              <a:t>SIMPLE INTEREST</a:t>
            </a:r>
          </a:p>
          <a:p>
            <a:pPr algn="ctr">
              <a:buNone/>
            </a:pPr>
            <a:endParaRPr lang="en-US" sz="66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734519"/>
            <a:ext cx="11733048" cy="5682048"/>
          </a:xfrm>
        </p:spPr>
        <p:txBody>
          <a:bodyPr>
            <a:normAutofit lnSpcReduction="10000"/>
          </a:bodyPr>
          <a:lstStyle/>
          <a:p>
            <a:r>
              <a:rPr lang="en-US" sz="3000" dirty="0">
                <a:solidFill>
                  <a:srgbClr val="FF0000"/>
                </a:solidFill>
              </a:rPr>
              <a:t>Simple Interest Formula :</a:t>
            </a:r>
          </a:p>
          <a:p>
            <a:r>
              <a:rPr lang="en-US" sz="3000" dirty="0"/>
              <a:t>The formula for simple interest helps you find the interest amount if the principal amount, rate of interest and time periods are given.</a:t>
            </a:r>
          </a:p>
          <a:p>
            <a:r>
              <a:rPr lang="en-US" sz="3000" dirty="0"/>
              <a:t>Simple interest formula is given as:</a:t>
            </a:r>
          </a:p>
          <a:p>
            <a:endParaRPr lang="en-US" sz="3000" dirty="0"/>
          </a:p>
          <a:p>
            <a:r>
              <a:rPr lang="en-US" sz="3000" dirty="0">
                <a:solidFill>
                  <a:srgbClr val="FF0000"/>
                </a:solidFill>
              </a:rPr>
              <a:t>SI=PTR/100</a:t>
            </a:r>
          </a:p>
          <a:p>
            <a:endParaRPr lang="en-US" sz="3000" dirty="0"/>
          </a:p>
          <a:p>
            <a:r>
              <a:rPr lang="en-US" sz="3000" dirty="0"/>
              <a:t>Where SI = simple interest</a:t>
            </a:r>
          </a:p>
          <a:p>
            <a:r>
              <a:rPr lang="en-US" sz="3000" dirty="0"/>
              <a:t>P = principal</a:t>
            </a:r>
          </a:p>
          <a:p>
            <a:r>
              <a:rPr lang="en-US" sz="3000" dirty="0"/>
              <a:t>R = interest rate (in percentage)</a:t>
            </a:r>
          </a:p>
          <a:p>
            <a:r>
              <a:rPr lang="en-US" sz="3000" dirty="0"/>
              <a:t>T = time duration (in years)</a:t>
            </a:r>
          </a:p>
          <a:p>
            <a:pPr>
              <a:buNone/>
            </a:pPr>
            <a:endParaRPr lang="en-US" sz="3300" b="1" dirty="0"/>
          </a:p>
          <a:p>
            <a:pPr algn="ctr">
              <a:buNone/>
            </a:pPr>
            <a:endParaRPr lang="en-US" sz="48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704539"/>
            <a:ext cx="11733048" cy="5712028"/>
          </a:xfrm>
        </p:spPr>
        <p:txBody>
          <a:bodyPr>
            <a:normAutofit/>
          </a:bodyPr>
          <a:lstStyle/>
          <a:p>
            <a:r>
              <a:rPr lang="en-US" b="1" dirty="0">
                <a:solidFill>
                  <a:srgbClr val="FF0000"/>
                </a:solidFill>
              </a:rPr>
              <a:t>Amount (A) = Principal (P) + Interest (I)</a:t>
            </a:r>
            <a:endParaRPr lang="en-US" dirty="0">
              <a:solidFill>
                <a:srgbClr val="FF0000"/>
              </a:solidFill>
            </a:endParaRPr>
          </a:p>
          <a:p>
            <a:r>
              <a:rPr lang="en-US" dirty="0"/>
              <a:t>Where,</a:t>
            </a:r>
          </a:p>
          <a:p>
            <a:r>
              <a:rPr lang="en-US" b="1" dirty="0">
                <a:solidFill>
                  <a:srgbClr val="FF0000"/>
                </a:solidFill>
              </a:rPr>
              <a:t>Amount</a:t>
            </a:r>
            <a:r>
              <a:rPr lang="en-US" b="1" dirty="0"/>
              <a:t> </a:t>
            </a:r>
            <a:r>
              <a:rPr lang="en-US" dirty="0"/>
              <a:t>(A) is the total money paid back at the end of the time period for which it was borrowed.</a:t>
            </a:r>
          </a:p>
          <a:p>
            <a:r>
              <a:rPr lang="en-US" dirty="0"/>
              <a:t>The total amount formula in case of simple interest can also be written as:</a:t>
            </a:r>
          </a:p>
          <a:p>
            <a:r>
              <a:rPr lang="en-US" b="1" dirty="0">
                <a:solidFill>
                  <a:srgbClr val="FF0000"/>
                </a:solidFill>
              </a:rPr>
              <a:t>A = P(1 + RT)</a:t>
            </a:r>
            <a:endParaRPr lang="en-US" dirty="0">
              <a:solidFill>
                <a:srgbClr val="FF0000"/>
              </a:solidFill>
            </a:endParaRPr>
          </a:p>
          <a:p>
            <a:r>
              <a:rPr lang="en-US" dirty="0"/>
              <a:t>Here,</a:t>
            </a:r>
          </a:p>
          <a:p>
            <a:r>
              <a:rPr lang="en-US" dirty="0"/>
              <a:t>A = Total amount after the given time period</a:t>
            </a:r>
          </a:p>
          <a:p>
            <a:r>
              <a:rPr lang="en-US" dirty="0"/>
              <a:t>P = Principal amount or the initial loan amount</a:t>
            </a:r>
          </a:p>
          <a:p>
            <a:r>
              <a:rPr lang="en-US" dirty="0"/>
              <a:t>R = Rate of interest (per annum)</a:t>
            </a:r>
          </a:p>
          <a:p>
            <a:r>
              <a:rPr lang="en-US" dirty="0"/>
              <a:t>T = Time (in years)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719529"/>
            <a:ext cx="11733048" cy="5697038"/>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  A sum of  4000 is lent for 5 years at the rate of 15% per annum. Find the interest. </a:t>
            </a:r>
          </a:p>
          <a:p>
            <a:pPr>
              <a:buNone/>
            </a:pPr>
            <a:r>
              <a:rPr lang="en-US" b="1" dirty="0"/>
              <a:t>(1) 3000 	(2) 2000 	(3) 1000 	(4) 1500 	(5) None of these</a:t>
            </a:r>
            <a:endParaRPr lang="en-US" dirty="0">
              <a:solidFill>
                <a:srgbClr val="FF0000"/>
              </a:solidFill>
            </a:endParaRPr>
          </a:p>
        </p:txBody>
      </p:sp>
    </p:spTree>
    <p:extLst>
      <p:ext uri="{BB962C8B-B14F-4D97-AF65-F5344CB8AC3E}">
        <p14:creationId xmlns:p14="http://schemas.microsoft.com/office/powerpoint/2010/main" val="3222985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44577"/>
            <a:ext cx="11733048" cy="577198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a:t>
            </a:r>
            <a:r>
              <a:rPr lang="en-US" b="1" dirty="0">
                <a:solidFill>
                  <a:srgbClr val="FF0000"/>
                </a:solidFill>
              </a:rPr>
              <a:t> </a:t>
            </a:r>
            <a:r>
              <a:rPr lang="en-US" b="1" dirty="0"/>
              <a:t> A sum of  4000 is lent for 5 years at the rate of 15% per annum. Find the interest. </a:t>
            </a:r>
          </a:p>
          <a:p>
            <a:pPr>
              <a:buNone/>
            </a:pPr>
            <a:r>
              <a:rPr lang="en-US" b="1" dirty="0">
                <a:solidFill>
                  <a:srgbClr val="FF0000"/>
                </a:solidFill>
              </a:rPr>
              <a:t>(1) 3000 </a:t>
            </a:r>
            <a:r>
              <a:rPr lang="en-US" b="1" dirty="0"/>
              <a:t>	(2) 2000 	(3) 1000 	(4) 1500 	(5) None of these</a:t>
            </a:r>
            <a:endParaRPr lang="en-US" dirty="0">
              <a:solidFill>
                <a:srgbClr val="FF0000"/>
              </a:solidFill>
            </a:endParaRPr>
          </a:p>
        </p:txBody>
      </p:sp>
    </p:spTree>
    <p:extLst>
      <p:ext uri="{BB962C8B-B14F-4D97-AF65-F5344CB8AC3E}">
        <p14:creationId xmlns:p14="http://schemas.microsoft.com/office/powerpoint/2010/main" val="3222985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14597"/>
            <a:ext cx="11733048" cy="580196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a:t>
            </a:r>
            <a:r>
              <a:rPr lang="en-US" b="1" dirty="0">
                <a:solidFill>
                  <a:srgbClr val="FF0000"/>
                </a:solidFill>
              </a:rPr>
              <a:t> </a:t>
            </a:r>
            <a:r>
              <a:rPr lang="en-US" b="1" dirty="0"/>
              <a:t> A man deposits  1350 in a bank at 5% per annum and  1150 in another bank at 6% per annum. Find the rate of interest for the whole sum. </a:t>
            </a:r>
          </a:p>
          <a:p>
            <a:pPr marL="457200" indent="-457200">
              <a:buAutoNum type="arabicParenBoth"/>
            </a:pPr>
            <a:r>
              <a:rPr lang="en-US" b="1" dirty="0"/>
              <a:t>5.40% 		(2) 6.40% 		(3) 5.46% 		(4) 11.5% </a:t>
            </a:r>
          </a:p>
          <a:p>
            <a:pPr marL="457200" indent="-457200">
              <a:buNone/>
            </a:pPr>
            <a:r>
              <a:rPr lang="en-US" b="1" dirty="0"/>
              <a:t>(5) None of these</a:t>
            </a:r>
          </a:p>
          <a:p>
            <a:pPr>
              <a:buNone/>
            </a:pP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29587"/>
            <a:ext cx="11733048" cy="578697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a:t>
            </a:r>
            <a:r>
              <a:rPr lang="en-US" b="1" dirty="0">
                <a:solidFill>
                  <a:srgbClr val="FF0000"/>
                </a:solidFill>
              </a:rPr>
              <a:t> </a:t>
            </a:r>
            <a:r>
              <a:rPr lang="en-US" b="1" dirty="0"/>
              <a:t> A man deposits  1350 in a bank at 5% per annum and  1150 in another bank at 6% per annum. Find the rate of interest for the whole sum. </a:t>
            </a:r>
          </a:p>
          <a:p>
            <a:pPr marL="457200" indent="-457200">
              <a:buAutoNum type="arabicParenBoth"/>
            </a:pPr>
            <a:r>
              <a:rPr lang="en-US" b="1" dirty="0"/>
              <a:t>5.40% 		(2) 6.40% 		</a:t>
            </a:r>
            <a:r>
              <a:rPr lang="en-US" b="1" dirty="0">
                <a:solidFill>
                  <a:srgbClr val="FF0000"/>
                </a:solidFill>
              </a:rPr>
              <a:t>(3) 5.46% </a:t>
            </a:r>
            <a:r>
              <a:rPr lang="en-US" b="1" dirty="0"/>
              <a:t>		(4) 11.5% </a:t>
            </a:r>
          </a:p>
          <a:p>
            <a:pPr marL="457200" indent="-457200">
              <a:buNone/>
            </a:pPr>
            <a:r>
              <a:rPr lang="en-US" b="1" dirty="0"/>
              <a:t>(5) None of these</a:t>
            </a:r>
          </a:p>
          <a:p>
            <a:pPr>
              <a:buNone/>
            </a:pP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4952" y="674557"/>
            <a:ext cx="11528096" cy="574200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marL="0">
              <a:spcBef>
                <a:spcPts val="0"/>
              </a:spcBef>
              <a:buNone/>
            </a:pPr>
            <a:r>
              <a:rPr lang="en-US" b="1" dirty="0"/>
              <a:t>Q.3:</a:t>
            </a:r>
            <a:r>
              <a:rPr lang="en-US" b="1" dirty="0">
                <a:solidFill>
                  <a:srgbClr val="FF0000"/>
                </a:solidFill>
              </a:rPr>
              <a:t> </a:t>
            </a:r>
            <a:r>
              <a:rPr lang="en-US" b="1" dirty="0"/>
              <a:t>The simple interest on a sum of money is 4/9 of the principal, and the number of years is equal to the rate per cent per annum. Find the rate per cent.</a:t>
            </a:r>
          </a:p>
          <a:p>
            <a:pPr marL="0">
              <a:spcBef>
                <a:spcPts val="0"/>
              </a:spcBef>
              <a:buNone/>
            </a:pPr>
            <a:endParaRPr lang="en-US" b="1" dirty="0"/>
          </a:p>
          <a:p>
            <a:pPr indent="-457200">
              <a:spcBef>
                <a:spcPts val="0"/>
              </a:spcBef>
              <a:buAutoNum type="arabicParenBoth"/>
            </a:pPr>
            <a:r>
              <a:rPr lang="en-US" b="1" dirty="0"/>
              <a:t>6(2/3)%     (2) 5(3/5)%       (3) 7(2/3)%	  (4) 6(1/3)%     (5) None of these </a:t>
            </a:r>
          </a:p>
          <a:p>
            <a:pPr marL="0">
              <a:spcBef>
                <a:spcPts val="0"/>
              </a:spcBef>
              <a:buNone/>
            </a:pPr>
            <a:endParaRPr lang="en-US" b="1" dirty="0">
              <a:latin typeface="Arial Black" pitchFamily="34" charset="0"/>
            </a:endParaRPr>
          </a:p>
          <a:p>
            <a:pPr marL="0">
              <a:spcBef>
                <a:spcPts val="0"/>
              </a:spcBef>
              <a:buNone/>
            </a:pPr>
            <a:endParaRPr lang="en-US"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32D4B8-A472-C2BC-8BCD-7E0E8F49C6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95286B-D6BD-E331-E6CE-D11049541634}"/>
              </a:ext>
            </a:extLst>
          </p:cNvPr>
          <p:cNvSpPr>
            <a:spLocks noGrp="1"/>
          </p:cNvSpPr>
          <p:nvPr>
            <p:ph idx="4294967295"/>
          </p:nvPr>
        </p:nvSpPr>
        <p:spPr>
          <a:xfrm>
            <a:off x="204952" y="674557"/>
            <a:ext cx="11528096" cy="574200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marL="0">
              <a:spcBef>
                <a:spcPts val="0"/>
              </a:spcBef>
              <a:buNone/>
            </a:pPr>
            <a:r>
              <a:rPr lang="en-US" b="1" dirty="0"/>
              <a:t>Q.3:</a:t>
            </a:r>
            <a:r>
              <a:rPr lang="en-US" b="1" dirty="0">
                <a:solidFill>
                  <a:srgbClr val="FF0000"/>
                </a:solidFill>
              </a:rPr>
              <a:t> </a:t>
            </a:r>
            <a:r>
              <a:rPr lang="en-US" b="1" dirty="0"/>
              <a:t>The simple interest on a sum of money is 4/9 of the principal, and the number of years is equal to the rate per cent per annum. Find the rate per cent.</a:t>
            </a:r>
          </a:p>
          <a:p>
            <a:pPr marL="0">
              <a:spcBef>
                <a:spcPts val="0"/>
              </a:spcBef>
              <a:buNone/>
            </a:pPr>
            <a:endParaRPr lang="en-US" b="1" dirty="0"/>
          </a:p>
          <a:p>
            <a:pPr indent="-457200">
              <a:spcBef>
                <a:spcPts val="0"/>
              </a:spcBef>
              <a:buAutoNum type="arabicParenBoth"/>
            </a:pPr>
            <a:r>
              <a:rPr lang="en-US" b="1" dirty="0">
                <a:solidFill>
                  <a:srgbClr val="FF0000"/>
                </a:solidFill>
              </a:rPr>
              <a:t>6(2/3)%      </a:t>
            </a:r>
            <a:r>
              <a:rPr lang="en-US" b="1" dirty="0"/>
              <a:t>(2) 5(3/5)%      (3) 7(2/3)%	(4) 6(1/3)%      (5) None of these </a:t>
            </a:r>
          </a:p>
          <a:p>
            <a:pPr marL="0">
              <a:spcBef>
                <a:spcPts val="0"/>
              </a:spcBef>
              <a:buNone/>
            </a:pPr>
            <a:endParaRPr lang="en-US" b="1" dirty="0">
              <a:latin typeface="Arial Black" pitchFamily="34" charset="0"/>
            </a:endParaRPr>
          </a:p>
          <a:p>
            <a:pPr marL="0">
              <a:spcBef>
                <a:spcPts val="0"/>
              </a:spcBef>
              <a:buNone/>
            </a:pPr>
            <a:endParaRPr lang="en-US" dirty="0">
              <a:solidFill>
                <a:srgbClr val="FF0000"/>
              </a:solidFill>
            </a:endParaRPr>
          </a:p>
        </p:txBody>
      </p:sp>
    </p:spTree>
    <p:extLst>
      <p:ext uri="{BB962C8B-B14F-4D97-AF65-F5344CB8AC3E}">
        <p14:creationId xmlns:p14="http://schemas.microsoft.com/office/powerpoint/2010/main" val="1751656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74557"/>
            <a:ext cx="11733048" cy="574200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Q.4: If the simple interest on  1350 be more than the interest on  1250 by 20 in 2 years, find the rate per cent per annum. </a:t>
            </a:r>
          </a:p>
          <a:p>
            <a:pPr>
              <a:buNone/>
            </a:pPr>
            <a:r>
              <a:rPr lang="en-US" b="1" dirty="0"/>
              <a:t>(1) 5% 	(2) 10% 		(3) 6% 	(4) 8% 	(5) None of these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59567"/>
            <a:ext cx="11733048" cy="575699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Q.4: If the simple interest on  1350 be more than the interest on  1250 by 20 in 2 years, find the rate per cent per annum. </a:t>
            </a:r>
          </a:p>
          <a:p>
            <a:pPr>
              <a:buNone/>
            </a:pPr>
            <a:r>
              <a:rPr lang="en-US" b="1" dirty="0"/>
              <a:t>(1) 5% 	</a:t>
            </a:r>
            <a:r>
              <a:rPr lang="en-US" b="1" dirty="0">
                <a:solidFill>
                  <a:srgbClr val="FF0000"/>
                </a:solidFill>
              </a:rPr>
              <a:t>(2) 10% </a:t>
            </a:r>
            <a:r>
              <a:rPr lang="en-US" b="1" dirty="0"/>
              <a:t>		(3) 6% 	(4) 8% 	(5) None of these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44577"/>
            <a:ext cx="11733048" cy="577198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Q.5: If simple interest on  375 increases by  75, when the rate % increases by 5% per annum. Find the time. </a:t>
            </a:r>
          </a:p>
          <a:p>
            <a:pPr>
              <a:buNone/>
            </a:pPr>
            <a:r>
              <a:rPr lang="en-US" b="1" dirty="0"/>
              <a:t>(1) 2 years 	        (2) 8 years 	        (3) 4 years 	       (4) None of these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59567"/>
            <a:ext cx="11733048" cy="575699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Q.5: If simple interest on  375 increases by  75, when the rate % increases by 5% per annum. Find the time. </a:t>
            </a:r>
          </a:p>
          <a:p>
            <a:pPr>
              <a:buNone/>
            </a:pPr>
            <a:r>
              <a:rPr lang="en-US" b="1" dirty="0"/>
              <a:t>(1) 2 years 	           (2) 8 years 	          </a:t>
            </a:r>
            <a:r>
              <a:rPr lang="en-US" b="1" dirty="0">
                <a:solidFill>
                  <a:srgbClr val="FF0000"/>
                </a:solidFill>
              </a:rPr>
              <a:t>(3) 4 years </a:t>
            </a:r>
            <a:r>
              <a:rPr lang="en-US" b="1" dirty="0"/>
              <a:t>	      (4) None of these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29587"/>
            <a:ext cx="11733048" cy="578697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Q.6: Arun borrowed a sum of money from Jayant at the rate of 8% per annum simple interest for the first four years, 10% per annum for the next 6 years, and 12% per annum for the next 5 years. If he pays a total of  12160 as interest at the end of 15 years, how much money did he borrow? </a:t>
            </a:r>
          </a:p>
          <a:p>
            <a:pPr>
              <a:buNone/>
            </a:pPr>
            <a:r>
              <a:rPr lang="en-US" b="1" dirty="0"/>
              <a:t>(1) 8000 	(2) 10000 	(3) 12000 	(4) 9000 	(5) None of these</a:t>
            </a:r>
            <a:endParaRPr lang="en-US"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99607"/>
            <a:ext cx="11733048" cy="581695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Q.6: Arun borrowed a sum of money from Jayant at the rate of 8% per annum simple interest for the first four years, 10% per annum for the next 6 years, and 12% per annum for the next 5 years. If he pays a total of  12160 as interest  at the end of 15 years, how much money did he borrow? </a:t>
            </a:r>
          </a:p>
          <a:p>
            <a:pPr>
              <a:buNone/>
            </a:pPr>
            <a:r>
              <a:rPr lang="en-US" b="1" dirty="0">
                <a:solidFill>
                  <a:srgbClr val="FF0000"/>
                </a:solidFill>
              </a:rPr>
              <a:t>(1) 8000 </a:t>
            </a:r>
            <a:r>
              <a:rPr lang="en-US" b="1" dirty="0"/>
              <a:t>	(2) 10000 	(3) 12000 	(4) 9000 	(5) None of these</a:t>
            </a:r>
            <a:endParaRPr lang="en-US"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99607"/>
            <a:ext cx="11733048" cy="581695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Q.7: In what time does a sum of money become thrice at the simple interest rate of 8% per annum? </a:t>
            </a:r>
          </a:p>
          <a:p>
            <a:pPr marL="457200" indent="-457200">
              <a:buAutoNum type="arabicParenBoth"/>
            </a:pPr>
            <a:r>
              <a:rPr lang="en-US" b="1" dirty="0"/>
              <a:t>30 years 	   (2) 15 years    (3) 20 years 	(4) 25 years     (5) None of these</a:t>
            </a: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99607"/>
            <a:ext cx="11733048" cy="581695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Q.7: In what time does a sum of money become thrice at the simple interest rate of 8% per annum? </a:t>
            </a:r>
          </a:p>
          <a:p>
            <a:pPr marL="457200" indent="-457200">
              <a:buAutoNum type="arabicParenBoth"/>
            </a:pPr>
            <a:r>
              <a:rPr lang="en-US" b="1" dirty="0"/>
              <a:t>30 years 	    (2) 15 years 	(3) 20 years     </a:t>
            </a:r>
            <a:r>
              <a:rPr lang="en-US" b="1" dirty="0">
                <a:solidFill>
                  <a:srgbClr val="FF0000"/>
                </a:solidFill>
              </a:rPr>
              <a:t>(4) 25 years      </a:t>
            </a:r>
            <a:r>
              <a:rPr lang="en-US" b="1" dirty="0"/>
              <a:t>(5) None of these</a:t>
            </a: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29587"/>
            <a:ext cx="11733048" cy="578697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Q.8: A certain sum is invested for certain time. It amounts to  400 at 10% per annum. But when invested at 4% per annum, it amounts to  200. Find the time. </a:t>
            </a:r>
          </a:p>
          <a:p>
            <a:pPr marL="457200" indent="-457200">
              <a:buAutoNum type="arabicParenBoth"/>
            </a:pPr>
            <a:r>
              <a:rPr lang="en-US" b="1" dirty="0"/>
              <a:t>100 years     (2) 75 years     (3) 50 years 	(4) 60 years    (5) None of these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Q.8: A certain sum is invested for certain time. It amounts to  400 at 10% per annum. But when invested at 4% per annum, it amounts to  200. Find the time. </a:t>
            </a:r>
          </a:p>
          <a:p>
            <a:pPr marL="457200" indent="-457200">
              <a:buAutoNum type="arabicParenBoth"/>
            </a:pPr>
            <a:r>
              <a:rPr lang="en-US" b="1" dirty="0"/>
              <a:t>100 years      (2) 75 years     </a:t>
            </a:r>
            <a:r>
              <a:rPr lang="en-US" b="1" dirty="0">
                <a:solidFill>
                  <a:srgbClr val="FF0000"/>
                </a:solidFill>
              </a:rPr>
              <a:t>(3) 50 years </a:t>
            </a:r>
            <a:r>
              <a:rPr lang="en-US" b="1" dirty="0"/>
              <a:t>	  (4) 60 years    (5) None of these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29587"/>
            <a:ext cx="11733048" cy="578697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Q.9: A certain sum of money amounts to  550 in 3 years and to  650 in 4 years. Find the sum. </a:t>
            </a:r>
          </a:p>
          <a:p>
            <a:pPr>
              <a:buNone/>
            </a:pPr>
            <a:r>
              <a:rPr lang="en-US" b="1" dirty="0"/>
              <a:t>(1) 250 	(2) 300 	(3) 150 	(4) 350 	(5) None of these</a:t>
            </a:r>
            <a:endParaRPr lang="en-US"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Q.9: A certain sum of money amounts to  550 in 3 years and to  650 in 4 years. Find the sum. </a:t>
            </a:r>
          </a:p>
          <a:p>
            <a:pPr>
              <a:buNone/>
            </a:pPr>
            <a:r>
              <a:rPr lang="en-US" b="1" dirty="0">
                <a:solidFill>
                  <a:srgbClr val="FF0000"/>
                </a:solidFill>
              </a:rPr>
              <a:t>(1) 250 </a:t>
            </a:r>
            <a:r>
              <a:rPr lang="en-US" b="1" dirty="0"/>
              <a:t>	(2) 300 	(3) 150 	(4) 350 	(5) None of these</a:t>
            </a:r>
            <a:endParaRPr lang="en-US"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Q.10: Anish borrowed  15000 at the rate of 12% and another amount at the rate of 15% for two years. The total interest paid by him was  9000. How much did he borrow? </a:t>
            </a:r>
          </a:p>
          <a:p>
            <a:pPr>
              <a:buNone/>
            </a:pPr>
            <a:r>
              <a:rPr lang="en-US" b="1" dirty="0"/>
              <a:t>(1) 32000 	(2) 33000 	(3) 30000 	(4) 63000 	(5) None of these</a:t>
            </a:r>
            <a:endParaRPr lang="en-US"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Q.10: Anish borrowed  15000 at the rate of 12% and another amount at the rate of 15% for two years. The total interest paid by him was  9000. How much did he borrow? </a:t>
            </a:r>
          </a:p>
          <a:p>
            <a:pPr>
              <a:buNone/>
            </a:pPr>
            <a:r>
              <a:rPr lang="en-US" b="1" dirty="0"/>
              <a:t>(1) 32000 </a:t>
            </a:r>
            <a:r>
              <a:rPr lang="en-US" b="1" dirty="0">
                <a:solidFill>
                  <a:srgbClr val="FF0000"/>
                </a:solidFill>
              </a:rPr>
              <a:t>	(2) 33000 </a:t>
            </a:r>
            <a:r>
              <a:rPr lang="en-US" b="1" dirty="0"/>
              <a:t>	(3) 30000 	(4) 63000 	(5) None of these</a:t>
            </a:r>
            <a:endParaRPr lang="en-US"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Q.11: At a certain rate of simple interest  400 amounted to  460 in 3 years. If the rate of interest be decreased by 3%, what will be the amount after 3 years? </a:t>
            </a:r>
          </a:p>
          <a:p>
            <a:pPr>
              <a:buNone/>
            </a:pPr>
            <a:r>
              <a:rPr lang="en-US" b="1" dirty="0"/>
              <a:t>(1) 424 	(2) 484 	(3) 242 	(4) 848 	(5) None of these</a:t>
            </a:r>
            <a:endParaRPr lang="en-US"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Q.11: At a certain rate of simple interest  400 amounted to  460 in 3 years. If the rate of interest be decreased by 3%, what will be the amount after 3 years? </a:t>
            </a:r>
          </a:p>
          <a:p>
            <a:pPr>
              <a:buNone/>
            </a:pPr>
            <a:r>
              <a:rPr lang="en-US" b="1" dirty="0">
                <a:solidFill>
                  <a:srgbClr val="FF0000"/>
                </a:solidFill>
              </a:rPr>
              <a:t>(1) 424 </a:t>
            </a:r>
            <a:r>
              <a:rPr lang="en-US" b="1" dirty="0"/>
              <a:t>	(2) 484 	(3) 242 	(4) 848 	(5) None of these</a:t>
            </a:r>
            <a:endParaRPr lang="en-US"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Q.12: The simple interest on a sum of money will be  150 after 4 years. In the next 4 years principal becomes 5 times, what will be the total interest at the end of the 8th year? </a:t>
            </a:r>
          </a:p>
          <a:p>
            <a:pPr>
              <a:buNone/>
            </a:pPr>
            <a:r>
              <a:rPr lang="en-US" b="1" dirty="0"/>
              <a:t>(1) 950 	(2) 850 	(3) 900 	(4) 860 	(5) None of these</a:t>
            </a:r>
            <a:endParaRPr lang="en-US"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Q.12: The simple interest on a sum of money will be  150 after 4 years. In the next 4 years principal becomes 5 times, what will be the total interest at the end of the 8th year? </a:t>
            </a:r>
          </a:p>
          <a:p>
            <a:pPr>
              <a:buNone/>
            </a:pPr>
            <a:r>
              <a:rPr lang="en-US" b="1" dirty="0"/>
              <a:t>(1) 950 	(2) 850 	</a:t>
            </a:r>
            <a:r>
              <a:rPr lang="en-US" b="1" dirty="0">
                <a:solidFill>
                  <a:srgbClr val="FF0000"/>
                </a:solidFill>
              </a:rPr>
              <a:t>(3) 900 </a:t>
            </a:r>
            <a:r>
              <a:rPr lang="en-US" b="1" dirty="0"/>
              <a:t>	(4) 860 	(5) None of these</a:t>
            </a:r>
            <a:endParaRPr lang="en-US"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Q.13: A sum of  1521 is lent out in two parts in such a way that the interest on one part at 10% for 5 years is equal to that on another part at 8% for 10 years. Find the two sums. </a:t>
            </a:r>
          </a:p>
          <a:p>
            <a:pPr marL="457200" indent="-457200">
              <a:buAutoNum type="arabicParenBoth"/>
            </a:pPr>
            <a:r>
              <a:rPr lang="en-US" b="1" dirty="0"/>
              <a:t>926,  595    (2) 906,  615 	(3) 916,  605     (4) 936,  585  (5) None of these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Q.13: A sum of  1521 is lent out in two parts in such a way that the interest on one part at 10% for 5 years is equal to that on another part at 8% for 10 years. Find the two sums. </a:t>
            </a:r>
          </a:p>
          <a:p>
            <a:pPr marL="457200" indent="-457200">
              <a:buAutoNum type="arabicParenBoth"/>
            </a:pPr>
            <a:r>
              <a:rPr lang="en-US" b="1" dirty="0"/>
              <a:t>926,  595     (2) 906,  615      (3) 916,  605     </a:t>
            </a:r>
            <a:r>
              <a:rPr lang="en-US" b="1" dirty="0">
                <a:solidFill>
                  <a:srgbClr val="FF0000"/>
                </a:solidFill>
              </a:rPr>
              <a:t>(4) 936,  585</a:t>
            </a:r>
            <a:r>
              <a:rPr lang="en-US" b="1" dirty="0"/>
              <a:t>   (5) None of these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Q.14: A sum of money becomes two times at the simple interest rate of 2% per annum. At what rate per cent will it become five-times? </a:t>
            </a:r>
          </a:p>
          <a:p>
            <a:pPr>
              <a:buNone/>
            </a:pPr>
            <a:r>
              <a:rPr lang="en-US" b="1" dirty="0"/>
              <a:t>(1) 10% 	(2) 8% 	(3) 6% 	(4) 9% 	(5) None of these</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Q.14: A sum of money becomes two times at the simple interest rate of 2% per annum. At what rate per cent will it become five-times? </a:t>
            </a:r>
          </a:p>
          <a:p>
            <a:pPr>
              <a:buNone/>
            </a:pPr>
            <a:r>
              <a:rPr lang="en-US" b="1" dirty="0"/>
              <a:t>(1) 10% 	</a:t>
            </a:r>
            <a:r>
              <a:rPr lang="en-US" b="1" dirty="0">
                <a:solidFill>
                  <a:srgbClr val="FF0000"/>
                </a:solidFill>
              </a:rPr>
              <a:t>(2) 8% </a:t>
            </a:r>
            <a:r>
              <a:rPr lang="en-US" b="1" dirty="0"/>
              <a:t>	(3) 6% 	(4) 9% 	(5) None of these</a:t>
            </a:r>
            <a:endParaRPr lang="en-US"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Q.15: A certain sum of money amounted to  810 at 4% in a time in which  450 amounted to  720 at 3%. If the rate of interest is simple, find the sum. </a:t>
            </a:r>
          </a:p>
          <a:p>
            <a:pPr>
              <a:buNone/>
            </a:pPr>
            <a:r>
              <a:rPr lang="en-US" b="1" dirty="0"/>
              <a:t>(1) 500 	(2) 450 	(3) 600 	(4) 475 	(5) None of these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Q.15: A certain sum of money amounted to  810 at 4% in a time in which  450 amounted to  720 at 3%. If the rate of interest is simple, find the sum. </a:t>
            </a:r>
          </a:p>
          <a:p>
            <a:pPr>
              <a:buNone/>
            </a:pPr>
            <a:r>
              <a:rPr lang="en-US" b="1" dirty="0"/>
              <a:t>(1) 500 	</a:t>
            </a:r>
            <a:r>
              <a:rPr lang="en-US" b="1" dirty="0">
                <a:solidFill>
                  <a:srgbClr val="FF0000"/>
                </a:solidFill>
              </a:rPr>
              <a:t>(2) 450 </a:t>
            </a:r>
            <a:r>
              <a:rPr lang="en-US" b="1" dirty="0"/>
              <a:t>	(3) 600 	(4) 475 	(5) None of these</a:t>
            </a:r>
            <a:endParaRPr lang="en-US" dirty="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Q.16: A certain sum of money amounts to  5000 in 5 years at 10% per annum. In how many years will it amount to  6000 at the same rate? </a:t>
            </a:r>
          </a:p>
          <a:p>
            <a:pPr marL="457200" indent="-457200">
              <a:buAutoNum type="arabicParenBoth"/>
            </a:pPr>
            <a:r>
              <a:rPr lang="en-US" b="1" dirty="0"/>
              <a:t>8 years 	(2) 6 years 	(3) 10 years 	(4) 9 years  (5) None of these</a:t>
            </a:r>
            <a:endParaRPr lang="en-US" dirty="0"/>
          </a:p>
          <a:p>
            <a:pPr>
              <a:buNone/>
            </a:pPr>
            <a:endParaRPr lang="en-US"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Q.16: A certain sum of money amounts to  5000 in 5 years at 10% per annum. In how many years will it amount to  6000 at the same rate? </a:t>
            </a:r>
          </a:p>
          <a:p>
            <a:pPr marL="457200" indent="-457200">
              <a:buAutoNum type="arabicParenBoth"/>
            </a:pPr>
            <a:r>
              <a:rPr lang="en-US" b="1" dirty="0">
                <a:solidFill>
                  <a:srgbClr val="FF0000"/>
                </a:solidFill>
              </a:rPr>
              <a:t>8 years </a:t>
            </a:r>
            <a:r>
              <a:rPr lang="en-US" b="1" dirty="0"/>
              <a:t>	   (2) 6 years   (3) 10 years  (4) 9 years  (5) None of these</a:t>
            </a: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Q.17: 8829 is divided into three parts in such a way that their amounts at 4% per annum simple interest after 5, 6 and 8 years are equal. Find each part of the sum. </a:t>
            </a:r>
          </a:p>
          <a:p>
            <a:pPr marL="457200" indent="-457200">
              <a:buAutoNum type="arabicParenBoth"/>
            </a:pPr>
            <a:r>
              <a:rPr lang="en-US" b="1" dirty="0"/>
              <a:t>3069,  2970,  2790 		(2) 3609,  2970,  2790 	</a:t>
            </a:r>
          </a:p>
          <a:p>
            <a:pPr marL="457200" indent="-457200">
              <a:buNone/>
            </a:pPr>
            <a:r>
              <a:rPr lang="en-US" b="1" dirty="0"/>
              <a:t>(3) 3089,  2970,  2790 	           (4) 3069,  2960,  2760 </a:t>
            </a:r>
          </a:p>
          <a:p>
            <a:pPr marL="457200" indent="-457200">
              <a:buNone/>
            </a:pPr>
            <a:r>
              <a:rPr lang="en-US" b="1" dirty="0"/>
              <a:t>(5) None of these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Q.17: 8829 is divided into three parts in such a way that their amounts at 4% per annum simple interest after 5, 6 and 8 years are equal. Find each part of the sum. </a:t>
            </a:r>
          </a:p>
          <a:p>
            <a:pPr marL="457200" indent="-457200">
              <a:buAutoNum type="arabicParenBoth"/>
            </a:pPr>
            <a:r>
              <a:rPr lang="en-US" b="1" dirty="0">
                <a:solidFill>
                  <a:srgbClr val="FF0000"/>
                </a:solidFill>
              </a:rPr>
              <a:t>3069,  2970,  2790 	</a:t>
            </a:r>
            <a:r>
              <a:rPr lang="en-US" b="1" dirty="0"/>
              <a:t>	(2) 3609,  2970,  2790 	</a:t>
            </a:r>
          </a:p>
          <a:p>
            <a:pPr marL="457200" indent="-457200">
              <a:buNone/>
            </a:pPr>
            <a:r>
              <a:rPr lang="en-US" b="1" dirty="0"/>
              <a:t>(3) 3089,  2970,  2790 	           (4) 3069,  2960,  2760 </a:t>
            </a:r>
          </a:p>
          <a:p>
            <a:pPr marL="457200" indent="-457200">
              <a:buNone/>
            </a:pPr>
            <a:r>
              <a:rPr lang="en-US" b="1" dirty="0"/>
              <a:t>(5) None of these</a:t>
            </a:r>
            <a:endParaRPr lang="en-US"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Q.18: A person lent a certain sum of money at 4% simple interest, and in 5 years the interest amounted to 520 less than the sum lent. Find the sum lent. </a:t>
            </a:r>
          </a:p>
          <a:p>
            <a:pPr>
              <a:buNone/>
            </a:pPr>
            <a:r>
              <a:rPr lang="en-US" b="1" dirty="0"/>
              <a:t>(1) 600 	(2) 650 	(3) 700 	(4) 750 	(5) None of these</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Q.18: A person lent a certain sum of money at 4% simple interest, and in 5 years the interest amounted to 520 less than the sum lent. Find the sum lent. </a:t>
            </a:r>
          </a:p>
          <a:p>
            <a:pPr>
              <a:buNone/>
            </a:pPr>
            <a:r>
              <a:rPr lang="en-US" b="1" dirty="0"/>
              <a:t>(1) 600 	</a:t>
            </a:r>
            <a:r>
              <a:rPr lang="en-US" b="1" dirty="0">
                <a:solidFill>
                  <a:srgbClr val="FF0000"/>
                </a:solidFill>
              </a:rPr>
              <a:t>(2) 650 </a:t>
            </a:r>
            <a:r>
              <a:rPr lang="en-US" b="1" dirty="0"/>
              <a:t>	(3) 700 	(4) 750 	(5) None of these</a:t>
            </a:r>
            <a:endParaRPr lang="en-US"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Q.19: A sum of money doubles itself in 5 years. It will become 4 times of itself in– </a:t>
            </a:r>
          </a:p>
          <a:p>
            <a:pPr marL="457200" indent="-457200">
              <a:buAutoNum type="arabicParenBoth"/>
            </a:pPr>
            <a:r>
              <a:rPr lang="en-US" b="1" dirty="0"/>
              <a:t>10 years 	    (2) 12 years     (3) 15 years 	(4) 20 years     (5) None of these</a:t>
            </a:r>
            <a:endParaRPr lang="en-US"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Q.19: A sum of money doubles itself in 5 years. It will become 4 times of itself in– </a:t>
            </a:r>
          </a:p>
          <a:p>
            <a:pPr marL="457200" indent="-457200">
              <a:buAutoNum type="arabicParenBoth"/>
            </a:pPr>
            <a:r>
              <a:rPr lang="en-US" b="1" dirty="0"/>
              <a:t>10 years      (2) 12 years     </a:t>
            </a:r>
            <a:r>
              <a:rPr lang="en-US" b="1" dirty="0">
                <a:solidFill>
                  <a:srgbClr val="FF0000"/>
                </a:solidFill>
              </a:rPr>
              <a:t>(3) 15 years </a:t>
            </a:r>
            <a:r>
              <a:rPr lang="en-US" b="1" dirty="0"/>
              <a:t>	(4) 20 years     (5) None of these</a:t>
            </a:r>
            <a:endParaRPr lang="en-US"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Q.20: The simple interest on  1250 will be less than the interest on  1400 at 3% simple interest by  45. Find the time. </a:t>
            </a:r>
          </a:p>
          <a:p>
            <a:pPr marL="457200" indent="-457200">
              <a:buAutoNum type="arabicParenBoth"/>
            </a:pPr>
            <a:r>
              <a:rPr lang="en-US" b="1" dirty="0"/>
              <a:t>10 years 	  (2) 9 years    (3) 8 years      (4) 6 years     (5) None of these</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7ABA48-ECB4-6453-BACF-32BF922E30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4A3C6-FE32-4FD6-A22C-177BFA4113BB}"/>
              </a:ext>
            </a:extLst>
          </p:cNvPr>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Q.20: The simple interest on  1250 will be less than the interest on  1400 at 3% simple interest by  45. Find the time. </a:t>
            </a:r>
          </a:p>
          <a:p>
            <a:pPr marL="457200" indent="-457200">
              <a:buAutoNum type="arabicParenBoth"/>
            </a:pPr>
            <a:r>
              <a:rPr lang="en-US" b="1" dirty="0">
                <a:solidFill>
                  <a:srgbClr val="FF0000"/>
                </a:solidFill>
              </a:rPr>
              <a:t>10 years     </a:t>
            </a:r>
            <a:r>
              <a:rPr lang="en-US" b="1" dirty="0"/>
              <a:t>(2) 9 years    (3) 8 years     (4) 6 years      (5) None of these</a:t>
            </a:r>
            <a:endParaRPr lang="en-US" dirty="0"/>
          </a:p>
        </p:txBody>
      </p:sp>
    </p:spTree>
    <p:extLst>
      <p:ext uri="{BB962C8B-B14F-4D97-AF65-F5344CB8AC3E}">
        <p14:creationId xmlns:p14="http://schemas.microsoft.com/office/powerpoint/2010/main" val="2678512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Q.21: Sudhir borrows  6000 from a bank at SI. After 4 years he paid  2500 to the bank and at the end of 5 years from the date of borrowing he paid  4560 to the bank to settle the account. Find the rate of interest. </a:t>
            </a:r>
          </a:p>
          <a:p>
            <a:pPr>
              <a:buNone/>
            </a:pPr>
            <a:r>
              <a:rPr lang="en-US" b="1" dirty="0"/>
              <a:t>(1) 3% 	(2) 3.5% 		(3) 3.85% 	   (4) 4.5%	 (5) None of these</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Q.21: Sudhir borrows  6000 from a bank at SI. After 4 years he paid  2500 to the bank and at the end of 5 years from the date of borrowing he paid  4560 to the bank to settle the account. Find the rate of interest. </a:t>
            </a:r>
          </a:p>
          <a:p>
            <a:pPr>
              <a:buNone/>
            </a:pPr>
            <a:r>
              <a:rPr lang="en-US" b="1" dirty="0"/>
              <a:t>(1) 3% 	(2) 3.5% 		</a:t>
            </a:r>
            <a:r>
              <a:rPr lang="en-US" b="1" dirty="0">
                <a:solidFill>
                  <a:srgbClr val="FF0000"/>
                </a:solidFill>
              </a:rPr>
              <a:t>(3) 3.85% </a:t>
            </a:r>
            <a:r>
              <a:rPr lang="en-US" b="1" dirty="0"/>
              <a:t>	   (4) 4.5%	 (5) None of these</a:t>
            </a:r>
            <a:endParaRPr lang="en-US"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Q.22: Some amount out of  950 was lent at 6% per annum and the remaining at 4% per annum. If the total simple interest from both the fractions in 5 years was  200, find the sum lent at 6% per annum. </a:t>
            </a:r>
          </a:p>
          <a:p>
            <a:pPr>
              <a:buNone/>
            </a:pPr>
            <a:r>
              <a:rPr lang="en-US" b="1" dirty="0"/>
              <a:t>(1) 700 	(2) 100 	(3) 250 	(4) 450 	(5) None of these</a:t>
            </a:r>
          </a:p>
          <a:p>
            <a:pPr>
              <a:buNone/>
            </a:pPr>
            <a:endParaRPr lang="en-US" dirty="0"/>
          </a:p>
          <a:p>
            <a:pPr>
              <a:buNone/>
            </a:pP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Q.22: Some amount out of  950 was lent at 6% per annum and the remaining at 4% per annum. If the total simple interest from both the fractions in 5 years was  200, find the sum lent at 6% per annum. </a:t>
            </a:r>
          </a:p>
          <a:p>
            <a:pPr>
              <a:buNone/>
            </a:pPr>
            <a:r>
              <a:rPr lang="en-US" b="1" dirty="0"/>
              <a:t>(1) 700 	</a:t>
            </a:r>
            <a:r>
              <a:rPr lang="en-US" b="1" dirty="0">
                <a:solidFill>
                  <a:srgbClr val="FF0000"/>
                </a:solidFill>
              </a:rPr>
              <a:t>(2) 100 </a:t>
            </a:r>
            <a:r>
              <a:rPr lang="en-US" b="1" dirty="0"/>
              <a:t>	(3) 250 	(4) 450 	(5) None of these</a:t>
            </a:r>
          </a:p>
          <a:p>
            <a:pPr>
              <a:buNone/>
            </a:pPr>
            <a:endParaRPr lang="en-US" dirty="0"/>
          </a:p>
          <a:p>
            <a:pPr>
              <a:buNone/>
            </a:pP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7"/>
            <a:ext cx="11733048" cy="584694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Q.23: The simple interest on certain sum  625 is  100, and the number of years is equal to the rate per cent per annum. Find the rate per cent. </a:t>
            </a:r>
          </a:p>
          <a:p>
            <a:pPr>
              <a:buNone/>
            </a:pPr>
            <a:r>
              <a:rPr lang="en-US" b="1" dirty="0"/>
              <a:t>(1) 5% 	(2) 4% 	(3) 3% 	(4) 4.5% 	(5) None of these</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Q.23: The simple interest on certain sum  625 is  100, and the number of years is equal to the rate per cent per annum. Find the rate per cent. </a:t>
            </a:r>
          </a:p>
          <a:p>
            <a:pPr>
              <a:buNone/>
            </a:pPr>
            <a:r>
              <a:rPr lang="en-US" b="1" dirty="0"/>
              <a:t>(1) 5% 	</a:t>
            </a:r>
            <a:r>
              <a:rPr lang="en-US" b="1" dirty="0">
                <a:solidFill>
                  <a:srgbClr val="FF0000"/>
                </a:solidFill>
              </a:rPr>
              <a:t>(2) 4% </a:t>
            </a:r>
            <a:r>
              <a:rPr lang="en-US" b="1" dirty="0"/>
              <a:t>	(3) 3% 	(4) 4.5% 	(5) None of these</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6"/>
            <a:ext cx="12192000" cy="584616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Q.24: On  3000 invested at a simple interest rate 6 per cent per annum, 900 is obtained as interest in certain years. In order to earn 1600 as interest on 4000 in the same number of years, what should be the rate of simple interest?</a:t>
            </a:r>
          </a:p>
          <a:p>
            <a:pPr marL="457200" indent="-457200">
              <a:buAutoNum type="arabicParenBoth"/>
            </a:pPr>
            <a:r>
              <a:rPr lang="en-US" b="1" dirty="0"/>
              <a:t>7 per cent 	(2) 8 per cent 	(3) 9 per cent 	(4) Data inadequate </a:t>
            </a:r>
          </a:p>
          <a:p>
            <a:pPr marL="0" indent="0">
              <a:buNone/>
            </a:pPr>
            <a:r>
              <a:rPr lang="en-US" b="1" dirty="0"/>
              <a:t>(5) None of these</a:t>
            </a:r>
            <a:endParaRPr lang="en-US" dirty="0">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6"/>
            <a:ext cx="12192000" cy="583117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Q.24: On  3000 invested at a simple interest rate 6 per cent per annum,  900 is obtained as interest in certain years. In order to earn  1600 as interest on  4000 in the same number of years, what should be the rate of simple interest? </a:t>
            </a:r>
          </a:p>
          <a:p>
            <a:pPr marL="457200" indent="-457200">
              <a:buAutoNum type="arabicParenBoth"/>
            </a:pPr>
            <a:r>
              <a:rPr lang="en-US" b="1" dirty="0"/>
              <a:t>7 per cent 	</a:t>
            </a:r>
            <a:r>
              <a:rPr lang="en-US" b="1" dirty="0">
                <a:solidFill>
                  <a:srgbClr val="FF0000"/>
                </a:solidFill>
              </a:rPr>
              <a:t>(2) 8 per cent </a:t>
            </a:r>
            <a:r>
              <a:rPr lang="en-US" b="1" dirty="0"/>
              <a:t>	(3) 9 per cent 	(4) Data inadequate </a:t>
            </a:r>
          </a:p>
          <a:p>
            <a:pPr marL="0" indent="0">
              <a:buNone/>
            </a:pPr>
            <a:r>
              <a:rPr lang="en-US" b="1" dirty="0"/>
              <a:t>(5) None of these</a:t>
            </a:r>
            <a:endParaRPr lang="en-US" dirty="0">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54637"/>
            <a:ext cx="11733048" cy="586193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Q.25: At what rate of interest per annum will a sum double itself in 8 years? </a:t>
            </a:r>
          </a:p>
          <a:p>
            <a:pPr>
              <a:buNone/>
            </a:pPr>
            <a:r>
              <a:rPr lang="en-US" b="1" dirty="0"/>
              <a:t>(1) 12½% 	(2) 5% 	(3) 6% 	(4) 10½% 	(5) None of these </a:t>
            </a:r>
            <a:endParaRPr lang="en-US" dirty="0"/>
          </a:p>
          <a:p>
            <a:pPr>
              <a:buNone/>
            </a:pPr>
            <a:endParaRPr lang="en-US" dirty="0">
              <a:solidFill>
                <a:srgbClr val="FF0000"/>
              </a:solidFill>
            </a:endParaRPr>
          </a:p>
          <a:p>
            <a:pPr>
              <a:buNone/>
            </a:pP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7"/>
            <a:ext cx="11733048" cy="5831950"/>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Q.25: At what rate of interest per annum will a sum double itself in 8 years? </a:t>
            </a:r>
          </a:p>
          <a:p>
            <a:pPr>
              <a:buNone/>
            </a:pPr>
            <a:r>
              <a:rPr lang="en-US" b="1" dirty="0">
                <a:solidFill>
                  <a:srgbClr val="FF0000"/>
                </a:solidFill>
              </a:rPr>
              <a:t>(1) 12½% </a:t>
            </a:r>
            <a:r>
              <a:rPr lang="en-US" b="1" dirty="0"/>
              <a:t>	(2) 5% 	(3) 6% 	(4) 10½% 	(5) None of these </a:t>
            </a:r>
            <a:endParaRPr lang="en-US" dirty="0"/>
          </a:p>
          <a:p>
            <a:pPr>
              <a:buNone/>
            </a:pPr>
            <a:endParaRPr lang="en-US" dirty="0">
              <a:solidFill>
                <a:srgbClr val="FF0000"/>
              </a:solidFill>
            </a:endParaRPr>
          </a:p>
          <a:p>
            <a:pPr>
              <a:buNone/>
            </a:pPr>
            <a:endParaRPr lang="en-US" dirty="0">
              <a:solidFill>
                <a:srgbClr val="FF0000"/>
              </a:solidFill>
            </a:endParaRPr>
          </a:p>
          <a:p>
            <a:pPr>
              <a:buNone/>
            </a:pPr>
            <a:endParaRPr lang="en-US"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44577"/>
            <a:ext cx="11733048" cy="577198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Q.26:</a:t>
            </a:r>
            <a:r>
              <a:rPr lang="en-US" b="1" dirty="0">
                <a:solidFill>
                  <a:srgbClr val="FF0000"/>
                </a:solidFill>
              </a:rPr>
              <a:t> </a:t>
            </a:r>
            <a:r>
              <a:rPr lang="en-US" b="1" dirty="0"/>
              <a:t>What annual instalment will discharge a debt of 4,200 due in 5 years at 10% simple interest? </a:t>
            </a:r>
          </a:p>
          <a:p>
            <a:pPr marL="457200" indent="-457200">
              <a:buAutoNum type="arabicParenBoth"/>
            </a:pPr>
            <a:r>
              <a:rPr lang="en-US" b="1" dirty="0"/>
              <a:t>700 per year 		(2) 350 per year 		(3) 750 per year </a:t>
            </a:r>
          </a:p>
          <a:p>
            <a:pPr marL="457200" indent="-457200">
              <a:buNone/>
            </a:pPr>
            <a:r>
              <a:rPr lang="en-US" b="1" dirty="0"/>
              <a:t>(4) 650 per year 		(5) None of these</a:t>
            </a:r>
          </a:p>
          <a:p>
            <a:pPr>
              <a:buNone/>
            </a:pPr>
            <a:endParaRPr lang="en-US"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29587"/>
            <a:ext cx="11733048" cy="5786979"/>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Q.26: What annual instalment will discharge a debt of 4,200 due in 5 years at 10% simple interest? </a:t>
            </a:r>
          </a:p>
          <a:p>
            <a:pPr marL="457200" indent="-457200">
              <a:buAutoNum type="arabicParenBoth"/>
            </a:pPr>
            <a:r>
              <a:rPr lang="en-US" b="1" dirty="0">
                <a:solidFill>
                  <a:srgbClr val="FF0000"/>
                </a:solidFill>
              </a:rPr>
              <a:t>700 per year </a:t>
            </a:r>
            <a:r>
              <a:rPr lang="en-US" b="1" dirty="0"/>
              <a:t>		(2) 350 per year 		(3) 750 per year </a:t>
            </a:r>
          </a:p>
          <a:p>
            <a:pPr marL="457200" indent="-457200">
              <a:buNone/>
            </a:pPr>
            <a:r>
              <a:rPr lang="en-US" b="1" dirty="0"/>
              <a:t>(4) 650 per year 		(5) None of these</a:t>
            </a:r>
          </a:p>
          <a:p>
            <a:pPr>
              <a:buNone/>
            </a:pPr>
            <a:endParaRPr lang="en-US"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6"/>
            <a:ext cx="11953765"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Q.27: </a:t>
            </a:r>
            <a:r>
              <a:rPr lang="en-IN" b="1" dirty="0"/>
              <a:t>What equal annual instalment will discharge a debt of Rs.2985 due in 6 years at 10% simple interest.</a:t>
            </a:r>
          </a:p>
          <a:p>
            <a:pPr>
              <a:buNone/>
            </a:pPr>
            <a:r>
              <a:rPr b="1" dirty="0"/>
              <a:t>(1)  324        (2)  355          (3)  380          (4)  398</a:t>
            </a:r>
            <a:endParaRPr lang="en-US" b="1" dirty="0"/>
          </a:p>
        </p:txBody>
      </p:sp>
    </p:spTree>
    <p:extLst>
      <p:ext uri="{BB962C8B-B14F-4D97-AF65-F5344CB8AC3E}">
        <p14:creationId xmlns:p14="http://schemas.microsoft.com/office/powerpoint/2010/main" val="28510686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6"/>
            <a:ext cx="11953765" cy="583117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Q.27: </a:t>
            </a:r>
            <a:r>
              <a:rPr lang="en-IN" b="1" dirty="0"/>
              <a:t>What equal annual instalment will discharge a debt of Rs.2985 due in 6 years at 10% simple interest.</a:t>
            </a:r>
          </a:p>
          <a:p>
            <a:pPr>
              <a:buNone/>
            </a:pPr>
            <a:r>
              <a:rPr b="1" dirty="0"/>
              <a:t>(1)  324        (2)  355          (3)  380          </a:t>
            </a:r>
            <a:r>
              <a:rPr b="1" dirty="0">
                <a:solidFill>
                  <a:srgbClr val="FF0000"/>
                </a:solidFill>
              </a:rPr>
              <a:t>(4)  398</a:t>
            </a:r>
            <a:endParaRPr lang="en-US" b="1" dirty="0">
              <a:solidFill>
                <a:srgbClr val="FF0000"/>
              </a:solidFill>
            </a:endParaRPr>
          </a:p>
        </p:txBody>
      </p:sp>
    </p:spTree>
    <p:extLst>
      <p:ext uri="{BB962C8B-B14F-4D97-AF65-F5344CB8AC3E}">
        <p14:creationId xmlns:p14="http://schemas.microsoft.com/office/powerpoint/2010/main" val="28510686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6"/>
            <a:ext cx="11953765" cy="583117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Q.28: </a:t>
            </a:r>
            <a:r>
              <a:rPr lang="en-IN" b="1" dirty="0"/>
              <a:t>MRP of a refrigerator is Rs.4500. After a down payment of Rs.1100, Aparna give 5 instalments of Rs.700 each per month. Find the rate.</a:t>
            </a:r>
          </a:p>
          <a:p>
            <a:pPr marL="457200" indent="-457200">
              <a:buAutoNum type="arabicParenBoth"/>
            </a:pPr>
            <a:r>
              <a:rPr lang="en-IN" b="1" dirty="0"/>
              <a:t>10%            (2)  15%             (3)  12%           (4)  20%</a:t>
            </a:r>
          </a:p>
          <a:p>
            <a:pPr marL="457200" indent="-457200">
              <a:buNone/>
            </a:pPr>
            <a:endParaRPr lang="en-IN" b="1" dirty="0"/>
          </a:p>
        </p:txBody>
      </p:sp>
    </p:spTree>
    <p:extLst>
      <p:ext uri="{BB962C8B-B14F-4D97-AF65-F5344CB8AC3E}">
        <p14:creationId xmlns:p14="http://schemas.microsoft.com/office/powerpoint/2010/main" val="35986073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0717" y="584616"/>
            <a:ext cx="11733048"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Q.28: </a:t>
            </a:r>
            <a:r>
              <a:rPr lang="en-IN" b="1" dirty="0"/>
              <a:t>MRP of a refrigerator is Rs.4500. After a down payment of Rs.1100, Aparna give 5 instalments of Rs.700 each per month. Find the rate.</a:t>
            </a:r>
          </a:p>
          <a:p>
            <a:pPr marL="457200" indent="-457200">
              <a:buAutoNum type="arabicParenBoth"/>
            </a:pPr>
            <a:r>
              <a:rPr lang="en-IN" b="1" dirty="0"/>
              <a:t>10%            (2)  15%</a:t>
            </a:r>
            <a:r>
              <a:rPr lang="en-IN" b="1" dirty="0">
                <a:solidFill>
                  <a:srgbClr val="FF0000"/>
                </a:solidFill>
              </a:rPr>
              <a:t>             (3)  12% </a:t>
            </a:r>
            <a:r>
              <a:rPr lang="en-IN" b="1" dirty="0"/>
              <a:t>          (4)  20%</a:t>
            </a:r>
          </a:p>
          <a:p>
            <a:pPr marL="457200" indent="-457200">
              <a:buNone/>
            </a:pPr>
            <a:endParaRPr lang="en-IN" b="1" dirty="0"/>
          </a:p>
        </p:txBody>
      </p:sp>
    </p:spTree>
    <p:extLst>
      <p:ext uri="{BB962C8B-B14F-4D97-AF65-F5344CB8AC3E}">
        <p14:creationId xmlns:p14="http://schemas.microsoft.com/office/powerpoint/2010/main" val="35986073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6"/>
            <a:ext cx="11953765"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Q.29: </a:t>
            </a:r>
            <a:r>
              <a:rPr lang="en-GB" b="1" dirty="0"/>
              <a:t>A sum of ₹ 15,600 is invested partly at 7% per annum and the remaining at 9% per annum simple interest. If the total interest at the end of 3 years is ₹3738, how much money was invested at 7% per annum ?</a:t>
            </a:r>
          </a:p>
          <a:p>
            <a:pPr>
              <a:buNone/>
            </a:pPr>
            <a:r>
              <a:rPr lang="en-GB" b="1" dirty="0"/>
              <a:t>(1)  7700        (2)  7800        (3)  7900      (4)  8000</a:t>
            </a:r>
            <a:endParaRPr lang="en-US" dirty="0"/>
          </a:p>
        </p:txBody>
      </p:sp>
    </p:spTree>
    <p:extLst>
      <p:ext uri="{BB962C8B-B14F-4D97-AF65-F5344CB8AC3E}">
        <p14:creationId xmlns:p14="http://schemas.microsoft.com/office/powerpoint/2010/main" val="22297775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6"/>
            <a:ext cx="11953765"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Q.29: </a:t>
            </a:r>
            <a:r>
              <a:rPr lang="en-GB" b="1" dirty="0"/>
              <a:t>A sum of ₹ 15,600 is invested partly at 7% per annum and the remaining at 9% per annum simple interest. If the total interest at the end of 3 years is ₹3738, how much money was invested at 7% per annum ?</a:t>
            </a:r>
          </a:p>
          <a:p>
            <a:pPr>
              <a:buNone/>
            </a:pPr>
            <a:r>
              <a:rPr lang="en-GB" b="1" dirty="0"/>
              <a:t>(1)  7700        (2)  7800        </a:t>
            </a:r>
            <a:r>
              <a:rPr lang="en-GB" b="1" dirty="0">
                <a:solidFill>
                  <a:srgbClr val="FF0000"/>
                </a:solidFill>
              </a:rPr>
              <a:t>(3)  7900      </a:t>
            </a:r>
            <a:r>
              <a:rPr lang="en-GB" b="1" dirty="0"/>
              <a:t>(4)  8000</a:t>
            </a:r>
            <a:endParaRPr lang="en-US" dirty="0"/>
          </a:p>
        </p:txBody>
      </p:sp>
    </p:spTree>
    <p:extLst>
      <p:ext uri="{BB962C8B-B14F-4D97-AF65-F5344CB8AC3E}">
        <p14:creationId xmlns:p14="http://schemas.microsoft.com/office/powerpoint/2010/main" val="22297775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6"/>
            <a:ext cx="11953765"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Q.30: </a:t>
            </a:r>
            <a:r>
              <a:rPr lang="en-GB" b="1" dirty="0"/>
              <a:t>A person lends 40% of his sum of money at 15% per annum, 50% of rest at 10% per annum and the rest at 18% per annum rate of interest, if the interest is calculated on the whole sum, then what would be the annual rate of interest?</a:t>
            </a:r>
          </a:p>
          <a:p>
            <a:pPr>
              <a:buNone/>
            </a:pPr>
            <a:r>
              <a:rPr lang="en-GB" b="1" dirty="0"/>
              <a:t>(1)  10%            (2)  12%          (3)  14.4%        (4)  15.1%</a:t>
            </a:r>
            <a:endParaRPr lang="en-US" dirty="0"/>
          </a:p>
        </p:txBody>
      </p:sp>
    </p:spTree>
    <p:extLst>
      <p:ext uri="{BB962C8B-B14F-4D97-AF65-F5344CB8AC3E}">
        <p14:creationId xmlns:p14="http://schemas.microsoft.com/office/powerpoint/2010/main" val="6608051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6"/>
            <a:ext cx="11953765"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Q.30: </a:t>
            </a:r>
            <a:r>
              <a:rPr lang="en-GB" b="1" dirty="0"/>
              <a:t>A person lends 40% of his sum of money at 15% per annum, 50% of rest at 10% per annum and the rest at 18% per annum rate of interest, if the interest is calculated on the whole sum, then what would be the annual rate of interest?</a:t>
            </a:r>
          </a:p>
          <a:p>
            <a:pPr>
              <a:buNone/>
            </a:pPr>
            <a:r>
              <a:rPr lang="en-GB" b="1" dirty="0"/>
              <a:t>(1)  10%            (2)  12%          </a:t>
            </a:r>
            <a:r>
              <a:rPr lang="en-GB" b="1" dirty="0">
                <a:solidFill>
                  <a:srgbClr val="FF0000"/>
                </a:solidFill>
              </a:rPr>
              <a:t>(3)  14.4%        </a:t>
            </a:r>
            <a:r>
              <a:rPr lang="en-GB" b="1" dirty="0"/>
              <a:t>(4)  15.1%</a:t>
            </a:r>
            <a:endParaRPr lang="en-US" dirty="0"/>
          </a:p>
        </p:txBody>
      </p:sp>
    </p:spTree>
    <p:extLst>
      <p:ext uri="{BB962C8B-B14F-4D97-AF65-F5344CB8AC3E}">
        <p14:creationId xmlns:p14="http://schemas.microsoft.com/office/powerpoint/2010/main" val="6608051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6"/>
            <a:ext cx="11953765" cy="583117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Q.31: </a:t>
            </a:r>
            <a:r>
              <a:rPr lang="en-GB" b="1" dirty="0"/>
              <a:t>If the amount obtained by A by investing Rs 9,100 for three years at a rate of 10% p.a. on simple interest is equal to the amount obtained by B by investing a certain sum of money for five years at a rate of 8% p.a. on simple interest, then 90% of the sum invested by B ( in Rs) is:</a:t>
            </a:r>
          </a:p>
          <a:p>
            <a:pPr>
              <a:buNone/>
            </a:pPr>
            <a:r>
              <a:rPr lang="en-GB" b="1" dirty="0"/>
              <a:t>(1)  6000       (2)  6142.5         (3)  6300.5         (4)  6400.5</a:t>
            </a:r>
            <a:endParaRPr lang="en-US" dirty="0"/>
          </a:p>
        </p:txBody>
      </p:sp>
    </p:spTree>
    <p:extLst>
      <p:ext uri="{BB962C8B-B14F-4D97-AF65-F5344CB8AC3E}">
        <p14:creationId xmlns:p14="http://schemas.microsoft.com/office/powerpoint/2010/main" val="19767979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69626"/>
            <a:ext cx="11953765" cy="583117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Q.31: </a:t>
            </a:r>
            <a:r>
              <a:rPr lang="en-GB" b="1" dirty="0"/>
              <a:t>If the amount obtained by A by investing Rs 9,100 for three years at a rate of 10% p.a. on simple interest is equal to the amount obtained by B by investing a certain sum of money for five years at a rate of 8% p.a. on simple interest, then 90% of the sum invested by B ( in Rs) is:</a:t>
            </a:r>
          </a:p>
          <a:p>
            <a:pPr>
              <a:buNone/>
            </a:pPr>
            <a:r>
              <a:rPr lang="en-GB" b="1" dirty="0"/>
              <a:t>(1)  6000       </a:t>
            </a:r>
            <a:r>
              <a:rPr lang="en-GB" b="1" dirty="0">
                <a:solidFill>
                  <a:srgbClr val="FF0000"/>
                </a:solidFill>
              </a:rPr>
              <a:t>(2)  6142.5         </a:t>
            </a:r>
            <a:r>
              <a:rPr lang="en-GB" b="1" dirty="0"/>
              <a:t>(3)  6300.5         (4)  6400.5</a:t>
            </a:r>
            <a:endParaRPr lang="en-US" dirty="0"/>
          </a:p>
        </p:txBody>
      </p:sp>
    </p:spTree>
    <p:extLst>
      <p:ext uri="{BB962C8B-B14F-4D97-AF65-F5344CB8AC3E}">
        <p14:creationId xmlns:p14="http://schemas.microsoft.com/office/powerpoint/2010/main" val="19767979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6"/>
            <a:ext cx="11953765"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Q.32: </a:t>
            </a:r>
            <a:r>
              <a:rPr lang="en-GB" b="1" dirty="0"/>
              <a:t>₹21750 is invested by a person in the bank account of his two sons whose ages are 9 years and 13 years in such a way that they will get equal amount at an age of 21 years at the rate of 4.5% per annum. Find the share of younger child.</a:t>
            </a:r>
          </a:p>
          <a:p>
            <a:pPr>
              <a:buNone/>
            </a:pPr>
            <a:r>
              <a:rPr lang="en-GB" b="1" dirty="0"/>
              <a:t>(1)  10200           (2)  11550        (3)  12000       (4)  12200</a:t>
            </a:r>
            <a:endParaRPr lang="en-US" dirty="0"/>
          </a:p>
        </p:txBody>
      </p:sp>
    </p:spTree>
    <p:extLst>
      <p:ext uri="{BB962C8B-B14F-4D97-AF65-F5344CB8AC3E}">
        <p14:creationId xmlns:p14="http://schemas.microsoft.com/office/powerpoint/2010/main" val="38291161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84616"/>
            <a:ext cx="11953765" cy="5816185"/>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 SIMPLE INTEREST</a:t>
            </a:r>
          </a:p>
          <a:p>
            <a:pPr>
              <a:buNone/>
            </a:pPr>
            <a:r>
              <a:rPr lang="en-US" b="1" dirty="0"/>
              <a:t>Q.32: </a:t>
            </a:r>
            <a:r>
              <a:rPr lang="en-GB" b="1" dirty="0"/>
              <a:t>₹21750 is invested by a person in the bank account of his two sons whose ages are 9 years and 13 years in such a way that they will get equal amount at an age of 21 years at the rate of 4.5% per annum. Find the share of younger child.</a:t>
            </a:r>
          </a:p>
          <a:p>
            <a:pPr>
              <a:buNone/>
            </a:pPr>
            <a:r>
              <a:rPr lang="en-GB" b="1" dirty="0">
                <a:solidFill>
                  <a:srgbClr val="FF0000"/>
                </a:solidFill>
              </a:rPr>
              <a:t>(1)  10200           </a:t>
            </a:r>
            <a:r>
              <a:rPr lang="en-GB" b="1" dirty="0"/>
              <a:t>(2)  11550        (3)  12000       (4)  12200</a:t>
            </a:r>
            <a:endParaRPr lang="en-US" dirty="0"/>
          </a:p>
        </p:txBody>
      </p:sp>
    </p:spTree>
    <p:extLst>
      <p:ext uri="{BB962C8B-B14F-4D97-AF65-F5344CB8AC3E}">
        <p14:creationId xmlns:p14="http://schemas.microsoft.com/office/powerpoint/2010/main" val="38291161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6862" y="723781"/>
            <a:ext cx="11733048" cy="5344511"/>
          </a:xfrm>
        </p:spPr>
        <p:txBody>
          <a:bodyPr>
            <a:normAutofit/>
          </a:bodyPr>
          <a:lstStyle/>
          <a:p>
            <a:pPr algn="ctr">
              <a:buNone/>
            </a:pPr>
            <a:endParaRPr lang="en-US" sz="8000" b="1" dirty="0">
              <a:solidFill>
                <a:srgbClr val="FF0000"/>
              </a:solidFill>
              <a:latin typeface="Arial Black" pitchFamily="34" charset="0"/>
            </a:endParaRPr>
          </a:p>
          <a:p>
            <a:pPr algn="ctr">
              <a:buNone/>
            </a:pPr>
            <a:r>
              <a:rPr lang="en-US" sz="8000" b="1" dirty="0">
                <a:solidFill>
                  <a:srgbClr val="FF0000"/>
                </a:solidFill>
                <a:latin typeface="Arial Black" pitchFamily="34" charset="0"/>
              </a:rPr>
              <a:t>THANK YOU</a:t>
            </a:r>
          </a:p>
        </p:txBody>
      </p:sp>
    </p:spTree>
    <p:extLst>
      <p:ext uri="{BB962C8B-B14F-4D97-AF65-F5344CB8AC3E}">
        <p14:creationId xmlns:p14="http://schemas.microsoft.com/office/powerpoint/2010/main" val="3829116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docProps/app.xml><?xml version="1.0" encoding="utf-8"?>
<Properties xmlns="http://schemas.openxmlformats.org/officeDocument/2006/extended-properties" xmlns:vt="http://schemas.openxmlformats.org/officeDocument/2006/docPropsVTypes">
  <Template>TesturPrep-Template</Template>
  <TotalTime>1442</TotalTime>
  <Words>4691</Words>
  <Application>Microsoft Office PowerPoint</Application>
  <PresentationFormat>Widescreen</PresentationFormat>
  <Paragraphs>233</Paragraphs>
  <Slides>68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Suresh Sanwak</cp:lastModifiedBy>
  <cp:revision>129</cp:revision>
  <dcterms:created xsi:type="dcterms:W3CDTF">2020-02-23T06:37:57Z</dcterms:created>
  <dcterms:modified xsi:type="dcterms:W3CDTF">2025-05-31T07:30:46Z</dcterms:modified>
</cp:coreProperties>
</file>