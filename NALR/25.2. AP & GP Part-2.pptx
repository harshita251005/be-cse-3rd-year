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95" r:id="rId3"/>
    <p:sldId id="276" r:id="rId4"/>
    <p:sldId id="277" r:id="rId5"/>
    <p:sldId id="299" r:id="rId6"/>
    <p:sldId id="279" r:id="rId7"/>
    <p:sldId id="300" r:id="rId8"/>
    <p:sldId id="260" r:id="rId9"/>
    <p:sldId id="301" r:id="rId10"/>
    <p:sldId id="262" r:id="rId11"/>
    <p:sldId id="297" r:id="rId12"/>
    <p:sldId id="263" r:id="rId13"/>
    <p:sldId id="282" r:id="rId14"/>
    <p:sldId id="264" r:id="rId15"/>
    <p:sldId id="283" r:id="rId16"/>
    <p:sldId id="265" r:id="rId17"/>
    <p:sldId id="284" r:id="rId18"/>
    <p:sldId id="266" r:id="rId19"/>
    <p:sldId id="285" r:id="rId20"/>
    <p:sldId id="268" r:id="rId21"/>
    <p:sldId id="287" r:id="rId22"/>
    <p:sldId id="269" r:id="rId23"/>
    <p:sldId id="288" r:id="rId24"/>
    <p:sldId id="271" r:id="rId25"/>
    <p:sldId id="298" r:id="rId26"/>
    <p:sldId id="272" r:id="rId27"/>
    <p:sldId id="290" r:id="rId28"/>
    <p:sldId id="275" r:id="rId29"/>
    <p:sldId id="293" r:id="rId30"/>
    <p:sldId id="294" r:id="rId31"/>
  </p:sldIdLst>
  <p:sldSz cx="12192000" cy="6858000"/>
  <p:notesSz cx="6858000" cy="9144000"/>
  <p:embeddedFontLst>
    <p:embeddedFont>
      <p:font typeface="Arial Black" panose="020B0A04020102020204" pitchFamily="34" charset="0"/>
      <p:regular r:id="rId33"/>
      <p:bold r:id="rId34"/>
      <p:italic r:id="rId35"/>
    </p:embeddedFont>
    <p:embeddedFont>
      <p:font typeface="Cambria Math" panose="02040503050406030204" pitchFamily="18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jvfNezjVQLPr24rpn0d4HFrgP1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kumar" userId="e98c6c8ac4fa17dc" providerId="LiveId" clId="{9D080FC3-3181-440C-A2D4-3B9805238345}"/>
    <pc:docChg chg="custSel addSld modSld modMainMaster">
      <pc:chgData name="mukesh kumar" userId="e98c6c8ac4fa17dc" providerId="LiveId" clId="{9D080FC3-3181-440C-A2D4-3B9805238345}" dt="2024-02-21T06:38:28.333" v="82" actId="1076"/>
      <pc:docMkLst>
        <pc:docMk/>
      </pc:docMkLst>
      <pc:sldChg chg="modSp mod setBg">
        <pc:chgData name="mukesh kumar" userId="e98c6c8ac4fa17dc" providerId="LiveId" clId="{9D080FC3-3181-440C-A2D4-3B9805238345}" dt="2024-02-21T06:38:08.016" v="79" actId="1076"/>
        <pc:sldMkLst>
          <pc:docMk/>
          <pc:sldMk cId="0" sldId="256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mukesh kumar" userId="e98c6c8ac4fa17dc" providerId="LiveId" clId="{9D080FC3-3181-440C-A2D4-3B9805238345}" dt="2024-02-21T06:38:08.016" v="79" actId="1076"/>
          <ac:spMkLst>
            <pc:docMk/>
            <pc:sldMk cId="0" sldId="256"/>
            <ac:spMk id="102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57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57"/>
            <ac:spMk id="107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58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mukesh kumar" userId="e98c6c8ac4fa17dc" providerId="LiveId" clId="{9D080FC3-3181-440C-A2D4-3B9805238345}" dt="2024-02-21T05:39:08.213" v="21" actId="27636"/>
          <ac:spMkLst>
            <pc:docMk/>
            <pc:sldMk cId="0" sldId="258"/>
            <ac:spMk id="119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59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59"/>
            <ac:spMk id="140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0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0"/>
            <ac:spMk id="154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1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1"/>
            <ac:spMk id="166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2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2"/>
            <ac:spMk id="180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3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3"/>
            <ac:spMk id="186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4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4"/>
            <ac:spMk id="192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5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5"/>
            <ac:spMk id="198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6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6"/>
            <ac:spMk id="204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7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7"/>
            <ac:spMk id="210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8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8"/>
            <ac:spMk id="216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69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69"/>
            <ac:spMk id="222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70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70"/>
            <ac:spMk id="228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71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71"/>
            <ac:spMk id="234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72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72"/>
            <ac:spMk id="240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73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73"/>
            <ac:spMk id="246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74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74"/>
            <ac:spMk id="252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0" sldId="275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0" sldId="275"/>
            <ac:spMk id="258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1416615812" sldId="276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1416615812" sldId="276"/>
            <ac:spMk id="101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2724974732" sldId="277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2724974732" sldId="277"/>
            <ac:spMk id="107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3041563661" sldId="278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3041563661" sldId="278"/>
            <ac:spMk id="118" creationId="{00000000-0000-0000-0000-000000000000}"/>
          </ac:spMkLst>
        </pc:spChg>
        <pc:spChg chg="mod">
          <ac:chgData name="mukesh kumar" userId="e98c6c8ac4fa17dc" providerId="LiveId" clId="{9D080FC3-3181-440C-A2D4-3B9805238345}" dt="2024-02-21T05:39:08.213" v="23" actId="27636"/>
          <ac:spMkLst>
            <pc:docMk/>
            <pc:sldMk cId="3041563661" sldId="278"/>
            <ac:spMk id="119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4098139910" sldId="279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4098139910" sldId="279"/>
            <ac:spMk id="140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2608184321" sldId="280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2608184321" sldId="280"/>
            <ac:spMk id="154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3848738899" sldId="281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3848738899" sldId="281"/>
            <ac:spMk id="166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3209832867" sldId="282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3209832867" sldId="282"/>
            <ac:spMk id="186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583541338" sldId="283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583541338" sldId="283"/>
            <ac:spMk id="192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2887846170" sldId="284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2887846170" sldId="284"/>
            <ac:spMk id="198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1955180004" sldId="285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1955180004" sldId="285"/>
            <ac:spMk id="204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60809404" sldId="286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60809404" sldId="286"/>
            <ac:spMk id="210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715799373" sldId="287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715799373" sldId="287"/>
            <ac:spMk id="216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1956709019" sldId="288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1956709019" sldId="288"/>
            <ac:spMk id="222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461004015" sldId="289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461004015" sldId="289"/>
            <ac:spMk id="228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4128410040" sldId="290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4128410040" sldId="290"/>
            <ac:spMk id="240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3704215494" sldId="291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3704215494" sldId="291"/>
            <ac:spMk id="246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1895248363" sldId="292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1895248363" sldId="292"/>
            <ac:spMk id="252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5:39:27.789" v="57"/>
        <pc:sldMkLst>
          <pc:docMk/>
          <pc:sldMk cId="3447382629" sldId="293"/>
        </pc:sldMkLst>
        <pc:spChg chg="mod">
          <ac:chgData name="mukesh kumar" userId="e98c6c8ac4fa17dc" providerId="LiveId" clId="{9D080FC3-3181-440C-A2D4-3B9805238345}" dt="2024-02-21T05:39:27.789" v="57"/>
          <ac:spMkLst>
            <pc:docMk/>
            <pc:sldMk cId="3447382629" sldId="293"/>
            <ac:spMk id="258" creationId="{00000000-0000-0000-0000-000000000000}"/>
          </ac:spMkLst>
        </pc:spChg>
      </pc:sldChg>
      <pc:sldChg chg="modSp mod">
        <pc:chgData name="mukesh kumar" userId="e98c6c8ac4fa17dc" providerId="LiveId" clId="{9D080FC3-3181-440C-A2D4-3B9805238345}" dt="2024-02-21T06:38:28.333" v="82" actId="1076"/>
        <pc:sldMkLst>
          <pc:docMk/>
          <pc:sldMk cId="2170165994" sldId="294"/>
        </pc:sldMkLst>
        <pc:spChg chg="mod">
          <ac:chgData name="mukesh kumar" userId="e98c6c8ac4fa17dc" providerId="LiveId" clId="{9D080FC3-3181-440C-A2D4-3B9805238345}" dt="2024-02-21T06:38:28.333" v="82" actId="1076"/>
          <ac:spMkLst>
            <pc:docMk/>
            <pc:sldMk cId="2170165994" sldId="294"/>
            <ac:spMk id="3" creationId="{F9D0DD99-B466-8AAD-1A26-1A1E0941DECE}"/>
          </ac:spMkLst>
        </pc:spChg>
        <pc:spChg chg="mod">
          <ac:chgData name="mukesh kumar" userId="e98c6c8ac4fa17dc" providerId="LiveId" clId="{9D080FC3-3181-440C-A2D4-3B9805238345}" dt="2024-02-21T05:39:27.789" v="57"/>
          <ac:spMkLst>
            <pc:docMk/>
            <pc:sldMk cId="2170165994" sldId="294"/>
            <ac:spMk id="258" creationId="{00000000-0000-0000-0000-000000000000}"/>
          </ac:spMkLst>
        </pc:spChg>
      </pc:sldChg>
      <pc:sldChg chg="add">
        <pc:chgData name="mukesh kumar" userId="e98c6c8ac4fa17dc" providerId="LiveId" clId="{9D080FC3-3181-440C-A2D4-3B9805238345}" dt="2024-02-21T06:37:02.733" v="58" actId="2890"/>
        <pc:sldMkLst>
          <pc:docMk/>
          <pc:sldMk cId="408761099" sldId="295"/>
        </pc:sldMkLst>
      </pc:sldChg>
      <pc:sldMasterChg chg="setBg modSldLayout">
        <pc:chgData name="mukesh kumar" userId="e98c6c8ac4fa17dc" providerId="LiveId" clId="{9D080FC3-3181-440C-A2D4-3B9805238345}" dt="2024-02-21T05:39:08.008" v="15" actId="931"/>
        <pc:sldMasterMkLst>
          <pc:docMk/>
          <pc:sldMasterMk cId="0" sldId="2147483648"/>
        </pc:sldMasterMkLst>
        <pc:sldLayoutChg chg="addSp delSp modSp mod setBg">
          <pc:chgData name="mukesh kumar" userId="e98c6c8ac4fa17dc" providerId="LiveId" clId="{9D080FC3-3181-440C-A2D4-3B9805238345}" dt="2024-02-21T05:39:08.008" v="15" actId="931"/>
          <pc:sldLayoutMkLst>
            <pc:docMk/>
            <pc:sldMasterMk cId="0" sldId="2147483648"/>
            <pc:sldLayoutMk cId="0" sldId="2147483649"/>
          </pc:sldLayoutMkLst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16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17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18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19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20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21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22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23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24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25" creationId="{00000000-0000-0000-0000-000000000000}"/>
            </ac:spMkLst>
          </pc:spChg>
          <pc:spChg chg="del">
            <ac:chgData name="mukesh kumar" userId="e98c6c8ac4fa17dc" providerId="LiveId" clId="{9D080FC3-3181-440C-A2D4-3B9805238345}" dt="2024-02-21T05:38:48.279" v="14" actId="478"/>
            <ac:spMkLst>
              <pc:docMk/>
              <pc:sldMasterMk cId="0" sldId="2147483648"/>
              <pc:sldLayoutMk cId="0" sldId="2147483649"/>
              <ac:spMk id="26" creationId="{00000000-0000-0000-0000-000000000000}"/>
            </ac:spMkLst>
          </pc:spChg>
          <pc:picChg chg="add mod">
            <ac:chgData name="mukesh kumar" userId="e98c6c8ac4fa17dc" providerId="LiveId" clId="{9D080FC3-3181-440C-A2D4-3B9805238345}" dt="2024-02-21T05:39:08.008" v="15" actId="931"/>
            <ac:picMkLst>
              <pc:docMk/>
              <pc:sldMasterMk cId="0" sldId="2147483648"/>
              <pc:sldLayoutMk cId="0" sldId="2147483649"/>
              <ac:picMk id="3" creationId="{C0BC749A-3725-6E18-0FEF-6CEFA43D7DB0}"/>
            </ac:picMkLst>
          </pc:picChg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mukesh kumar" userId="e98c6c8ac4fa17dc" providerId="LiveId" clId="{9D080FC3-3181-440C-A2D4-3B9805238345}" dt="2024-02-21T05:38:35.194" v="13"/>
          <pc:sldLayoutMkLst>
            <pc:docMk/>
            <pc:sldMasterMk cId="0" sldId="2147483648"/>
            <pc:sldLayoutMk cId="0" sldId="2147483660"/>
          </pc:sldLayoutMkLst>
        </pc:sldLayoutChg>
      </pc:sldMasterChg>
    </pc:docChg>
  </pc:docChgLst>
  <pc:docChgLst>
    <pc:chgData name="mukesh kumar" userId="e98c6c8ac4fa17dc" providerId="LiveId" clId="{000233C5-179D-44AE-A1B9-40EEB7C83DB1}"/>
    <pc:docChg chg="modSld">
      <pc:chgData name="mukesh kumar" userId="e98c6c8ac4fa17dc" providerId="LiveId" clId="{000233C5-179D-44AE-A1B9-40EEB7C83DB1}" dt="2024-02-20T08:38:18.617" v="1" actId="207"/>
      <pc:docMkLst>
        <pc:docMk/>
      </pc:docMkLst>
      <pc:sldChg chg="modSp mod">
        <pc:chgData name="mukesh kumar" userId="e98c6c8ac4fa17dc" providerId="LiveId" clId="{000233C5-179D-44AE-A1B9-40EEB7C83DB1}" dt="2024-02-20T08:38:18.617" v="1" actId="207"/>
        <pc:sldMkLst>
          <pc:docMk/>
          <pc:sldMk cId="2724974732" sldId="277"/>
        </pc:sldMkLst>
        <pc:spChg chg="mod">
          <ac:chgData name="mukesh kumar" userId="e98c6c8ac4fa17dc" providerId="LiveId" clId="{000233C5-179D-44AE-A1B9-40EEB7C83DB1}" dt="2024-02-20T08:38:18.617" v="1" actId="207"/>
          <ac:spMkLst>
            <pc:docMk/>
            <pc:sldMk cId="2724974732" sldId="277"/>
            <ac:spMk id="10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4A84354-01A8-6B9C-B7AC-E83511C5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0AB90973-261D-B933-F894-75E331E6F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C0B68ECF-E5EA-A000-E58B-428C11F5A5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126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709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0973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EF6C2AF-A4FE-5B71-0617-17797A04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0164AC7-5F2F-6B95-1C22-0663A7A53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88689D5-0C9E-5584-543F-B8CC77426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2663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7344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398C211-ADD2-1BF9-FE8D-D4A3B49AA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>
            <a:extLst>
              <a:ext uri="{FF2B5EF4-FFF2-40B4-BE49-F238E27FC236}">
                <a16:creationId xmlns:a16="http://schemas.microsoft.com/office/drawing/2014/main" id="{4EF2D08F-BA2C-568A-8FF9-529E278FE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>
            <a:extLst>
              <a:ext uri="{FF2B5EF4-FFF2-40B4-BE49-F238E27FC236}">
                <a16:creationId xmlns:a16="http://schemas.microsoft.com/office/drawing/2014/main" id="{74041374-8E17-BF8A-94A3-06E5AFCD33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5471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098E099-DB2F-8471-7977-6C75EF63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7D7FD745-286F-7464-143A-68E0F5996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>
            <a:extLst>
              <a:ext uri="{FF2B5EF4-FFF2-40B4-BE49-F238E27FC236}">
                <a16:creationId xmlns:a16="http://schemas.microsoft.com/office/drawing/2014/main" id="{43992B61-6AA8-A124-B9BE-284CDBA1D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523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9B46EE0D-CADC-31D9-89B3-D7A02BCBB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>
            <a:extLst>
              <a:ext uri="{FF2B5EF4-FFF2-40B4-BE49-F238E27FC236}">
                <a16:creationId xmlns:a16="http://schemas.microsoft.com/office/drawing/2014/main" id="{B1633943-26E1-5688-B502-D85D4C635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>
            <a:extLst>
              <a:ext uri="{FF2B5EF4-FFF2-40B4-BE49-F238E27FC236}">
                <a16:creationId xmlns:a16="http://schemas.microsoft.com/office/drawing/2014/main" id="{4AC4A76C-793C-818A-C0AD-433366FCA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05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5815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6642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366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584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7368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0185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1C70EB3F-2A2C-48FE-A8FA-A67C46D1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>
            <a:extLst>
              <a:ext uri="{FF2B5EF4-FFF2-40B4-BE49-F238E27FC236}">
                <a16:creationId xmlns:a16="http://schemas.microsoft.com/office/drawing/2014/main" id="{DF07CABE-372D-742D-025E-2B57B5849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6:notes">
            <a:extLst>
              <a:ext uri="{FF2B5EF4-FFF2-40B4-BE49-F238E27FC236}">
                <a16:creationId xmlns:a16="http://schemas.microsoft.com/office/drawing/2014/main" id="{44571812-2B1B-6DC3-1571-516CBAE4B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7563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92033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67854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015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C749A-3725-6E18-0FEF-6CEFA43D7D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304800" y="1185333"/>
            <a:ext cx="11582400" cy="499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dt" idx="10"/>
          </p:nvPr>
        </p:nvSpPr>
        <p:spPr>
          <a:xfrm>
            <a:off x="304800" y="638069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ftr" idx="11"/>
          </p:nvPr>
        </p:nvSpPr>
        <p:spPr>
          <a:xfrm>
            <a:off x="4038600" y="638069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8610599" y="6356350"/>
            <a:ext cx="3276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4"/>
          <p:cNvSpPr/>
          <p:nvPr/>
        </p:nvSpPr>
        <p:spPr>
          <a:xfrm>
            <a:off x="3706812" y="981604"/>
            <a:ext cx="4879976" cy="4879976"/>
          </a:xfrm>
          <a:prstGeom prst="rect">
            <a:avLst/>
          </a:prstGeom>
          <a:blipFill rotWithShape="1">
            <a:blip r:embed="rId2">
              <a:alphaModFix amt="32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2" name="Google Shape;102;p1"/>
          <p:cNvSpPr txBox="1">
            <a:spLocks noGrp="1"/>
          </p:cNvSpPr>
          <p:nvPr>
            <p:ph type="body" idx="4294967295"/>
          </p:nvPr>
        </p:nvSpPr>
        <p:spPr>
          <a:xfrm>
            <a:off x="2923214" y="2393779"/>
            <a:ext cx="6511732" cy="187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sz="66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AP &amp; GP</a:t>
            </a:r>
            <a:endParaRPr lang="en-US" b="1" dirty="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(ASSIGNMENT :-2) 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504990-4DDB-EDD4-6E6D-608DFCC6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131B3A5E-2A61-C7BE-0D13-281484D365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2" name="Google Shape;102;p1">
            <a:extLst>
              <a:ext uri="{FF2B5EF4-FFF2-40B4-BE49-F238E27FC236}">
                <a16:creationId xmlns:a16="http://schemas.microsoft.com/office/drawing/2014/main" id="{1963048D-EE94-7E0A-D9DF-2CAC5EB32B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1. </a:t>
            </a:r>
            <a:r>
              <a:rPr lang="en-US" b="1" dirty="0"/>
              <a:t>Find the 5th term of the G. P.: 1/7,1/14, 1/28 ...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1/108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1/112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1/128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2/115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0876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2" name="Google Shape;102;p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1. </a:t>
            </a:r>
            <a:r>
              <a:rPr lang="en-US" b="1" dirty="0"/>
              <a:t>Find the 5th term of the G. P.: 1/7,1/14, 1/28 ...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1/108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B. 1/112</a:t>
            </a:r>
            <a:r>
              <a:rPr lang="en-US" b="1" dirty="0"/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1/128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2/115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41661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Google Shape;108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2400"/>
                  <a:buNone/>
                </a:pPr>
                <a:r>
                  <a:rPr lang="en-US" b="1" dirty="0">
                    <a:solidFill>
                      <a:srgbClr val="0C0C0C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		AP AND GP(ASSIGNMENT :-2) </a:t>
                </a:r>
                <a:endParaRPr lang="en-US" dirty="0"/>
              </a:p>
              <a:p>
                <a:pPr marL="22860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>
                    <a:latin typeface="Arial Black"/>
                    <a:ea typeface="Arial Black"/>
                    <a:cs typeface="Arial Black"/>
                    <a:sym typeface="Arial Black"/>
                  </a:rPr>
                  <a:t>Q 2. </a:t>
                </a:r>
                <a:r>
                  <a:rPr lang="en-US" b="1" dirty="0"/>
                  <a:t>Find the sum of the G. P.: 8/10, 8/100, 8/1000, 8/10000, … to n terms.</a:t>
                </a:r>
                <a:endParaRPr lang="en-US" dirty="0"/>
              </a:p>
              <a:p>
                <a:pPr lvl="0" indent="-45720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(1/10</a:t>
                </a:r>
                <a:r>
                  <a:rPr lang="en-US" b="1" baseline="30000" dirty="0">
                    <a:solidFill>
                      <a:schemeClr val="tx1"/>
                    </a:solidFill>
                  </a:rPr>
                  <a:t>n</a:t>
                </a:r>
                <a:r>
                  <a:rPr lang="en-US" b="1" dirty="0">
                    <a:solidFill>
                      <a:schemeClr val="tx1"/>
                    </a:solidFill>
                  </a:rPr>
                  <a:t> - 1)</a:t>
                </a:r>
              </a:p>
              <a:p>
                <a:pPr lvl="0" indent="-45720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 startAt="2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(8/10</a:t>
                </a:r>
                <a:r>
                  <a:rPr lang="en-US" b="1" baseline="30000" dirty="0">
                    <a:solidFill>
                      <a:schemeClr val="tx1"/>
                    </a:solidFill>
                  </a:rPr>
                  <a:t>n</a:t>
                </a:r>
                <a:r>
                  <a:rPr lang="en-US" b="1" dirty="0">
                    <a:solidFill>
                      <a:schemeClr val="tx1"/>
                    </a:solidFill>
                  </a:rPr>
                  <a:t> - 1)</a:t>
                </a:r>
                <a:r>
                  <a:rPr lang="en-US" b="1" dirty="0"/>
                  <a:t>	</a:t>
                </a:r>
              </a:p>
              <a:p>
                <a:pPr lvl="0" indent="-45720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 startAt="3"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(2/10</a:t>
                </a:r>
                <a:r>
                  <a:rPr lang="en-US" b="1" baseline="30000" dirty="0">
                    <a:solidFill>
                      <a:schemeClr val="tx1"/>
                    </a:solidFill>
                  </a:rPr>
                  <a:t>n</a:t>
                </a:r>
                <a:r>
                  <a:rPr lang="en-US" b="1" dirty="0">
                    <a:solidFill>
                      <a:schemeClr val="tx1"/>
                    </a:solidFill>
                  </a:rPr>
                  <a:t> - 1). </a:t>
                </a:r>
                <a:r>
                  <a:rPr lang="en-US" b="1" dirty="0"/>
                  <a:t>	</a:t>
                </a:r>
              </a:p>
              <a:p>
                <a:pPr marL="0" lvl="0" indent="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(7/10</a:t>
                </a:r>
                <a:r>
                  <a:rPr lang="en-US" b="1" baseline="30000" dirty="0">
                    <a:solidFill>
                      <a:schemeClr val="tx1"/>
                    </a:solidFill>
                  </a:rPr>
                  <a:t>n</a:t>
                </a:r>
                <a:r>
                  <a:rPr lang="en-US" b="1" dirty="0">
                    <a:solidFill>
                      <a:schemeClr val="tx1"/>
                    </a:solidFill>
                  </a:rPr>
                  <a:t> – 1) </a:t>
                </a:r>
                <a:endParaRPr b="1" dirty="0"/>
              </a:p>
            </p:txBody>
          </p:sp>
        </mc:Choice>
        <mc:Fallback>
          <p:sp>
            <p:nvSpPr>
              <p:cNvPr id="108" name="Google Shape;108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blipFill>
                <a:blip r:embed="rId3"/>
                <a:stretch>
                  <a:fillRect l="-1091" t="-20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Google Shape;109;p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4974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6C73D5A-857D-65F4-9B75-930D9C9A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FD286001-BA1E-6DF4-C0F8-A0B992576B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B091D339-0949-972B-F9D9-89308EA89668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2400"/>
                  <a:buNone/>
                </a:pPr>
                <a:r>
                  <a:rPr lang="en-US" b="1" dirty="0">
                    <a:solidFill>
                      <a:srgbClr val="0C0C0C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		AP AND GP(ASSIGNMENT :-2) </a:t>
                </a:r>
                <a:endParaRPr lang="en-US" dirty="0"/>
              </a:p>
              <a:p>
                <a:pPr marL="22860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>
                    <a:latin typeface="Arial Black"/>
                    <a:ea typeface="Arial Black"/>
                    <a:cs typeface="Arial Black"/>
                    <a:sym typeface="Arial Black"/>
                  </a:rPr>
                  <a:t>Q 2. </a:t>
                </a:r>
                <a:r>
                  <a:rPr lang="en-US" b="1" dirty="0"/>
                  <a:t>Find the sum of the G. P.: 8/10, 8/100, 8/1000, 8/10000, … to n terms.</a:t>
                </a:r>
                <a:endParaRPr lang="en-US" dirty="0"/>
              </a:p>
              <a:p>
                <a:pPr lvl="0" indent="-45720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(1/10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n</a:t>
                </a:r>
                <a:r>
                  <a:rPr lang="en-US" b="1" dirty="0">
                    <a:solidFill>
                      <a:srgbClr val="FF0000"/>
                    </a:solidFill>
                  </a:rPr>
                  <a:t> - 1)</a:t>
                </a:r>
              </a:p>
              <a:p>
                <a:pPr lvl="0" indent="-45720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 startAt="2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(8/10</a:t>
                </a:r>
                <a:r>
                  <a:rPr lang="en-US" b="1" baseline="30000" dirty="0">
                    <a:solidFill>
                      <a:schemeClr val="tx1"/>
                    </a:solidFill>
                  </a:rPr>
                  <a:t>n</a:t>
                </a:r>
                <a:r>
                  <a:rPr lang="en-US" b="1" dirty="0">
                    <a:solidFill>
                      <a:schemeClr val="tx1"/>
                    </a:solidFill>
                  </a:rPr>
                  <a:t> - 1)</a:t>
                </a:r>
                <a:r>
                  <a:rPr lang="en-US" b="1" dirty="0"/>
                  <a:t>	</a:t>
                </a:r>
              </a:p>
              <a:p>
                <a:pPr lvl="0" indent="-45720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 startAt="3"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(2/10</a:t>
                </a:r>
                <a:r>
                  <a:rPr lang="en-US" b="1" baseline="30000" dirty="0">
                    <a:solidFill>
                      <a:schemeClr val="tx1"/>
                    </a:solidFill>
                  </a:rPr>
                  <a:t>n</a:t>
                </a:r>
                <a:r>
                  <a:rPr lang="en-US" b="1" dirty="0">
                    <a:solidFill>
                      <a:schemeClr val="tx1"/>
                    </a:solidFill>
                  </a:rPr>
                  <a:t> - 1). </a:t>
                </a:r>
                <a:r>
                  <a:rPr lang="en-US" b="1" dirty="0"/>
                  <a:t>	</a:t>
                </a:r>
              </a:p>
              <a:p>
                <a:pPr marL="0" lvl="0" indent="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(7/10</a:t>
                </a:r>
                <a:r>
                  <a:rPr lang="en-US" b="1" baseline="30000" dirty="0">
                    <a:solidFill>
                      <a:schemeClr val="tx1"/>
                    </a:solidFill>
                  </a:rPr>
                  <a:t>n</a:t>
                </a:r>
                <a:r>
                  <a:rPr lang="en-US" b="1" dirty="0">
                    <a:solidFill>
                      <a:schemeClr val="tx1"/>
                    </a:solidFill>
                  </a:rPr>
                  <a:t> – 1) </a:t>
                </a:r>
                <a:endParaRPr b="1" dirty="0"/>
              </a:p>
            </p:txBody>
          </p:sp>
        </mc:Choice>
        <mc:Fallback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B091D339-0949-972B-F9D9-89308EA8966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blipFill>
                <a:blip r:embed="rId3"/>
                <a:stretch>
                  <a:fillRect l="-1091" t="-20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1F50E2B1-3F97-2772-569E-66B8061FF249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6692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Google Shape;141;p4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204952" y="1052391"/>
                <a:ext cx="11733048" cy="5344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2400"/>
                  <a:buNone/>
                </a:pPr>
                <a:r>
                  <a:rPr lang="en-US" b="1" dirty="0">
                    <a:solidFill>
                      <a:srgbClr val="0C0C0C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		AP AND GP(ASSIGNMENT :-2) </a:t>
                </a:r>
                <a:endParaRPr lang="en-US" dirty="0"/>
              </a:p>
              <a:p>
                <a:pPr marL="22860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None/>
                </a:pPr>
                <a:r>
                  <a:rPr lang="en-US" b="1" dirty="0">
                    <a:latin typeface="Arial Black"/>
                    <a:ea typeface="Arial Black"/>
                    <a:cs typeface="Arial Black"/>
                    <a:sym typeface="Arial Black"/>
                  </a:rPr>
                  <a:t>Q 3. </a:t>
                </a:r>
                <a:r>
                  <a:rPr lang="en-US" b="1" dirty="0"/>
                  <a:t>Find the sum of the following infinite G. P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, −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𝟐𝟕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, −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𝟖𝟏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1" dirty="0"/>
                  <a:t>………</a:t>
                </a:r>
                <a:endParaRPr lang="en-US" dirty="0"/>
              </a:p>
              <a:p>
                <a:pPr lvl="0" indent="-457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/>
                </a:pPr>
                <a:r>
                  <a:rPr lang="en-US" b="1" dirty="0"/>
                  <a:t>1/2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B. 1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C. 1/3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>
                    <a:solidFill>
                      <a:schemeClr val="tx1"/>
                    </a:solidFill>
                  </a:rPr>
                  <a:t>D. 1/5 </a:t>
                </a:r>
                <a:endParaRPr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1" name="Google Shape;141;p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04952" y="1052391"/>
                <a:ext cx="11733048" cy="5344511"/>
              </a:xfrm>
              <a:prstGeom prst="rect">
                <a:avLst/>
              </a:prstGeom>
              <a:blipFill>
                <a:blip r:embed="rId3"/>
                <a:stretch>
                  <a:fillRect l="-1091" t="-20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Google Shape;142;p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813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0218202-54BC-23ED-1733-D24F9E1D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3425D236-FE60-096E-4A6C-8AAEEFEE7A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Google Shape;141;p4">
                <a:extLst>
                  <a:ext uri="{FF2B5EF4-FFF2-40B4-BE49-F238E27FC236}">
                    <a16:creationId xmlns:a16="http://schemas.microsoft.com/office/drawing/2014/main" id="{D3958DD1-E2A1-ADA5-E424-5BEDE3E0C962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2400"/>
                  <a:buNone/>
                </a:pPr>
                <a:r>
                  <a:rPr lang="en-US" b="1" dirty="0">
                    <a:solidFill>
                      <a:srgbClr val="0C0C0C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		AP AND GP(ASSIGNMENT :-2) </a:t>
                </a:r>
                <a:endParaRPr lang="en-US" dirty="0"/>
              </a:p>
              <a:p>
                <a:pPr marL="22860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None/>
                </a:pPr>
                <a:r>
                  <a:rPr lang="en-US" b="1" dirty="0">
                    <a:latin typeface="Arial Black"/>
                    <a:ea typeface="Arial Black"/>
                    <a:cs typeface="Arial Black"/>
                    <a:sym typeface="Arial Black"/>
                  </a:rPr>
                  <a:t>Q 3. </a:t>
                </a:r>
                <a:r>
                  <a:rPr lang="en-US" b="1" dirty="0"/>
                  <a:t>Find the sum of the following infinite G. P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, −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𝟐𝟕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, −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𝟖𝟏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1" dirty="0"/>
                  <a:t>………</a:t>
                </a:r>
                <a:endParaRPr lang="en-US" dirty="0"/>
              </a:p>
              <a:p>
                <a:pPr lvl="0" indent="-457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/>
                </a:pPr>
                <a:r>
                  <a:rPr lang="en-US" b="1" dirty="0"/>
                  <a:t>1/2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B. 1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C. 1/3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D. 1/5 </a:t>
                </a:r>
                <a:endParaRPr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1" name="Google Shape;141;p4">
                <a:extLst>
                  <a:ext uri="{FF2B5EF4-FFF2-40B4-BE49-F238E27FC236}">
                    <a16:creationId xmlns:a16="http://schemas.microsoft.com/office/drawing/2014/main" id="{D3958DD1-E2A1-ADA5-E424-5BEDE3E0C96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blipFill>
                <a:blip r:embed="rId3"/>
                <a:stretch>
                  <a:fillRect l="-1091" t="-20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Google Shape;142;p4">
            <a:extLst>
              <a:ext uri="{FF2B5EF4-FFF2-40B4-BE49-F238E27FC236}">
                <a16:creationId xmlns:a16="http://schemas.microsoft.com/office/drawing/2014/main" id="{2BEB94CF-21B5-A75E-B25F-009E78A65E0B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6A157A89-3B13-6F02-9527-74913C8AAD2C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C2895213-4365-B43C-92C1-51AD1E3D44D1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>
            <a:extLst>
              <a:ext uri="{FF2B5EF4-FFF2-40B4-BE49-F238E27FC236}">
                <a16:creationId xmlns:a16="http://schemas.microsoft.com/office/drawing/2014/main" id="{6EA4FB74-05BE-EA11-B681-BA1418C88DBE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0536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Google Shape;155;p5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228600" lvl="0" indent="-2286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2400"/>
                  <a:buNone/>
                </a:pPr>
                <a:r>
                  <a:rPr lang="en-US" b="1" dirty="0">
                    <a:solidFill>
                      <a:srgbClr val="0C0C0C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		AP AND GP(ASSIGNMENT :-2) </a:t>
                </a:r>
                <a:endParaRPr lang="en-US" dirty="0"/>
              </a:p>
              <a:p>
                <a:pPr marL="22860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>
                    <a:latin typeface="Arial Black"/>
                    <a:ea typeface="Arial Black"/>
                    <a:cs typeface="Arial Black"/>
                    <a:sym typeface="Arial Black"/>
                  </a:rPr>
                  <a:t>Q 4. </a:t>
                </a:r>
                <a:r>
                  <a:rPr lang="en-US" b="1" dirty="0"/>
                  <a:t>The distance travelled (in m) by a ball dropped from a height are 128/9, 32/3, 8, 6... How much distance will it travel before coming to rest ?</a:t>
                </a:r>
                <a:endParaRPr lang="en-US" dirty="0"/>
              </a:p>
              <a:p>
                <a:pPr lvl="0" indent="-457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/>
                </a:pPr>
                <a:r>
                  <a:rPr lang="en-IN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𝟔𝟒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/>
                  <a:t>m 		</a:t>
                </a:r>
              </a:p>
              <a:p>
                <a:pPr lvl="0" indent="-457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/>
                </a:pPr>
                <a:endParaRPr lang="en-US" b="1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B. 120cm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b="1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𝟓𝟏𝟐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/>
                  <a:t>m 	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b="1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D.</a:t>
                </a:r>
                <a:r>
                  <a:rPr lang="en-US" b="1" dirty="0">
                    <a:latin typeface="Arial Black"/>
                    <a:ea typeface="Arial Black"/>
                    <a:cs typeface="Arial Black"/>
                    <a:sym typeface="Arial Black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𝟐𝟓𝟔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/>
                  <a:t>m </a:t>
                </a:r>
                <a:endParaRPr b="1" dirty="0"/>
              </a:p>
            </p:txBody>
          </p:sp>
        </mc:Choice>
        <mc:Fallback>
          <p:sp>
            <p:nvSpPr>
              <p:cNvPr id="155" name="Google Shape;155;p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blipFill>
                <a:blip r:embed="rId3"/>
                <a:stretch>
                  <a:fillRect l="-1091" t="-2737" r="-9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Google Shape;156;p5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D3ACFE4-D9B9-8E7A-7130-D7B2B225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>
            <a:extLst>
              <a:ext uri="{FF2B5EF4-FFF2-40B4-BE49-F238E27FC236}">
                <a16:creationId xmlns:a16="http://schemas.microsoft.com/office/drawing/2014/main" id="{CEBD2182-81C3-C9EB-8C9B-B7F9BB01990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Google Shape;155;p5">
                <a:extLst>
                  <a:ext uri="{FF2B5EF4-FFF2-40B4-BE49-F238E27FC236}">
                    <a16:creationId xmlns:a16="http://schemas.microsoft.com/office/drawing/2014/main" id="{C86E5BA8-2A36-2E21-3ACF-2B5C34DFEEFA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228600" lvl="0" indent="-2286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2400"/>
                  <a:buNone/>
                </a:pPr>
                <a:r>
                  <a:rPr lang="en-US" b="1" dirty="0">
                    <a:solidFill>
                      <a:srgbClr val="0C0C0C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		AP AND GP(ASSIGNMENT :-2) </a:t>
                </a:r>
                <a:endParaRPr lang="en-US" dirty="0"/>
              </a:p>
              <a:p>
                <a:pPr marL="22860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>
                    <a:latin typeface="Arial Black"/>
                    <a:ea typeface="Arial Black"/>
                    <a:cs typeface="Arial Black"/>
                    <a:sym typeface="Arial Black"/>
                  </a:rPr>
                  <a:t>Q 4. </a:t>
                </a:r>
                <a:r>
                  <a:rPr lang="en-US" b="1" dirty="0"/>
                  <a:t>The distance travelled (in m) by a ball dropped from a height are 128/9, 32/3, 8, 6... How much distance will it travel before coming to rest ?</a:t>
                </a:r>
                <a:endParaRPr lang="en-US" dirty="0"/>
              </a:p>
              <a:p>
                <a:pPr lvl="0" indent="-457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/>
                </a:pPr>
                <a:r>
                  <a:rPr lang="en-IN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𝟔𝟒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/>
                  <a:t>m 		</a:t>
                </a:r>
              </a:p>
              <a:p>
                <a:pPr lvl="0" indent="-457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AutoNum type="alphaUcPeriod"/>
                </a:pPr>
                <a:endParaRPr lang="en-US" b="1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B. 120cm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b="1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𝟓𝟏𝟐</m:t>
                        </m:r>
                      </m:num>
                      <m:den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m 	</a:t>
                </a:r>
                <a:r>
                  <a:rPr lang="en-US" b="1" dirty="0"/>
                  <a:t>		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b="1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b="1" dirty="0"/>
                  <a:t>D.</a:t>
                </a:r>
                <a:r>
                  <a:rPr lang="en-US" b="1" dirty="0">
                    <a:latin typeface="Arial Black"/>
                    <a:ea typeface="Arial Black"/>
                    <a:cs typeface="Arial Black"/>
                    <a:sym typeface="Arial Black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𝟐𝟓𝟔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/>
                  <a:t>m </a:t>
                </a:r>
                <a:endParaRPr b="1" dirty="0"/>
              </a:p>
            </p:txBody>
          </p:sp>
        </mc:Choice>
        <mc:Fallback>
          <p:sp>
            <p:nvSpPr>
              <p:cNvPr id="155" name="Google Shape;155;p5">
                <a:extLst>
                  <a:ext uri="{FF2B5EF4-FFF2-40B4-BE49-F238E27FC236}">
                    <a16:creationId xmlns:a16="http://schemas.microsoft.com/office/drawing/2014/main" id="{C86E5BA8-2A36-2E21-3ACF-2B5C34DFEEF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04952" y="1072055"/>
                <a:ext cx="11733048" cy="5344511"/>
              </a:xfrm>
              <a:prstGeom prst="rect">
                <a:avLst/>
              </a:prstGeom>
              <a:blipFill>
                <a:blip r:embed="rId3"/>
                <a:stretch>
                  <a:fillRect l="-1091" t="-2737" r="-9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Google Shape;156;p5">
            <a:extLst>
              <a:ext uri="{FF2B5EF4-FFF2-40B4-BE49-F238E27FC236}">
                <a16:creationId xmlns:a16="http://schemas.microsoft.com/office/drawing/2014/main" id="{B261D2DF-FCB2-610F-B3DD-2CF8CD5BB43B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>
            <a:extLst>
              <a:ext uri="{FF2B5EF4-FFF2-40B4-BE49-F238E27FC236}">
                <a16:creationId xmlns:a16="http://schemas.microsoft.com/office/drawing/2014/main" id="{5648E407-21A7-6616-BC0E-1A0DA76EF627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>
            <a:extLst>
              <a:ext uri="{FF2B5EF4-FFF2-40B4-BE49-F238E27FC236}">
                <a16:creationId xmlns:a16="http://schemas.microsoft.com/office/drawing/2014/main" id="{9017242D-8B74-7024-6536-0897CA454034}"/>
              </a:ext>
            </a:extLst>
          </p:cNvPr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350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1" name="Google Shape;181;p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5. </a:t>
            </a:r>
            <a:r>
              <a:rPr lang="en-US" b="1" dirty="0"/>
              <a:t>Insert three geometric means between 2 and 81/8.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3, 9/2, - 27/4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- 3, 9/2, 27/4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tx1"/>
                </a:solidFill>
              </a:rPr>
              <a:t>C. 3, 9/2, 27/4</a:t>
            </a:r>
            <a:r>
              <a:rPr lang="en-US" b="1" dirty="0"/>
              <a:t>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3, 9/2, 27/8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83680F28-AF9F-E609-582B-BFCB4797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>
            <a:extLst>
              <a:ext uri="{FF2B5EF4-FFF2-40B4-BE49-F238E27FC236}">
                <a16:creationId xmlns:a16="http://schemas.microsoft.com/office/drawing/2014/main" id="{5BB6DFAE-7308-AFB9-7845-7646465A9F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1" name="Google Shape;181;p7">
            <a:extLst>
              <a:ext uri="{FF2B5EF4-FFF2-40B4-BE49-F238E27FC236}">
                <a16:creationId xmlns:a16="http://schemas.microsoft.com/office/drawing/2014/main" id="{BE3CAEE5-B29A-BA3E-34D0-FB6462ECBF0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5. </a:t>
            </a:r>
            <a:r>
              <a:rPr lang="en-US" b="1" dirty="0"/>
              <a:t>Insert three geometric means between 2 and 81/8.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3, 9/2, - 27/4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- 3, 9/2, 27/4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C. 3, 9/2, 27/4</a:t>
            </a:r>
            <a:r>
              <a:rPr lang="en-US" b="1" dirty="0"/>
              <a:t>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3, 9/2, 27/8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894600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7" name="Google Shape;187;p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6. </a:t>
            </a:r>
            <a:r>
              <a:rPr lang="en-US" b="1" dirty="0"/>
              <a:t>The arithmetic mean between two numbers is 75 and their geometric mean is 21. Find the numbers.</a:t>
            </a:r>
            <a:endParaRPr dirty="0"/>
          </a:p>
          <a:p>
            <a:pPr marL="346075" lvl="0" indent="-3460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133 and 17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63 and 87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3 and 147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73 and 77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7" name="Google Shape;187;p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6. </a:t>
            </a:r>
            <a:r>
              <a:rPr lang="en-US" b="1" dirty="0"/>
              <a:t>The arithmetic mean between two numbers is 75 and their geometric mean is 21. Find the numbers.</a:t>
            </a:r>
            <a:endParaRPr dirty="0"/>
          </a:p>
          <a:p>
            <a:pPr marL="396875" lvl="0" indent="-3968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133 and 17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63 and 87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C. 3 and 147</a:t>
            </a:r>
            <a:r>
              <a:rPr lang="en-US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73 and 77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9832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3" name="Google Shape;193;p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7. </a:t>
            </a:r>
            <a:r>
              <a:rPr lang="en-US" b="1" dirty="0"/>
              <a:t>The product of first three terms of a G. P. is 512. If we add 2 to its second term, the three terms form an A. P. Find the terms of the G. P.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4, 8, 16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16, 8, 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12, 24, 48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Option A or B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3" name="Google Shape;193;p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7. </a:t>
            </a:r>
            <a:r>
              <a:rPr lang="en-US" b="1" dirty="0"/>
              <a:t>The product of first three terms of a G. P. is 512. If we add 2 to its second term, the three terms form an A. P. Find the terms of the G. P.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>
                <a:solidFill>
                  <a:schemeClr val="tx1"/>
                </a:solidFill>
              </a:rPr>
              <a:t>4, 8, 16</a:t>
            </a: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b="1" dirty="0"/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16, 8, 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12, 24, 48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D. Option A or B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583541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9" name="Google Shape;199;p1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8. </a:t>
            </a:r>
            <a:r>
              <a:rPr lang="en-US" b="1" dirty="0"/>
              <a:t>The sum of an infinite G. P. with positive terms is 48 and sum of its first two terms is 36. Find the second term.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18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12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20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9" name="Google Shape;199;p1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8. </a:t>
            </a:r>
            <a:r>
              <a:rPr lang="en-US" b="1" dirty="0"/>
              <a:t>The sum of an infinite G. P. with positive terms is 48 and sum of its first two terms is 36. Find the second term.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18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C. 12</a:t>
            </a:r>
            <a:r>
              <a:rPr lang="en-US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20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7846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05" name="Google Shape;205;p1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9. </a:t>
            </a:r>
            <a:r>
              <a:rPr lang="en-US" b="1" dirty="0"/>
              <a:t>In the series 2, 6, 18, 54, ...... what will be the 8th term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A.4370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4374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7443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D.7434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05" name="Google Shape;205;p1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9. </a:t>
            </a:r>
            <a:r>
              <a:rPr lang="en-US" b="1" dirty="0"/>
              <a:t>In the series 2, 6, 18, 54, ...... what will be the 8th term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A.4370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B. 4374</a:t>
            </a:r>
            <a:r>
              <a:rPr lang="en-US" b="1" dirty="0"/>
              <a:t>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7443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D.7434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955180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10. </a:t>
            </a:r>
            <a:r>
              <a:rPr lang="en-US" b="1" dirty="0"/>
              <a:t>Find the number of terms in the geometric progression 6, 12, 24, ..., 1536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9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22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20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10. </a:t>
            </a:r>
            <a:r>
              <a:rPr lang="en-US" b="1" dirty="0"/>
              <a:t>Find the number of terms in the geometric progression 6, 12, 24, ..., 1536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B. 9</a:t>
            </a:r>
            <a:r>
              <a:rPr lang="en-US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22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20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5799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11. </a:t>
            </a:r>
            <a:r>
              <a:rPr lang="en-US" b="1" dirty="0"/>
              <a:t>Determine the common ratio </a:t>
            </a:r>
            <a:r>
              <a:rPr lang="en-US" b="1" i="1" dirty="0"/>
              <a:t>r</a:t>
            </a:r>
            <a:r>
              <a:rPr lang="en-US" b="1" dirty="0"/>
              <a:t> of a geometric progression with first term is 5 and forth term is -40.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- 2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10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11. </a:t>
            </a:r>
            <a:r>
              <a:rPr lang="en-US" b="1" dirty="0"/>
              <a:t>Determine the common ratio </a:t>
            </a:r>
            <a:r>
              <a:rPr lang="en-US" b="1" i="1" dirty="0"/>
              <a:t>r</a:t>
            </a:r>
            <a:r>
              <a:rPr lang="en-US" b="1" dirty="0"/>
              <a:t> of a geometric progression with first term is 5 and forth term is -40.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1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B. - 2</a:t>
            </a:r>
            <a:r>
              <a:rPr lang="en-US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10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956709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35" name="Google Shape;235;p16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12. </a:t>
            </a:r>
            <a:r>
              <a:rPr lang="en-US" b="1" dirty="0"/>
              <a:t>Let a</a:t>
            </a:r>
            <a:r>
              <a:rPr lang="en-US" b="1" baseline="-25000" dirty="0"/>
              <a:t>n</a:t>
            </a:r>
            <a:r>
              <a:rPr lang="en-US" b="1" dirty="0"/>
              <a:t> be an increasing geometric progression. If the first term  a</a:t>
            </a:r>
            <a:r>
              <a:rPr lang="en-US" b="1" baseline="-25000" dirty="0"/>
              <a:t>1</a:t>
            </a:r>
            <a:r>
              <a:rPr lang="en-US" b="1" dirty="0"/>
              <a:t> =2 and the fifth term a</a:t>
            </a:r>
            <a:r>
              <a:rPr lang="en-US" b="1" baseline="-25000" dirty="0"/>
              <a:t>5</a:t>
            </a:r>
            <a:r>
              <a:rPr lang="en-US" b="1" dirty="0"/>
              <a:t>=162  , determine a</a:t>
            </a:r>
            <a:r>
              <a:rPr lang="en-US" b="1" baseline="-25000" dirty="0"/>
              <a:t>3</a:t>
            </a:r>
            <a:r>
              <a:rPr lang="en-US" b="1" dirty="0"/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A. 5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-8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tx1"/>
                </a:solidFill>
              </a:rPr>
              <a:t>C. 18</a:t>
            </a:r>
            <a:r>
              <a:rPr lang="en-US" b="1" dirty="0"/>
              <a:t>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10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CB5DDA46-E846-76ED-3876-C30A20F1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>
            <a:extLst>
              <a:ext uri="{FF2B5EF4-FFF2-40B4-BE49-F238E27FC236}">
                <a16:creationId xmlns:a16="http://schemas.microsoft.com/office/drawing/2014/main" id="{DABA1B82-F913-7D74-7F52-BF53C4C3B8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35" name="Google Shape;235;p16">
            <a:extLst>
              <a:ext uri="{FF2B5EF4-FFF2-40B4-BE49-F238E27FC236}">
                <a16:creationId xmlns:a16="http://schemas.microsoft.com/office/drawing/2014/main" id="{9FBC1D1B-A34D-3706-E9D3-4349FBE0FA5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12. </a:t>
            </a:r>
            <a:r>
              <a:rPr lang="en-US" b="1" dirty="0"/>
              <a:t>Let a</a:t>
            </a:r>
            <a:r>
              <a:rPr lang="en-US" b="1" baseline="-25000" dirty="0"/>
              <a:t>n</a:t>
            </a:r>
            <a:r>
              <a:rPr lang="en-US" b="1" dirty="0"/>
              <a:t> be an increasing geometric progression. If the first term  a</a:t>
            </a:r>
            <a:r>
              <a:rPr lang="en-US" b="1" baseline="-25000" dirty="0"/>
              <a:t>1</a:t>
            </a:r>
            <a:r>
              <a:rPr lang="en-US" b="1" dirty="0"/>
              <a:t> =2 and the fifth term a</a:t>
            </a:r>
            <a:r>
              <a:rPr lang="en-US" b="1" baseline="-25000" dirty="0"/>
              <a:t>5</a:t>
            </a:r>
            <a:r>
              <a:rPr lang="en-US" b="1" dirty="0"/>
              <a:t>=162  , determine a</a:t>
            </a:r>
            <a:r>
              <a:rPr lang="en-US" b="1" baseline="-25000" dirty="0"/>
              <a:t>3</a:t>
            </a:r>
            <a:r>
              <a:rPr lang="en-US" b="1" dirty="0"/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A. 5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-8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C. 18</a:t>
            </a:r>
            <a:r>
              <a:rPr lang="en-US" b="1" dirty="0"/>
              <a:t>		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10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865647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41" name="Google Shape;241;p1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13. </a:t>
            </a:r>
            <a:r>
              <a:rPr lang="en-US" b="1" dirty="0"/>
              <a:t>Let  a</a:t>
            </a:r>
            <a:r>
              <a:rPr lang="en-US" b="1" baseline="-25000" dirty="0"/>
              <a:t>n</a:t>
            </a:r>
            <a:r>
              <a:rPr lang="en-US" b="1" dirty="0"/>
              <a:t> be a geometric progression, such that a1=2  and  r=3. Find the sum of the first five elements.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547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-82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242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100 </a:t>
            </a:r>
            <a:endParaRPr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41" name="Google Shape;241;p1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13. </a:t>
            </a:r>
            <a:r>
              <a:rPr lang="en-US" b="1" dirty="0"/>
              <a:t>Let  a</a:t>
            </a:r>
            <a:r>
              <a:rPr lang="en-US" b="1" baseline="-25000" dirty="0"/>
              <a:t>n</a:t>
            </a:r>
            <a:r>
              <a:rPr lang="en-US" b="1" dirty="0"/>
              <a:t> be a geometric progression, such that a1=2  and  r=3. Find the sum of the first five elements.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547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-82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C. 242</a:t>
            </a:r>
            <a:r>
              <a:rPr lang="en-US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100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128410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59" name="Google Shape;259;p2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14. </a:t>
            </a:r>
            <a:r>
              <a:rPr lang="en-US" b="1" dirty="0"/>
              <a:t>Let a</a:t>
            </a:r>
            <a:r>
              <a:rPr lang="en-US" b="1" baseline="-25000" dirty="0"/>
              <a:t>n </a:t>
            </a:r>
            <a:r>
              <a:rPr lang="en-US" b="1" dirty="0"/>
              <a:t>  be a geometric progression defined as a</a:t>
            </a:r>
            <a:r>
              <a:rPr lang="en-US" b="1" baseline="-25000" dirty="0"/>
              <a:t>1</a:t>
            </a:r>
            <a:r>
              <a:rPr lang="en-US" b="1" dirty="0"/>
              <a:t> =1 and  r=5. Find the sum a</a:t>
            </a:r>
            <a:r>
              <a:rPr lang="en-US" b="1" baseline="-25000" dirty="0"/>
              <a:t>1 </a:t>
            </a:r>
            <a:r>
              <a:rPr lang="en-US" b="1" dirty="0"/>
              <a:t>+ a</a:t>
            </a:r>
            <a:r>
              <a:rPr lang="en-US" b="1" baseline="-25000" dirty="0"/>
              <a:t>2</a:t>
            </a:r>
            <a:r>
              <a:rPr lang="en-US" b="1" dirty="0"/>
              <a:t> +a</a:t>
            </a:r>
            <a:r>
              <a:rPr lang="en-US" b="1" baseline="-25000" dirty="0"/>
              <a:t>3</a:t>
            </a:r>
            <a:r>
              <a:rPr lang="en-US" b="1" dirty="0"/>
              <a:t>+a</a:t>
            </a:r>
            <a:r>
              <a:rPr lang="en-US" b="1" baseline="-25000" dirty="0"/>
              <a:t>4 </a:t>
            </a:r>
            <a:r>
              <a:rPr lang="en-US" b="1" dirty="0"/>
              <a:t>+a</a:t>
            </a:r>
            <a:r>
              <a:rPr lang="en-US" b="1" baseline="-25000" dirty="0"/>
              <a:t>5 </a:t>
            </a:r>
            <a:endParaRPr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855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554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285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D. 781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59" name="Google Shape;259;p2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AP AND GP(ASSIGNMENT :-2)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14. </a:t>
            </a:r>
            <a:r>
              <a:rPr lang="en-US" b="1" dirty="0"/>
              <a:t>Let a</a:t>
            </a:r>
            <a:r>
              <a:rPr lang="en-US" b="1" baseline="-25000" dirty="0"/>
              <a:t>n </a:t>
            </a:r>
            <a:r>
              <a:rPr lang="en-US" b="1" dirty="0"/>
              <a:t>  be a geometric progression defined as a</a:t>
            </a:r>
            <a:r>
              <a:rPr lang="en-US" b="1" baseline="-25000" dirty="0"/>
              <a:t>1</a:t>
            </a:r>
            <a:r>
              <a:rPr lang="en-US" b="1" dirty="0"/>
              <a:t> =1 and  r=5. Find the sum a</a:t>
            </a:r>
            <a:r>
              <a:rPr lang="en-US" b="1" baseline="-25000" dirty="0"/>
              <a:t>1 </a:t>
            </a:r>
            <a:r>
              <a:rPr lang="en-US" b="1" dirty="0"/>
              <a:t>+ a</a:t>
            </a:r>
            <a:r>
              <a:rPr lang="en-US" b="1" baseline="-25000" dirty="0"/>
              <a:t>2</a:t>
            </a:r>
            <a:r>
              <a:rPr lang="en-US" b="1" dirty="0"/>
              <a:t> +a</a:t>
            </a:r>
            <a:r>
              <a:rPr lang="en-US" b="1" baseline="-25000" dirty="0"/>
              <a:t>3</a:t>
            </a:r>
            <a:r>
              <a:rPr lang="en-US" b="1" dirty="0"/>
              <a:t>+a</a:t>
            </a:r>
            <a:r>
              <a:rPr lang="en-US" b="1" baseline="-25000" dirty="0"/>
              <a:t>4 </a:t>
            </a:r>
            <a:r>
              <a:rPr lang="en-US" b="1" dirty="0"/>
              <a:t>+a</a:t>
            </a:r>
            <a:r>
              <a:rPr lang="en-US" b="1" baseline="-25000" dirty="0"/>
              <a:t>5 </a:t>
            </a:r>
            <a:endParaRPr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UcPeriod"/>
            </a:pPr>
            <a:r>
              <a:rPr lang="en-US" b="1" dirty="0"/>
              <a:t>855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B. 554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C. 285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D. 781</a:t>
            </a: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82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0DD99-B466-8AAD-1A26-1A1E0941DEC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680792" y="2514070"/>
            <a:ext cx="11684000" cy="4991630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96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70165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1632</Words>
  <Application>Microsoft Office PowerPoint</Application>
  <PresentationFormat>Widescreen</PresentationFormat>
  <Paragraphs>217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Cambria Math</vt:lpstr>
      <vt:lpstr>Arial</vt:lpstr>
      <vt:lpstr>Arial Black</vt:lpstr>
      <vt:lpstr>Calibri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APTITUDE</dc:title>
  <dc:creator>anuj gupta</dc:creator>
  <cp:lastModifiedBy>satish kumar</cp:lastModifiedBy>
  <cp:revision>22</cp:revision>
  <dcterms:created xsi:type="dcterms:W3CDTF">2020-02-23T06:37:57Z</dcterms:created>
  <dcterms:modified xsi:type="dcterms:W3CDTF">2025-06-03T09:00:01Z</dcterms:modified>
</cp:coreProperties>
</file>