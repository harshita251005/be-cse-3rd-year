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4"/>
  </p:notesMasterIdLst>
  <p:sldIdLst>
    <p:sldId id="256" r:id="rId2"/>
    <p:sldId id="295" r:id="rId3"/>
    <p:sldId id="296" r:id="rId4"/>
    <p:sldId id="294" r:id="rId5"/>
    <p:sldId id="297" r:id="rId6"/>
    <p:sldId id="257" r:id="rId7"/>
    <p:sldId id="298" r:id="rId8"/>
    <p:sldId id="258" r:id="rId9"/>
    <p:sldId id="299" r:id="rId10"/>
    <p:sldId id="260" r:id="rId11"/>
    <p:sldId id="301" r:id="rId12"/>
    <p:sldId id="261" r:id="rId13"/>
    <p:sldId id="302" r:id="rId14"/>
    <p:sldId id="262" r:id="rId15"/>
    <p:sldId id="303" r:id="rId16"/>
    <p:sldId id="263" r:id="rId17"/>
    <p:sldId id="304" r:id="rId18"/>
    <p:sldId id="265" r:id="rId19"/>
    <p:sldId id="307" r:id="rId20"/>
    <p:sldId id="266" r:id="rId21"/>
    <p:sldId id="308" r:id="rId22"/>
    <p:sldId id="269" r:id="rId23"/>
    <p:sldId id="311" r:id="rId24"/>
    <p:sldId id="271" r:id="rId25"/>
    <p:sldId id="313" r:id="rId26"/>
    <p:sldId id="273" r:id="rId27"/>
    <p:sldId id="315" r:id="rId28"/>
    <p:sldId id="274" r:id="rId29"/>
    <p:sldId id="316" r:id="rId30"/>
    <p:sldId id="275" r:id="rId31"/>
    <p:sldId id="317" r:id="rId32"/>
    <p:sldId id="276" r:id="rId33"/>
    <p:sldId id="318" r:id="rId34"/>
    <p:sldId id="277" r:id="rId35"/>
    <p:sldId id="319" r:id="rId36"/>
    <p:sldId id="278" r:id="rId37"/>
    <p:sldId id="320" r:id="rId38"/>
    <p:sldId id="279" r:id="rId39"/>
    <p:sldId id="321" r:id="rId40"/>
    <p:sldId id="281" r:id="rId41"/>
    <p:sldId id="323" r:id="rId42"/>
    <p:sldId id="283" r:id="rId43"/>
    <p:sldId id="325" r:id="rId44"/>
    <p:sldId id="284" r:id="rId45"/>
    <p:sldId id="326" r:id="rId46"/>
    <p:sldId id="285" r:id="rId47"/>
    <p:sldId id="327" r:id="rId48"/>
    <p:sldId id="287" r:id="rId49"/>
    <p:sldId id="329" r:id="rId50"/>
    <p:sldId id="289" r:id="rId51"/>
    <p:sldId id="332" r:id="rId52"/>
    <p:sldId id="337" r:id="rId53"/>
  </p:sldIdLst>
  <p:sldSz cx="12192000" cy="6858000"/>
  <p:notesSz cx="6858000" cy="9144000"/>
  <p:embeddedFontLst>
    <p:embeddedFont>
      <p:font typeface="Arial Black" panose="020B0A04020102020204" pitchFamily="34" charset="0"/>
      <p:regular r:id="rId55"/>
      <p:bold r:id="rId56"/>
      <p: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9" roundtripDataSignature="AMtx7mgEoeW7HDp8CANVTaTxyGXPwXA0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89" Type="http://customschemas.google.com/relationships/presentationmetadata" Target="metadata"/><Relationship Id="rId7" Type="http://schemas.openxmlformats.org/officeDocument/2006/relationships/slide" Target="slides/slide6.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90"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1f70943e38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1f70943e38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7881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11"/>
        <p:cNvGrpSpPr/>
        <p:nvPr/>
      </p:nvGrpSpPr>
      <p:grpSpPr>
        <a:xfrm>
          <a:off x="0" y="0"/>
          <a:ext cx="0" cy="0"/>
          <a:chOff x="0" y="0"/>
          <a:chExt cx="0" cy="0"/>
        </a:xfrm>
      </p:grpSpPr>
      <p:sp>
        <p:nvSpPr>
          <p:cNvPr id="12" name="Google Shape;12;p39"/>
          <p:cNvSpPr/>
          <p:nvPr/>
        </p:nvSpPr>
        <p:spPr>
          <a:xfrm>
            <a:off x="4005792" y="1338792"/>
            <a:ext cx="4180416" cy="4180416"/>
          </a:xfrm>
          <a:prstGeom prst="rect">
            <a:avLst/>
          </a:prstGeom>
          <a:blipFill rotWithShape="1">
            <a:blip r:embed="rId2">
              <a:alphaModFix amt="10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 name="Google Shape;13;p39"/>
          <p:cNvSpPr/>
          <p:nvPr/>
        </p:nvSpPr>
        <p:spPr>
          <a:xfrm rot="10800000" flipH="1">
            <a:off x="5191124" y="6439955"/>
            <a:ext cx="6997050" cy="420957"/>
          </a:xfrm>
          <a:custGeom>
            <a:avLst/>
            <a:gdLst/>
            <a:ahLst/>
            <a:cxnLst/>
            <a:rect l="l" t="t" r="r" b="b"/>
            <a:pathLst>
              <a:path w="6997050" h="474402" extrusionOk="0">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 name="Google Shape;14;p39"/>
          <p:cNvSpPr/>
          <p:nvPr/>
        </p:nvSpPr>
        <p:spPr>
          <a:xfrm>
            <a:off x="1" y="6439956"/>
            <a:ext cx="5490211" cy="418044"/>
          </a:xfrm>
          <a:custGeom>
            <a:avLst/>
            <a:gdLst/>
            <a:ahLst/>
            <a:cxnLst/>
            <a:rect l="l" t="t" r="r" b="b"/>
            <a:pathLst>
              <a:path w="5490211" h="473605" extrusionOk="0">
                <a:moveTo>
                  <a:pt x="0" y="0"/>
                </a:moveTo>
                <a:lnTo>
                  <a:pt x="5490211" y="0"/>
                </a:lnTo>
                <a:lnTo>
                  <a:pt x="5215520" y="473605"/>
                </a:lnTo>
                <a:lnTo>
                  <a:pt x="0" y="473605"/>
                </a:lnTo>
                <a:close/>
              </a:path>
            </a:pathLst>
          </a:custGeom>
          <a:solidFill>
            <a:srgbClr val="FE64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39"/>
          <p:cNvSpPr/>
          <p:nvPr/>
        </p:nvSpPr>
        <p:spPr>
          <a:xfrm>
            <a:off x="0" y="0"/>
            <a:ext cx="12192000" cy="1016000"/>
          </a:xfrm>
          <a:prstGeom prst="rect">
            <a:avLst/>
          </a:prstGeom>
          <a:gradFill>
            <a:gsLst>
              <a:gs pos="0">
                <a:srgbClr val="FE6400"/>
              </a:gs>
              <a:gs pos="100000">
                <a:srgbClr val="108EFC"/>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 name="Google Shape;16;p39"/>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3600"/>
              <a:buFont typeface="Arial"/>
              <a:buNone/>
              <a:defRPr sz="36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9"/>
          <p:cNvSpPr txBox="1"/>
          <p:nvPr/>
        </p:nvSpPr>
        <p:spPr>
          <a:xfrm>
            <a:off x="355600" y="5683515"/>
            <a:ext cx="115824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18" name="Google Shape;18;p39"/>
          <p:cNvSpPr txBox="1"/>
          <p:nvPr/>
        </p:nvSpPr>
        <p:spPr>
          <a:xfrm>
            <a:off x="1118954" y="6464312"/>
            <a:ext cx="33949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chemeClr val="dk1"/>
                </a:solidFill>
                <a:latin typeface="Arial"/>
                <a:ea typeface="Arial"/>
                <a:cs typeface="Arial"/>
                <a:sym typeface="Arial"/>
              </a:rPr>
              <a:t>  Classes by Anuj Sir </a:t>
            </a:r>
            <a:endParaRPr dirty="0"/>
          </a:p>
        </p:txBody>
      </p:sp>
      <p:sp>
        <p:nvSpPr>
          <p:cNvPr id="19" name="Google Shape;19;p39"/>
          <p:cNvSpPr txBox="1"/>
          <p:nvPr/>
        </p:nvSpPr>
        <p:spPr>
          <a:xfrm>
            <a:off x="6252259" y="6464312"/>
            <a:ext cx="563494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For more tutorials Visit now www.testurprep.com</a:t>
            </a:r>
            <a:endParaRPr/>
          </a:p>
        </p:txBody>
      </p:sp>
      <p:sp>
        <p:nvSpPr>
          <p:cNvPr id="20" name="Google Shape;20;p39"/>
          <p:cNvSpPr/>
          <p:nvPr/>
        </p:nvSpPr>
        <p:spPr>
          <a:xfrm>
            <a:off x="158099" y="144860"/>
            <a:ext cx="727726" cy="727726"/>
          </a:xfrm>
          <a:prstGeom prst="ellipse">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 name="Google Shape;21;p39"/>
          <p:cNvSpPr/>
          <p:nvPr/>
        </p:nvSpPr>
        <p:spPr>
          <a:xfrm>
            <a:off x="11311874" y="144860"/>
            <a:ext cx="727726" cy="727726"/>
          </a:xfrm>
          <a:prstGeom prst="ellipse">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 name="Google Shape;22;p39"/>
          <p:cNvSpPr txBox="1">
            <a:spLocks noGrp="1"/>
          </p:cNvSpPr>
          <p:nvPr>
            <p:ph type="body" idx="1"/>
          </p:nvPr>
        </p:nvSpPr>
        <p:spPr>
          <a:xfrm>
            <a:off x="254000" y="1199620"/>
            <a:ext cx="11684000" cy="499163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3"/>
        <p:cNvGrpSpPr/>
        <p:nvPr/>
      </p:nvGrpSpPr>
      <p:grpSpPr>
        <a:xfrm>
          <a:off x="0" y="0"/>
          <a:ext cx="0" cy="0"/>
          <a:chOff x="0" y="0"/>
          <a:chExt cx="0" cy="0"/>
        </a:xfrm>
      </p:grpSpPr>
      <p:sp>
        <p:nvSpPr>
          <p:cNvPr id="24" name="Google Shape;24;p4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6" name="Google Shape;26;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1_Title and Content">
  <p:cSld name="1_Title and Content">
    <p:spTree>
      <p:nvGrpSpPr>
        <p:cNvPr id="1" name="Shape 29"/>
        <p:cNvGrpSpPr/>
        <p:nvPr/>
      </p:nvGrpSpPr>
      <p:grpSpPr>
        <a:xfrm>
          <a:off x="0" y="0"/>
          <a:ext cx="0" cy="0"/>
          <a:chOff x="0" y="0"/>
          <a:chExt cx="0" cy="0"/>
        </a:xfrm>
      </p:grpSpPr>
      <p:sp>
        <p:nvSpPr>
          <p:cNvPr id="30" name="Google Shape;30;p41"/>
          <p:cNvSpPr txBox="1">
            <a:spLocks noGrp="1"/>
          </p:cNvSpPr>
          <p:nvPr>
            <p:ph type="title"/>
          </p:nvPr>
        </p:nvSpPr>
        <p:spPr>
          <a:xfrm>
            <a:off x="304800" y="270933"/>
            <a:ext cx="11582400" cy="74506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1"/>
          <p:cNvSpPr txBox="1">
            <a:spLocks noGrp="1"/>
          </p:cNvSpPr>
          <p:nvPr>
            <p:ph type="body" idx="1"/>
          </p:nvPr>
        </p:nvSpPr>
        <p:spPr>
          <a:xfrm>
            <a:off x="304800" y="1185333"/>
            <a:ext cx="11582400" cy="499163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41"/>
          <p:cNvSpPr txBox="1">
            <a:spLocks noGrp="1"/>
          </p:cNvSpPr>
          <p:nvPr>
            <p:ph type="dt" idx="10"/>
          </p:nvPr>
        </p:nvSpPr>
        <p:spPr>
          <a:xfrm>
            <a:off x="304800" y="6380692"/>
            <a:ext cx="3276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1"/>
          <p:cNvSpPr txBox="1">
            <a:spLocks noGrp="1"/>
          </p:cNvSpPr>
          <p:nvPr>
            <p:ph type="ftr" idx="11"/>
          </p:nvPr>
        </p:nvSpPr>
        <p:spPr>
          <a:xfrm>
            <a:off x="4038600" y="638069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1"/>
          <p:cNvSpPr txBox="1">
            <a:spLocks noGrp="1"/>
          </p:cNvSpPr>
          <p:nvPr>
            <p:ph type="sldNum" idx="12"/>
          </p:nvPr>
        </p:nvSpPr>
        <p:spPr>
          <a:xfrm>
            <a:off x="8610599" y="6356350"/>
            <a:ext cx="32765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35" name="Google Shape;35;p41"/>
          <p:cNvSpPr/>
          <p:nvPr/>
        </p:nvSpPr>
        <p:spPr>
          <a:xfrm>
            <a:off x="3706812" y="981604"/>
            <a:ext cx="4879976" cy="4879976"/>
          </a:xfrm>
          <a:prstGeom prst="rect">
            <a:avLst/>
          </a:prstGeom>
          <a:blipFill rotWithShape="1">
            <a:blip r:embed="rId2">
              <a:alphaModFix amt="32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6"/>
        <p:cNvGrpSpPr/>
        <p:nvPr/>
      </p:nvGrpSpPr>
      <p:grpSpPr>
        <a:xfrm>
          <a:off x="0" y="0"/>
          <a:ext cx="0" cy="0"/>
          <a:chOff x="0" y="0"/>
          <a:chExt cx="0" cy="0"/>
        </a:xfrm>
      </p:grpSpPr>
      <p:sp>
        <p:nvSpPr>
          <p:cNvPr id="37" name="Google Shape;37;p4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42"/>
        <p:cNvGrpSpPr/>
        <p:nvPr/>
      </p:nvGrpSpPr>
      <p:grpSpPr>
        <a:xfrm>
          <a:off x="0" y="0"/>
          <a:ext cx="0" cy="0"/>
          <a:chOff x="0" y="0"/>
          <a:chExt cx="0" cy="0"/>
        </a:xfrm>
      </p:grpSpPr>
      <p:sp>
        <p:nvSpPr>
          <p:cNvPr id="43" name="Google Shape;43;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4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4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49"/>
        <p:cNvGrpSpPr/>
        <p:nvPr/>
      </p:nvGrpSpPr>
      <p:grpSpPr>
        <a:xfrm>
          <a:off x="0" y="0"/>
          <a:ext cx="0" cy="0"/>
          <a:chOff x="0" y="0"/>
          <a:chExt cx="0" cy="0"/>
        </a:xfrm>
      </p:grpSpPr>
      <p:sp>
        <p:nvSpPr>
          <p:cNvPr id="50" name="Google Shape;50;p4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4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4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4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58"/>
        <p:cNvGrpSpPr/>
        <p:nvPr/>
      </p:nvGrpSpPr>
      <p:grpSpPr>
        <a:xfrm>
          <a:off x="0" y="0"/>
          <a:ext cx="0" cy="0"/>
          <a:chOff x="0" y="0"/>
          <a:chExt cx="0" cy="0"/>
        </a:xfrm>
      </p:grpSpPr>
      <p:sp>
        <p:nvSpPr>
          <p:cNvPr id="59" name="Google Shape;59;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7"/>
        <p:cNvGrpSpPr/>
        <p:nvPr/>
      </p:nvGrpSpPr>
      <p:grpSpPr>
        <a:xfrm>
          <a:off x="0" y="0"/>
          <a:ext cx="0" cy="0"/>
          <a:chOff x="0" y="0"/>
          <a:chExt cx="0" cy="0"/>
        </a:xfrm>
      </p:grpSpPr>
      <p:sp>
        <p:nvSpPr>
          <p:cNvPr id="68" name="Google Shape;68;p4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4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4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4"/>
        <p:cNvGrpSpPr/>
        <p:nvPr/>
      </p:nvGrpSpPr>
      <p:grpSpPr>
        <a:xfrm>
          <a:off x="0" y="0"/>
          <a:ext cx="0" cy="0"/>
          <a:chOff x="0" y="0"/>
          <a:chExt cx="0" cy="0"/>
        </a:xfrm>
      </p:grpSpPr>
      <p:sp>
        <p:nvSpPr>
          <p:cNvPr id="75" name="Google Shape;75;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8"/>
          <p:cNvSpPr>
            <a:spLocks noGrp="1"/>
          </p:cNvSpPr>
          <p:nvPr>
            <p:ph type="pic" idx="2"/>
          </p:nvPr>
        </p:nvSpPr>
        <p:spPr>
          <a:xfrm>
            <a:off x="5183188" y="987425"/>
            <a:ext cx="6172200" cy="4873625"/>
          </a:xfrm>
          <a:prstGeom prst="rect">
            <a:avLst/>
          </a:prstGeom>
          <a:noFill/>
          <a:ln>
            <a:noFill/>
          </a:ln>
        </p:spPr>
      </p:sp>
      <p:sp>
        <p:nvSpPr>
          <p:cNvPr id="77" name="Google Shape;77;p4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81"/>
        <p:cNvGrpSpPr/>
        <p:nvPr/>
      </p:nvGrpSpPr>
      <p:grpSpPr>
        <a:xfrm>
          <a:off x="0" y="0"/>
          <a:ext cx="0" cy="0"/>
          <a:chOff x="0" y="0"/>
          <a:chExt cx="0" cy="0"/>
        </a:xfrm>
      </p:grpSpPr>
      <p:sp>
        <p:nvSpPr>
          <p:cNvPr id="82" name="Google Shape;82;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4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5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5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6" name="Google Shape;6;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98" name="Google Shape;98;p1"/>
          <p:cNvSpPr txBox="1">
            <a:spLocks noGrp="1"/>
          </p:cNvSpPr>
          <p:nvPr>
            <p:ph type="body" idx="1"/>
          </p:nvPr>
        </p:nvSpPr>
        <p:spPr>
          <a:xfrm>
            <a:off x="0" y="787791"/>
            <a:ext cx="12192000" cy="56287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latin typeface="Arial Black"/>
                <a:ea typeface="Arial Black"/>
                <a:cs typeface="Arial Black"/>
                <a:sym typeface="Arial Black"/>
              </a:rPr>
              <a:t> </a:t>
            </a:r>
            <a:r>
              <a:rPr lang="en-US" b="1" dirty="0"/>
              <a:t> </a:t>
            </a:r>
            <a:endParaRPr b="1" dirty="0"/>
          </a:p>
        </p:txBody>
      </p:sp>
      <p:sp>
        <p:nvSpPr>
          <p:cNvPr id="4" name="TextBox 3"/>
          <p:cNvSpPr txBox="1"/>
          <p:nvPr/>
        </p:nvSpPr>
        <p:spPr>
          <a:xfrm>
            <a:off x="1533915" y="576925"/>
            <a:ext cx="9124171" cy="1015663"/>
          </a:xfrm>
          <a:prstGeom prst="rect">
            <a:avLst/>
          </a:prstGeom>
          <a:noFill/>
        </p:spPr>
        <p:txBody>
          <a:bodyPr wrap="square" rtlCol="0">
            <a:spAutoFit/>
          </a:bodyPr>
          <a:lstStyle/>
          <a:p>
            <a:r>
              <a:rPr lang="en-US" sz="6000" dirty="0">
                <a:solidFill>
                  <a:srgbClr val="FF0000"/>
                </a:solidFill>
                <a:latin typeface="Arial Black" pitchFamily="34" charset="0"/>
              </a:rPr>
              <a:t>PIPE AND CISTERN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useBgFill="1">
        <p:nvSpPr>
          <p:cNvPr id="97" name="Google Shape;97;p1"/>
          <p:cNvSpPr txBox="1">
            <a:spLocks noGrp="1"/>
          </p:cNvSpPr>
          <p:nvPr>
            <p:ph type="title"/>
          </p:nvPr>
        </p:nvSpPr>
        <p:spPr>
          <a:xfrm>
            <a:off x="254000" y="133350"/>
            <a:ext cx="11684000" cy="671250"/>
          </a:xfrm>
          <a:prstGeom prst="rect">
            <a:avLst/>
          </a:prstGeom>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98" name="Google Shape;98;p1"/>
          <p:cNvSpPr txBox="1">
            <a:spLocks noGrp="1"/>
          </p:cNvSpPr>
          <p:nvPr>
            <p:ph type="body" idx="1"/>
          </p:nvPr>
        </p:nvSpPr>
        <p:spPr>
          <a:xfrm>
            <a:off x="0" y="787791"/>
            <a:ext cx="12192000" cy="56287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latin typeface="Arial Black"/>
                <a:ea typeface="Arial Black"/>
                <a:cs typeface="Arial Black"/>
                <a:sym typeface="Arial Black"/>
              </a:rPr>
              <a:t> </a:t>
            </a:r>
            <a:r>
              <a:rPr lang="en-US" b="1" dirty="0"/>
              <a:t> </a:t>
            </a:r>
            <a:endParaRPr b="1"/>
          </a:p>
        </p:txBody>
      </p:sp>
      <p:sp>
        <p:nvSpPr>
          <p:cNvPr id="4" name="TextBox 3"/>
          <p:cNvSpPr txBox="1"/>
          <p:nvPr/>
        </p:nvSpPr>
        <p:spPr>
          <a:xfrm>
            <a:off x="0" y="858129"/>
            <a:ext cx="12192000" cy="2893100"/>
          </a:xfrm>
          <a:prstGeom prst="rect">
            <a:avLst/>
          </a:prstGeom>
          <a:noFill/>
        </p:spPr>
        <p:txBody>
          <a:bodyPr wrap="square" rtlCol="0">
            <a:spAutoFit/>
          </a:bodyPr>
          <a:lstStyle/>
          <a:p>
            <a:r>
              <a:rPr lang="en-US" sz="2400" b="1" dirty="0"/>
              <a:t>Pipes and Cistern – Topic and Concept</a:t>
            </a:r>
          </a:p>
          <a:p>
            <a:endParaRPr lang="en-US" sz="2400" b="1" dirty="0"/>
          </a:p>
          <a:p>
            <a:r>
              <a:rPr lang="en-US" sz="2400" b="1" dirty="0"/>
              <a:t>INLET: An inlet is a pipe which is connected to the tank and with the help of this pipe, the tank is filled.</a:t>
            </a:r>
          </a:p>
          <a:p>
            <a:r>
              <a:rPr lang="en-US" sz="2400" b="1" dirty="0"/>
              <a:t>OUTLET/LEAK: An outlet is a pipe which is connected to the tank. This pipe drains out water from the tank and the tank gets emptied if this pipe is opened.</a:t>
            </a:r>
          </a:p>
          <a:p>
            <a:endParaRPr lang="en-US" sz="2400" b="1" dirty="0"/>
          </a:p>
          <a:p>
            <a:endParaRPr lang="en-US" b="1" dirty="0"/>
          </a:p>
        </p:txBody>
      </p:sp>
      <p:sp>
        <p:nvSpPr>
          <p:cNvPr id="5" name="TextBox 4"/>
          <p:cNvSpPr txBox="1"/>
          <p:nvPr/>
        </p:nvSpPr>
        <p:spPr>
          <a:xfrm>
            <a:off x="4684542" y="2504049"/>
            <a:ext cx="184731" cy="307777"/>
          </a:xfrm>
          <a:prstGeom prst="rect">
            <a:avLst/>
          </a:prstGeom>
          <a:noFill/>
        </p:spPr>
        <p:txBody>
          <a:bodyPr wrap="none" rtlCol="0">
            <a:spAutoFit/>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98" name="Google Shape;98;p1"/>
          <p:cNvSpPr txBox="1">
            <a:spLocks noGrp="1"/>
          </p:cNvSpPr>
          <p:nvPr>
            <p:ph type="body" idx="1"/>
          </p:nvPr>
        </p:nvSpPr>
        <p:spPr>
          <a:xfrm>
            <a:off x="0" y="787791"/>
            <a:ext cx="12192000" cy="56287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latin typeface="Arial Black"/>
                <a:ea typeface="Arial Black"/>
                <a:cs typeface="Arial Black"/>
                <a:sym typeface="Arial Black"/>
              </a:rPr>
              <a:t> </a:t>
            </a:r>
            <a:r>
              <a:rPr lang="en-US" b="1" dirty="0"/>
              <a:t> </a:t>
            </a:r>
            <a:endParaRPr b="1"/>
          </a:p>
        </p:txBody>
      </p:sp>
      <p:sp>
        <p:nvSpPr>
          <p:cNvPr id="4" name="TextBox 3"/>
          <p:cNvSpPr txBox="1"/>
          <p:nvPr/>
        </p:nvSpPr>
        <p:spPr>
          <a:xfrm>
            <a:off x="0" y="787791"/>
            <a:ext cx="12191999" cy="4154984"/>
          </a:xfrm>
          <a:prstGeom prst="rect">
            <a:avLst/>
          </a:prstGeom>
          <a:noFill/>
        </p:spPr>
        <p:txBody>
          <a:bodyPr wrap="square" rtlCol="0">
            <a:spAutoFit/>
          </a:bodyPr>
          <a:lstStyle/>
          <a:p>
            <a:r>
              <a:rPr lang="en-US" sz="2400" b="1" dirty="0"/>
              <a:t>Formulae</a:t>
            </a:r>
          </a:p>
          <a:p>
            <a:r>
              <a:rPr lang="en-US" sz="2400" b="1" dirty="0"/>
              <a:t>If a pipe can fill a tank in a hrs, then the part filled in 1 hr =1/a.</a:t>
            </a:r>
          </a:p>
          <a:p>
            <a:r>
              <a:rPr lang="en-US" sz="2400" b="1" dirty="0"/>
              <a:t>If a pipe can empty a tank in b hrs, then the part of the full tank emptied in 1 hr = 1/b.</a:t>
            </a:r>
          </a:p>
          <a:p>
            <a:r>
              <a:rPr lang="en-US" sz="2400" b="1" dirty="0"/>
              <a:t>If a pipe can fill a tank in a hrs and the another pipe can empty the full tank in b hrs, then the net part filled in 1 hr, when both the pipes are opened =[1/a - 1/b] ∴ Time taken to fill the tank, when both the pipes are opened = </a:t>
            </a:r>
            <a:r>
              <a:rPr lang="en-US" sz="2400" b="1" dirty="0" err="1"/>
              <a:t>ab</a:t>
            </a:r>
            <a:r>
              <a:rPr lang="en-US" sz="2400" b="1" dirty="0"/>
              <a:t>/(b - a)</a:t>
            </a:r>
          </a:p>
          <a:p>
            <a:r>
              <a:rPr lang="en-US" sz="2400" b="1" dirty="0"/>
              <a:t>If a pipe can fill a tank in a hrs and another can fill the same tank in b hrs, then the net part filled in 1 hr, when both pipes are opened = [1/a + 1/b] ∴ Time taken to fill the tank = </a:t>
            </a:r>
            <a:r>
              <a:rPr lang="en-US" sz="2400" b="1" dirty="0" err="1"/>
              <a:t>ab</a:t>
            </a:r>
            <a:r>
              <a:rPr lang="en-US" sz="2400" b="1" dirty="0"/>
              <a:t>/(a + b)</a:t>
            </a:r>
          </a:p>
          <a:p>
            <a:endParaRPr lang="en-US"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98" name="Google Shape;98;p1"/>
          <p:cNvSpPr txBox="1">
            <a:spLocks noGrp="1"/>
          </p:cNvSpPr>
          <p:nvPr>
            <p:ph type="body" idx="1"/>
          </p:nvPr>
        </p:nvSpPr>
        <p:spPr>
          <a:xfrm>
            <a:off x="204952" y="1072055"/>
            <a:ext cx="1221663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PIPES AND CISTERN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 A pipe can fill a cistern in 25 hours. Find the part of tank filled in 5 hours. </a:t>
            </a:r>
            <a:endParaRPr/>
          </a:p>
          <a:p>
            <a:pPr marL="228600" lvl="0" indent="-228600" algn="l" rtl="0">
              <a:lnSpc>
                <a:spcPct val="90000"/>
              </a:lnSpc>
              <a:spcBef>
                <a:spcPts val="1000"/>
              </a:spcBef>
              <a:spcAft>
                <a:spcPts val="0"/>
              </a:spcAft>
              <a:buClr>
                <a:schemeClr val="dk1"/>
              </a:buClr>
              <a:buSzPts val="2400"/>
              <a:buNone/>
            </a:pPr>
            <a:r>
              <a:rPr lang="en-US" b="1"/>
              <a:t>(1) 1/25 	(2) 1/5 	(3) 1/10 	(4) Data inadequate 	(5) None of these</a:t>
            </a:r>
            <a:r>
              <a:rPr lang="en-US" b="1">
                <a:latin typeface="Arial Black"/>
                <a:ea typeface="Arial Black"/>
                <a:cs typeface="Arial Black"/>
                <a:sym typeface="Arial Black"/>
              </a:rPr>
              <a:t> </a:t>
            </a:r>
            <a:r>
              <a:rPr lang="en-US" b="1"/>
              <a:t>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98" name="Google Shape;98;p1"/>
          <p:cNvSpPr txBox="1">
            <a:spLocks noGrp="1"/>
          </p:cNvSpPr>
          <p:nvPr>
            <p:ph type="body" idx="1"/>
          </p:nvPr>
        </p:nvSpPr>
        <p:spPr>
          <a:xfrm>
            <a:off x="204952" y="1072055"/>
            <a:ext cx="1221663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 A pipe can fill a cistern in 25 hours. Find the part of tank filled in 5 hours. </a:t>
            </a:r>
            <a:endParaRPr/>
          </a:p>
          <a:p>
            <a:pPr marL="228600" lvl="0" indent="-228600" algn="l" rtl="0">
              <a:lnSpc>
                <a:spcPct val="90000"/>
              </a:lnSpc>
              <a:spcBef>
                <a:spcPts val="1000"/>
              </a:spcBef>
              <a:spcAft>
                <a:spcPts val="0"/>
              </a:spcAft>
              <a:buClr>
                <a:schemeClr val="dk1"/>
              </a:buClr>
              <a:buSzPts val="2400"/>
              <a:buNone/>
            </a:pPr>
            <a:r>
              <a:rPr lang="en-US" b="1" dirty="0"/>
              <a:t>(1) 1/25 	</a:t>
            </a:r>
            <a:r>
              <a:rPr lang="en-US" b="1" dirty="0">
                <a:solidFill>
                  <a:srgbClr val="FF0000"/>
                </a:solidFill>
              </a:rPr>
              <a:t>(2) 1/5 </a:t>
            </a:r>
            <a:r>
              <a:rPr lang="en-US" b="1" dirty="0"/>
              <a:t>	(3) 1/10 	(4) Data inadequate 	(5) None of these</a:t>
            </a:r>
            <a:r>
              <a:rPr lang="en-US" b="1" dirty="0">
                <a:latin typeface="Arial Black"/>
                <a:ea typeface="Arial Black"/>
                <a:cs typeface="Arial Black"/>
                <a:sym typeface="Arial Black"/>
              </a:rPr>
              <a:t> </a:t>
            </a:r>
            <a:r>
              <a:rPr lang="en-US" b="1" dirty="0"/>
              <a:t> </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4" name="Google Shape;104;p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PIPES AND CISTERN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2. A pipe can empty a cistern in 27 hours. Find the time in which 2/3 part of the cistern will be emptied. </a:t>
            </a:r>
            <a:endParaRPr/>
          </a:p>
          <a:p>
            <a:pPr marL="228600" lvl="0" indent="-228600" algn="l" rtl="0">
              <a:lnSpc>
                <a:spcPct val="90000"/>
              </a:lnSpc>
              <a:spcBef>
                <a:spcPts val="1000"/>
              </a:spcBef>
              <a:spcAft>
                <a:spcPts val="0"/>
              </a:spcAft>
              <a:buClr>
                <a:schemeClr val="dk1"/>
              </a:buClr>
              <a:buSzPts val="2400"/>
              <a:buNone/>
            </a:pPr>
            <a:r>
              <a:rPr lang="en-US" b="1"/>
              <a:t>(1) 9 hours 	(2) 12 hours 	    (3) 15 hours     (4) 18 hours    (5) None of these</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4" name="Google Shape;104;p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2. A pipe can empty a cistern in 27 hours. Find the time in which 2/3 part of the cistern will be emptied. </a:t>
            </a:r>
            <a:endParaRPr/>
          </a:p>
          <a:p>
            <a:pPr marL="228600" lvl="0" indent="-228600" algn="l" rtl="0">
              <a:lnSpc>
                <a:spcPct val="90000"/>
              </a:lnSpc>
              <a:spcBef>
                <a:spcPts val="1000"/>
              </a:spcBef>
              <a:spcAft>
                <a:spcPts val="0"/>
              </a:spcAft>
              <a:buClr>
                <a:schemeClr val="dk1"/>
              </a:buClr>
              <a:buSzPts val="2400"/>
              <a:buNone/>
            </a:pPr>
            <a:r>
              <a:rPr lang="en-US" b="1" dirty="0"/>
              <a:t>(1) 9 hours 	(2) 12 hours 	    (3) 15 hours     </a:t>
            </a:r>
            <a:r>
              <a:rPr lang="en-US" b="1" dirty="0">
                <a:solidFill>
                  <a:srgbClr val="FF0000"/>
                </a:solidFill>
              </a:rPr>
              <a:t>(4) 18 hours    </a:t>
            </a:r>
            <a:r>
              <a:rPr lang="en-US" b="1" dirty="0"/>
              <a:t>(5) None of these</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0" name="Google Shape;110;p3"/>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PIPES AND CISTERN</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3. A tap can fill a cistern in 8 hours and another can empty it in 16 hours. If both the taps are opened simultaneously, the time (in hours) to fill the tank is: (1) 8 	(2) 10 		(3) 16 		(4) 24 		(5) None of these </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0" name="Google Shape;110;p3"/>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3. A tap can fill a cistern in 8 hours and another can empty it in 16 hours. If both the taps are opened simultaneously, the time (in hours) to fill the tank is: (1) 8 	(2) 10 		</a:t>
            </a:r>
            <a:r>
              <a:rPr lang="en-US" b="1" dirty="0">
                <a:solidFill>
                  <a:srgbClr val="FF0000"/>
                </a:solidFill>
              </a:rPr>
              <a:t>(3) 16 </a:t>
            </a:r>
            <a:r>
              <a:rPr lang="en-US" b="1" dirty="0"/>
              <a:t>		(4) 24 		(5) None of these </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2" name="Google Shape;122;p5"/>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a:t>
            </a:r>
            <a:r>
              <a:rPr lang="en-US" b="1" dirty="0"/>
              <a:t>. A pipe can empty a tank in 15 </a:t>
            </a:r>
            <a:r>
              <a:rPr lang="en-US" b="1" dirty="0" err="1"/>
              <a:t>hrs</a:t>
            </a:r>
            <a:r>
              <a:rPr lang="en-US" b="1" dirty="0"/>
              <a:t> and another pipe can empty it in 10 hours. If both the pipes are opened simultaneously, find the time in which a full tank is emptied. </a:t>
            </a:r>
            <a:endParaRPr dirty="0"/>
          </a:p>
          <a:p>
            <a:pPr marL="228600" lvl="0" indent="-228600" algn="l" rtl="0">
              <a:lnSpc>
                <a:spcPct val="90000"/>
              </a:lnSpc>
              <a:spcBef>
                <a:spcPts val="1000"/>
              </a:spcBef>
              <a:spcAft>
                <a:spcPts val="0"/>
              </a:spcAft>
              <a:buClr>
                <a:schemeClr val="dk1"/>
              </a:buClr>
              <a:buSzPts val="2400"/>
              <a:buNone/>
            </a:pPr>
            <a:r>
              <a:rPr lang="en-US" b="1" dirty="0"/>
              <a:t>(1) 8 </a:t>
            </a:r>
            <a:r>
              <a:rPr lang="en-US" b="1" dirty="0" err="1"/>
              <a:t>hrs</a:t>
            </a:r>
            <a:r>
              <a:rPr lang="en-US" b="1" dirty="0"/>
              <a:t> 	(2) 6 </a:t>
            </a:r>
            <a:r>
              <a:rPr lang="en-US" b="1" dirty="0" err="1"/>
              <a:t>hrs</a:t>
            </a:r>
            <a:r>
              <a:rPr lang="en-US" b="1" dirty="0"/>
              <a:t> 	(3) 4 </a:t>
            </a:r>
            <a:r>
              <a:rPr lang="en-US" b="1" dirty="0" err="1"/>
              <a:t>hrs</a:t>
            </a:r>
            <a:r>
              <a:rPr lang="en-US" b="1" dirty="0"/>
              <a:t> 	(4) 5 </a:t>
            </a:r>
            <a:r>
              <a:rPr lang="en-US" b="1" dirty="0" err="1"/>
              <a:t>hrs</a:t>
            </a:r>
            <a:r>
              <a:rPr lang="en-US" b="1" dirty="0"/>
              <a:t> 	(5) None of these </a:t>
            </a:r>
            <a:endParaRPr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2" name="Google Shape;122;p5"/>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a:t>
            </a:r>
            <a:r>
              <a:rPr lang="en-US" b="1" dirty="0"/>
              <a:t>. A pipe can empty a tank in 15 hrs and another pipe can empty it in 10 hours. If both the pipes are opened simultaneously, find the time in which a full tank is emptied. </a:t>
            </a:r>
            <a:endParaRPr dirty="0"/>
          </a:p>
          <a:p>
            <a:pPr marL="228600" lvl="0" indent="-228600" algn="l" rtl="0">
              <a:lnSpc>
                <a:spcPct val="90000"/>
              </a:lnSpc>
              <a:spcBef>
                <a:spcPts val="1000"/>
              </a:spcBef>
              <a:spcAft>
                <a:spcPts val="0"/>
              </a:spcAft>
              <a:buClr>
                <a:schemeClr val="dk1"/>
              </a:buClr>
              <a:buSzPts val="2400"/>
              <a:buNone/>
            </a:pPr>
            <a:r>
              <a:rPr lang="en-US" b="1" dirty="0"/>
              <a:t>(1) 8 hrs 	</a:t>
            </a:r>
            <a:r>
              <a:rPr lang="en-US" b="1" dirty="0">
                <a:solidFill>
                  <a:srgbClr val="FF0000"/>
                </a:solidFill>
              </a:rPr>
              <a:t>(2) 6 hrs </a:t>
            </a:r>
            <a:r>
              <a:rPr lang="en-US" b="1" dirty="0"/>
              <a:t>	(3) 4 hrs 	(4) 5 hrs 	(5) None of these </a:t>
            </a:r>
            <a:endParaRPr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8" name="Google Shape;128;p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5</a:t>
            </a:r>
            <a:r>
              <a:rPr lang="en-US" b="1" dirty="0"/>
              <a:t>. Two pipes A and B can fill a tank in 30 minutes and 15 minutes respectively. If both the pipes are opened simultaneously, how much time will be taken to fill the tank?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10 minutes 	(2) 12 minutes 	(3) 8 minutes 	(4) 9 minutes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8" name="Google Shape;128;p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5</a:t>
            </a:r>
            <a:r>
              <a:rPr lang="en-US" b="1" dirty="0"/>
              <a:t>. Two pipes A and B can fill a tank in 30 minutes and 15 minutes respectively. If both the pipes are opened simultaneously, how much time will be taken to fill the tank?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solidFill>
                  <a:srgbClr val="FF0000"/>
                </a:solidFill>
              </a:rPr>
              <a:t>10 minutes </a:t>
            </a:r>
            <a:r>
              <a:rPr lang="en-US" b="1" dirty="0"/>
              <a:t>	(2) 12 minutes 	(3) 8 minutes 	(4) 9 minutes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4" name="Google Shape;134;p7"/>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6</a:t>
            </a:r>
            <a:r>
              <a:rPr lang="en-US" b="1" dirty="0"/>
              <a:t>. There is a leak in the bottom of a cistern. When the cistern is thoroughly repaired, it would be filled in 12 minutes. It now takes 18 minutes longer. If the cistern is full, how long would the leak take to empty the cistern?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20 minutes 	(2) 24 minutes 	(3) 26 minutes 	(4) 30 minutes </a:t>
            </a:r>
            <a:endParaRPr dirty="0"/>
          </a:p>
          <a:p>
            <a:pPr marL="457200" lvl="0" indent="-457200" algn="l" rtl="0">
              <a:lnSpc>
                <a:spcPct val="90000"/>
              </a:lnSpc>
              <a:spcBef>
                <a:spcPts val="1000"/>
              </a:spcBef>
              <a:spcAft>
                <a:spcPts val="0"/>
              </a:spcAft>
              <a:buClr>
                <a:schemeClr val="dk1"/>
              </a:buClr>
              <a:buSzPts val="2400"/>
              <a:buNone/>
            </a:pPr>
            <a:r>
              <a:rPr lang="en-US" b="1" dirty="0"/>
              <a:t>(5) None of these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4" name="Google Shape;134;p7"/>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6</a:t>
            </a:r>
            <a:r>
              <a:rPr lang="en-US" b="1" dirty="0"/>
              <a:t>. There is a leak in the bottom of a cistern. When the cistern is thoroughly repaired, it would be filled in 12 minutes. It now takes 18 minutes longer. If the cistern is full, how long would the leak take to empty the cistern?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solidFill>
                  <a:srgbClr val="FF0000"/>
                </a:solidFill>
              </a:rPr>
              <a:t>20 minutes </a:t>
            </a:r>
            <a:r>
              <a:rPr lang="en-US" b="1" dirty="0"/>
              <a:t>	(2) 24 minutes 	(3) 26 minutes 	(4) 30 minutes </a:t>
            </a:r>
            <a:endParaRPr dirty="0"/>
          </a:p>
          <a:p>
            <a:pPr marL="457200" lvl="0" indent="-457200" algn="l" rtl="0">
              <a:lnSpc>
                <a:spcPct val="90000"/>
              </a:lnSpc>
              <a:spcBef>
                <a:spcPts val="1000"/>
              </a:spcBef>
              <a:spcAft>
                <a:spcPts val="0"/>
              </a:spcAft>
              <a:buClr>
                <a:schemeClr val="dk1"/>
              </a:buClr>
              <a:buSzPts val="2400"/>
              <a:buNone/>
            </a:pPr>
            <a:r>
              <a:rPr lang="en-US" b="1" dirty="0"/>
              <a:t>(5) None of these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0" name="Google Shape;140;p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7</a:t>
            </a:r>
            <a:r>
              <a:rPr lang="en-US" b="1" dirty="0"/>
              <a:t>. Tap A can fill a water tank in 25 minutes, tap B can fill the same tank in 40 minutes and tap C can empty the tank in 30 minutes. If all the three taps are opened together, in how many minutes will the tank be completely filled up or emptied? </a:t>
            </a:r>
            <a:endParaRPr dirty="0"/>
          </a:p>
          <a:p>
            <a:pPr marL="228600" lvl="0" indent="-228600" algn="l" rtl="0">
              <a:lnSpc>
                <a:spcPct val="90000"/>
              </a:lnSpc>
              <a:spcBef>
                <a:spcPts val="1000"/>
              </a:spcBef>
              <a:spcAft>
                <a:spcPts val="0"/>
              </a:spcAft>
              <a:buClr>
                <a:schemeClr val="dk1"/>
              </a:buClr>
              <a:buSzPts val="2400"/>
              <a:buNone/>
            </a:pPr>
            <a:r>
              <a:rPr lang="en-US" b="1" dirty="0"/>
              <a:t>(1) 3(2/13)	(2) 15(5/13)	  (3) 8(2/13)	    (4) 31(11/19)	(5) None of these </a:t>
            </a:r>
            <a:endParaRPr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0" name="Google Shape;140;p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7</a:t>
            </a:r>
            <a:r>
              <a:rPr lang="en-US" b="1" dirty="0"/>
              <a:t>. Tap A can fill a water tank in 25 minutes, tap B can fill the same tank in 40 minutes and tap C can empty the tank in 30 minutes. If all the three taps are opened together, in how many minutes will the tank be completely filled up or emptied? </a:t>
            </a:r>
            <a:endParaRPr dirty="0"/>
          </a:p>
          <a:p>
            <a:pPr marL="228600" lvl="0" indent="-228600" algn="l" rtl="0">
              <a:lnSpc>
                <a:spcPct val="90000"/>
              </a:lnSpc>
              <a:spcBef>
                <a:spcPts val="1000"/>
              </a:spcBef>
              <a:spcAft>
                <a:spcPts val="0"/>
              </a:spcAft>
              <a:buClr>
                <a:schemeClr val="dk1"/>
              </a:buClr>
              <a:buSzPts val="2400"/>
              <a:buNone/>
            </a:pPr>
            <a:r>
              <a:rPr lang="en-US" b="1" dirty="0"/>
              <a:t>(1) 3(2/13)	(2) 15(5/13)	  (3) 8(2/13)	</a:t>
            </a:r>
            <a:r>
              <a:rPr lang="en-US" b="1" dirty="0">
                <a:solidFill>
                  <a:srgbClr val="FF0000"/>
                </a:solidFill>
              </a:rPr>
              <a:t>    (4) 31(11/19)</a:t>
            </a:r>
            <a:r>
              <a:rPr lang="en-US" b="1" dirty="0"/>
              <a:t>	(5) None of these </a:t>
            </a:r>
            <a:endParaRPr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50"/>
        <p:cNvGrpSpPr/>
        <p:nvPr/>
      </p:nvGrpSpPr>
      <p:grpSpPr>
        <a:xfrm>
          <a:off x="0" y="0"/>
          <a:ext cx="0" cy="0"/>
          <a:chOff x="0" y="0"/>
          <a:chExt cx="0" cy="0"/>
        </a:xfrm>
      </p:grpSpPr>
      <p:sp>
        <p:nvSpPr>
          <p:cNvPr id="151" name="Google Shape;151;p10"/>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2" name="Google Shape;152;p10"/>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8</a:t>
            </a:r>
            <a:r>
              <a:rPr lang="en-US" b="1" dirty="0"/>
              <a:t>. In what time would a cistern be filled by three pipes whose diameters are 1 cm, 3 cm, 4 cm, running together, when the largest alone fill it in 26 minutes, the amount of water flowing in by each pipe being proportional to the square of its diameter?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20 minutes 	(2) 24 minutes 	(3) 16 minutes 	(4) 12 minutes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50"/>
        <p:cNvGrpSpPr/>
        <p:nvPr/>
      </p:nvGrpSpPr>
      <p:grpSpPr>
        <a:xfrm>
          <a:off x="0" y="0"/>
          <a:ext cx="0" cy="0"/>
          <a:chOff x="0" y="0"/>
          <a:chExt cx="0" cy="0"/>
        </a:xfrm>
      </p:grpSpPr>
      <p:sp>
        <p:nvSpPr>
          <p:cNvPr id="151" name="Google Shape;151;p10"/>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2" name="Google Shape;152;p10"/>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8</a:t>
            </a:r>
            <a:r>
              <a:rPr lang="en-US" b="1" dirty="0"/>
              <a:t>. In what time would a cistern be filled by three pipes whose diameters are 1 cm, 3 cm, 4 cm, running together, when the largest alone fill it in 26 minutes, the amount of water flowing in by each pipe being proportional to the square of its diameter?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20 minutes 	(2) 24 minutes </a:t>
            </a:r>
            <a:r>
              <a:rPr lang="en-US" b="1" dirty="0">
                <a:solidFill>
                  <a:srgbClr val="FF0000"/>
                </a:solidFill>
              </a:rPr>
              <a:t>	(3) 16 minutes </a:t>
            </a:r>
            <a:r>
              <a:rPr lang="en-US" b="1" dirty="0"/>
              <a:t>	(4) 12 minutes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56"/>
        <p:cNvGrpSpPr/>
        <p:nvPr/>
      </p:nvGrpSpPr>
      <p:grpSpPr>
        <a:xfrm>
          <a:off x="0" y="0"/>
          <a:ext cx="0" cy="0"/>
          <a:chOff x="0" y="0"/>
          <a:chExt cx="0" cy="0"/>
        </a:xfrm>
      </p:grpSpPr>
      <p:sp>
        <p:nvSpPr>
          <p:cNvPr id="157" name="Google Shape;157;p1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8" name="Google Shape;158;p11"/>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9</a:t>
            </a:r>
            <a:r>
              <a:rPr lang="en-US" b="1" dirty="0"/>
              <a:t>. Two pipes A and B can fill a tank in 36 minutes and 48 minutes respectively. If both the pipes are opened simultaneously, after how much time should B be closed so that the tank is full in 27 minutes? </a:t>
            </a:r>
            <a:endParaRPr dirty="0"/>
          </a:p>
          <a:p>
            <a:pPr marL="228600" lvl="0" indent="-228600" algn="l" rtl="0">
              <a:lnSpc>
                <a:spcPct val="90000"/>
              </a:lnSpc>
              <a:spcBef>
                <a:spcPts val="1000"/>
              </a:spcBef>
              <a:spcAft>
                <a:spcPts val="0"/>
              </a:spcAft>
              <a:buClr>
                <a:schemeClr val="dk1"/>
              </a:buClr>
              <a:buSzPts val="2400"/>
              <a:buNone/>
            </a:pPr>
            <a:r>
              <a:rPr lang="en-US" b="1" dirty="0"/>
              <a:t>(1) 10 min 	(2) 12 min 	(3) 14 min 	(4) 16 min 	(5) None of these</a:t>
            </a:r>
            <a:endParaRPr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56"/>
        <p:cNvGrpSpPr/>
        <p:nvPr/>
      </p:nvGrpSpPr>
      <p:grpSpPr>
        <a:xfrm>
          <a:off x="0" y="0"/>
          <a:ext cx="0" cy="0"/>
          <a:chOff x="0" y="0"/>
          <a:chExt cx="0" cy="0"/>
        </a:xfrm>
      </p:grpSpPr>
      <p:sp>
        <p:nvSpPr>
          <p:cNvPr id="157" name="Google Shape;157;p1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8" name="Google Shape;158;p11"/>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9</a:t>
            </a:r>
            <a:r>
              <a:rPr lang="en-US" b="1" dirty="0"/>
              <a:t>. Two pipes A and B can fill a tank in 36 minutes and 48 minutes respectively. If both the pipes are opened simultaneously, after how much time should B be closed so that the tank is full in 27 minutes? </a:t>
            </a:r>
            <a:endParaRPr dirty="0"/>
          </a:p>
          <a:p>
            <a:pPr marL="228600" lvl="0" indent="-228600" algn="l" rtl="0">
              <a:lnSpc>
                <a:spcPct val="90000"/>
              </a:lnSpc>
              <a:spcBef>
                <a:spcPts val="1000"/>
              </a:spcBef>
              <a:spcAft>
                <a:spcPts val="0"/>
              </a:spcAft>
              <a:buClr>
                <a:schemeClr val="dk1"/>
              </a:buClr>
              <a:buSzPts val="2400"/>
              <a:buNone/>
            </a:pPr>
            <a:r>
              <a:rPr lang="en-US" b="1" dirty="0"/>
              <a:t>(1) 10 min 	</a:t>
            </a:r>
            <a:r>
              <a:rPr lang="en-US" b="1" dirty="0">
                <a:solidFill>
                  <a:srgbClr val="FF0000"/>
                </a:solidFill>
              </a:rPr>
              <a:t>(2) 12 min </a:t>
            </a:r>
            <a:r>
              <a:rPr lang="en-US" b="1" dirty="0"/>
              <a:t>	(3) 14 min 	(4) 16 min 	(5) None of these</a:t>
            </a:r>
            <a:endParaRPr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174"/>
        <p:cNvGrpSpPr/>
        <p:nvPr/>
      </p:nvGrpSpPr>
      <p:grpSpPr>
        <a:xfrm>
          <a:off x="0" y="0"/>
          <a:ext cx="0" cy="0"/>
          <a:chOff x="0" y="0"/>
          <a:chExt cx="0" cy="0"/>
        </a:xfrm>
      </p:grpSpPr>
      <p:sp>
        <p:nvSpPr>
          <p:cNvPr id="175" name="Google Shape;175;p1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6" name="Google Shape;176;p1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10. Three pipes A, B and C can fill a cistern in 36 minutes. After working together for 12 minutes, C is closed and A and B fill the cistern in 48 minutes. Then find the time in which the cistern can be filled by pipe C.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72 minutes 	(2) 60 minutes 	(3) 48 minutes 	(4) 64 minutes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74"/>
        <p:cNvGrpSpPr/>
        <p:nvPr/>
      </p:nvGrpSpPr>
      <p:grpSpPr>
        <a:xfrm>
          <a:off x="0" y="0"/>
          <a:ext cx="0" cy="0"/>
          <a:chOff x="0" y="0"/>
          <a:chExt cx="0" cy="0"/>
        </a:xfrm>
      </p:grpSpPr>
      <p:sp>
        <p:nvSpPr>
          <p:cNvPr id="175" name="Google Shape;175;p1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6" name="Google Shape;176;p1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10. Three pipes A, B and C can fill a cistern in 36 minutes. After working together for 12 minutes, C is closed and A and B fill the cistern in 48 minutes. Then find the time in which the cistern can be filled by pipe C.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solidFill>
                  <a:srgbClr val="FF0000"/>
                </a:solidFill>
              </a:rPr>
              <a:t>72 minutes </a:t>
            </a:r>
            <a:r>
              <a:rPr lang="en-US" b="1" dirty="0"/>
              <a:t>	(2) 60 minutes 	(3) 48 minutes 	(4) 64 minutes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186"/>
        <p:cNvGrpSpPr/>
        <p:nvPr/>
      </p:nvGrpSpPr>
      <p:grpSpPr>
        <a:xfrm>
          <a:off x="0" y="0"/>
          <a:ext cx="0" cy="0"/>
          <a:chOff x="0" y="0"/>
          <a:chExt cx="0" cy="0"/>
        </a:xfrm>
      </p:grpSpPr>
      <p:sp>
        <p:nvSpPr>
          <p:cNvPr id="187" name="Google Shape;187;p1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8" name="Google Shape;188;p1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11. Three pipes A, B and C are connected to a tank. A and B together can fill the tank in 60 minutes, B and C together in 40 minutes and C and A together in 30 minutes. In how much time will each pipe fill the tank separately? </a:t>
            </a:r>
            <a:endParaRPr b="1" dirty="0"/>
          </a:p>
          <a:p>
            <a:pPr marL="457200" lvl="0" indent="-457200" algn="l" rtl="0">
              <a:lnSpc>
                <a:spcPct val="90000"/>
              </a:lnSpc>
              <a:spcBef>
                <a:spcPts val="1000"/>
              </a:spcBef>
              <a:spcAft>
                <a:spcPts val="0"/>
              </a:spcAft>
              <a:buClr>
                <a:schemeClr val="dk1"/>
              </a:buClr>
              <a:buSzPts val="2400"/>
              <a:buAutoNum type="arabicParenBoth"/>
            </a:pPr>
            <a:r>
              <a:rPr lang="en-US" b="1" dirty="0"/>
              <a:t>80 min, 240 min, 48 min </a:t>
            </a:r>
            <a:endParaRPr b="1" dirty="0"/>
          </a:p>
          <a:p>
            <a:pPr marL="457200" lvl="0" indent="-457200" algn="l" rtl="0">
              <a:lnSpc>
                <a:spcPct val="90000"/>
              </a:lnSpc>
              <a:spcBef>
                <a:spcPts val="1000"/>
              </a:spcBef>
              <a:spcAft>
                <a:spcPts val="0"/>
              </a:spcAft>
              <a:buClr>
                <a:schemeClr val="dk1"/>
              </a:buClr>
              <a:buSzPts val="2400"/>
              <a:buAutoNum type="arabicParenBoth"/>
            </a:pPr>
            <a:r>
              <a:rPr lang="en-US" b="1" dirty="0"/>
              <a:t>(2) 40 min, 120 min, 24 min </a:t>
            </a:r>
            <a:endParaRPr b="1" dirty="0"/>
          </a:p>
          <a:p>
            <a:pPr marL="457200" lvl="0" indent="-457200" algn="l" rtl="0">
              <a:lnSpc>
                <a:spcPct val="90000"/>
              </a:lnSpc>
              <a:spcBef>
                <a:spcPts val="1000"/>
              </a:spcBef>
              <a:spcAft>
                <a:spcPts val="0"/>
              </a:spcAft>
              <a:buClr>
                <a:schemeClr val="dk1"/>
              </a:buClr>
              <a:buSzPts val="2400"/>
              <a:buAutoNum type="arabicParenBoth"/>
            </a:pPr>
            <a:r>
              <a:rPr lang="en-US" b="1" dirty="0"/>
              <a:t>(3) 60 min, 250 min, 64 min </a:t>
            </a:r>
            <a:endParaRPr b="1" dirty="0"/>
          </a:p>
          <a:p>
            <a:pPr marL="457200" lvl="0" indent="-457200" algn="l" rtl="0">
              <a:lnSpc>
                <a:spcPct val="90000"/>
              </a:lnSpc>
              <a:spcBef>
                <a:spcPts val="1000"/>
              </a:spcBef>
              <a:spcAft>
                <a:spcPts val="0"/>
              </a:spcAft>
              <a:buClr>
                <a:schemeClr val="dk1"/>
              </a:buClr>
              <a:buSzPts val="2400"/>
              <a:buAutoNum type="arabicParenBoth"/>
            </a:pPr>
            <a:r>
              <a:rPr lang="en-US" b="1" dirty="0"/>
              <a:t>(4) 65 min, 240 min, 64 min </a:t>
            </a:r>
            <a:endParaRPr b="1" dirty="0"/>
          </a:p>
          <a:p>
            <a:pPr marL="457200" lvl="0" indent="-457200" algn="l" rtl="0">
              <a:lnSpc>
                <a:spcPct val="90000"/>
              </a:lnSpc>
              <a:spcBef>
                <a:spcPts val="1000"/>
              </a:spcBef>
              <a:spcAft>
                <a:spcPts val="0"/>
              </a:spcAft>
              <a:buClr>
                <a:schemeClr val="dk1"/>
              </a:buClr>
              <a:buSzPts val="2400"/>
              <a:buAutoNum type="arabicParenBoth"/>
            </a:pPr>
            <a:r>
              <a:rPr lang="en-US" b="1" dirty="0"/>
              <a:t>(5) None of these</a:t>
            </a:r>
            <a:endParaRPr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86"/>
        <p:cNvGrpSpPr/>
        <p:nvPr/>
      </p:nvGrpSpPr>
      <p:grpSpPr>
        <a:xfrm>
          <a:off x="0" y="0"/>
          <a:ext cx="0" cy="0"/>
          <a:chOff x="0" y="0"/>
          <a:chExt cx="0" cy="0"/>
        </a:xfrm>
      </p:grpSpPr>
      <p:sp>
        <p:nvSpPr>
          <p:cNvPr id="187" name="Google Shape;187;p1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8" name="Google Shape;188;p1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11. Three pipes A, B and C are connected to a tank. A and B together can fill the tank in 60 minutes, B and C together in 40 minutes and C and A together in 30 minutes. In how much time will each pipe fill the tank separately? </a:t>
            </a:r>
            <a:endParaRPr b="1" dirty="0"/>
          </a:p>
          <a:p>
            <a:pPr marL="457200" lvl="0" indent="-457200" algn="l" rtl="0">
              <a:lnSpc>
                <a:spcPct val="90000"/>
              </a:lnSpc>
              <a:spcBef>
                <a:spcPts val="1000"/>
              </a:spcBef>
              <a:spcAft>
                <a:spcPts val="0"/>
              </a:spcAft>
              <a:buClr>
                <a:schemeClr val="dk1"/>
              </a:buClr>
              <a:buSzPts val="2400"/>
              <a:buAutoNum type="arabicParenBoth"/>
            </a:pPr>
            <a:r>
              <a:rPr lang="en-US" b="1" dirty="0">
                <a:solidFill>
                  <a:srgbClr val="FF0000"/>
                </a:solidFill>
              </a:rPr>
              <a:t>80 min, 240 min, 48 min </a:t>
            </a:r>
            <a:endParaRPr b="1" dirty="0">
              <a:solidFill>
                <a:srgbClr val="FF0000"/>
              </a:solidFill>
            </a:endParaRPr>
          </a:p>
          <a:p>
            <a:pPr marL="457200" lvl="0" indent="-457200" algn="l" rtl="0">
              <a:lnSpc>
                <a:spcPct val="90000"/>
              </a:lnSpc>
              <a:spcBef>
                <a:spcPts val="1000"/>
              </a:spcBef>
              <a:spcAft>
                <a:spcPts val="0"/>
              </a:spcAft>
              <a:buClr>
                <a:schemeClr val="dk1"/>
              </a:buClr>
              <a:buSzPts val="2400"/>
              <a:buAutoNum type="arabicParenBoth"/>
            </a:pPr>
            <a:r>
              <a:rPr lang="en-US" b="1" dirty="0"/>
              <a:t>(2) 40 min, 120 min, 24 min </a:t>
            </a:r>
            <a:endParaRPr b="1" dirty="0"/>
          </a:p>
          <a:p>
            <a:pPr marL="457200" lvl="0" indent="-457200" algn="l" rtl="0">
              <a:lnSpc>
                <a:spcPct val="90000"/>
              </a:lnSpc>
              <a:spcBef>
                <a:spcPts val="1000"/>
              </a:spcBef>
              <a:spcAft>
                <a:spcPts val="0"/>
              </a:spcAft>
              <a:buClr>
                <a:schemeClr val="dk1"/>
              </a:buClr>
              <a:buSzPts val="2400"/>
              <a:buAutoNum type="arabicParenBoth"/>
            </a:pPr>
            <a:r>
              <a:rPr lang="en-US" b="1" dirty="0"/>
              <a:t>(3) 60 min, 250 min, 64 min </a:t>
            </a:r>
            <a:endParaRPr b="1" dirty="0"/>
          </a:p>
          <a:p>
            <a:pPr marL="457200" lvl="0" indent="-457200" algn="l" rtl="0">
              <a:lnSpc>
                <a:spcPct val="90000"/>
              </a:lnSpc>
              <a:spcBef>
                <a:spcPts val="1000"/>
              </a:spcBef>
              <a:spcAft>
                <a:spcPts val="0"/>
              </a:spcAft>
              <a:buClr>
                <a:schemeClr val="dk1"/>
              </a:buClr>
              <a:buSzPts val="2400"/>
              <a:buAutoNum type="arabicParenBoth"/>
            </a:pPr>
            <a:r>
              <a:rPr lang="en-US" b="1" dirty="0"/>
              <a:t>(4) 65 min, 240 min, 64 min </a:t>
            </a:r>
            <a:endParaRPr b="1" dirty="0"/>
          </a:p>
          <a:p>
            <a:pPr marL="457200" lvl="0" indent="-457200" algn="l" rtl="0">
              <a:lnSpc>
                <a:spcPct val="90000"/>
              </a:lnSpc>
              <a:spcBef>
                <a:spcPts val="1000"/>
              </a:spcBef>
              <a:spcAft>
                <a:spcPts val="0"/>
              </a:spcAft>
              <a:buClr>
                <a:schemeClr val="dk1"/>
              </a:buClr>
              <a:buSzPts val="2400"/>
              <a:buAutoNum type="arabicParenBoth"/>
            </a:pPr>
            <a:r>
              <a:rPr lang="en-US" b="1" dirty="0"/>
              <a:t>(5) None of these</a:t>
            </a:r>
            <a:endParaRPr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198"/>
        <p:cNvGrpSpPr/>
        <p:nvPr/>
      </p:nvGrpSpPr>
      <p:grpSpPr>
        <a:xfrm>
          <a:off x="0" y="0"/>
          <a:ext cx="0" cy="0"/>
          <a:chOff x="0" y="0"/>
          <a:chExt cx="0" cy="0"/>
        </a:xfrm>
      </p:grpSpPr>
      <p:sp>
        <p:nvSpPr>
          <p:cNvPr id="199" name="Google Shape;199;p1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00" name="Google Shape;200;p1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12. Two pipes can separately fill a tank in 10 </a:t>
            </a:r>
            <a:r>
              <a:rPr lang="en-US" b="1" dirty="0" err="1"/>
              <a:t>hrs</a:t>
            </a:r>
            <a:r>
              <a:rPr lang="en-US" b="1" dirty="0"/>
              <a:t> and 15 </a:t>
            </a:r>
            <a:r>
              <a:rPr lang="en-US" b="1" dirty="0" err="1"/>
              <a:t>hrs</a:t>
            </a:r>
            <a:r>
              <a:rPr lang="en-US" b="1" dirty="0"/>
              <a:t> respectively. Both the pipes are opened to fill the tank but when the tank is 1/6 full a leak develops in the tank through which 1/6 of the water supplied by both the pipes leak out. What is the total time taken to fill the tank? </a:t>
            </a:r>
            <a:endParaRPr dirty="0"/>
          </a:p>
          <a:p>
            <a:pPr marL="228600" lvl="0" indent="-228600" algn="l" rtl="0">
              <a:lnSpc>
                <a:spcPct val="90000"/>
              </a:lnSpc>
              <a:spcBef>
                <a:spcPts val="1000"/>
              </a:spcBef>
              <a:spcAft>
                <a:spcPts val="0"/>
              </a:spcAft>
              <a:buClr>
                <a:schemeClr val="dk1"/>
              </a:buClr>
              <a:buSzPts val="2400"/>
              <a:buNone/>
            </a:pPr>
            <a:r>
              <a:rPr lang="en-US" b="1" dirty="0"/>
              <a:t>(1) 7 </a:t>
            </a:r>
            <a:r>
              <a:rPr lang="en-US" b="1" dirty="0" err="1"/>
              <a:t>hrs</a:t>
            </a:r>
            <a:r>
              <a:rPr lang="en-US" b="1" dirty="0"/>
              <a:t> 	(2) 5 </a:t>
            </a:r>
            <a:r>
              <a:rPr lang="en-US" b="1" dirty="0" err="1"/>
              <a:t>hrs</a:t>
            </a:r>
            <a:r>
              <a:rPr lang="en-US" b="1" dirty="0"/>
              <a:t> 	(3) 6 </a:t>
            </a:r>
            <a:r>
              <a:rPr lang="en-US" b="1" dirty="0" err="1"/>
              <a:t>hrs</a:t>
            </a:r>
            <a:r>
              <a:rPr lang="en-US" b="1" dirty="0"/>
              <a:t> 	(4) 9 </a:t>
            </a:r>
            <a:r>
              <a:rPr lang="en-US" b="1" dirty="0" err="1"/>
              <a:t>hrs</a:t>
            </a:r>
            <a:r>
              <a:rPr lang="en-US" b="1" dirty="0"/>
              <a:t> 	(5) None of these</a:t>
            </a: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198"/>
        <p:cNvGrpSpPr/>
        <p:nvPr/>
      </p:nvGrpSpPr>
      <p:grpSpPr>
        <a:xfrm>
          <a:off x="0" y="0"/>
          <a:ext cx="0" cy="0"/>
          <a:chOff x="0" y="0"/>
          <a:chExt cx="0" cy="0"/>
        </a:xfrm>
      </p:grpSpPr>
      <p:sp>
        <p:nvSpPr>
          <p:cNvPr id="199" name="Google Shape;199;p1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00" name="Google Shape;200;p1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12. Two pipes can separately fill a tank in 10 hrs and 15 hrs respectively. Both the pipes are opened to fill the tank but when the tank is 1/6 full a leak develops in the tank through which 1/6 of the water supplied by both the pipes leak out. What is the total time taken to fill the tank?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7 hrs </a:t>
            </a:r>
            <a:r>
              <a:rPr lang="en-US" b="1" dirty="0"/>
              <a:t>	(2) 5 hrs 	(3) 6 hrs 	(4) 9 hrs 	(5) None of these</a:t>
            </a: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04"/>
        <p:cNvGrpSpPr/>
        <p:nvPr/>
      </p:nvGrpSpPr>
      <p:grpSpPr>
        <a:xfrm>
          <a:off x="0" y="0"/>
          <a:ext cx="0" cy="0"/>
          <a:chOff x="0" y="0"/>
          <a:chExt cx="0" cy="0"/>
        </a:xfrm>
      </p:grpSpPr>
      <p:sp>
        <p:nvSpPr>
          <p:cNvPr id="205" name="Google Shape;205;p19"/>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06" name="Google Shape;206;p19"/>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13. Two pipes can separately fill a tank in 30 </a:t>
            </a:r>
            <a:r>
              <a:rPr lang="en-US" b="1" dirty="0" err="1"/>
              <a:t>hrs</a:t>
            </a:r>
            <a:r>
              <a:rPr lang="en-US" b="1" dirty="0"/>
              <a:t> and 45 </a:t>
            </a:r>
            <a:r>
              <a:rPr lang="en-US" b="1" dirty="0" err="1"/>
              <a:t>hrs</a:t>
            </a:r>
            <a:r>
              <a:rPr lang="en-US" b="1" dirty="0"/>
              <a:t> respectively. Both the pipes are opened to fill the tank but when the tank is 2/3 full a leak develops in the tank through which 2/3 of the water supplied by both the pipes leak out. What is the total time taken to fill the tank? </a:t>
            </a:r>
            <a:endParaRPr dirty="0"/>
          </a:p>
          <a:p>
            <a:pPr marL="228600" lvl="0" indent="-228600" algn="l" rtl="0">
              <a:lnSpc>
                <a:spcPct val="90000"/>
              </a:lnSpc>
              <a:spcBef>
                <a:spcPts val="1000"/>
              </a:spcBef>
              <a:spcAft>
                <a:spcPts val="0"/>
              </a:spcAft>
              <a:buClr>
                <a:schemeClr val="dk1"/>
              </a:buClr>
              <a:buSzPts val="2400"/>
              <a:buNone/>
            </a:pPr>
            <a:r>
              <a:rPr lang="en-US" b="1" dirty="0"/>
              <a:t>(1) 25 </a:t>
            </a:r>
            <a:r>
              <a:rPr lang="en-US" b="1" dirty="0" err="1"/>
              <a:t>hrs</a:t>
            </a:r>
            <a:r>
              <a:rPr lang="en-US" b="1" dirty="0"/>
              <a:t> 	(2) 30 </a:t>
            </a:r>
            <a:r>
              <a:rPr lang="en-US" b="1" dirty="0" err="1"/>
              <a:t>hrs</a:t>
            </a:r>
            <a:r>
              <a:rPr lang="en-US" b="1" dirty="0"/>
              <a:t> 	(3) 35 </a:t>
            </a:r>
            <a:r>
              <a:rPr lang="en-US" b="1" dirty="0" err="1"/>
              <a:t>hrs</a:t>
            </a:r>
            <a:r>
              <a:rPr lang="en-US" b="1" dirty="0"/>
              <a:t> 	(4) 38 </a:t>
            </a:r>
            <a:r>
              <a:rPr lang="en-US" b="1" dirty="0" err="1"/>
              <a:t>hrs</a:t>
            </a:r>
            <a:r>
              <a:rPr lang="en-US" b="1" dirty="0"/>
              <a:t> 	(5) None of these </a:t>
            </a:r>
            <a:endParaRPr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04"/>
        <p:cNvGrpSpPr/>
        <p:nvPr/>
      </p:nvGrpSpPr>
      <p:grpSpPr>
        <a:xfrm>
          <a:off x="0" y="0"/>
          <a:ext cx="0" cy="0"/>
          <a:chOff x="0" y="0"/>
          <a:chExt cx="0" cy="0"/>
        </a:xfrm>
      </p:grpSpPr>
      <p:sp>
        <p:nvSpPr>
          <p:cNvPr id="205" name="Google Shape;205;p19"/>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06" name="Google Shape;206;p19"/>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13. Two pipes can separately fill a tank in 30 hrs and 45 hrs respectively. Both the pipes are opened to fill the tank but when the tank is 2/3 full a leak develops in the tank through which 2/3 of the water supplied by both the pipes leak out. What is the total time taken to fill the tank? </a:t>
            </a:r>
            <a:endParaRPr dirty="0"/>
          </a:p>
          <a:p>
            <a:pPr marL="228600" lvl="0" indent="-228600" algn="l" rtl="0">
              <a:lnSpc>
                <a:spcPct val="90000"/>
              </a:lnSpc>
              <a:spcBef>
                <a:spcPts val="1000"/>
              </a:spcBef>
              <a:spcAft>
                <a:spcPts val="0"/>
              </a:spcAft>
              <a:buClr>
                <a:schemeClr val="dk1"/>
              </a:buClr>
              <a:buSzPts val="2400"/>
              <a:buNone/>
            </a:pPr>
            <a:r>
              <a:rPr lang="en-US" b="1" dirty="0"/>
              <a:t>(1) 25 hrs 	</a:t>
            </a:r>
            <a:r>
              <a:rPr lang="en-US" b="1" dirty="0">
                <a:solidFill>
                  <a:srgbClr val="FF0000"/>
                </a:solidFill>
              </a:rPr>
              <a:t>(2) 30 hrs </a:t>
            </a:r>
            <a:r>
              <a:rPr lang="en-US" b="1" dirty="0"/>
              <a:t>	(3) 35 hrs 	(4) 38 hrs 	(5) None of these </a:t>
            </a:r>
            <a:endParaRPr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210"/>
        <p:cNvGrpSpPr/>
        <p:nvPr/>
      </p:nvGrpSpPr>
      <p:grpSpPr>
        <a:xfrm>
          <a:off x="0" y="0"/>
          <a:ext cx="0" cy="0"/>
          <a:chOff x="0" y="0"/>
          <a:chExt cx="0" cy="0"/>
        </a:xfrm>
      </p:grpSpPr>
      <p:sp>
        <p:nvSpPr>
          <p:cNvPr id="211" name="Google Shape;211;p20"/>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2" name="Google Shape;212;p20"/>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14</a:t>
            </a:r>
            <a:r>
              <a:rPr lang="en-US" b="1" dirty="0"/>
              <a:t>. A cistern is normally filled in 4 </a:t>
            </a:r>
            <a:r>
              <a:rPr lang="en-US" b="1" dirty="0" err="1"/>
              <a:t>hrs</a:t>
            </a:r>
            <a:r>
              <a:rPr lang="en-US" b="1" dirty="0"/>
              <a:t> but takes 1 hr. longer to fill because of a leak in its bottom. If the cistern is full, the leak will empty it in ____hr. </a:t>
            </a:r>
            <a:endParaRPr dirty="0"/>
          </a:p>
          <a:p>
            <a:pPr marL="228600" lvl="0" indent="-228600" algn="l" rtl="0">
              <a:lnSpc>
                <a:spcPct val="90000"/>
              </a:lnSpc>
              <a:spcBef>
                <a:spcPts val="1000"/>
              </a:spcBef>
              <a:spcAft>
                <a:spcPts val="0"/>
              </a:spcAft>
              <a:buClr>
                <a:schemeClr val="dk1"/>
              </a:buClr>
              <a:buSzPts val="2400"/>
              <a:buNone/>
            </a:pPr>
            <a:r>
              <a:rPr lang="en-US" b="1" dirty="0"/>
              <a:t>(1) 10 </a:t>
            </a:r>
            <a:r>
              <a:rPr lang="en-US" b="1" dirty="0" err="1"/>
              <a:t>hrs</a:t>
            </a:r>
            <a:r>
              <a:rPr lang="en-US" b="1" dirty="0"/>
              <a:t> 	(2) 20 </a:t>
            </a:r>
            <a:r>
              <a:rPr lang="en-US" b="1" dirty="0" err="1"/>
              <a:t>hrs</a:t>
            </a:r>
            <a:r>
              <a:rPr lang="en-US" b="1" dirty="0"/>
              <a:t> 	(3) 15 </a:t>
            </a:r>
            <a:r>
              <a:rPr lang="en-US" b="1" dirty="0" err="1"/>
              <a:t>hrs</a:t>
            </a:r>
            <a:r>
              <a:rPr lang="en-US" b="1" dirty="0"/>
              <a:t> 	(4) 12 </a:t>
            </a:r>
            <a:r>
              <a:rPr lang="en-US" b="1" dirty="0" err="1"/>
              <a:t>hrs</a:t>
            </a:r>
            <a:r>
              <a:rPr lang="en-US" b="1" dirty="0"/>
              <a:t> 	(5) None of these</a:t>
            </a:r>
            <a:endParaRPr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10"/>
        <p:cNvGrpSpPr/>
        <p:nvPr/>
      </p:nvGrpSpPr>
      <p:grpSpPr>
        <a:xfrm>
          <a:off x="0" y="0"/>
          <a:ext cx="0" cy="0"/>
          <a:chOff x="0" y="0"/>
          <a:chExt cx="0" cy="0"/>
        </a:xfrm>
      </p:grpSpPr>
      <p:sp>
        <p:nvSpPr>
          <p:cNvPr id="211" name="Google Shape;211;p20"/>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2" name="Google Shape;212;p20"/>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14</a:t>
            </a:r>
            <a:r>
              <a:rPr lang="en-US" b="1" dirty="0"/>
              <a:t>. A cistern is normally filled in 4 hrs but takes 1 hr. longer to fill because of a leak in its bottom. If the cistern is full, the leak will empty it in ____hr. </a:t>
            </a:r>
            <a:endParaRPr dirty="0"/>
          </a:p>
          <a:p>
            <a:pPr marL="228600" lvl="0" indent="-228600" algn="l" rtl="0">
              <a:lnSpc>
                <a:spcPct val="90000"/>
              </a:lnSpc>
              <a:spcBef>
                <a:spcPts val="1000"/>
              </a:spcBef>
              <a:spcAft>
                <a:spcPts val="0"/>
              </a:spcAft>
              <a:buClr>
                <a:schemeClr val="dk1"/>
              </a:buClr>
              <a:buSzPts val="2400"/>
              <a:buNone/>
            </a:pPr>
            <a:r>
              <a:rPr lang="en-US" b="1" dirty="0"/>
              <a:t>(1) 10 hrs 	</a:t>
            </a:r>
            <a:r>
              <a:rPr lang="en-US" b="1" dirty="0">
                <a:solidFill>
                  <a:srgbClr val="FF0000"/>
                </a:solidFill>
              </a:rPr>
              <a:t>(2) 20 hrs </a:t>
            </a:r>
            <a:r>
              <a:rPr lang="en-US" b="1" dirty="0"/>
              <a:t>	(3) 15 hrs 	(4) 12 hrs 	(5) None of these</a:t>
            </a:r>
            <a:endParaRPr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216"/>
        <p:cNvGrpSpPr/>
        <p:nvPr/>
      </p:nvGrpSpPr>
      <p:grpSpPr>
        <a:xfrm>
          <a:off x="0" y="0"/>
          <a:ext cx="0" cy="0"/>
          <a:chOff x="0" y="0"/>
          <a:chExt cx="0" cy="0"/>
        </a:xfrm>
      </p:grpSpPr>
      <p:sp>
        <p:nvSpPr>
          <p:cNvPr id="217" name="Google Shape;217;p2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8" name="Google Shape;218;p21"/>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15</a:t>
            </a:r>
            <a:r>
              <a:rPr lang="en-US" b="1" dirty="0"/>
              <a:t>. If three taps are opened together, a tank is filled in 6 hrs. One of the taps can fill it in 5 </a:t>
            </a:r>
            <a:r>
              <a:rPr lang="en-US" b="1" dirty="0" err="1"/>
              <a:t>hrs</a:t>
            </a:r>
            <a:r>
              <a:rPr lang="en-US" b="1" dirty="0"/>
              <a:t> and another in 7½ hrs. How does the third tap work?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6 hours, fill pipe 	(2) 8 hours, waste pipe 	(3) 6 hours, waste pipe </a:t>
            </a:r>
            <a:endParaRPr dirty="0"/>
          </a:p>
          <a:p>
            <a:pPr marL="457200" lvl="0" indent="-457200" algn="l" rtl="0">
              <a:lnSpc>
                <a:spcPct val="90000"/>
              </a:lnSpc>
              <a:spcBef>
                <a:spcPts val="1000"/>
              </a:spcBef>
              <a:spcAft>
                <a:spcPts val="0"/>
              </a:spcAft>
              <a:buClr>
                <a:schemeClr val="dk1"/>
              </a:buClr>
              <a:buSzPts val="2400"/>
              <a:buNone/>
            </a:pPr>
            <a:r>
              <a:rPr lang="en-US" b="1" dirty="0"/>
              <a:t>(4) 8 hours, fill pipe 	(5) None of these</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216"/>
        <p:cNvGrpSpPr/>
        <p:nvPr/>
      </p:nvGrpSpPr>
      <p:grpSpPr>
        <a:xfrm>
          <a:off x="0" y="0"/>
          <a:ext cx="0" cy="0"/>
          <a:chOff x="0" y="0"/>
          <a:chExt cx="0" cy="0"/>
        </a:xfrm>
      </p:grpSpPr>
      <p:sp>
        <p:nvSpPr>
          <p:cNvPr id="217" name="Google Shape;217;p2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8" name="Google Shape;218;p21"/>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15</a:t>
            </a:r>
            <a:r>
              <a:rPr lang="en-US" b="1" dirty="0"/>
              <a:t>. If three taps are opened together, a tank is filled in 6 hrs. One of the taps can fill it in 5 hrs and another in 7½ hrs. How does the third tap work?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6 hours, fill pipe 	(2) 8 hours, waste pipe 	</a:t>
            </a:r>
            <a:r>
              <a:rPr lang="en-US" b="1" dirty="0">
                <a:solidFill>
                  <a:srgbClr val="FF0000"/>
                </a:solidFill>
              </a:rPr>
              <a:t>(3) 6 hours, waste pipe </a:t>
            </a:r>
            <a:endParaRPr dirty="0">
              <a:solidFill>
                <a:srgbClr val="FF0000"/>
              </a:solidFill>
            </a:endParaRPr>
          </a:p>
          <a:p>
            <a:pPr marL="457200" lvl="0" indent="-457200" algn="l" rtl="0">
              <a:lnSpc>
                <a:spcPct val="90000"/>
              </a:lnSpc>
              <a:spcBef>
                <a:spcPts val="1000"/>
              </a:spcBef>
              <a:spcAft>
                <a:spcPts val="0"/>
              </a:spcAft>
              <a:buClr>
                <a:schemeClr val="dk1"/>
              </a:buClr>
              <a:buSzPts val="2400"/>
              <a:buNone/>
            </a:pPr>
            <a:r>
              <a:rPr lang="en-US" b="1" dirty="0"/>
              <a:t>(4) 8 hours, fill pipe 	(5) None of these</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222"/>
        <p:cNvGrpSpPr/>
        <p:nvPr/>
      </p:nvGrpSpPr>
      <p:grpSpPr>
        <a:xfrm>
          <a:off x="0" y="0"/>
          <a:ext cx="0" cy="0"/>
          <a:chOff x="0" y="0"/>
          <a:chExt cx="0" cy="0"/>
        </a:xfrm>
      </p:grpSpPr>
      <p:sp>
        <p:nvSpPr>
          <p:cNvPr id="223" name="Google Shape;223;p2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4" name="Google Shape;224;p2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16</a:t>
            </a:r>
            <a:r>
              <a:rPr lang="en-US" b="1" dirty="0"/>
              <a:t>. Two pipes A and B can separately fill in 7½ and 5 minutes respectively and a waste pipe C can carry off 14 liters per minutes. If all the pipes are opened when the cistern is full, it is emptied in 1 hour. How many liters does the cistern hold?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40 liters 		(2) 30 liters 		(3) 325 liters 	(4) 45 liters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222"/>
        <p:cNvGrpSpPr/>
        <p:nvPr/>
      </p:nvGrpSpPr>
      <p:grpSpPr>
        <a:xfrm>
          <a:off x="0" y="0"/>
          <a:ext cx="0" cy="0"/>
          <a:chOff x="0" y="0"/>
          <a:chExt cx="0" cy="0"/>
        </a:xfrm>
      </p:grpSpPr>
      <p:sp>
        <p:nvSpPr>
          <p:cNvPr id="223" name="Google Shape;223;p2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4" name="Google Shape;224;p2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16</a:t>
            </a:r>
            <a:r>
              <a:rPr lang="en-US" b="1" dirty="0"/>
              <a:t>. Two pipes A and B can separately fill in 7½ and 5 minutes respectively and a waste pipe C can carry off 14 liters per minutes. If all the pipes are opened when the cistern is full, it is emptied in 1 hour. How many liters does the cistern hold?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solidFill>
                  <a:srgbClr val="FF0000"/>
                </a:solidFill>
              </a:rPr>
              <a:t>40 liters </a:t>
            </a:r>
            <a:r>
              <a:rPr lang="en-US" b="1" dirty="0"/>
              <a:t>		(2) 30 liters 		(3) 325 liters 	(4) 45 liters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228"/>
        <p:cNvGrpSpPr/>
        <p:nvPr/>
      </p:nvGrpSpPr>
      <p:grpSpPr>
        <a:xfrm>
          <a:off x="0" y="0"/>
          <a:ext cx="0" cy="0"/>
          <a:chOff x="0" y="0"/>
          <a:chExt cx="0" cy="0"/>
        </a:xfrm>
      </p:grpSpPr>
      <p:sp>
        <p:nvSpPr>
          <p:cNvPr id="229" name="Google Shape;229;p2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30" name="Google Shape;230;p23"/>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17</a:t>
            </a:r>
            <a:r>
              <a:rPr lang="en-US" b="1" dirty="0"/>
              <a:t>. Two pipes A and B can separately fill in 30 and 20 minutes respectively and a waste pipe C can carry off 6 liters per minute. If all the pipes are opened when the cistern is full, it is emptied in 60 minutes. How many liters does the cistern hold? </a:t>
            </a:r>
            <a:endParaRPr dirty="0"/>
          </a:p>
          <a:p>
            <a:pPr marL="228600" lvl="0" indent="-228600" algn="l" rtl="0">
              <a:lnSpc>
                <a:spcPct val="90000"/>
              </a:lnSpc>
              <a:spcBef>
                <a:spcPts val="1000"/>
              </a:spcBef>
              <a:spcAft>
                <a:spcPts val="0"/>
              </a:spcAft>
              <a:buClr>
                <a:schemeClr val="dk1"/>
              </a:buClr>
              <a:buSzPts val="2400"/>
              <a:buNone/>
            </a:pPr>
            <a:r>
              <a:rPr lang="en-US" b="1" dirty="0"/>
              <a:t>(1) 10 liters 	(2) 30 liters 	(3) 60 liters 	(4) 45 liters 	(5) None of these</a:t>
            </a:r>
            <a:endParaRPr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228"/>
        <p:cNvGrpSpPr/>
        <p:nvPr/>
      </p:nvGrpSpPr>
      <p:grpSpPr>
        <a:xfrm>
          <a:off x="0" y="0"/>
          <a:ext cx="0" cy="0"/>
          <a:chOff x="0" y="0"/>
          <a:chExt cx="0" cy="0"/>
        </a:xfrm>
      </p:grpSpPr>
      <p:sp>
        <p:nvSpPr>
          <p:cNvPr id="229" name="Google Shape;229;p2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30" name="Google Shape;230;p23"/>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17</a:t>
            </a:r>
            <a:r>
              <a:rPr lang="en-US" b="1" dirty="0"/>
              <a:t>. Two pipes A and B can separately fill in 30 and 20 minutes respectively and a waste pipe C can carry off 6 liters per minute. If all the pipes are opened when the cistern is full, it is emptied in 60 minutes. How many liters does the cistern hold? </a:t>
            </a:r>
            <a:endParaRPr dirty="0"/>
          </a:p>
          <a:p>
            <a:pPr marL="228600" lvl="0" indent="-228600" algn="l" rtl="0">
              <a:lnSpc>
                <a:spcPct val="90000"/>
              </a:lnSpc>
              <a:spcBef>
                <a:spcPts val="1000"/>
              </a:spcBef>
              <a:spcAft>
                <a:spcPts val="0"/>
              </a:spcAft>
              <a:buClr>
                <a:schemeClr val="dk1"/>
              </a:buClr>
              <a:buSzPts val="2400"/>
              <a:buNone/>
            </a:pPr>
            <a:r>
              <a:rPr lang="en-US" b="1" dirty="0"/>
              <a:t>(1) 10 liters 	(2) 30 liters 	(</a:t>
            </a:r>
            <a:r>
              <a:rPr lang="en-US" b="1" dirty="0">
                <a:solidFill>
                  <a:srgbClr val="FF0000"/>
                </a:solidFill>
              </a:rPr>
              <a:t>3) 60 liters </a:t>
            </a:r>
            <a:r>
              <a:rPr lang="en-US" b="1" dirty="0"/>
              <a:t>	(4) 45 liters 	(5) None of these</a:t>
            </a:r>
            <a:endParaRPr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234"/>
        <p:cNvGrpSpPr/>
        <p:nvPr/>
      </p:nvGrpSpPr>
      <p:grpSpPr>
        <a:xfrm>
          <a:off x="0" y="0"/>
          <a:ext cx="0" cy="0"/>
          <a:chOff x="0" y="0"/>
          <a:chExt cx="0" cy="0"/>
        </a:xfrm>
      </p:grpSpPr>
      <p:sp>
        <p:nvSpPr>
          <p:cNvPr id="235" name="Google Shape;235;p2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36" name="Google Shape;236;p2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18</a:t>
            </a:r>
            <a:r>
              <a:rPr lang="en-US" b="1" dirty="0"/>
              <a:t>. There are 10 filling pipes each capable of filling a cistern alone in 6 minutes and 6 emptying pipes each capable of emptying a cistern alone in 8 minutes. All pipes are opened together and as a result, tank fills 22 liters of water per minute. Find the capacity of the tank.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48 liters 		(2) 36 liters 		(3) 24 liters 		(4) 16 liters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234"/>
        <p:cNvGrpSpPr/>
        <p:nvPr/>
      </p:nvGrpSpPr>
      <p:grpSpPr>
        <a:xfrm>
          <a:off x="0" y="0"/>
          <a:ext cx="0" cy="0"/>
          <a:chOff x="0" y="0"/>
          <a:chExt cx="0" cy="0"/>
        </a:xfrm>
      </p:grpSpPr>
      <p:sp>
        <p:nvSpPr>
          <p:cNvPr id="235" name="Google Shape;235;p2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36" name="Google Shape;236;p2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18</a:t>
            </a:r>
            <a:r>
              <a:rPr lang="en-US" b="1" dirty="0"/>
              <a:t>. There are 10 filling pipes each capable of filling a cistern alone in 6 minutes and 6 emptying pipes each capable of emptying a cistern alone in 8 minutes. All pipes are opened together and as a result, tank fills 22 liters of water per minute. Find the capacity of the tank.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48 liters 		(2) 36 liters 		</a:t>
            </a:r>
            <a:r>
              <a:rPr lang="en-US" b="1" dirty="0">
                <a:solidFill>
                  <a:srgbClr val="FF0000"/>
                </a:solidFill>
              </a:rPr>
              <a:t>(3) 24 liters </a:t>
            </a:r>
            <a:r>
              <a:rPr lang="en-US" b="1" dirty="0"/>
              <a:t>		(4) 16 liters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246"/>
        <p:cNvGrpSpPr/>
        <p:nvPr/>
      </p:nvGrpSpPr>
      <p:grpSpPr>
        <a:xfrm>
          <a:off x="0" y="0"/>
          <a:ext cx="0" cy="0"/>
          <a:chOff x="0" y="0"/>
          <a:chExt cx="0" cy="0"/>
        </a:xfrm>
      </p:grpSpPr>
      <p:sp>
        <p:nvSpPr>
          <p:cNvPr id="247" name="Google Shape;247;p2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48" name="Google Shape;248;p2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19</a:t>
            </a:r>
            <a:r>
              <a:rPr lang="en-US" b="1" dirty="0"/>
              <a:t>. Two pipes can fill a cistern in 10 and 15 hours respectively. The pipes are opened simultaneously and it is found that due to leakage in the bottom, 2 </a:t>
            </a:r>
            <a:r>
              <a:rPr lang="en-US" b="1" dirty="0" err="1"/>
              <a:t>hrs</a:t>
            </a:r>
            <a:r>
              <a:rPr lang="en-US" b="1" dirty="0"/>
              <a:t> extra are taken for the cistern to be filled up. If the cistern is full, in what time would the leak empty it? </a:t>
            </a:r>
            <a:endParaRPr dirty="0"/>
          </a:p>
          <a:p>
            <a:pPr marL="228600" lvl="0" indent="-228600" algn="l" rtl="0">
              <a:lnSpc>
                <a:spcPct val="90000"/>
              </a:lnSpc>
              <a:spcBef>
                <a:spcPts val="1000"/>
              </a:spcBef>
              <a:spcAft>
                <a:spcPts val="0"/>
              </a:spcAft>
              <a:buClr>
                <a:schemeClr val="dk1"/>
              </a:buClr>
              <a:buSzPts val="2400"/>
              <a:buNone/>
            </a:pPr>
            <a:r>
              <a:rPr lang="en-US" b="1" dirty="0"/>
              <a:t>(1) 20 </a:t>
            </a:r>
            <a:r>
              <a:rPr lang="en-US" b="1" dirty="0" err="1"/>
              <a:t>hrs</a:t>
            </a:r>
            <a:r>
              <a:rPr lang="en-US" b="1" dirty="0"/>
              <a:t> 	(2) 21 </a:t>
            </a:r>
            <a:r>
              <a:rPr lang="en-US" b="1" dirty="0" err="1"/>
              <a:t>hrs</a:t>
            </a:r>
            <a:r>
              <a:rPr lang="en-US" b="1" dirty="0"/>
              <a:t> 	(3) 24 </a:t>
            </a:r>
            <a:r>
              <a:rPr lang="en-US" b="1" dirty="0" err="1"/>
              <a:t>hrs</a:t>
            </a:r>
            <a:r>
              <a:rPr lang="en-US" b="1" dirty="0"/>
              <a:t> 	(4) 28 </a:t>
            </a:r>
            <a:r>
              <a:rPr lang="en-US" b="1" dirty="0" err="1"/>
              <a:t>hrs</a:t>
            </a:r>
            <a:r>
              <a:rPr lang="en-US" b="1" dirty="0"/>
              <a:t> 	(5) None of these</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246"/>
        <p:cNvGrpSpPr/>
        <p:nvPr/>
      </p:nvGrpSpPr>
      <p:grpSpPr>
        <a:xfrm>
          <a:off x="0" y="0"/>
          <a:ext cx="0" cy="0"/>
          <a:chOff x="0" y="0"/>
          <a:chExt cx="0" cy="0"/>
        </a:xfrm>
      </p:grpSpPr>
      <p:sp>
        <p:nvSpPr>
          <p:cNvPr id="247" name="Google Shape;247;p2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48" name="Google Shape;248;p2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19</a:t>
            </a:r>
            <a:r>
              <a:rPr lang="en-US" b="1" dirty="0"/>
              <a:t>. Two pipes can fill a cistern in 10 and 15 hours respectively. The pipes are opened simultaneously and it is found that due to leakage in the bottom, 2 hrs extra are taken for the cistern to be filled up. If the cistern is full, in what time would the leak empty it? </a:t>
            </a:r>
            <a:endParaRPr dirty="0"/>
          </a:p>
          <a:p>
            <a:pPr marL="228600" lvl="0" indent="-228600" algn="l" rtl="0">
              <a:lnSpc>
                <a:spcPct val="90000"/>
              </a:lnSpc>
              <a:spcBef>
                <a:spcPts val="1000"/>
              </a:spcBef>
              <a:spcAft>
                <a:spcPts val="0"/>
              </a:spcAft>
              <a:buClr>
                <a:schemeClr val="dk1"/>
              </a:buClr>
              <a:buSzPts val="2400"/>
              <a:buNone/>
            </a:pPr>
            <a:r>
              <a:rPr lang="en-US" b="1" dirty="0"/>
              <a:t>(1) 20 hrs 	(2) 21 hrs 	</a:t>
            </a:r>
            <a:r>
              <a:rPr lang="en-US" b="1" dirty="0">
                <a:solidFill>
                  <a:srgbClr val="FF0000"/>
                </a:solidFill>
              </a:rPr>
              <a:t>(3) 24 hrs </a:t>
            </a:r>
            <a:r>
              <a:rPr lang="en-US" b="1" dirty="0"/>
              <a:t>	(4) 28 hrs 	(5) None of these</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258"/>
        <p:cNvGrpSpPr/>
        <p:nvPr/>
      </p:nvGrpSpPr>
      <p:grpSpPr>
        <a:xfrm>
          <a:off x="0" y="0"/>
          <a:ext cx="0" cy="0"/>
          <a:chOff x="0" y="0"/>
          <a:chExt cx="0" cy="0"/>
        </a:xfrm>
      </p:grpSpPr>
      <p:sp>
        <p:nvSpPr>
          <p:cNvPr id="259" name="Google Shape;259;p2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60" name="Google Shape;260;p2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20</a:t>
            </a:r>
            <a:r>
              <a:rPr lang="en-US" b="1" dirty="0"/>
              <a:t>. A cistern has a leak which would empty it in 4 hours. A tap is turned on which admits 3 liters a minute into the cistern, and it is now emptied in 6 hours. How many liters does the cistern hold?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360 liters 	(2) 1080 liters 	(3) 2160 liters 	(4) 2260 liters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258"/>
        <p:cNvGrpSpPr/>
        <p:nvPr/>
      </p:nvGrpSpPr>
      <p:grpSpPr>
        <a:xfrm>
          <a:off x="0" y="0"/>
          <a:ext cx="0" cy="0"/>
          <a:chOff x="0" y="0"/>
          <a:chExt cx="0" cy="0"/>
        </a:xfrm>
      </p:grpSpPr>
      <p:sp>
        <p:nvSpPr>
          <p:cNvPr id="259" name="Google Shape;259;p2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60" name="Google Shape;260;p2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20</a:t>
            </a:r>
            <a:r>
              <a:rPr lang="en-US" b="1" dirty="0"/>
              <a:t>. A cistern has a leak which would empty it in 4 hours. A tap is turned on which admits 3 liters a minute into the cistern, and it is now emptied in 6 hours. How many liters does the cistern hold?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360 liters 	(2) 1080 liters 	</a:t>
            </a:r>
            <a:r>
              <a:rPr lang="en-US" b="1" dirty="0">
                <a:solidFill>
                  <a:srgbClr val="FF0000"/>
                </a:solidFill>
              </a:rPr>
              <a:t>(3) 2160 liters </a:t>
            </a:r>
            <a:r>
              <a:rPr lang="en-US" b="1" dirty="0"/>
              <a:t>	(4) 2260 liters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264"/>
        <p:cNvGrpSpPr/>
        <p:nvPr/>
      </p:nvGrpSpPr>
      <p:grpSpPr>
        <a:xfrm>
          <a:off x="0" y="0"/>
          <a:ext cx="0" cy="0"/>
          <a:chOff x="0" y="0"/>
          <a:chExt cx="0" cy="0"/>
        </a:xfrm>
      </p:grpSpPr>
      <p:sp>
        <p:nvSpPr>
          <p:cNvPr id="265" name="Google Shape;265;p29"/>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66" name="Google Shape;266;p29"/>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21</a:t>
            </a:r>
            <a:r>
              <a:rPr lang="en-US" b="1" dirty="0"/>
              <a:t>. A cistern has a leak which would empty it in 10 hours. A tap is turned on which admits 2 liters per hr. into the cistern, and it is now emptied in 15 hours. How many liters does the cistern hold? </a:t>
            </a:r>
            <a:endParaRPr dirty="0"/>
          </a:p>
          <a:p>
            <a:pPr marL="228600" lvl="0" indent="-228600" algn="l" rtl="0">
              <a:lnSpc>
                <a:spcPct val="90000"/>
              </a:lnSpc>
              <a:spcBef>
                <a:spcPts val="1000"/>
              </a:spcBef>
              <a:spcAft>
                <a:spcPts val="0"/>
              </a:spcAft>
              <a:buClr>
                <a:schemeClr val="dk1"/>
              </a:buClr>
              <a:buSzPts val="2400"/>
              <a:buNone/>
            </a:pPr>
            <a:r>
              <a:rPr lang="en-US" b="1" dirty="0"/>
              <a:t>(1) 50 liters 	(2) 60 liters 	(3) 45 liters 	(4) 360 liters   (5) None of these</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264"/>
        <p:cNvGrpSpPr/>
        <p:nvPr/>
      </p:nvGrpSpPr>
      <p:grpSpPr>
        <a:xfrm>
          <a:off x="0" y="0"/>
          <a:ext cx="0" cy="0"/>
          <a:chOff x="0" y="0"/>
          <a:chExt cx="0" cy="0"/>
        </a:xfrm>
      </p:grpSpPr>
      <p:sp>
        <p:nvSpPr>
          <p:cNvPr id="265" name="Google Shape;265;p29"/>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66" name="Google Shape;266;p29"/>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21</a:t>
            </a:r>
            <a:r>
              <a:rPr lang="en-US" b="1" dirty="0"/>
              <a:t>. A cistern has a leak which would empty it in 10 hours. A tap is turned on which admits 2 liters per hr. into the cistern, and it is now emptied in 15 hours. How many liters does the cistern hold? </a:t>
            </a:r>
            <a:endParaRPr dirty="0"/>
          </a:p>
          <a:p>
            <a:pPr marL="228600" lvl="0" indent="-228600" algn="l" rtl="0">
              <a:lnSpc>
                <a:spcPct val="90000"/>
              </a:lnSpc>
              <a:spcBef>
                <a:spcPts val="1000"/>
              </a:spcBef>
              <a:spcAft>
                <a:spcPts val="0"/>
              </a:spcAft>
              <a:buClr>
                <a:schemeClr val="dk1"/>
              </a:buClr>
              <a:buSzPts val="2400"/>
              <a:buNone/>
            </a:pPr>
            <a:r>
              <a:rPr lang="en-US" b="1" dirty="0"/>
              <a:t>(1) 50 liters 	(2</a:t>
            </a:r>
            <a:r>
              <a:rPr lang="en-US" b="1" dirty="0">
                <a:solidFill>
                  <a:srgbClr val="FF0000"/>
                </a:solidFill>
              </a:rPr>
              <a:t>) 60 liters </a:t>
            </a:r>
            <a:r>
              <a:rPr lang="en-US" b="1" dirty="0"/>
              <a:t>	(3) 45 liters 	(4) 360 liters   (5) None of these</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270"/>
        <p:cNvGrpSpPr/>
        <p:nvPr/>
      </p:nvGrpSpPr>
      <p:grpSpPr>
        <a:xfrm>
          <a:off x="0" y="0"/>
          <a:ext cx="0" cy="0"/>
          <a:chOff x="0" y="0"/>
          <a:chExt cx="0" cy="0"/>
        </a:xfrm>
      </p:grpSpPr>
      <p:sp>
        <p:nvSpPr>
          <p:cNvPr id="271" name="Google Shape;271;p30"/>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2" name="Google Shape;272;p30"/>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22</a:t>
            </a:r>
            <a:r>
              <a:rPr lang="en-US" b="1" dirty="0"/>
              <a:t>. One filling pipe A is 5 times faster than second filling pipe B. If B can fill a cistern in 36 minutes, then find the time when the cistern will be full if both fill pipes are opened together.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6 minutes 	(2) 8 minutes 	(3) 4 minutes 	(4) 12 minutes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270"/>
        <p:cNvGrpSpPr/>
        <p:nvPr/>
      </p:nvGrpSpPr>
      <p:grpSpPr>
        <a:xfrm>
          <a:off x="0" y="0"/>
          <a:ext cx="0" cy="0"/>
          <a:chOff x="0" y="0"/>
          <a:chExt cx="0" cy="0"/>
        </a:xfrm>
      </p:grpSpPr>
      <p:sp>
        <p:nvSpPr>
          <p:cNvPr id="271" name="Google Shape;271;p30"/>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72" name="Google Shape;272;p30"/>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22</a:t>
            </a:r>
            <a:r>
              <a:rPr lang="en-US" b="1" dirty="0"/>
              <a:t>. One filling pipe A is 5 times faster than second filling pipe B. If B can fill a cistern in 36 minutes, then find the time when the cistern will be full if both fill pipes are opened together.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solidFill>
                  <a:srgbClr val="FF0000"/>
                </a:solidFill>
              </a:rPr>
              <a:t>6 minutes </a:t>
            </a:r>
            <a:r>
              <a:rPr lang="en-US" b="1" dirty="0"/>
              <a:t>	(2) 8 minutes 	(3) 4 minutes 	(4) 12 minutes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282"/>
        <p:cNvGrpSpPr/>
        <p:nvPr/>
      </p:nvGrpSpPr>
      <p:grpSpPr>
        <a:xfrm>
          <a:off x="0" y="0"/>
          <a:ext cx="0" cy="0"/>
          <a:chOff x="0" y="0"/>
          <a:chExt cx="0" cy="0"/>
        </a:xfrm>
      </p:grpSpPr>
      <p:sp>
        <p:nvSpPr>
          <p:cNvPr id="283" name="Google Shape;283;p3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84" name="Google Shape;284;p3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23</a:t>
            </a:r>
            <a:r>
              <a:rPr lang="en-US" b="1" dirty="0"/>
              <a:t>. 8 taps are fitted to a water tank. Some of them are water taps to fill the tank and the remaining are outlet taps used to empty the tank. Each water tap can fill the tank in 12 hours and each outlet tap can empty it in 36 hours. On opening all the taps, the tank is filled in 3 hours. Find the number of water taps. </a:t>
            </a:r>
            <a:endParaRPr dirty="0"/>
          </a:p>
          <a:p>
            <a:pPr marL="228600" lvl="0" indent="-228600" algn="l" rtl="0">
              <a:lnSpc>
                <a:spcPct val="90000"/>
              </a:lnSpc>
              <a:spcBef>
                <a:spcPts val="1000"/>
              </a:spcBef>
              <a:spcAft>
                <a:spcPts val="0"/>
              </a:spcAft>
              <a:buClr>
                <a:schemeClr val="dk1"/>
              </a:buClr>
              <a:buSzPts val="2400"/>
              <a:buNone/>
            </a:pPr>
            <a:r>
              <a:rPr lang="en-US" b="1" dirty="0"/>
              <a:t>(1) 5 		(2) 4 		(3) 3 		(4) 2 		(5) None of these</a:t>
            </a:r>
            <a:endParaRPr b="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282"/>
        <p:cNvGrpSpPr/>
        <p:nvPr/>
      </p:nvGrpSpPr>
      <p:grpSpPr>
        <a:xfrm>
          <a:off x="0" y="0"/>
          <a:ext cx="0" cy="0"/>
          <a:chOff x="0" y="0"/>
          <a:chExt cx="0" cy="0"/>
        </a:xfrm>
      </p:grpSpPr>
      <p:sp>
        <p:nvSpPr>
          <p:cNvPr id="283" name="Google Shape;283;p3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84" name="Google Shape;284;p3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23</a:t>
            </a:r>
            <a:r>
              <a:rPr lang="en-US" b="1" dirty="0"/>
              <a:t>. 8 taps are fitted to a water tank. Some of them are water taps to fill the tank and the remaining are outlet taps used to empty the tank. Each water tap can fill the tank in 12 hours and each outlet tap can empty it in 36 hours. On opening all the taps, the tank is filled in 3 hours. Find the number of water taps.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5 	</a:t>
            </a:r>
            <a:r>
              <a:rPr lang="en-US" b="1" dirty="0"/>
              <a:t>	(2) 4 		(3) 3 		(4) 2 		(5) None of these</a:t>
            </a:r>
            <a:endParaRPr b="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96" name="Google Shape;296;p3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24</a:t>
            </a:r>
            <a:r>
              <a:rPr lang="en-US" b="1" dirty="0"/>
              <a:t>. 9 taps are fitted to a water tank. Some of them are water taps to fill the tank and the remaining are outlet taps used to empty the tank. Each water tap can fill the tank in 9 hours and each outlet tap can empty it in 9 hours. On opening all the taps, the tank is filled in 9 hours. Find the number of water taps.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4 		(2) 5 		(3) 6 	   (4) Can’t be determined </a:t>
            </a:r>
            <a:r>
              <a:rPr lang="en-US" dirty="0"/>
              <a:t>      </a:t>
            </a:r>
            <a:r>
              <a:rPr lang="en-US" b="1" dirty="0"/>
              <a:t>(5) None of these</a:t>
            </a:r>
            <a:endParaRPr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96" name="Google Shape;296;p3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PIPES AND CISTERN</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24</a:t>
            </a:r>
            <a:r>
              <a:rPr lang="en-US" b="1" dirty="0"/>
              <a:t>. 9 taps are fitted to a water tank. Some of them are water taps to fill the tank and the remaining are outlet taps used to empty the tank. Each water tap can fill the tank in 9 hours and each outlet tap can empty it in 9 hours. On opening all the taps, the tank is filled in 9 hours. Find the number of water taps.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4 		</a:t>
            </a:r>
            <a:r>
              <a:rPr lang="en-US" b="1" dirty="0">
                <a:solidFill>
                  <a:srgbClr val="FF0000"/>
                </a:solidFill>
              </a:rPr>
              <a:t>(2) 5        </a:t>
            </a:r>
            <a:r>
              <a:rPr lang="en-US" b="1" dirty="0"/>
              <a:t>(3) 6        (4) Can’t be determined </a:t>
            </a:r>
            <a:r>
              <a:rPr lang="en-US" dirty="0"/>
              <a:t>              </a:t>
            </a:r>
            <a:r>
              <a:rPr lang="en-US" b="1" dirty="0"/>
              <a:t>(5) None of these</a:t>
            </a:r>
            <a:endParaRPr b="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318"/>
        <p:cNvGrpSpPr/>
        <p:nvPr/>
      </p:nvGrpSpPr>
      <p:grpSpPr>
        <a:xfrm>
          <a:off x="0" y="0"/>
          <a:ext cx="0" cy="0"/>
          <a:chOff x="0" y="0"/>
          <a:chExt cx="0" cy="0"/>
        </a:xfrm>
      </p:grpSpPr>
      <p:sp>
        <p:nvSpPr>
          <p:cNvPr id="319" name="Google Shape;319;g1f70943e388_0_0"/>
          <p:cNvSpPr txBox="1"/>
          <p:nvPr/>
        </p:nvSpPr>
        <p:spPr>
          <a:xfrm>
            <a:off x="48475" y="1078375"/>
            <a:ext cx="11971200" cy="332395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dirty="0">
                <a:solidFill>
                  <a:schemeClr val="dk1"/>
                </a:solidFill>
              </a:rPr>
              <a:t>                        </a:t>
            </a:r>
          </a:p>
          <a:p>
            <a:pPr marL="0" lvl="0" indent="0" algn="l" rtl="0">
              <a:spcBef>
                <a:spcPts val="0"/>
              </a:spcBef>
              <a:spcAft>
                <a:spcPts val="0"/>
              </a:spcAft>
              <a:buNone/>
            </a:pPr>
            <a:endParaRPr lang="en-US" sz="2400" dirty="0">
              <a:solidFill>
                <a:schemeClr val="dk1"/>
              </a:solidFill>
            </a:endParaRPr>
          </a:p>
          <a:p>
            <a:pPr marL="0" lvl="0" indent="0" algn="l" rtl="0">
              <a:spcBef>
                <a:spcPts val="0"/>
              </a:spcBef>
              <a:spcAft>
                <a:spcPts val="0"/>
              </a:spcAft>
              <a:buNone/>
            </a:pPr>
            <a:endParaRPr lang="en-US" sz="2400" dirty="0">
              <a:solidFill>
                <a:schemeClr val="dk1"/>
              </a:solidFill>
            </a:endParaRPr>
          </a:p>
          <a:p>
            <a:pPr marL="0" lvl="0" indent="0" algn="l" rtl="0">
              <a:spcBef>
                <a:spcPts val="0"/>
              </a:spcBef>
              <a:spcAft>
                <a:spcPts val="0"/>
              </a:spcAft>
              <a:buNone/>
            </a:pPr>
            <a:endParaRPr lang="en-US" sz="2400" dirty="0">
              <a:solidFill>
                <a:schemeClr val="dk1"/>
              </a:solidFill>
            </a:endParaRPr>
          </a:p>
          <a:p>
            <a:pPr marL="0" lvl="0" indent="0" algn="l" rtl="0">
              <a:spcBef>
                <a:spcPts val="0"/>
              </a:spcBef>
              <a:spcAft>
                <a:spcPts val="0"/>
              </a:spcAft>
              <a:buNone/>
            </a:pPr>
            <a:endParaRPr lang="en-US" sz="2400" dirty="0">
              <a:solidFill>
                <a:schemeClr val="dk1"/>
              </a:solidFill>
            </a:endParaRPr>
          </a:p>
          <a:p>
            <a:pPr marL="0" lvl="0" indent="0" algn="l" rtl="0">
              <a:spcBef>
                <a:spcPts val="0"/>
              </a:spcBef>
              <a:spcAft>
                <a:spcPts val="0"/>
              </a:spcAft>
              <a:buNone/>
            </a:pPr>
            <a:endParaRPr lang="en-US" sz="2400" dirty="0">
              <a:solidFill>
                <a:schemeClr val="dk1"/>
              </a:solidFill>
            </a:endParaRPr>
          </a:p>
          <a:p>
            <a:pPr marL="0" lvl="0" indent="0" algn="l" rtl="0">
              <a:spcBef>
                <a:spcPts val="0"/>
              </a:spcBef>
              <a:spcAft>
                <a:spcPts val="0"/>
              </a:spcAft>
              <a:buNone/>
            </a:pPr>
            <a:r>
              <a:rPr lang="en-US" sz="2400" b="1" dirty="0">
                <a:solidFill>
                  <a:schemeClr val="dk1"/>
                </a:solidFill>
              </a:rPr>
              <a:t>                                            </a:t>
            </a:r>
            <a:r>
              <a:rPr lang="en-US" sz="6000" b="1" dirty="0">
                <a:solidFill>
                  <a:srgbClr val="FF0000"/>
                </a:solidFill>
              </a:rPr>
              <a:t>THANK   YOU</a:t>
            </a:r>
            <a:endParaRPr sz="6000" b="1" dirty="0">
              <a:solidFill>
                <a:srgbClr val="FF0000"/>
              </a:solidFill>
            </a:endParaRPr>
          </a:p>
        </p:txBody>
      </p:sp>
    </p:spTree>
    <p:extLst>
      <p:ext uri="{BB962C8B-B14F-4D97-AF65-F5344CB8AC3E}">
        <p14:creationId xmlns:p14="http://schemas.microsoft.com/office/powerpoint/2010/main" val="309444587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329</TotalTime>
  <Words>4455</Words>
  <Application>Microsoft Office PowerPoint</Application>
  <PresentationFormat>Widescreen</PresentationFormat>
  <Paragraphs>253</Paragraphs>
  <Slides>52</Slides>
  <Notes>52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Arial Black</vt:lpstr>
      <vt:lpstr>Calibri</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APTITUDE</dc:title>
  <dc:creator>anuj gupta</dc:creator>
  <cp:lastModifiedBy>raj singh</cp:lastModifiedBy>
  <cp:revision>13</cp:revision>
  <dcterms:created xsi:type="dcterms:W3CDTF">2020-02-23T06:37:57Z</dcterms:created>
  <dcterms:modified xsi:type="dcterms:W3CDTF">2025-06-03T07:57:33Z</dcterms:modified>
</cp:coreProperties>
</file>