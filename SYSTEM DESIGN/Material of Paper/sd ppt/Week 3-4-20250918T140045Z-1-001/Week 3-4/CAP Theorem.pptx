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37" roundtripDataSignature="AMtx7mjaFx6GjwMUuHsCiFf+dXfbVCga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A291EB-8090-4C92-A5D7-5BD844D5B1C5}">
  <a:tblStyle styleId="{BAA291EB-8090-4C92-A5D7-5BD844D5B1C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6385e8c1c1_0_10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g36385e8c1c1_0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 name="Google Shape;43;g36385e8c1c1_0_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4" name="Google Shape;44;g36385e8c1c1_0_10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6385e8c1c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 name="Google Shape;55;g36385e8c1c1_0_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385e8c1c1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6" name="Google Shape;66;g36385e8c1c1_0_1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6385e8c1c1_0_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4" name="Google Shape;74;g36385e8c1c1_0_1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385e8c1c1_0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3" name="Google Shape;83;g36385e8c1c1_0_25: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385e8c1c1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2" name="Google Shape;92;g36385e8c1c1_0_3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6385e8c1c1_0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1" name="Google Shape;101;g36385e8c1c1_0_41: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385e8c1c1_0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7" name="Google Shape;107;g36385e8c1c1_0_46: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385e8c1c1_0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g36385e8c1c1_0_52: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385e8c1c1_0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2" name="Google Shape;122;g36385e8c1c1_0_59: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385e8c1c1_0_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9" name="Google Shape;129;g36385e8c1c1_0_65: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219a47dff_4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5" name="Google Shape;135;g37219a47dff_4_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219a47dff_4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3" name="Google Shape;143;g37219a47dff_4_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219a47dff_4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0" name="Google Shape;150;g37219a47dff_4_1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219a47dff_4_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6" name="Google Shape;156;g37219a47dff_4_1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7219a47dff_4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2" name="Google Shape;162;g37219a47dff_4_2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219a47dff_4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8" name="Google Shape;168;g37219a47dff_4_2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7219a47dff_4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4" name="Google Shape;174;g37219a47dff_4_3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219a47dff_4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0" name="Google Shape;180;g37219a47dff_4_3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219a47dff_4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6" name="Google Shape;186;g37219a47dff_4_4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7219a47dff_4_85: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7219a47dff_4_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3" name="Google Shape;193;g37219a47dff_4_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219a47dff_4_92: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7219a47dff_4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1" name="Google Shape;201;g37219a47dff_4_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219a47dff_4_98: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7219a47dff_4_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8" name="Google Shape;208;g37219a47dff_4_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219a47dff_4_104: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7219a47dff_4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5" name="Google Shape;215;g37219a47dff_4_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219a47dff_4_111: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7219a47dff_4_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3" name="Google Shape;223;g37219a47dff_4_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219a47dff_4_11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7219a47dff_4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0" name="Google Shape;230;g37219a47dff_4_1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219a47dff_4_123: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7219a47dff_4_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7" name="Google Shape;237;g37219a47dff_4_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219a47dff_4_129: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7219a47dff_4_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4" name="Google Shape;244;g37219a47dff_4_1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7219a47dff_4_136: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7219a47dff_4_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2" name="Google Shape;252;g37219a47dff_4_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7219a47dff_4_142: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7219a47dff_4_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9" name="Google Shape;259;g37219a47dff_4_1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9"/>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pic>
        <p:nvPicPr>
          <p:cNvPr descr="LOGO.gif" id="29" name="Google Shape;29;g36385e8c1c1_0_156"/>
          <p:cNvPicPr preferRelativeResize="0"/>
          <p:nvPr/>
        </p:nvPicPr>
        <p:blipFill rotWithShape="1">
          <a:blip r:embed="rId2">
            <a:alphaModFix/>
          </a:blip>
          <a:srcRect b="10714" l="0" r="0" t="0"/>
          <a:stretch/>
        </p:blipFill>
        <p:spPr>
          <a:xfrm>
            <a:off x="10270103" y="274375"/>
            <a:ext cx="3224331" cy="762147"/>
          </a:xfrm>
          <a:prstGeom prst="rect">
            <a:avLst/>
          </a:prstGeom>
          <a:noFill/>
          <a:ln>
            <a:noFill/>
          </a:ln>
        </p:spPr>
      </p:pic>
      <p:grpSp>
        <p:nvGrpSpPr>
          <p:cNvPr id="30" name="Google Shape;30;g36385e8c1c1_0_156"/>
          <p:cNvGrpSpPr/>
          <p:nvPr/>
        </p:nvGrpSpPr>
        <p:grpSpPr>
          <a:xfrm>
            <a:off x="9633266" y="-122"/>
            <a:ext cx="4697369" cy="1051735"/>
            <a:chOff x="6096000" y="3924300"/>
            <a:chExt cx="2997300" cy="876300"/>
          </a:xfrm>
        </p:grpSpPr>
        <p:sp>
          <p:nvSpPr>
            <p:cNvPr id="31" name="Google Shape;31;g36385e8c1c1_0_156"/>
            <p:cNvSpPr/>
            <p:nvPr/>
          </p:nvSpPr>
          <p:spPr>
            <a:xfrm>
              <a:off x="6096000" y="3924300"/>
              <a:ext cx="29973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32" name="Google Shape;32;g36385e8c1c1_0_156"/>
            <p:cNvPicPr preferRelativeResize="0"/>
            <p:nvPr/>
          </p:nvPicPr>
          <p:blipFill rotWithShape="1">
            <a:blip r:embed="rId2">
              <a:alphaModFix/>
            </a:blip>
            <a:srcRect b="10714" l="0" r="0" t="0"/>
            <a:stretch/>
          </p:blipFill>
          <p:spPr>
            <a:xfrm>
              <a:off x="6502400" y="4152900"/>
              <a:ext cx="2057400" cy="635000"/>
            </a:xfrm>
            <a:prstGeom prst="rect">
              <a:avLst/>
            </a:prstGeom>
            <a:noFill/>
            <a:ln>
              <a:noFill/>
            </a:ln>
          </p:spPr>
        </p:pic>
        <p:sp>
          <p:nvSpPr>
            <p:cNvPr id="33" name="Google Shape;33;g36385e8c1c1_0_156"/>
            <p:cNvSpPr/>
            <p:nvPr/>
          </p:nvSpPr>
          <p:spPr>
            <a:xfrm>
              <a:off x="6477000" y="4114800"/>
              <a:ext cx="207660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4" name="Google Shape;34;g36385e8c1c1_0_156"/>
          <p:cNvPicPr preferRelativeResize="0"/>
          <p:nvPr/>
        </p:nvPicPr>
        <p:blipFill rotWithShape="1">
          <a:blip r:embed="rId3">
            <a:alphaModFix/>
          </a:blip>
          <a:srcRect b="0" l="0" r="0" t="0"/>
          <a:stretch/>
        </p:blipFill>
        <p:spPr>
          <a:xfrm>
            <a:off x="10270101" y="274378"/>
            <a:ext cx="3010370" cy="731662"/>
          </a:xfrm>
          <a:prstGeom prst="rect">
            <a:avLst/>
          </a:prstGeom>
          <a:noFill/>
          <a:ln>
            <a:noFill/>
          </a:ln>
        </p:spPr>
      </p:pic>
      <p:sp>
        <p:nvSpPr>
          <p:cNvPr id="35" name="Google Shape;35;g36385e8c1c1_0_156"/>
          <p:cNvSpPr txBox="1"/>
          <p:nvPr>
            <p:ph type="title"/>
          </p:nvPr>
        </p:nvSpPr>
        <p:spPr>
          <a:xfrm>
            <a:off x="1" y="2"/>
            <a:ext cx="10150800" cy="1005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g36385e8c1c1_0_156"/>
          <p:cNvSpPr txBox="1"/>
          <p:nvPr>
            <p:ph idx="1" type="body"/>
          </p:nvPr>
        </p:nvSpPr>
        <p:spPr>
          <a:xfrm>
            <a:off x="716522" y="1646250"/>
            <a:ext cx="12897300" cy="5432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g36385e8c1c1_0_156"/>
          <p:cNvSpPr txBox="1"/>
          <p:nvPr>
            <p:ph idx="10" type="dt"/>
          </p:nvPr>
        </p:nvSpPr>
        <p:spPr>
          <a:xfrm>
            <a:off x="716518" y="7629104"/>
            <a:ext cx="3343800" cy="4383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36385e8c1c1_0_156"/>
          <p:cNvSpPr txBox="1"/>
          <p:nvPr>
            <p:ph idx="11" type="ftr"/>
          </p:nvPr>
        </p:nvSpPr>
        <p:spPr>
          <a:xfrm>
            <a:off x="4896212" y="7629104"/>
            <a:ext cx="4537800" cy="4383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6385e8c1c1_0_156"/>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4.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1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8"/>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8"/>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8"/>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18"/>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18"/>
          <p:cNvGrpSpPr/>
          <p:nvPr/>
        </p:nvGrpSpPr>
        <p:grpSpPr>
          <a:xfrm>
            <a:off x="9633189" y="2"/>
            <a:ext cx="4697174" cy="1051763"/>
            <a:chOff x="6096000" y="3924300"/>
            <a:chExt cx="2997200" cy="876300"/>
          </a:xfrm>
        </p:grpSpPr>
        <p:sp>
          <p:nvSpPr>
            <p:cNvPr id="20" name="Google Shape;20;p18"/>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18"/>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8"/>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18"/>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hyperlink" Target="https://www.geeksforgeeks.org/what-is-a-distributed-syste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g36385e8c1c1_0_107"/>
          <p:cNvSpPr txBox="1"/>
          <p:nvPr/>
        </p:nvSpPr>
        <p:spPr>
          <a:xfrm>
            <a:off x="3134773" y="7036631"/>
            <a:ext cx="81504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Chitkara University Institute of Engineering and Technology,</a:t>
            </a:r>
            <a:br>
              <a:rPr b="0"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Chitkara University, Punjab, India</a:t>
            </a:r>
            <a:endParaRPr b="0" i="0" sz="1800" u="none" cap="none" strike="noStrike">
              <a:solidFill>
                <a:schemeClr val="dk1"/>
              </a:solidFill>
              <a:latin typeface="Times New Roman"/>
              <a:ea typeface="Times New Roman"/>
              <a:cs typeface="Times New Roman"/>
              <a:sym typeface="Times New Roman"/>
            </a:endParaRPr>
          </a:p>
        </p:txBody>
      </p:sp>
      <p:sp>
        <p:nvSpPr>
          <p:cNvPr id="47" name="Google Shape;47;g36385e8c1c1_0_10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48" name="Google Shape;48;g36385e8c1c1_0_107"/>
          <p:cNvSpPr/>
          <p:nvPr/>
        </p:nvSpPr>
        <p:spPr>
          <a:xfrm>
            <a:off x="3205359" y="6477391"/>
            <a:ext cx="7830000" cy="559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9" name="Google Shape;49;g36385e8c1c1_0_107"/>
          <p:cNvSpPr/>
          <p:nvPr/>
        </p:nvSpPr>
        <p:spPr>
          <a:xfrm>
            <a:off x="1205675" y="2838725"/>
            <a:ext cx="124083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4200">
                <a:solidFill>
                  <a:schemeClr val="dk1"/>
                </a:solidFill>
                <a:latin typeface="Times New Roman"/>
                <a:ea typeface="Times New Roman"/>
                <a:cs typeface="Times New Roman"/>
                <a:sym typeface="Times New Roman"/>
              </a:rPr>
              <a:t>CAP Theorem</a:t>
            </a:r>
            <a:endParaRPr i="0" sz="4200" u="none" cap="none" strike="noStrike">
              <a:solidFill>
                <a:schemeClr val="dk1"/>
              </a:solidFill>
              <a:latin typeface="Times New Roman"/>
              <a:ea typeface="Times New Roman"/>
              <a:cs typeface="Times New Roman"/>
              <a:sym typeface="Times New Roman"/>
            </a:endParaRPr>
          </a:p>
        </p:txBody>
      </p:sp>
      <p:sp>
        <p:nvSpPr>
          <p:cNvPr id="50" name="Google Shape;50;g36385e8c1c1_0_107"/>
          <p:cNvSpPr/>
          <p:nvPr/>
        </p:nvSpPr>
        <p:spPr>
          <a:xfrm>
            <a:off x="3687925" y="5862182"/>
            <a:ext cx="8534400" cy="461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Bachelor of Engineering- Computer Science &amp; Engineering </a:t>
            </a:r>
            <a:endParaRPr b="0" i="0" sz="2400" u="none" cap="none" strike="noStrike">
              <a:solidFill>
                <a:schemeClr val="dk1"/>
              </a:solidFill>
              <a:latin typeface="Times New Roman"/>
              <a:ea typeface="Times New Roman"/>
              <a:cs typeface="Times New Roman"/>
              <a:sym typeface="Times New Roman"/>
            </a:endParaRPr>
          </a:p>
        </p:txBody>
      </p:sp>
      <p:sp>
        <p:nvSpPr>
          <p:cNvPr id="51" name="Google Shape;51;g36385e8c1c1_0_107"/>
          <p:cNvSpPr/>
          <p:nvPr/>
        </p:nvSpPr>
        <p:spPr>
          <a:xfrm>
            <a:off x="5997414" y="5477806"/>
            <a:ext cx="35316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System Design(SD)(22CS024)</a:t>
            </a:r>
            <a:endParaRPr b="1" i="0" sz="2400" u="none" cap="none" strike="noStrike">
              <a:solidFill>
                <a:schemeClr val="dk1"/>
              </a:solidFill>
              <a:latin typeface="Times New Roman"/>
              <a:ea typeface="Times New Roman"/>
              <a:cs typeface="Times New Roman"/>
              <a:sym typeface="Times New Roman"/>
            </a:endParaRPr>
          </a:p>
        </p:txBody>
      </p:sp>
      <p:sp>
        <p:nvSpPr>
          <p:cNvPr id="52" name="Google Shape;52;g36385e8c1c1_0_107"/>
          <p:cNvSpPr/>
          <p:nvPr/>
        </p:nvSpPr>
        <p:spPr>
          <a:xfrm>
            <a:off x="5031581" y="5631350"/>
            <a:ext cx="4795500" cy="4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g36385e8c1c1_0_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58" name="Google Shape;58;g36385e8c1c1_0_0"/>
          <p:cNvSpPr txBox="1"/>
          <p:nvPr/>
        </p:nvSpPr>
        <p:spPr>
          <a:xfrm>
            <a:off x="219456" y="0"/>
            <a:ext cx="5510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CAP Theorem</a:t>
            </a:r>
            <a:endParaRPr b="1" i="0" sz="3200" u="none" cap="none" strike="noStrike">
              <a:solidFill>
                <a:srgbClr val="000000"/>
              </a:solidFill>
              <a:latin typeface="Times New Roman"/>
              <a:ea typeface="Times New Roman"/>
              <a:cs typeface="Times New Roman"/>
              <a:sym typeface="Times New Roman"/>
            </a:endParaRPr>
          </a:p>
        </p:txBody>
      </p:sp>
      <p:sp>
        <p:nvSpPr>
          <p:cNvPr id="59" name="Google Shape;59;g36385e8c1c1_0_0"/>
          <p:cNvSpPr txBox="1"/>
          <p:nvPr/>
        </p:nvSpPr>
        <p:spPr>
          <a:xfrm>
            <a:off x="304800" y="1121664"/>
            <a:ext cx="133089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CAP Theorem explains the trade-offs in distributed systems. It states that a system can only guarantee two of three properties:</a:t>
            </a:r>
            <a:r>
              <a:rPr b="1"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Consistency, Availability, and Partition Tolerance. This means no system can do it all, so designers must make smart choices based on their needs. </a:t>
            </a:r>
            <a:endParaRPr b="0" i="0" sz="2000" u="none" cap="none" strike="noStrike">
              <a:solidFill>
                <a:srgbClr val="000000"/>
              </a:solidFill>
              <a:latin typeface="Times New Roman"/>
              <a:ea typeface="Times New Roman"/>
              <a:cs typeface="Times New Roman"/>
              <a:sym typeface="Times New Roman"/>
            </a:endParaRPr>
          </a:p>
        </p:txBody>
      </p:sp>
      <p:pic>
        <p:nvPicPr>
          <p:cNvPr id="60" name="Google Shape;60;g36385e8c1c1_0_0"/>
          <p:cNvPicPr preferRelativeResize="0"/>
          <p:nvPr/>
        </p:nvPicPr>
        <p:blipFill rotWithShape="1">
          <a:blip r:embed="rId3">
            <a:alphaModFix/>
          </a:blip>
          <a:srcRect b="0" l="0" r="0" t="0"/>
          <a:stretch/>
        </p:blipFill>
        <p:spPr>
          <a:xfrm>
            <a:off x="3938017" y="2407322"/>
            <a:ext cx="5423366" cy="3056481"/>
          </a:xfrm>
          <a:prstGeom prst="rect">
            <a:avLst/>
          </a:prstGeom>
          <a:noFill/>
          <a:ln>
            <a:noFill/>
          </a:ln>
        </p:spPr>
      </p:pic>
      <p:sp>
        <p:nvSpPr>
          <p:cNvPr id="61" name="Google Shape;61;g36385e8c1c1_0_0"/>
          <p:cNvSpPr txBox="1"/>
          <p:nvPr/>
        </p:nvSpPr>
        <p:spPr>
          <a:xfrm>
            <a:off x="853440" y="12946366"/>
            <a:ext cx="12161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6385e8c1c1_0_0"/>
          <p:cNvSpPr/>
          <p:nvPr/>
        </p:nvSpPr>
        <p:spPr>
          <a:xfrm>
            <a:off x="593290" y="5552483"/>
            <a:ext cx="13020600" cy="10158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According to the CAP theorem, only two of the three desirable database characteristics—</a:t>
            </a:r>
            <a:r>
              <a:rPr b="1" i="0" lang="en-US" sz="2000" u="none" cap="none" strike="noStrike">
                <a:solidFill>
                  <a:schemeClr val="dk1"/>
                </a:solidFill>
                <a:latin typeface="Times New Roman"/>
                <a:ea typeface="Times New Roman"/>
                <a:cs typeface="Times New Roman"/>
                <a:sym typeface="Times New Roman"/>
              </a:rPr>
              <a:t>consistency</a:t>
            </a:r>
            <a:r>
              <a:rPr b="0" i="0" lang="en-US" sz="2000" u="none" cap="none" strike="noStrike">
                <a:solidFill>
                  <a:schemeClr val="dk1"/>
                </a:solidFill>
                <a:latin typeface="Times New Roman"/>
                <a:ea typeface="Times New Roman"/>
                <a:cs typeface="Times New Roman"/>
                <a:sym typeface="Times New Roman"/>
              </a:rPr>
              <a:t>, </a:t>
            </a:r>
            <a:r>
              <a:rPr b="1" i="0" lang="en-US" sz="2000" u="none" cap="none" strike="noStrike">
                <a:solidFill>
                  <a:schemeClr val="dk1"/>
                </a:solidFill>
                <a:latin typeface="Times New Roman"/>
                <a:ea typeface="Times New Roman"/>
                <a:cs typeface="Times New Roman"/>
                <a:sym typeface="Times New Roman"/>
              </a:rPr>
              <a:t>availability,</a:t>
            </a:r>
            <a:r>
              <a:rPr b="0" i="0" lang="en-US" sz="2000" u="none" cap="none" strike="noStrike">
                <a:solidFill>
                  <a:schemeClr val="dk1"/>
                </a:solidFill>
                <a:latin typeface="Times New Roman"/>
                <a:ea typeface="Times New Roman"/>
                <a:cs typeface="Times New Roman"/>
                <a:sym typeface="Times New Roman"/>
              </a:rPr>
              <a:t> and </a:t>
            </a:r>
            <a:r>
              <a:rPr b="1" i="0" lang="en-US" sz="2000" u="none" cap="none" strike="noStrike">
                <a:solidFill>
                  <a:schemeClr val="dk1"/>
                </a:solidFill>
                <a:latin typeface="Times New Roman"/>
                <a:ea typeface="Times New Roman"/>
                <a:cs typeface="Times New Roman"/>
                <a:sym typeface="Times New Roman"/>
              </a:rPr>
              <a:t>partition tolerance</a:t>
            </a:r>
            <a:r>
              <a:rPr b="0" i="0" lang="en-US" sz="2000" u="none" cap="none" strike="noStrike">
                <a:solidFill>
                  <a:schemeClr val="dk1"/>
                </a:solidFill>
                <a:latin typeface="Times New Roman"/>
                <a:ea typeface="Times New Roman"/>
                <a:cs typeface="Times New Roman"/>
                <a:sym typeface="Times New Roman"/>
              </a:rPr>
              <a:t>—can be shared or present in a networked shared-data system or distributed system.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63" name="Google Shape;63;g36385e8c1c1_0_0"/>
          <p:cNvSpPr txBox="1"/>
          <p:nvPr/>
        </p:nvSpPr>
        <p:spPr>
          <a:xfrm>
            <a:off x="1636681" y="6379822"/>
            <a:ext cx="103053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Consistency (C)</a:t>
            </a:r>
            <a:r>
              <a:rPr b="0" i="0" lang="en-US" sz="2000" u="none" cap="none" strike="noStrike">
                <a:solidFill>
                  <a:srgbClr val="000000"/>
                </a:solidFill>
                <a:latin typeface="Times New Roman"/>
                <a:ea typeface="Times New Roman"/>
                <a:cs typeface="Times New Roman"/>
                <a:sym typeface="Times New Roman"/>
              </a:rPr>
              <a:t>− Every read receives the most recent write or an 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Availability (A)</a:t>
            </a:r>
            <a:r>
              <a:rPr b="0" i="0" lang="en-US" sz="2000" u="none" cap="none" strike="noStrike">
                <a:solidFill>
                  <a:srgbClr val="000000"/>
                </a:solidFill>
                <a:latin typeface="Times New Roman"/>
                <a:ea typeface="Times New Roman"/>
                <a:cs typeface="Times New Roman"/>
                <a:sym typeface="Times New Roman"/>
              </a:rPr>
              <a:t>− Every request receives a response, even if it is not the most recent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Partition Tolerance (P)</a:t>
            </a:r>
            <a:r>
              <a:rPr b="0" i="0" lang="en-US" sz="2000" u="none" cap="none" strike="noStrike">
                <a:solidFill>
                  <a:srgbClr val="000000"/>
                </a:solidFill>
                <a:latin typeface="Times New Roman"/>
                <a:ea typeface="Times New Roman"/>
                <a:cs typeface="Times New Roman"/>
                <a:sym typeface="Times New Roman"/>
              </a:rPr>
              <a:t>− The system continues to function despite network partitions.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36385e8c1c1_0_1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69" name="Google Shape;69;g36385e8c1c1_0_10"/>
          <p:cNvSpPr txBox="1"/>
          <p:nvPr/>
        </p:nvSpPr>
        <p:spPr>
          <a:xfrm>
            <a:off x="268224" y="1121664"/>
            <a:ext cx="13703700" cy="184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computer scientist Eric Brewer presented the CAP Theorem, also called Brewer's theorem, at the Symposium on Principles of Distributed Computing in 2000.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theorem provides a way of thinking about the trade-offs involved in designing and building distributed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It helps to explain why certain types of systems may be more appropriate for certain use cases.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According to Brewer, the theorem states that a distributed system can have at most two of these guarantees.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 name="Google Shape;70;g36385e8c1c1_0_10"/>
          <p:cNvPicPr preferRelativeResize="0"/>
          <p:nvPr/>
        </p:nvPicPr>
        <p:blipFill rotWithShape="1">
          <a:blip r:embed="rId3">
            <a:alphaModFix/>
          </a:blip>
          <a:srcRect b="0" l="0" r="0" t="0"/>
          <a:stretch/>
        </p:blipFill>
        <p:spPr>
          <a:xfrm>
            <a:off x="2598514" y="3358498"/>
            <a:ext cx="8825388" cy="3614919"/>
          </a:xfrm>
          <a:prstGeom prst="rect">
            <a:avLst/>
          </a:prstGeom>
          <a:noFill/>
          <a:ln>
            <a:noFill/>
          </a:ln>
        </p:spPr>
      </p:pic>
      <p:sp>
        <p:nvSpPr>
          <p:cNvPr id="71" name="Google Shape;71;g36385e8c1c1_0_10"/>
          <p:cNvSpPr txBox="1"/>
          <p:nvPr/>
        </p:nvSpPr>
        <p:spPr>
          <a:xfrm>
            <a:off x="3364992" y="7168896"/>
            <a:ext cx="71568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Properties of CAP theorem</a:t>
            </a:r>
            <a:endParaRPr b="1"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6385e8c1c1_0_1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77" name="Google Shape;77;g36385e8c1c1_0_17"/>
          <p:cNvSpPr txBox="1"/>
          <p:nvPr/>
        </p:nvSpPr>
        <p:spPr>
          <a:xfrm>
            <a:off x="414528" y="1402080"/>
            <a:ext cx="131994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1. </a:t>
            </a:r>
            <a:r>
              <a:rPr b="1" i="0" lang="en-US" sz="2000" u="none" cap="none" strike="noStrike">
                <a:solidFill>
                  <a:srgbClr val="000000"/>
                </a:solidFill>
                <a:latin typeface="Times New Roman"/>
                <a:ea typeface="Times New Roman"/>
                <a:cs typeface="Times New Roman"/>
                <a:sym typeface="Times New Roman"/>
              </a:rPr>
              <a:t>Consistency: </a:t>
            </a:r>
            <a:r>
              <a:rPr b="0" i="0" lang="en-US" sz="2000" u="none" cap="none" strike="noStrike">
                <a:solidFill>
                  <a:srgbClr val="000000"/>
                </a:solidFill>
                <a:latin typeface="Times New Roman"/>
                <a:ea typeface="Times New Roman"/>
                <a:cs typeface="Times New Roman"/>
                <a:sym typeface="Times New Roman"/>
              </a:rPr>
              <a:t>Consistency defines that all clients see the same data simultaneously, no matter which node they connect to in a distributed system. For eventual consistency, the guarantees are a bit loose. Eventual consistency gurantee means client will eventually see the same data on all the nodes at some point of time in the future.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g36385e8c1c1_0_17"/>
          <p:cNvPicPr preferRelativeResize="0"/>
          <p:nvPr/>
        </p:nvPicPr>
        <p:blipFill rotWithShape="1">
          <a:blip r:embed="rId3">
            <a:alphaModFix/>
          </a:blip>
          <a:srcRect b="0" l="0" r="0" t="0"/>
          <a:stretch/>
        </p:blipFill>
        <p:spPr>
          <a:xfrm>
            <a:off x="1923764" y="2574100"/>
            <a:ext cx="4972050" cy="2914650"/>
          </a:xfrm>
          <a:prstGeom prst="rect">
            <a:avLst/>
          </a:prstGeom>
          <a:noFill/>
          <a:ln>
            <a:noFill/>
          </a:ln>
        </p:spPr>
      </p:pic>
      <p:sp>
        <p:nvSpPr>
          <p:cNvPr id="79" name="Google Shape;79;g36385e8c1c1_0_17"/>
          <p:cNvSpPr txBox="1"/>
          <p:nvPr/>
        </p:nvSpPr>
        <p:spPr>
          <a:xfrm>
            <a:off x="658368" y="5657088"/>
            <a:ext cx="13374600" cy="184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a:latin typeface="Times New Roman"/>
                <a:ea typeface="Times New Roman"/>
                <a:cs typeface="Times New Roman"/>
                <a:sym typeface="Times New Roman"/>
              </a:rPr>
              <a:t>E</a:t>
            </a:r>
            <a:r>
              <a:rPr b="1" lang="en-US" sz="2000">
                <a:latin typeface="Times New Roman"/>
                <a:ea typeface="Times New Roman"/>
                <a:cs typeface="Times New Roman"/>
                <a:sym typeface="Times New Roman"/>
              </a:rPr>
              <a:t>xplanation</a:t>
            </a:r>
            <a:r>
              <a:rPr b="1" i="0" lang="en-US" sz="2000" u="none" cap="none" strike="noStrike">
                <a:solidFill>
                  <a:srgbClr val="000000"/>
                </a:solidFill>
                <a:latin typeface="Times New Roman"/>
                <a:ea typeface="Times New Roman"/>
                <a:cs typeface="Times New Roman"/>
                <a:sym typeface="Times New Roman"/>
              </a:rPr>
              <a:t> of the above Diagram:</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All nodes in the system see the same data at the same time. This is because the nodes are constantly communicating with each other and sharing updates.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Any changes made to the data on one node are immediately propagated to all other nodes, ensuring that everyone has the same up-to-date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36385e8c1c1_0_17"/>
          <p:cNvSpPr txBox="1"/>
          <p:nvPr/>
        </p:nvSpPr>
        <p:spPr>
          <a:xfrm>
            <a:off x="7656576" y="2804160"/>
            <a:ext cx="5608200" cy="215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 Example: </a:t>
            </a:r>
            <a:r>
              <a:rPr b="0" i="0" lang="en-US" sz="2000" u="none" cap="none" strike="noStrike">
                <a:solidFill>
                  <a:srgbClr val="000000"/>
                </a:solidFill>
                <a:latin typeface="Times New Roman"/>
                <a:ea typeface="Times New Roman"/>
                <a:cs typeface="Times New Roman"/>
                <a:sym typeface="Times New Roman"/>
              </a:rPr>
              <a:t>If one node updates a value, other nodes in the system should reflect that updated value immediately.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Traditional relational databases like MySQL prioritize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6385e8c1c1_0_25"/>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86" name="Google Shape;86;g36385e8c1c1_0_25"/>
          <p:cNvSpPr txBox="1"/>
          <p:nvPr/>
        </p:nvSpPr>
        <p:spPr>
          <a:xfrm>
            <a:off x="414528" y="1402080"/>
            <a:ext cx="131994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2. Availability: </a:t>
            </a:r>
            <a:r>
              <a:rPr b="0" i="0" lang="en-US" sz="2000" u="none" cap="none" strike="noStrike">
                <a:solidFill>
                  <a:srgbClr val="000000"/>
                </a:solidFill>
                <a:latin typeface="Times New Roman"/>
                <a:ea typeface="Times New Roman"/>
                <a:cs typeface="Times New Roman"/>
                <a:sym typeface="Times New Roman"/>
              </a:rPr>
              <a:t>Availability defines that all non-failing nodes in a distributed system return a response for all read and write requests in a bounded amount of time, even if one or more other nodes are down.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pic>
        <p:nvPicPr>
          <p:cNvPr id="87" name="Google Shape;87;g36385e8c1c1_0_25"/>
          <p:cNvPicPr preferRelativeResize="0"/>
          <p:nvPr/>
        </p:nvPicPr>
        <p:blipFill rotWithShape="1">
          <a:blip r:embed="rId3">
            <a:alphaModFix/>
          </a:blip>
          <a:srcRect b="0" l="0" r="0" t="0"/>
          <a:stretch/>
        </p:blipFill>
        <p:spPr>
          <a:xfrm>
            <a:off x="1949172" y="2409460"/>
            <a:ext cx="4838700" cy="3412268"/>
          </a:xfrm>
          <a:prstGeom prst="rect">
            <a:avLst/>
          </a:prstGeom>
          <a:noFill/>
          <a:ln>
            <a:noFill/>
          </a:ln>
        </p:spPr>
      </p:pic>
      <p:sp>
        <p:nvSpPr>
          <p:cNvPr id="88" name="Google Shape;88;g36385e8c1c1_0_25"/>
          <p:cNvSpPr txBox="1"/>
          <p:nvPr/>
        </p:nvSpPr>
        <p:spPr>
          <a:xfrm>
            <a:off x="658368" y="5900928"/>
            <a:ext cx="12765000" cy="184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Explanation of the above Diagram: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User send requests, even though we don't see specific network components. This implies that the system is available and functioning.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Every request receives a response, whether successful or not. This is a crucial aspect of availability, as it guarantees that users always get feedback.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6385e8c1c1_0_25"/>
          <p:cNvSpPr txBox="1"/>
          <p:nvPr/>
        </p:nvSpPr>
        <p:spPr>
          <a:xfrm>
            <a:off x="7449312" y="2706624"/>
            <a:ext cx="5315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Systems like DNS ensure high availability even at the expense of providing slightly outdated data.</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6385e8c1c1_0_3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95" name="Google Shape;95;g36385e8c1c1_0_33"/>
          <p:cNvSpPr txBox="1"/>
          <p:nvPr/>
        </p:nvSpPr>
        <p:spPr>
          <a:xfrm>
            <a:off x="414528" y="1402080"/>
            <a:ext cx="13199400" cy="123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3. Partition Tolerance: </a:t>
            </a:r>
            <a:r>
              <a:rPr b="0" i="0" lang="en-US" sz="2000" u="none" cap="none" strike="noStrike">
                <a:solidFill>
                  <a:srgbClr val="000000"/>
                </a:solidFill>
                <a:latin typeface="Times New Roman"/>
                <a:ea typeface="Times New Roman"/>
                <a:cs typeface="Times New Roman"/>
                <a:sym typeface="Times New Roman"/>
              </a:rPr>
              <a:t>Partition Tolerance defines that the system continues to operate despite arbitrary message loss or failure in parts of the system. Distributed systems guranteeing partition tolerance can gracefuly recover from partitions once the partition heals.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96" name="Google Shape;96;g36385e8c1c1_0_33"/>
          <p:cNvSpPr txBox="1"/>
          <p:nvPr/>
        </p:nvSpPr>
        <p:spPr>
          <a:xfrm>
            <a:off x="658368" y="5900928"/>
            <a:ext cx="12765000" cy="184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Explanation of the above Diagram:</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Addresses network failures, a common cause of partitions. It suggests that the system is designed to function even when parts of the network become unreachable.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The system can adapt to arbitrary partitioning, meaning it can handle unpredictable network failures without complete failure.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7" name="Google Shape;97;g36385e8c1c1_0_33"/>
          <p:cNvPicPr preferRelativeResize="0"/>
          <p:nvPr/>
        </p:nvPicPr>
        <p:blipFill rotWithShape="1">
          <a:blip r:embed="rId3">
            <a:alphaModFix/>
          </a:blip>
          <a:srcRect b="0" l="0" r="0" t="0"/>
          <a:stretch/>
        </p:blipFill>
        <p:spPr>
          <a:xfrm>
            <a:off x="1881997" y="2633186"/>
            <a:ext cx="4505325" cy="2857500"/>
          </a:xfrm>
          <a:prstGeom prst="rect">
            <a:avLst/>
          </a:prstGeom>
          <a:noFill/>
          <a:ln>
            <a:noFill/>
          </a:ln>
        </p:spPr>
      </p:pic>
      <p:sp>
        <p:nvSpPr>
          <p:cNvPr id="98" name="Google Shape;98;g36385e8c1c1_0_33"/>
          <p:cNvSpPr txBox="1"/>
          <p:nvPr/>
        </p:nvSpPr>
        <p:spPr>
          <a:xfrm>
            <a:off x="7014186" y="3145536"/>
            <a:ext cx="5543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Modern distributed databases like Cassandra and MongoDB prioritize partition tolerance.</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6385e8c1c1_0_41"/>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04" name="Google Shape;104;g36385e8c1c1_0_41"/>
          <p:cNvPicPr preferRelativeResize="0"/>
          <p:nvPr/>
        </p:nvPicPr>
        <p:blipFill rotWithShape="1">
          <a:blip r:embed="rId3">
            <a:alphaModFix/>
          </a:blip>
          <a:srcRect b="0" l="0" r="0" t="0"/>
          <a:stretch/>
        </p:blipFill>
        <p:spPr>
          <a:xfrm>
            <a:off x="2609088" y="1743456"/>
            <a:ext cx="8051767" cy="51450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6385e8c1c1_0_46"/>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10" name="Google Shape;110;g36385e8c1c1_0_46"/>
          <p:cNvSpPr txBox="1"/>
          <p:nvPr/>
        </p:nvSpPr>
        <p:spPr>
          <a:xfrm>
            <a:off x="377952" y="1219200"/>
            <a:ext cx="13398900" cy="430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1. CA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 CA System delivers consistency and availiability across all the nodes. It can't do this if there is a partition between any two nodes in the system and therefore does't support partition tolerance.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2. CP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 CP System delivers consistency and partition tolerance at the expense of availability. When a partition occurs between two nodes, the systems shuts down the non-available node until the partition is resolved. Some of the examples of the databases are MongoDB, Redis, and HBase.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3. AP System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An AP System availability and partition tolerance at the expense of consistency. When a partition occurs, all nodes remains available, but those at the wrong end of a partition might return an older version of data than others. Example: CouchDB, Cassandra and Dyanmo DB, etc.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6385e8c1c1_0_46"/>
          <p:cNvSpPr txBox="1"/>
          <p:nvPr/>
        </p:nvSpPr>
        <p:spPr>
          <a:xfrm>
            <a:off x="804672" y="5401056"/>
            <a:ext cx="122529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highlight>
                  <a:srgbClr val="FFFF00"/>
                </a:highlight>
                <a:latin typeface="Times New Roman"/>
                <a:ea typeface="Times New Roman"/>
                <a:cs typeface="Times New Roman"/>
                <a:sym typeface="Times New Roman"/>
              </a:rPr>
              <a:t>IMPLICATIONS::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highlight>
                  <a:srgbClr val="FFFF00"/>
                </a:highlight>
                <a:latin typeface="Times New Roman"/>
                <a:ea typeface="Times New Roman"/>
                <a:cs typeface="Times New Roman"/>
                <a:sym typeface="Times New Roman"/>
              </a:rPr>
              <a:t>CP</a:t>
            </a:r>
            <a:r>
              <a:rPr b="0" i="0" lang="en-US" sz="2000" u="none" cap="none" strike="noStrike">
                <a:solidFill>
                  <a:srgbClr val="000000"/>
                </a:solidFill>
                <a:highlight>
                  <a:srgbClr val="FFFF00"/>
                </a:highlight>
                <a:latin typeface="Times New Roman"/>
                <a:ea typeface="Times New Roman"/>
                <a:cs typeface="Times New Roman"/>
                <a:sym typeface="Times New Roman"/>
              </a:rPr>
              <a:t> (</a:t>
            </a:r>
            <a:r>
              <a:rPr b="1" i="0" lang="en-US" sz="2000" u="none" cap="none" strike="noStrike">
                <a:solidFill>
                  <a:srgbClr val="000000"/>
                </a:solidFill>
                <a:highlight>
                  <a:srgbClr val="FFFF00"/>
                </a:highlight>
                <a:latin typeface="Times New Roman"/>
                <a:ea typeface="Times New Roman"/>
                <a:cs typeface="Times New Roman"/>
                <a:sym typeface="Times New Roman"/>
              </a:rPr>
              <a:t>C</a:t>
            </a:r>
            <a:r>
              <a:rPr b="0" i="0" lang="en-US" sz="2000" u="none" cap="none" strike="noStrike">
                <a:solidFill>
                  <a:srgbClr val="000000"/>
                </a:solidFill>
                <a:highlight>
                  <a:srgbClr val="FFFF00"/>
                </a:highlight>
                <a:latin typeface="Times New Roman"/>
                <a:ea typeface="Times New Roman"/>
                <a:cs typeface="Times New Roman"/>
                <a:sym typeface="Times New Roman"/>
              </a:rPr>
              <a:t>onsistency, </a:t>
            </a:r>
            <a:r>
              <a:rPr b="1" i="0" lang="en-US" sz="2000" u="none" cap="none" strike="noStrike">
                <a:solidFill>
                  <a:srgbClr val="000000"/>
                </a:solidFill>
                <a:highlight>
                  <a:srgbClr val="FFFF00"/>
                </a:highlight>
                <a:latin typeface="Times New Roman"/>
                <a:ea typeface="Times New Roman"/>
                <a:cs typeface="Times New Roman"/>
                <a:sym typeface="Times New Roman"/>
              </a:rPr>
              <a:t>P</a:t>
            </a:r>
            <a:r>
              <a:rPr b="0" i="0" lang="en-US" sz="2000" u="none" cap="none" strike="noStrike">
                <a:solidFill>
                  <a:srgbClr val="000000"/>
                </a:solidFill>
                <a:highlight>
                  <a:srgbClr val="FFFF00"/>
                </a:highlight>
                <a:latin typeface="Times New Roman"/>
                <a:ea typeface="Times New Roman"/>
                <a:cs typeface="Times New Roman"/>
                <a:sym typeface="Times New Roman"/>
              </a:rPr>
              <a:t>artition tolerance) Systems− Focus on consistency and partition tolerance but sacrifice availability.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highlight>
                  <a:srgbClr val="FFFF00"/>
                </a:highlight>
                <a:latin typeface="Times New Roman"/>
                <a:ea typeface="Times New Roman"/>
                <a:cs typeface="Times New Roman"/>
                <a:sym typeface="Times New Roman"/>
              </a:rPr>
              <a:t>AP</a:t>
            </a:r>
            <a:r>
              <a:rPr b="0" i="0" lang="en-US" sz="2000" u="none" cap="none" strike="noStrike">
                <a:solidFill>
                  <a:srgbClr val="000000"/>
                </a:solidFill>
                <a:highlight>
                  <a:srgbClr val="FFFF00"/>
                </a:highlight>
                <a:latin typeface="Times New Roman"/>
                <a:ea typeface="Times New Roman"/>
                <a:cs typeface="Times New Roman"/>
                <a:sym typeface="Times New Roman"/>
              </a:rPr>
              <a:t> (</a:t>
            </a:r>
            <a:r>
              <a:rPr b="1" i="0" lang="en-US" sz="2000" u="none" cap="none" strike="noStrike">
                <a:solidFill>
                  <a:srgbClr val="000000"/>
                </a:solidFill>
                <a:highlight>
                  <a:srgbClr val="FFFF00"/>
                </a:highlight>
                <a:latin typeface="Times New Roman"/>
                <a:ea typeface="Times New Roman"/>
                <a:cs typeface="Times New Roman"/>
                <a:sym typeface="Times New Roman"/>
              </a:rPr>
              <a:t>A</a:t>
            </a:r>
            <a:r>
              <a:rPr b="0" i="0" lang="en-US" sz="2000" u="none" cap="none" strike="noStrike">
                <a:solidFill>
                  <a:srgbClr val="000000"/>
                </a:solidFill>
                <a:highlight>
                  <a:srgbClr val="FFFF00"/>
                </a:highlight>
                <a:latin typeface="Times New Roman"/>
                <a:ea typeface="Times New Roman"/>
                <a:cs typeface="Times New Roman"/>
                <a:sym typeface="Times New Roman"/>
              </a:rPr>
              <a:t>vailability, </a:t>
            </a:r>
            <a:r>
              <a:rPr b="1" i="0" lang="en-US" sz="2000" u="none" cap="none" strike="noStrike">
                <a:solidFill>
                  <a:srgbClr val="000000"/>
                </a:solidFill>
                <a:highlight>
                  <a:srgbClr val="FFFF00"/>
                </a:highlight>
                <a:latin typeface="Times New Roman"/>
                <a:ea typeface="Times New Roman"/>
                <a:cs typeface="Times New Roman"/>
                <a:sym typeface="Times New Roman"/>
              </a:rPr>
              <a:t>P</a:t>
            </a:r>
            <a:r>
              <a:rPr b="0" i="0" lang="en-US" sz="2000" u="none" cap="none" strike="noStrike">
                <a:solidFill>
                  <a:srgbClr val="000000"/>
                </a:solidFill>
                <a:highlight>
                  <a:srgbClr val="FFFF00"/>
                </a:highlight>
                <a:latin typeface="Times New Roman"/>
                <a:ea typeface="Times New Roman"/>
                <a:cs typeface="Times New Roman"/>
                <a:sym typeface="Times New Roman"/>
              </a:rPr>
              <a:t>artition tolerance) Systems− Focus on availability and partition tolerance but sacrifice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highlight>
                  <a:srgbClr val="FFFF00"/>
                </a:highlight>
                <a:latin typeface="Times New Roman"/>
                <a:ea typeface="Times New Roman"/>
                <a:cs typeface="Times New Roman"/>
                <a:sym typeface="Times New Roman"/>
              </a:rPr>
              <a:t>CA</a:t>
            </a:r>
            <a:r>
              <a:rPr b="0" i="0" lang="en-US" sz="2000" u="none" cap="none" strike="noStrike">
                <a:solidFill>
                  <a:srgbClr val="000000"/>
                </a:solidFill>
                <a:highlight>
                  <a:srgbClr val="FFFF00"/>
                </a:highlight>
                <a:latin typeface="Times New Roman"/>
                <a:ea typeface="Times New Roman"/>
                <a:cs typeface="Times New Roman"/>
                <a:sym typeface="Times New Roman"/>
              </a:rPr>
              <a:t> (</a:t>
            </a:r>
            <a:r>
              <a:rPr b="1" i="0" lang="en-US" sz="2000" u="none" cap="none" strike="noStrike">
                <a:solidFill>
                  <a:srgbClr val="000000"/>
                </a:solidFill>
                <a:highlight>
                  <a:srgbClr val="FFFF00"/>
                </a:highlight>
                <a:latin typeface="Times New Roman"/>
                <a:ea typeface="Times New Roman"/>
                <a:cs typeface="Times New Roman"/>
                <a:sym typeface="Times New Roman"/>
              </a:rPr>
              <a:t>C</a:t>
            </a:r>
            <a:r>
              <a:rPr b="0" i="0" lang="en-US" sz="2000" u="none" cap="none" strike="noStrike">
                <a:solidFill>
                  <a:srgbClr val="000000"/>
                </a:solidFill>
                <a:highlight>
                  <a:srgbClr val="FFFF00"/>
                </a:highlight>
                <a:latin typeface="Times New Roman"/>
                <a:ea typeface="Times New Roman"/>
                <a:cs typeface="Times New Roman"/>
                <a:sym typeface="Times New Roman"/>
              </a:rPr>
              <a:t>onsistency, </a:t>
            </a:r>
            <a:r>
              <a:rPr b="1" i="0" lang="en-US" sz="2000" u="none" cap="none" strike="noStrike">
                <a:solidFill>
                  <a:srgbClr val="000000"/>
                </a:solidFill>
                <a:highlight>
                  <a:srgbClr val="FFFF00"/>
                </a:highlight>
                <a:latin typeface="Times New Roman"/>
                <a:ea typeface="Times New Roman"/>
                <a:cs typeface="Times New Roman"/>
                <a:sym typeface="Times New Roman"/>
              </a:rPr>
              <a:t>A</a:t>
            </a:r>
            <a:r>
              <a:rPr b="0" i="0" lang="en-US" sz="2000" u="none" cap="none" strike="noStrike">
                <a:solidFill>
                  <a:srgbClr val="000000"/>
                </a:solidFill>
                <a:highlight>
                  <a:srgbClr val="FFFF00"/>
                </a:highlight>
                <a:latin typeface="Times New Roman"/>
                <a:ea typeface="Times New Roman"/>
                <a:cs typeface="Times New Roman"/>
                <a:sym typeface="Times New Roman"/>
              </a:rPr>
              <a:t>vailability) Systems− Focus on consistency and availability but cannot handle network partitions.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6385e8c1c1_0_5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17" name="Google Shape;117;g36385e8c1c1_0_52"/>
          <p:cNvPicPr preferRelativeResize="0"/>
          <p:nvPr/>
        </p:nvPicPr>
        <p:blipFill rotWithShape="1">
          <a:blip r:embed="rId3">
            <a:alphaModFix/>
          </a:blip>
          <a:srcRect b="0" l="0" r="0" t="0"/>
          <a:stretch/>
        </p:blipFill>
        <p:spPr>
          <a:xfrm>
            <a:off x="3801522" y="1343819"/>
            <a:ext cx="5800725" cy="2771775"/>
          </a:xfrm>
          <a:prstGeom prst="rect">
            <a:avLst/>
          </a:prstGeom>
          <a:noFill/>
          <a:ln>
            <a:noFill/>
          </a:ln>
        </p:spPr>
      </p:pic>
      <p:sp>
        <p:nvSpPr>
          <p:cNvPr id="118" name="Google Shape;118;g36385e8c1c1_0_52"/>
          <p:cNvSpPr txBox="1"/>
          <p:nvPr/>
        </p:nvSpPr>
        <p:spPr>
          <a:xfrm>
            <a:off x="365760" y="4572000"/>
            <a:ext cx="13655100" cy="2770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We have a simple </a:t>
            </a:r>
            <a:r>
              <a:rPr b="0" i="0" lang="en-US" sz="20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distributed system</a:t>
            </a:r>
            <a:r>
              <a:rPr b="0" i="0" lang="en-US" sz="2000" u="none" cap="none" strike="noStrike">
                <a:solidFill>
                  <a:srgbClr val="000000"/>
                </a:solidFill>
                <a:latin typeface="Times New Roman"/>
                <a:ea typeface="Times New Roman"/>
                <a:cs typeface="Times New Roman"/>
                <a:sym typeface="Times New Roman"/>
              </a:rPr>
              <a:t> where S1 and S2 are two server. The two server can talk to each other. Here, System is partition tolerant. Here We will prove that system can be either consistent or available.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Suppose there is a network failure and S1 and S2 cannot talk to each other. Now assume that the client makes a write to S1. The client then send a read to S2.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Given S1 and S2 cannot talk, they have different view of the data. If the system has to remain consistent, it must deny the request and thus give up on availability.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If the system is available, then the system has to give up on consistency. This proves the CAP Theorem.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36385e8c1c1_0_52"/>
          <p:cNvSpPr txBox="1"/>
          <p:nvPr/>
        </p:nvSpPr>
        <p:spPr>
          <a:xfrm>
            <a:off x="280416" y="0"/>
            <a:ext cx="38283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EXAMPLE</a:t>
            </a:r>
            <a:endParaRPr b="1"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6385e8c1c1_0_59"/>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25" name="Google Shape;125;g36385e8c1c1_0_59"/>
          <p:cNvSpPr/>
          <p:nvPr/>
        </p:nvSpPr>
        <p:spPr>
          <a:xfrm>
            <a:off x="446485" y="1115602"/>
            <a:ext cx="13167300" cy="1877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 Banking Transactions (CP System)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Problem Statement:</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Imagine a bank teller updating your account balance on a secure computer system. This system prioritizes consistency (C) and partition tolerance (P).</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g36385e8c1c1_0_59"/>
          <p:cNvSpPr/>
          <p:nvPr/>
        </p:nvSpPr>
        <p:spPr>
          <a:xfrm>
            <a:off x="446485" y="2792155"/>
            <a:ext cx="13850100" cy="13233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 Social Media Newsfeed (AP System)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Problem Statement:</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Think of your newsfeed on a social media platform constantly updating with new posts and stories. This system prioritizes </a:t>
            </a:r>
            <a:r>
              <a:rPr b="1" i="0" lang="en-US" sz="2000" u="none" cap="none" strike="noStrike">
                <a:solidFill>
                  <a:schemeClr val="dk1"/>
                </a:solidFill>
                <a:latin typeface="Times New Roman"/>
                <a:ea typeface="Times New Roman"/>
                <a:cs typeface="Times New Roman"/>
                <a:sym typeface="Times New Roman"/>
              </a:rPr>
              <a:t>availability (A)</a:t>
            </a:r>
            <a:r>
              <a:rPr b="0" i="0" lang="en-US" sz="2000" u="none" cap="none" strike="noStrike">
                <a:solidFill>
                  <a:schemeClr val="dk1"/>
                </a:solidFill>
                <a:latin typeface="Times New Roman"/>
                <a:ea typeface="Times New Roman"/>
                <a:cs typeface="Times New Roman"/>
                <a:sym typeface="Times New Roman"/>
              </a:rPr>
              <a:t> and </a:t>
            </a:r>
            <a:r>
              <a:rPr b="1" i="0" lang="en-US" sz="2000" u="none" cap="none" strike="noStrike">
                <a:solidFill>
                  <a:schemeClr val="dk1"/>
                </a:solidFill>
                <a:latin typeface="Times New Roman"/>
                <a:ea typeface="Times New Roman"/>
                <a:cs typeface="Times New Roman"/>
                <a:sym typeface="Times New Roman"/>
              </a:rPr>
              <a:t>partition tolerance (P)</a:t>
            </a:r>
            <a:r>
              <a:rPr b="0" i="0" lang="en-US"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6385e8c1c1_0_65"/>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32" name="Google Shape;132;g36385e8c1c1_0_65"/>
          <p:cNvSpPr txBox="1"/>
          <p:nvPr/>
        </p:nvSpPr>
        <p:spPr>
          <a:xfrm>
            <a:off x="353568" y="1280160"/>
            <a:ext cx="13623300" cy="430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Advantages of CAP Theorem in System Design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Provides a Framework for Decision-Making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Promotes Understanding of Trade-offs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Guides System Architecture and Technology Selection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Enhances System Resilience and Performance</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Disadvantages of CAP Theorem in System Design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Oversimplification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Abstract Trade-offs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Lack of Guidance for Hybrid Systems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Potential Misinterpretation</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7219a47dff_4_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38" name="Google Shape;138;g37219a47dff_4_0"/>
          <p:cNvSpPr txBox="1"/>
          <p:nvPr/>
        </p:nvSpPr>
        <p:spPr>
          <a:xfrm>
            <a:off x="0" y="0"/>
            <a:ext cx="69615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CONSISTENCY PATTERN</a:t>
            </a:r>
            <a:endParaRPr b="1" i="0" sz="3200" u="none" cap="none" strike="noStrike">
              <a:solidFill>
                <a:srgbClr val="000000"/>
              </a:solidFill>
              <a:latin typeface="Times New Roman"/>
              <a:ea typeface="Times New Roman"/>
              <a:cs typeface="Times New Roman"/>
              <a:sym typeface="Times New Roman"/>
            </a:endParaRPr>
          </a:p>
        </p:txBody>
      </p:sp>
      <p:sp>
        <p:nvSpPr>
          <p:cNvPr id="139" name="Google Shape;139;g37219a47dff_4_0"/>
          <p:cNvSpPr txBox="1"/>
          <p:nvPr/>
        </p:nvSpPr>
        <p:spPr>
          <a:xfrm>
            <a:off x="134112" y="1121664"/>
            <a:ext cx="13313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Consistency in system design refers to the property of ensuring that all nodes in a distributed system have the same view of the data at any given point in time, despite possible concurrent operations and network delays. In simpler terms, it means that when multiple clients access or modify the same data concurrently, they all see a consistent state of that data.</a:t>
            </a:r>
            <a:endParaRPr b="0" i="0" sz="2000" u="none" cap="none" strike="noStrike">
              <a:solidFill>
                <a:srgbClr val="000000"/>
              </a:solidFill>
              <a:latin typeface="Times New Roman"/>
              <a:ea typeface="Times New Roman"/>
              <a:cs typeface="Times New Roman"/>
              <a:sym typeface="Times New Roman"/>
            </a:endParaRPr>
          </a:p>
        </p:txBody>
      </p:sp>
      <p:sp>
        <p:nvSpPr>
          <p:cNvPr id="140" name="Google Shape;140;g37219a47dff_4_0"/>
          <p:cNvSpPr txBox="1"/>
          <p:nvPr/>
        </p:nvSpPr>
        <p:spPr>
          <a:xfrm>
            <a:off x="219456" y="2560320"/>
            <a:ext cx="12179700" cy="347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Importance of Consistency in System Design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Correctness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Trust and Reliability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Data Integrity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Concurrency Control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User Experience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Predictability</a:t>
            </a:r>
            <a:endParaRPr b="0" i="0" sz="14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For example</a:t>
            </a:r>
            <a:r>
              <a:rPr b="0" i="0" lang="en-US" sz="2000" u="none" cap="none" strike="noStrike">
                <a:solidFill>
                  <a:srgbClr val="000000"/>
                </a:solidFill>
                <a:latin typeface="Times New Roman"/>
                <a:ea typeface="Times New Roman"/>
                <a:cs typeface="Times New Roman"/>
                <a:sym typeface="Times New Roman"/>
              </a:rPr>
              <a:t>, if a bank account has a balance of $500, two users accessing the account from different locations should see the same balance.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7219a47dff_4_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46" name="Google Shape;146;g37219a47dff_4_7"/>
          <p:cNvSpPr txBox="1"/>
          <p:nvPr/>
        </p:nvSpPr>
        <p:spPr>
          <a:xfrm>
            <a:off x="158496" y="987552"/>
            <a:ext cx="14020800" cy="3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Consistency in CAP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In systems prioritizing consistency (C), every read operation reflects the most recent write. However, this may come at the cost of availability during network partitions.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Types of Consistency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Consistency models define how and when updates to a distributed system become visible to users. They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Strong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Ensures that all clients see the most recent data after a write operation.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Traditional relational databases like MySQL.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7" name="Google Shape;147;g37219a47dff_4_7"/>
          <p:cNvPicPr preferRelativeResize="0"/>
          <p:nvPr/>
        </p:nvPicPr>
        <p:blipFill rotWithShape="1">
          <a:blip r:embed="rId3">
            <a:alphaModFix/>
          </a:blip>
          <a:srcRect b="0" l="0" r="0" t="0"/>
          <a:stretch/>
        </p:blipFill>
        <p:spPr>
          <a:xfrm>
            <a:off x="3436001" y="4405217"/>
            <a:ext cx="6791325" cy="3038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7219a47dff_4_1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53" name="Google Shape;153;g37219a47dff_4_13"/>
          <p:cNvSpPr txBox="1"/>
          <p:nvPr/>
        </p:nvSpPr>
        <p:spPr>
          <a:xfrm>
            <a:off x="316992" y="1267968"/>
            <a:ext cx="13296900" cy="584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Eventual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Guarantees that all nodes will converge to the same state eventually, though not immediately.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DNS systems or NoSQL databases like Cassandra.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Causal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Guarantees that causally related operations are seen by all nodes in the same order.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Collaborative editing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Read-Your-Writes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Ensures that after a user writes data, they will see their own updates in subsequent reads.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 User profile updates on social media.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Monotonic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1. ensures that if a client observes a particular order of updates (reads or writes) to a data item, it will never observe a conflicting order of updates.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2. prevents the system from reverting to previous states or seeing inconsistent sequences of updates, which helps maintain data integrity and coherence.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7219a47dff_4_1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59" name="Google Shape;159;g37219a47dff_4_18"/>
          <p:cNvSpPr txBox="1"/>
          <p:nvPr/>
        </p:nvSpPr>
        <p:spPr>
          <a:xfrm>
            <a:off x="170688" y="1072896"/>
            <a:ext cx="14301300" cy="717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Monotonic Reads and Writes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ensure that if a client performs a sequence of reads or writes, it will observe a monotonically increasing sequence of values or updates.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ensure that clients never see older values in subsequent reads, while monotonic writes guarantee that writes from a single client are applied in the same order on all replicas.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Challenges with maintaining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Network Latency</a:t>
            </a:r>
            <a:r>
              <a:rPr b="0" i="0" lang="en-US" sz="2000" u="none" cap="none" strike="noStrike">
                <a:solidFill>
                  <a:srgbClr val="000000"/>
                </a:solidFill>
                <a:latin typeface="Times New Roman"/>
                <a:ea typeface="Times New Roman"/>
                <a:cs typeface="Times New Roman"/>
                <a:sym typeface="Times New Roman"/>
              </a:rPr>
              <a:t>− Delays in communication between nodes can lead to stale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Partitioning</a:t>
            </a:r>
            <a:r>
              <a:rPr b="0" i="0" lang="en-US" sz="2000" u="none" cap="none" strike="noStrike">
                <a:solidFill>
                  <a:srgbClr val="000000"/>
                </a:solidFill>
                <a:latin typeface="Times New Roman"/>
                <a:ea typeface="Times New Roman"/>
                <a:cs typeface="Times New Roman"/>
                <a:sym typeface="Times New Roman"/>
              </a:rPr>
              <a:t>− Network partitions can disrupt data synchronization.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Concurrency</a:t>
            </a:r>
            <a:r>
              <a:rPr b="0" i="0" lang="en-US" sz="2000" u="none" cap="none" strike="noStrike">
                <a:solidFill>
                  <a:srgbClr val="000000"/>
                </a:solidFill>
                <a:latin typeface="Times New Roman"/>
                <a:ea typeface="Times New Roman"/>
                <a:cs typeface="Times New Roman"/>
                <a:sym typeface="Times New Roman"/>
              </a:rPr>
              <a:t>− Concurrent updates from multiple clients can lead to conflicts.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Scalability</a:t>
            </a:r>
            <a:r>
              <a:rPr b="0" i="0" lang="en-US" sz="2000" u="none" cap="none" strike="noStrike">
                <a:solidFill>
                  <a:srgbClr val="000000"/>
                </a:solidFill>
                <a:latin typeface="Times New Roman"/>
                <a:ea typeface="Times New Roman"/>
                <a:cs typeface="Times New Roman"/>
                <a:sym typeface="Times New Roman"/>
              </a:rPr>
              <a:t>− Ensuring consistency across a large number of nodes can reduce system performance.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Cost</a:t>
            </a:r>
            <a:r>
              <a:rPr b="0" i="0" lang="en-US" sz="2000" u="none" cap="none" strike="noStrike">
                <a:solidFill>
                  <a:srgbClr val="000000"/>
                </a:solidFill>
                <a:latin typeface="Times New Roman"/>
                <a:ea typeface="Times New Roman"/>
                <a:cs typeface="Times New Roman"/>
                <a:sym typeface="Times New Roman"/>
              </a:rPr>
              <a:t>− Consistency mechanisms, such as consensus algorithms, can be resource-intensive.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Techniques for Ensuring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Two-Phase Commit (2PC)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 protocol for coordinating transactions across multiple nodes−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Prepare Phase</a:t>
            </a:r>
            <a:r>
              <a:rPr b="0" i="0" lang="en-US" sz="2000" u="none" cap="none" strike="noStrike">
                <a:solidFill>
                  <a:srgbClr val="000000"/>
                </a:solidFill>
                <a:latin typeface="Times New Roman"/>
                <a:ea typeface="Times New Roman"/>
                <a:cs typeface="Times New Roman"/>
                <a:sym typeface="Times New Roman"/>
              </a:rPr>
              <a:t>− Nodes vote on whether to commit the transaction.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Commit Phase</a:t>
            </a:r>
            <a:r>
              <a:rPr b="0" i="0" lang="en-US" sz="2000" u="none" cap="none" strike="noStrike">
                <a:solidFill>
                  <a:srgbClr val="000000"/>
                </a:solidFill>
                <a:latin typeface="Times New Roman"/>
                <a:ea typeface="Times New Roman"/>
                <a:cs typeface="Times New Roman"/>
                <a:sym typeface="Times New Roman"/>
              </a:rPr>
              <a:t>− If all nodes agree, the transaction is committed.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Drawback</a:t>
            </a:r>
            <a:r>
              <a:rPr b="0" i="0" lang="en-US" sz="2000" u="none" cap="none" strike="noStrike">
                <a:solidFill>
                  <a:srgbClr val="000000"/>
                </a:solidFill>
                <a:latin typeface="Times New Roman"/>
                <a:ea typeface="Times New Roman"/>
                <a:cs typeface="Times New Roman"/>
                <a:sym typeface="Times New Roman"/>
              </a:rPr>
              <a:t>− 2PC can block nodes during failures, impacting availability.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7219a47dff_4_2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65" name="Google Shape;165;g37219a47dff_4_23"/>
          <p:cNvSpPr txBox="1"/>
          <p:nvPr/>
        </p:nvSpPr>
        <p:spPr>
          <a:xfrm>
            <a:off x="207264" y="1097280"/>
            <a:ext cx="13862400" cy="584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Quorum-Based Replication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In this method−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 quorum is a majority of nodes required to acknowledge a write or 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a:t>
            </a:r>
            <a:r>
              <a:rPr b="0" i="0" lang="en-US" sz="20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Write Quorum</a:t>
            </a:r>
            <a:r>
              <a:rPr b="0" i="0" lang="en-US" sz="2000" u="none" cap="none" strike="noStrike">
                <a:solidFill>
                  <a:srgbClr val="000000"/>
                </a:solidFill>
                <a:latin typeface="Times New Roman"/>
                <a:ea typeface="Times New Roman"/>
                <a:cs typeface="Times New Roman"/>
                <a:sym typeface="Times New Roman"/>
              </a:rPr>
              <a:t>− Data is written to W nodes.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Read Quorum</a:t>
            </a:r>
            <a:r>
              <a:rPr b="0" i="0" lang="en-US" sz="2000" u="none" cap="none" strike="noStrike">
                <a:solidFill>
                  <a:srgbClr val="000000"/>
                </a:solidFill>
                <a:latin typeface="Times New Roman"/>
                <a:ea typeface="Times New Roman"/>
                <a:cs typeface="Times New Roman"/>
                <a:sym typeface="Times New Roman"/>
              </a:rPr>
              <a:t>− Data is read from R nodes.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Ensures consistency if R+W &gt; NR + W &gt; N (total nodes).</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Consensus Algorithms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These algorithms help nodes agree on a single source of truth.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Paxos</a:t>
            </a:r>
            <a:r>
              <a:rPr b="0" i="0" lang="en-US" sz="2000" u="none" cap="none" strike="noStrike">
                <a:solidFill>
                  <a:srgbClr val="000000"/>
                </a:solidFill>
                <a:latin typeface="Times New Roman"/>
                <a:ea typeface="Times New Roman"/>
                <a:cs typeface="Times New Roman"/>
                <a:sym typeface="Times New Roman"/>
              </a:rPr>
              <a:t>− Guarantees consensus in the presence of node failures.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Raft</a:t>
            </a:r>
            <a:r>
              <a:rPr b="0" i="0" lang="en-US" sz="2000" u="none" cap="none" strike="noStrike">
                <a:solidFill>
                  <a:srgbClr val="000000"/>
                </a:solidFill>
                <a:latin typeface="Times New Roman"/>
                <a:ea typeface="Times New Roman"/>
                <a:cs typeface="Times New Roman"/>
                <a:sym typeface="Times New Roman"/>
              </a:rPr>
              <a:t>− Simpler and easier-to-understand alternative to Paxos.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Conflict Resolution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When concurrent updates conflict, strategies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Last Write Wins (LWW)</a:t>
            </a:r>
            <a:r>
              <a:rPr b="0" i="0" lang="en-US" sz="2000" u="none" cap="none" strike="noStrike">
                <a:solidFill>
                  <a:srgbClr val="000000"/>
                </a:solidFill>
                <a:latin typeface="Times New Roman"/>
                <a:ea typeface="Times New Roman"/>
                <a:cs typeface="Times New Roman"/>
                <a:sym typeface="Times New Roman"/>
              </a:rPr>
              <a:t>− The most recent update overwrites older 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Custom Application Logic</a:t>
            </a:r>
            <a:r>
              <a:rPr b="0" i="0" lang="en-US" sz="2000" u="none" cap="none" strike="noStrike">
                <a:solidFill>
                  <a:srgbClr val="000000"/>
                </a:solidFill>
                <a:latin typeface="Times New Roman"/>
                <a:ea typeface="Times New Roman"/>
                <a:cs typeface="Times New Roman"/>
                <a:sym typeface="Times New Roman"/>
              </a:rPr>
              <a:t>− Application-specific rules for resolving conflicts.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Vector Clocks</a:t>
            </a:r>
            <a:r>
              <a:rPr b="0" i="0" lang="en-US" sz="2000" u="none" cap="none" strike="noStrike">
                <a:solidFill>
                  <a:srgbClr val="000000"/>
                </a:solidFill>
                <a:latin typeface="Times New Roman"/>
                <a:ea typeface="Times New Roman"/>
                <a:cs typeface="Times New Roman"/>
                <a:sym typeface="Times New Roman"/>
              </a:rPr>
              <a:t>− Track causality to identify conflicts.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7219a47dff_4_2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71" name="Google Shape;171;g37219a47dff_4_28"/>
          <p:cNvSpPr txBox="1"/>
          <p:nvPr/>
        </p:nvSpPr>
        <p:spPr>
          <a:xfrm>
            <a:off x="292608" y="1024128"/>
            <a:ext cx="12862500" cy="3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Trade-offs in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Designing for consistency often involves trade-offs with other system properties−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Consistency vs. Availability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Systems prioritizing availability may sacrifice consistency during failures (e.g., eventual consistency).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Consistency vs. Performance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Strong consistency requires synchronization across nodes, increasing latency.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Consistency vs. Scalability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Maintaining consistency in highly scalable systems can lead to bottlenecks.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7219a47dff_4_3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77" name="Google Shape;177;g37219a47dff_4_33"/>
          <p:cNvSpPr txBox="1"/>
          <p:nvPr/>
        </p:nvSpPr>
        <p:spPr>
          <a:xfrm>
            <a:off x="316992" y="1133856"/>
            <a:ext cx="130575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Real-World Examples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 1: Banking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Strong consistency ensures that a user's bank balance is always accurate, even with concurrent transactions.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Techniques</a:t>
            </a:r>
            <a:r>
              <a:rPr b="0" i="0" lang="en-US" sz="2000" u="none" cap="none" strike="noStrike">
                <a:solidFill>
                  <a:srgbClr val="000000"/>
                </a:solidFill>
                <a:latin typeface="Times New Roman"/>
                <a:ea typeface="Times New Roman"/>
                <a:cs typeface="Times New Roman"/>
                <a:sym typeface="Times New Roman"/>
              </a:rPr>
              <a:t>− Distributed transactions, 2PC.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 2: Social Media Platforms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Eventual consistency is often sufficient for non-critical operations like post visibility.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Techniques</a:t>
            </a:r>
            <a:r>
              <a:rPr b="0" i="0" lang="en-US" sz="2000" u="none" cap="none" strike="noStrike">
                <a:solidFill>
                  <a:srgbClr val="000000"/>
                </a:solidFill>
                <a:latin typeface="Times New Roman"/>
                <a:ea typeface="Times New Roman"/>
                <a:cs typeface="Times New Roman"/>
                <a:sym typeface="Times New Roman"/>
              </a:rPr>
              <a:t>− Replication with conflict resolution.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Example 3: E-Commerce Websites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Product inventory must maintain strong consistency to prevent overselling.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Techniques</a:t>
            </a:r>
            <a:r>
              <a:rPr b="0" i="0" lang="en-US" sz="2000" u="none" cap="none" strike="noStrike">
                <a:solidFill>
                  <a:srgbClr val="000000"/>
                </a:solidFill>
                <a:latin typeface="Times New Roman"/>
                <a:ea typeface="Times New Roman"/>
                <a:cs typeface="Times New Roman"/>
                <a:sym typeface="Times New Roman"/>
              </a:rPr>
              <a:t>− Consensus algorithms or locking mechanisms.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aphicFrame>
        <p:nvGraphicFramePr>
          <p:cNvPr id="182" name="Google Shape;182;g37219a47dff_4_38"/>
          <p:cNvGraphicFramePr/>
          <p:nvPr/>
        </p:nvGraphicFramePr>
        <p:xfrm>
          <a:off x="1647681" y="1126141"/>
          <a:ext cx="3000000" cy="3000000"/>
        </p:xfrm>
        <a:graphic>
          <a:graphicData uri="http://schemas.openxmlformats.org/drawingml/2006/table">
            <a:tbl>
              <a:tblPr bandRow="1" firstRow="1">
                <a:noFill/>
                <a:tableStyleId>{BAA291EB-8090-4C92-A5D7-5BD844D5B1C5}</a:tableStyleId>
              </a:tblPr>
              <a:tblGrid>
                <a:gridCol w="3678325"/>
                <a:gridCol w="3678325"/>
                <a:gridCol w="3678325"/>
              </a:tblGrid>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Aspect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Weak Consistency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Eventual Consistency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Synchronization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Lack of strict synchronization between replicas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Asynchronous replication of updates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Convergence Guarantee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No guarantee of convergence or synchronization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Guarantees eventual convergence of replicas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Divergence Tolerance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Allows significant divergence between replicas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Tolerates temporary divergence between replicas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Timing of Convergence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No specification on timing of convergence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Ensures eventual convergence but does not specify time</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Ordering of Updates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No strict requirements on ordering of updates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Allows loose ordering of updates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Use Cases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Frequently used in caching systems and certain non-critical data scenarios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Commonly employed in distributed databases, cloud storage, and CDN</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Impact on Performance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Offers potential performance benefits due to reduced synchronization overhead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introduce temporary inconsistencies but provides eventual consistency and scalability benefits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Aspect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Weak Consistency </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Eventual Consistency</a:t>
                      </a:r>
                      <a:endParaRPr sz="1400" u="none" cap="none" strike="noStrike"/>
                    </a:p>
                  </a:txBody>
                  <a:tcPr marT="45725" marB="45725" marR="91450" marL="91450" anchor="ctr"/>
                </a:tc>
              </a:tr>
            </a:tbl>
          </a:graphicData>
        </a:graphic>
      </p:graphicFrame>
      <p:sp>
        <p:nvSpPr>
          <p:cNvPr id="183" name="Google Shape;183;g37219a47dff_4_38"/>
          <p:cNvSpPr txBox="1"/>
          <p:nvPr/>
        </p:nvSpPr>
        <p:spPr>
          <a:xfrm>
            <a:off x="170688" y="0"/>
            <a:ext cx="5059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Differences</a:t>
            </a:r>
            <a:endParaRPr b="1"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aphicFrame>
        <p:nvGraphicFramePr>
          <p:cNvPr id="188" name="Google Shape;188;g37219a47dff_4_43"/>
          <p:cNvGraphicFramePr/>
          <p:nvPr/>
        </p:nvGraphicFramePr>
        <p:xfrm>
          <a:off x="780289" y="918877"/>
          <a:ext cx="3000000" cy="3000000"/>
        </p:xfrm>
        <a:graphic>
          <a:graphicData uri="http://schemas.openxmlformats.org/drawingml/2006/table">
            <a:tbl>
              <a:tblPr bandRow="1" firstRow="1">
                <a:noFill/>
                <a:tableStyleId>{BAA291EB-8090-4C92-A5D7-5BD844D5B1C5}</a:tableStyleId>
              </a:tblPr>
              <a:tblGrid>
                <a:gridCol w="2657850"/>
                <a:gridCol w="5437625"/>
                <a:gridCol w="4693925"/>
              </a:tblGrid>
              <a:tr h="3708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Parameters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Strong Consistency</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Eventual Consistency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Definition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Guarantees that all reads reflect the most recent write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Ensures that all replicas converge to the same value eventually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Data Freshness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Immediate consistency after a write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Temporary inconsistencies allowed, and eventual consistency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Latency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Higher latency due to synchronization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Lower latency due to asynchronous updates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Availability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Lower availability during network partitions (CAP theorem)</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Higher availability even during network partitions (CAP theorem)</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Partition Tolerance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Can be compromised for consistency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Prioritized alongside availability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Complexity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More complex to implement due to synchronization</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Simpler implementation, fewer synchronization requirements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Use Cases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Financial transactions, inventory management, session management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Social media feeds, DNS, caching systems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Performance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Potentially slower due to synchronization overhead</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Generally faster due to relaxed consistency</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Scalability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More challenging to scale due to synchronization needs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Easier to scale across multiple nodes</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Read/Write Operations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Synchronous, ensuring the latest data is read</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Asynchronous, allowing for faster operations but with potential delays in consistency</a:t>
                      </a:r>
                      <a:endParaRPr sz="1400" u="none" cap="none" strike="noStrike"/>
                    </a:p>
                  </a:txBody>
                  <a:tcPr marT="45725" marB="45725" marR="91450" marL="91450" anchor="ctr"/>
                </a:tc>
              </a:tr>
            </a:tbl>
          </a:graphicData>
        </a:graphic>
      </p:graphicFrame>
      <p:sp>
        <p:nvSpPr>
          <p:cNvPr id="189" name="Google Shape;189;g37219a47dff_4_43"/>
          <p:cNvSpPr txBox="1"/>
          <p:nvPr/>
        </p:nvSpPr>
        <p:spPr>
          <a:xfrm>
            <a:off x="170688" y="0"/>
            <a:ext cx="5059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0000"/>
                </a:solidFill>
                <a:latin typeface="Times New Roman"/>
                <a:ea typeface="Times New Roman"/>
                <a:cs typeface="Times New Roman"/>
                <a:sym typeface="Times New Roman"/>
              </a:rPr>
              <a:t>Differences</a:t>
            </a:r>
            <a:endParaRPr b="1"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7219a47dff_4_85"/>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196" name="Google Shape;196;g37219a47dff_4_85"/>
          <p:cNvSpPr txBox="1"/>
          <p:nvPr/>
        </p:nvSpPr>
        <p:spPr>
          <a:xfrm>
            <a:off x="672225" y="1224375"/>
            <a:ext cx="13221300" cy="672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Requirements analysis is an essential process that enables the success of a system or software project to be assessed. Requirements are generally split into two types: Functional and Non-functional requirements. functional requirements define the specific behavior or functions of a system. In contrast, non-functional requirements specify how the system performs its tasks, focusing on attributes like performance, security, scalability, and usability.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What are Functional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These are the requirements that the end user specifically demands as basic facilities that the system should offer. All these functionalities need to be necessarily incorporated into the system as a part of the contract.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These are represented or stated in the form of input to be given to the system, the operation performed and the output expected.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They are the requirements stated by the user which one can see directly in the final product, unlike the non-functional requirements.</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What are the features that we need to design for this system?</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What are the edge cases we need to consider, if any, in our design?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7" name="Google Shape;197;g37219a47dff_4_85"/>
          <p:cNvSpPr txBox="1"/>
          <p:nvPr/>
        </p:nvSpPr>
        <p:spPr>
          <a:xfrm>
            <a:off x="329250" y="6850"/>
            <a:ext cx="8522700" cy="96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Functional and Non Functional Requirements</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7219a47dff_4_9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04" name="Google Shape;204;g37219a47dff_4_92"/>
          <p:cNvSpPr txBox="1"/>
          <p:nvPr/>
        </p:nvSpPr>
        <p:spPr>
          <a:xfrm>
            <a:off x="192050" y="1018600"/>
            <a:ext cx="13770000" cy="6756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What are Non-Functional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These are the quality constraints that the system must satisfy according to the project contract. The priority or extent to which these factors are implemented varies from one project to another. They are also called non-behavioral requirements. They deal with issues like: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Portability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Security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Maintainability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Reliability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Scalability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Performance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Reusability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Flexibility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Each request should be processed with the minimum latency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System should be highly available.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7219a47dff_4_9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11" name="Google Shape;211;g37219a47dff_4_98"/>
          <p:cNvSpPr txBox="1"/>
          <p:nvPr/>
        </p:nvSpPr>
        <p:spPr>
          <a:xfrm>
            <a:off x="174925" y="1018600"/>
            <a:ext cx="13872900" cy="677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Example: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Response Time</a:t>
            </a:r>
            <a:r>
              <a:rPr b="0" i="0" lang="en-US" sz="1800" u="none" cap="none" strike="noStrike">
                <a:solidFill>
                  <a:schemeClr val="dk1"/>
                </a:solidFill>
                <a:latin typeface="Times New Roman"/>
                <a:ea typeface="Times New Roman"/>
                <a:cs typeface="Times New Roman"/>
                <a:sym typeface="Times New Roman"/>
              </a:rPr>
              <a:t>− The page should load in under 2 seconds for 93% of users.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S</a:t>
            </a:r>
            <a:r>
              <a:rPr b="1" i="0" lang="en-US" sz="1800" u="none" cap="none" strike="noStrike">
                <a:solidFill>
                  <a:schemeClr val="dk1"/>
                </a:solidFill>
                <a:latin typeface="Times New Roman"/>
                <a:ea typeface="Times New Roman"/>
                <a:cs typeface="Times New Roman"/>
                <a:sym typeface="Times New Roman"/>
              </a:rPr>
              <a:t>calability Requirements: </a:t>
            </a:r>
            <a:r>
              <a:rPr b="0" i="0" lang="en-US" sz="1800" u="none" cap="none" strike="noStrike">
                <a:solidFill>
                  <a:schemeClr val="dk1"/>
                </a:solidFill>
                <a:latin typeface="Times New Roman"/>
                <a:ea typeface="Times New Roman"/>
                <a:cs typeface="Times New Roman"/>
                <a:sym typeface="Times New Roman"/>
              </a:rPr>
              <a:t>The systems ability to handle growth in data volume, users, or transactions.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a:t>
            </a:r>
            <a:r>
              <a:rPr b="0" i="0" lang="en-US" sz="1800" u="none" cap="none" strike="noStrike">
                <a:solidFill>
                  <a:schemeClr val="dk1"/>
                </a:solidFill>
                <a:latin typeface="Times New Roman"/>
                <a:ea typeface="Times New Roman"/>
                <a:cs typeface="Times New Roman"/>
                <a:sym typeface="Times New Roman"/>
              </a:rPr>
              <a:t>− The system should support up to 10,000 concurrent users.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Security Requirements: </a:t>
            </a:r>
            <a:r>
              <a:rPr b="0" i="0" lang="en-US" sz="1800" u="none" cap="none" strike="noStrike">
                <a:solidFill>
                  <a:schemeClr val="dk1"/>
                </a:solidFill>
                <a:latin typeface="Times New Roman"/>
                <a:ea typeface="Times New Roman"/>
                <a:cs typeface="Times New Roman"/>
                <a:sym typeface="Times New Roman"/>
              </a:rPr>
              <a:t>Requirements for data protection, encryption, and access control.</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a:t>
            </a:r>
            <a:r>
              <a:rPr b="0" i="0" lang="en-US" sz="1800" u="none" cap="none" strike="noStrike">
                <a:solidFill>
                  <a:schemeClr val="dk1"/>
                </a:solidFill>
                <a:latin typeface="Times New Roman"/>
                <a:ea typeface="Times New Roman"/>
                <a:cs typeface="Times New Roman"/>
                <a:sym typeface="Times New Roman"/>
              </a:rPr>
              <a:t>− Passwords must be hashed and salted before storage.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Usability Requirements: </a:t>
            </a:r>
            <a:r>
              <a:rPr b="0" i="0" lang="en-US" sz="1800" u="none" cap="none" strike="noStrike">
                <a:solidFill>
                  <a:schemeClr val="dk1"/>
                </a:solidFill>
                <a:latin typeface="Times New Roman"/>
                <a:ea typeface="Times New Roman"/>
                <a:cs typeface="Times New Roman"/>
                <a:sym typeface="Times New Roman"/>
              </a:rPr>
              <a:t>Requirements related to the ease of use and learnability of the system.</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a:t>
            </a:r>
            <a:r>
              <a:rPr b="0" i="0" lang="en-US" sz="1800" u="none" cap="none" strike="noStrike">
                <a:solidFill>
                  <a:schemeClr val="dk1"/>
                </a:solidFill>
                <a:latin typeface="Times New Roman"/>
                <a:ea typeface="Times New Roman"/>
                <a:cs typeface="Times New Roman"/>
                <a:sym typeface="Times New Roman"/>
              </a:rPr>
              <a:t>− All core functions should be accessible with no more than three clicks.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Reliability and Availability Requirements: </a:t>
            </a:r>
            <a:r>
              <a:rPr b="0" i="0" lang="en-US" sz="1800" u="none" cap="none" strike="noStrike">
                <a:solidFill>
                  <a:schemeClr val="dk1"/>
                </a:solidFill>
                <a:latin typeface="Times New Roman"/>
                <a:ea typeface="Times New Roman"/>
                <a:cs typeface="Times New Roman"/>
                <a:sym typeface="Times New Roman"/>
              </a:rPr>
              <a:t>Defines the systems expected uptime and error tolerance.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a:t>
            </a:r>
            <a:r>
              <a:rPr b="0" i="0" lang="en-US" sz="1800" u="none" cap="none" strike="noStrike">
                <a:solidFill>
                  <a:schemeClr val="dk1"/>
                </a:solidFill>
                <a:latin typeface="Times New Roman"/>
                <a:ea typeface="Times New Roman"/>
                <a:cs typeface="Times New Roman"/>
                <a:sym typeface="Times New Roman"/>
              </a:rPr>
              <a:t>− The system should have 99.9% uptime.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Maintainability and Portability: </a:t>
            </a:r>
            <a:r>
              <a:rPr b="0" i="0" lang="en-US" sz="1800" u="none" cap="none" strike="noStrike">
                <a:solidFill>
                  <a:schemeClr val="dk1"/>
                </a:solidFill>
                <a:latin typeface="Times New Roman"/>
                <a:ea typeface="Times New Roman"/>
                <a:cs typeface="Times New Roman"/>
                <a:sym typeface="Times New Roman"/>
              </a:rPr>
              <a:t>Requirements for the ease of maintenance, debugging, and migration.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a:t>
            </a:r>
            <a:r>
              <a:rPr b="0" i="0" lang="en-US" sz="1800" u="none" cap="none" strike="noStrike">
                <a:solidFill>
                  <a:schemeClr val="dk1"/>
                </a:solidFill>
                <a:latin typeface="Times New Roman"/>
                <a:ea typeface="Times New Roman"/>
                <a:cs typeface="Times New Roman"/>
                <a:sym typeface="Times New Roman"/>
              </a:rPr>
              <a:t>− Code should follow documented standards to ensure maintainability.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7219a47dff_4_104"/>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18" name="Google Shape;218;g37219a47dff_4_104"/>
          <p:cNvSpPr txBox="1"/>
          <p:nvPr/>
        </p:nvSpPr>
        <p:spPr>
          <a:xfrm>
            <a:off x="140625" y="1070050"/>
            <a:ext cx="13872900" cy="679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800" u="sng" cap="none" strike="noStrike">
                <a:solidFill>
                  <a:schemeClr val="dk1"/>
                </a:solidFill>
                <a:latin typeface="Times New Roman"/>
                <a:ea typeface="Times New Roman"/>
                <a:cs typeface="Times New Roman"/>
                <a:sym typeface="Times New Roman"/>
              </a:rPr>
              <a:t>1. Online Banking System</a:t>
            </a:r>
            <a:endParaRPr b="1" i="0" sz="1800" u="sng"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1. 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Users should be able to log in with their username and password.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Users should be able to check their account balance.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Users should receive notifications after making a transaction.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2. Non-functional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system should respond to user actions in less than 2 seconds.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All transactions must be encrypted and comply with industry security standards.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system should be able to handle 100 million users with minimal downtime.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sng" cap="none" strike="noStrike">
                <a:solidFill>
                  <a:schemeClr val="dk1"/>
                </a:solidFill>
                <a:latin typeface="Times New Roman"/>
                <a:ea typeface="Times New Roman"/>
                <a:cs typeface="Times New Roman"/>
                <a:sym typeface="Times New Roman"/>
              </a:rPr>
              <a:t>2. Food Delivery App</a:t>
            </a:r>
            <a:endParaRPr b="1" i="0" sz="1800" u="sng"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1. 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Users can browse the menu and place an order.</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Users can make payments and track their orders in real time.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2. Non-functional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app should load the restaurant menu in under 1 second.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system should support up to 50,000 concurrent orders during peak hours.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app should be easy to use for first-time users, with an intuitive interface.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219" name="Google Shape;219;g37219a47dff_4_104"/>
          <p:cNvSpPr txBox="1"/>
          <p:nvPr/>
        </p:nvSpPr>
        <p:spPr>
          <a:xfrm>
            <a:off x="192050" y="6850"/>
            <a:ext cx="6242100" cy="94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Examples</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219a47dff_4_111"/>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226" name="Google Shape;226;g37219a47dff_4_111"/>
          <p:cNvPicPr preferRelativeResize="0"/>
          <p:nvPr/>
        </p:nvPicPr>
        <p:blipFill rotWithShape="1">
          <a:blip r:embed="rId3">
            <a:alphaModFix/>
          </a:blip>
          <a:srcRect b="0" l="0" r="0" t="0"/>
          <a:stretch/>
        </p:blipFill>
        <p:spPr>
          <a:xfrm>
            <a:off x="1178850" y="984325"/>
            <a:ext cx="12180651" cy="6825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7219a47dff_4_11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33" name="Google Shape;233;g37219a47dff_4_117"/>
          <p:cNvSpPr txBox="1"/>
          <p:nvPr/>
        </p:nvSpPr>
        <p:spPr>
          <a:xfrm>
            <a:off x="174925" y="1001450"/>
            <a:ext cx="13701600" cy="679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Challenges in Managing Functional and Non-Functional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Ambiguity and Misinterpretation</a:t>
            </a:r>
            <a:r>
              <a:rPr b="0" i="0" lang="en-US" sz="1800" u="none" cap="none" strike="noStrike">
                <a:solidFill>
                  <a:schemeClr val="dk1"/>
                </a:solidFill>
                <a:latin typeface="Times New Roman"/>
                <a:ea typeface="Times New Roman"/>
                <a:cs typeface="Times New Roman"/>
                <a:sym typeface="Times New Roman"/>
              </a:rPr>
              <a:t>− Vague requirements lead to misunderstandings. Use clear, specific language. </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Times New Roman"/>
                <a:ea typeface="Times New Roman"/>
                <a:cs typeface="Times New Roman"/>
                <a:sym typeface="Times New Roman"/>
              </a:rPr>
              <a:t>Changing Requirements: Requirements may change frequently; use Agile methodologies for flexibility.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Conflict between Functional and Non-Functional Goals</a:t>
            </a:r>
            <a:r>
              <a:rPr b="0" i="0" lang="en-US" sz="1800" u="none" cap="none" strike="noStrike">
                <a:solidFill>
                  <a:schemeClr val="dk1"/>
                </a:solidFill>
                <a:latin typeface="Times New Roman"/>
                <a:ea typeface="Times New Roman"/>
                <a:cs typeface="Times New Roman"/>
                <a:sym typeface="Times New Roman"/>
              </a:rPr>
              <a:t>− Trade-offs may be required (e.g., security vs. usability).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Prioritization Issues</a:t>
            </a:r>
            <a:r>
              <a:rPr b="0" i="0" lang="en-US" sz="1800" u="none" cap="none" strike="noStrike">
                <a:solidFill>
                  <a:schemeClr val="dk1"/>
                </a:solidFill>
                <a:latin typeface="Times New Roman"/>
                <a:ea typeface="Times New Roman"/>
                <a:cs typeface="Times New Roman"/>
                <a:sym typeface="Times New Roman"/>
              </a:rPr>
              <a:t>− High-priority non-functional requirements (like security) may be overlooked.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Stakeholder Alignment</a:t>
            </a:r>
            <a:r>
              <a:rPr b="0" i="0" lang="en-US" sz="1800" u="none" cap="none" strike="noStrike">
                <a:solidFill>
                  <a:schemeClr val="dk1"/>
                </a:solidFill>
                <a:latin typeface="Times New Roman"/>
                <a:ea typeface="Times New Roman"/>
                <a:cs typeface="Times New Roman"/>
                <a:sym typeface="Times New Roman"/>
              </a:rPr>
              <a:t>− Ensuring all stakeholders agree on priorities and definitions.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rgbClr val="000000"/>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Tests for Non-Functional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Load Testing</a:t>
            </a:r>
            <a:r>
              <a:rPr b="0" i="0" lang="en-US" sz="1800" u="none" cap="none" strike="noStrike">
                <a:solidFill>
                  <a:schemeClr val="dk1"/>
                </a:solidFill>
                <a:latin typeface="Times New Roman"/>
                <a:ea typeface="Times New Roman"/>
                <a:cs typeface="Times New Roman"/>
                <a:sym typeface="Times New Roman"/>
              </a:rPr>
              <a:t> for performance requirements.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Usability Testing</a:t>
            </a:r>
            <a:r>
              <a:rPr b="0" i="0" lang="en-US" sz="1800" u="none" cap="none" strike="noStrike">
                <a:solidFill>
                  <a:schemeClr val="dk1"/>
                </a:solidFill>
                <a:latin typeface="Times New Roman"/>
                <a:ea typeface="Times New Roman"/>
                <a:cs typeface="Times New Roman"/>
                <a:sym typeface="Times New Roman"/>
              </a:rPr>
              <a:t> for user experience.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Security Audits</a:t>
            </a:r>
            <a:r>
              <a:rPr b="0" i="0" lang="en-US" sz="1800" u="none" cap="none" strike="noStrike">
                <a:solidFill>
                  <a:schemeClr val="dk1"/>
                </a:solidFill>
                <a:latin typeface="Times New Roman"/>
                <a:ea typeface="Times New Roman"/>
                <a:cs typeface="Times New Roman"/>
                <a:sym typeface="Times New Roman"/>
              </a:rPr>
              <a:t> for security and compliance requirements.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Iterative Review and Refinement</a:t>
            </a:r>
            <a:r>
              <a:rPr b="0" i="0" lang="en-US" sz="1800" u="none" cap="none" strike="noStrike">
                <a:solidFill>
                  <a:schemeClr val="dk1"/>
                </a:solidFill>
                <a:latin typeface="Times New Roman"/>
                <a:ea typeface="Times New Roman"/>
                <a:cs typeface="Times New Roman"/>
                <a:sym typeface="Times New Roman"/>
              </a:rPr>
              <a:t>, Regularly revisit requirements for completeness and relevancy.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Use Automation</a:t>
            </a:r>
            <a:r>
              <a:rPr b="0" i="0" lang="en-US" sz="1800" u="none" cap="none" strike="noStrike">
                <a:solidFill>
                  <a:schemeClr val="dk1"/>
                </a:solidFill>
                <a:latin typeface="Times New Roman"/>
                <a:ea typeface="Times New Roman"/>
                <a:cs typeface="Times New Roman"/>
                <a:sym typeface="Times New Roman"/>
              </a:rPr>
              <a:t>, Track requirements in real-time, using tools like JIRA, Confluence, and Trello for traceability.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219a47dff_4_123"/>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40" name="Google Shape;240;g37219a47dff_4_123"/>
          <p:cNvSpPr txBox="1"/>
          <p:nvPr/>
        </p:nvSpPr>
        <p:spPr>
          <a:xfrm>
            <a:off x="123475" y="1172950"/>
            <a:ext cx="13770000" cy="3875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What are the techniques for Gathering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Gathering requirements involves multiple approaches and collaboration between the development team, stakeholders, and end-users: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1. 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Interviews: </a:t>
            </a:r>
            <a:r>
              <a:rPr b="0" i="0" lang="en-US" sz="1800" u="none" cap="none" strike="noStrike">
                <a:solidFill>
                  <a:schemeClr val="dk1"/>
                </a:solidFill>
                <a:latin typeface="Times New Roman"/>
                <a:ea typeface="Times New Roman"/>
                <a:cs typeface="Times New Roman"/>
                <a:sym typeface="Times New Roman"/>
              </a:rPr>
              <a:t>Talk to stakeholders or users to understand their needs.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Surveys:</a:t>
            </a:r>
            <a:r>
              <a:rPr b="0" i="0" lang="en-US" sz="1800" u="none" cap="none" strike="noStrike">
                <a:solidFill>
                  <a:schemeClr val="dk1"/>
                </a:solidFill>
                <a:latin typeface="Times New Roman"/>
                <a:ea typeface="Times New Roman"/>
                <a:cs typeface="Times New Roman"/>
                <a:sym typeface="Times New Roman"/>
              </a:rPr>
              <a:t> Distribute questionnaires to gather input from a larger audience.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Workshops: </a:t>
            </a:r>
            <a:r>
              <a:rPr b="0" i="0" lang="en-US" sz="1800" u="none" cap="none" strike="noStrike">
                <a:solidFill>
                  <a:schemeClr val="dk1"/>
                </a:solidFill>
                <a:latin typeface="Times New Roman"/>
                <a:ea typeface="Times New Roman"/>
                <a:cs typeface="Times New Roman"/>
                <a:sym typeface="Times New Roman"/>
              </a:rPr>
              <a:t>Host sessions to brainstorm features and gather feedback.</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2. Non-functional Requirements: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Performance Benchmarks: </a:t>
            </a:r>
            <a:r>
              <a:rPr b="0" i="0" lang="en-US" sz="1800" u="none" cap="none" strike="noStrike">
                <a:solidFill>
                  <a:schemeClr val="dk1"/>
                </a:solidFill>
                <a:latin typeface="Times New Roman"/>
                <a:ea typeface="Times New Roman"/>
                <a:cs typeface="Times New Roman"/>
                <a:sym typeface="Times New Roman"/>
              </a:rPr>
              <a:t>Consult with IT teams to set expectations for performance and load.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Security Standards:</a:t>
            </a:r>
            <a:r>
              <a:rPr b="0" i="0" lang="en-US" sz="1800" u="none" cap="none" strike="noStrike">
                <a:solidFill>
                  <a:schemeClr val="dk1"/>
                </a:solidFill>
                <a:latin typeface="Times New Roman"/>
                <a:ea typeface="Times New Roman"/>
                <a:cs typeface="Times New Roman"/>
                <a:sym typeface="Times New Roman"/>
              </a:rPr>
              <a:t> Consult with security experts to define the best practices for data protection.</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Usability Testing:</a:t>
            </a:r>
            <a:r>
              <a:rPr b="0" i="0" lang="en-US" sz="1800" u="none" cap="none" strike="noStrike">
                <a:solidFill>
                  <a:schemeClr val="dk1"/>
                </a:solidFill>
                <a:latin typeface="Times New Roman"/>
                <a:ea typeface="Times New Roman"/>
                <a:cs typeface="Times New Roman"/>
                <a:sym typeface="Times New Roman"/>
              </a:rPr>
              <a:t> Test the system to find areas where users might struggle and refine the interface.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7219a47dff_4_129"/>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47" name="Google Shape;247;g37219a47dff_4_129"/>
          <p:cNvSpPr txBox="1"/>
          <p:nvPr/>
        </p:nvSpPr>
        <p:spPr>
          <a:xfrm>
            <a:off x="140625" y="1035750"/>
            <a:ext cx="14095800" cy="684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pic>
        <p:nvPicPr>
          <p:cNvPr id="248" name="Google Shape;248;g37219a47dff_4_129"/>
          <p:cNvPicPr preferRelativeResize="0"/>
          <p:nvPr/>
        </p:nvPicPr>
        <p:blipFill rotWithShape="1">
          <a:blip r:embed="rId3">
            <a:alphaModFix/>
          </a:blip>
          <a:srcRect b="0" l="0" r="0" t="0"/>
          <a:stretch/>
        </p:blipFill>
        <p:spPr>
          <a:xfrm>
            <a:off x="294950" y="1035750"/>
            <a:ext cx="13318950" cy="6975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7219a47dff_4_136"/>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55" name="Google Shape;255;g37219a47dff_4_136"/>
          <p:cNvSpPr txBox="1"/>
          <p:nvPr/>
        </p:nvSpPr>
        <p:spPr>
          <a:xfrm>
            <a:off x="123475" y="1001450"/>
            <a:ext cx="13941600" cy="691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Importance of Balancing Both Functional and Non-Functional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As functional and non-functional requirements address distinct but equally significant components of the system, it is essential that they be balanced in system design. Here's why balancing them is essential:</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Improves User Experience</a:t>
            </a:r>
            <a:r>
              <a:rPr b="0" i="0" lang="en-US" sz="1800" u="none" cap="none" strike="noStrike">
                <a:solidFill>
                  <a:schemeClr val="dk1"/>
                </a:solidFill>
                <a:latin typeface="Times New Roman"/>
                <a:ea typeface="Times New Roman"/>
                <a:cs typeface="Times New Roman"/>
                <a:sym typeface="Times New Roman"/>
              </a:rPr>
              <a:t>: A system that functions but is slow, unresponsive, or challenging to operate could be the consequence of concentrating only on the functional requirements. Usability, performance, and availability are examples of non-functional criteria that have a big influence on how users interact with the system and how satisfied they are.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Enhances System Performance</a:t>
            </a:r>
            <a:r>
              <a:rPr b="0" i="0" lang="en-US" sz="1800" u="none" cap="none" strike="noStrike">
                <a:solidFill>
                  <a:schemeClr val="dk1"/>
                </a:solidFill>
                <a:latin typeface="Times New Roman"/>
                <a:ea typeface="Times New Roman"/>
                <a:cs typeface="Times New Roman"/>
                <a:sym typeface="Times New Roman"/>
              </a:rPr>
              <a:t>: Scalability, dependability, and security are examples of non-functional features that guarantee the system operates effectively in real-world situations. Failure may ensue from a system that satisfies functional requirements but is unable to scale or manage a high user volume. By keeping these in balance, the system is guaranteed to function properly.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Prevents Bottlenecks and Failures</a:t>
            </a:r>
            <a:r>
              <a:rPr b="0" i="0" lang="en-US" sz="1800" u="none" cap="none" strike="noStrike">
                <a:solidFill>
                  <a:schemeClr val="dk1"/>
                </a:solidFill>
                <a:latin typeface="Times New Roman"/>
                <a:ea typeface="Times New Roman"/>
                <a:cs typeface="Times New Roman"/>
                <a:sym typeface="Times New Roman"/>
              </a:rPr>
              <a:t>: Systems that function well but lack security or dependability are more likely to experience malfunctions, breaches, or outages. The system is made more robust and less vulnerable to bottlenecks by taking non-functional criteria into account.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Reduces Long-Term Costs</a:t>
            </a:r>
            <a:r>
              <a:rPr b="0" i="0" lang="en-US" sz="1800" u="none" cap="none" strike="noStrike">
                <a:solidFill>
                  <a:schemeClr val="dk1"/>
                </a:solidFill>
                <a:latin typeface="Times New Roman"/>
                <a:ea typeface="Times New Roman"/>
                <a:cs typeface="Times New Roman"/>
                <a:sym typeface="Times New Roman"/>
              </a:rPr>
              <a:t>: Systems designed with only functional requirements in mind often encounter scalability and maintainability issues as they grow. Addressing non-functional requirements early on prevents costly changes, re-architecting, or performance enhancements later.</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Supports System Evolution</a:t>
            </a:r>
            <a:r>
              <a:rPr b="0" i="0" lang="en-US" sz="1800" u="none" cap="none" strike="noStrike">
                <a:solidFill>
                  <a:schemeClr val="dk1"/>
                </a:solidFill>
                <a:latin typeface="Times New Roman"/>
                <a:ea typeface="Times New Roman"/>
                <a:cs typeface="Times New Roman"/>
                <a:sym typeface="Times New Roman"/>
              </a:rPr>
              <a:t>: Non-functional requirements such as maintainability and extensibility make future updates, feature additions, and system scaling easier and less disruptive. This balance ensures that the system can evolve and adapt over time without significant hurdles.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219a47dff_4_14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262" name="Google Shape;262;g37219a47dff_4_142"/>
          <p:cNvSpPr txBox="1"/>
          <p:nvPr/>
        </p:nvSpPr>
        <p:spPr>
          <a:xfrm>
            <a:off x="174925" y="967175"/>
            <a:ext cx="13890000" cy="69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Common Challenges in Defining these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Defining both functional and non-functional requirements in system design can be challenging due to several factors. Here are some common challenges: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Ambiguity in Requirements:</a:t>
            </a:r>
            <a:r>
              <a:rPr b="0" i="0" lang="en-US" sz="1800" u="none" cap="none" strike="noStrike">
                <a:solidFill>
                  <a:schemeClr val="dk1"/>
                </a:solidFill>
                <a:latin typeface="Times New Roman"/>
                <a:ea typeface="Times New Roman"/>
                <a:cs typeface="Times New Roman"/>
                <a:sym typeface="Times New Roman"/>
              </a:rPr>
              <a:t> Requirements are often unclear, making it difficult to interpret what the system should do (functional) and how it should perform (non-functional).</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Changing Requirements:</a:t>
            </a:r>
            <a:r>
              <a:rPr b="0" i="0" lang="en-US" sz="1800" u="none" cap="none" strike="noStrike">
                <a:solidFill>
                  <a:schemeClr val="dk1"/>
                </a:solidFill>
                <a:latin typeface="Times New Roman"/>
                <a:ea typeface="Times New Roman"/>
                <a:cs typeface="Times New Roman"/>
                <a:sym typeface="Times New Roman"/>
              </a:rPr>
              <a:t> As projects evolve, functional and non-functional requirements often change due to shifting business goals, market trends, or user needs.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Difficulty in Prioritization:</a:t>
            </a:r>
            <a:r>
              <a:rPr b="0" i="0" lang="en-US" sz="1800" u="none" cap="none" strike="noStrike">
                <a:solidFill>
                  <a:schemeClr val="dk1"/>
                </a:solidFill>
                <a:latin typeface="Times New Roman"/>
                <a:ea typeface="Times New Roman"/>
                <a:cs typeface="Times New Roman"/>
                <a:sym typeface="Times New Roman"/>
              </a:rPr>
              <a:t> Deciding which functional and non-functional requirements are most important is often difficult. Functional needs can overshadow non-functional ones, such as security or scalability.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Measuring Non-Functional Requirements:</a:t>
            </a:r>
            <a:r>
              <a:rPr b="0" i="0" lang="en-US" sz="1800" u="none" cap="none" strike="noStrike">
                <a:solidFill>
                  <a:schemeClr val="dk1"/>
                </a:solidFill>
                <a:latin typeface="Times New Roman"/>
                <a:ea typeface="Times New Roman"/>
                <a:cs typeface="Times New Roman"/>
                <a:sym typeface="Times New Roman"/>
              </a:rPr>
              <a:t> Functional requirements are often straightforward to test, but non-functional requirements like usability, scalability, and reliability are harder to measure and validate.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Overlapping or Conflicting Requirements:</a:t>
            </a:r>
            <a:r>
              <a:rPr b="0" i="0" lang="en-US" sz="1800" u="none" cap="none" strike="noStrike">
                <a:solidFill>
                  <a:schemeClr val="dk1"/>
                </a:solidFill>
                <a:latin typeface="Times New Roman"/>
                <a:ea typeface="Times New Roman"/>
                <a:cs typeface="Times New Roman"/>
                <a:sym typeface="Times New Roman"/>
              </a:rPr>
              <a:t> Sometimes, functional and non-functional requirements can overlap or conflict. For example, adding complex security features (non-functional) might slow down the performance (another non-functional requirement).</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11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