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6"/>
  </p:notesMasterIdLst>
  <p:sldIdLst>
    <p:sldId id="268" r:id="rId2"/>
    <p:sldId id="267" r:id="rId3"/>
    <p:sldId id="271" r:id="rId4"/>
    <p:sldId id="298" r:id="rId5"/>
    <p:sldId id="272" r:id="rId6"/>
    <p:sldId id="295" r:id="rId7"/>
    <p:sldId id="297" r:id="rId8"/>
    <p:sldId id="274" r:id="rId9"/>
    <p:sldId id="275" r:id="rId10"/>
    <p:sldId id="281" r:id="rId11"/>
    <p:sldId id="286" r:id="rId12"/>
    <p:sldId id="299" r:id="rId13"/>
    <p:sldId id="278" r:id="rId14"/>
    <p:sldId id="265"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34A42F5-4B87-4B0D-BDE0-B53A3B256EAD}">
          <p14:sldIdLst>
            <p14:sldId id="268"/>
            <p14:sldId id="267"/>
            <p14:sldId id="271"/>
            <p14:sldId id="298"/>
            <p14:sldId id="272"/>
            <p14:sldId id="295"/>
            <p14:sldId id="297"/>
            <p14:sldId id="274"/>
            <p14:sldId id="275"/>
            <p14:sldId id="281"/>
            <p14:sldId id="286"/>
            <p14:sldId id="299"/>
          </p14:sldIdLst>
        </p14:section>
        <p14:section name="Untitled Section" id="{C52C9F78-6B75-453D-B804-8B576FCCE21B}">
          <p14:sldIdLst>
            <p14:sldId id="278"/>
            <p14:sldId id="265"/>
          </p14:sldIdLst>
        </p14:section>
      </p14:sectionLst>
    </p:ex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jinder Kumar Verma" initials="RV" lastIdx="2" clrIdx="0">
    <p:extLst>
      <p:ext uri="{19B8F6BF-5375-455C-9EA6-DF929625EA0E}">
        <p15:presenceInfo xmlns="" xmlns:p15="http://schemas.microsoft.com/office/powerpoint/2012/main" userId="834702ce5b9bfe8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428" autoAdjust="0"/>
    <p:restoredTop sz="94660"/>
  </p:normalViewPr>
  <p:slideViewPr>
    <p:cSldViewPr>
      <p:cViewPr>
        <p:scale>
          <a:sx n="96" d="100"/>
          <a:sy n="96" d="100"/>
        </p:scale>
        <p:origin x="-922" y="-5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7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9EAE3BE-0F63-4A79-97B9-26A2BE83C82D}" type="datetimeFigureOut">
              <a:rPr lang="en-IN" smtClean="0"/>
              <a:t>29-09-2025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6524CAE-BE83-4784-BF4D-F97C729CB0B3}" type="slidenum">
              <a:rPr lang="en-IN" smtClean="0"/>
              <a:t>‹#›</a:t>
            </a:fld>
            <a:endParaRPr lang="en-IN"/>
          </a:p>
        </p:txBody>
      </p:sp>
    </p:spTree>
    <p:extLst>
      <p:ext uri="{BB962C8B-B14F-4D97-AF65-F5344CB8AC3E}">
        <p14:creationId xmlns:p14="http://schemas.microsoft.com/office/powerpoint/2010/main" val="10526651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5486400" cy="914400"/>
          </a:xfrm>
        </p:spPr>
        <p:txBody>
          <a:bodyPr/>
          <a:lstStyle>
            <a:lvl1pPr>
              <a:defRPr sz="3200" b="1">
                <a:latin typeface="Times New Roman" panose="02020603050405020304" pitchFamily="18" charset="0"/>
                <a:cs typeface="Times New Roman" panose="02020603050405020304" pitchFamily="18" charset="0"/>
              </a:defRPr>
            </a:lvl1pPr>
          </a:lstStyle>
          <a:p>
            <a:r>
              <a:rPr lang="en-US"/>
              <a:t>Click to edit Master title style</a:t>
            </a:r>
            <a:endParaRPr lang="en-US" dirty="0"/>
          </a:p>
        </p:txBody>
      </p:sp>
      <p:sp>
        <p:nvSpPr>
          <p:cNvPr id="3" name="Subtitle 2"/>
          <p:cNvSpPr>
            <a:spLocks noGrp="1"/>
          </p:cNvSpPr>
          <p:nvPr>
            <p:ph type="subTitle" idx="1"/>
          </p:nvPr>
        </p:nvSpPr>
        <p:spPr>
          <a:xfrm>
            <a:off x="533400" y="1371600"/>
            <a:ext cx="8153400" cy="47244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fld id="{1D5BB0C6-8FC1-47C0-B737-D54E21B5B868}" type="datetimeFigureOut">
              <a:rPr lang="en-US" smtClean="0"/>
              <a:pPr/>
              <a:t>9/29/2025</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0F8887D6-2A35-42AC-99C1-5E14D32EE4CF}"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advTm="4000">
        <p:cut/>
      </p:transition>
    </mc:Choice>
    <mc:Fallback xmlns="">
      <p:transition spd="slow" advTm="4000">
        <p:cu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10" descr="LOGO.gif"/>
          <p:cNvPicPr>
            <a:picLocks noChangeAspect="1"/>
          </p:cNvPicPr>
          <p:nvPr/>
        </p:nvPicPr>
        <p:blipFill>
          <a:blip r:embed="rId2" cstate="print"/>
          <a:srcRect b="10713"/>
          <a:stretch>
            <a:fillRect/>
          </a:stretch>
        </p:blipFill>
        <p:spPr bwMode="auto">
          <a:xfrm>
            <a:off x="6553200" y="228600"/>
            <a:ext cx="2057400" cy="635000"/>
          </a:xfrm>
          <a:prstGeom prst="rect">
            <a:avLst/>
          </a:prstGeom>
          <a:noFill/>
          <a:ln w="9525">
            <a:noFill/>
            <a:miter lim="800000"/>
            <a:headEnd/>
            <a:tailEnd/>
          </a:ln>
        </p:spPr>
      </p:pic>
      <p:grpSp>
        <p:nvGrpSpPr>
          <p:cNvPr id="5" name="Group 7"/>
          <p:cNvGrpSpPr>
            <a:grpSpLocks/>
          </p:cNvGrpSpPr>
          <p:nvPr/>
        </p:nvGrpSpPr>
        <p:grpSpPr bwMode="auto">
          <a:xfrm>
            <a:off x="6146800" y="0"/>
            <a:ext cx="2997200" cy="876300"/>
            <a:chOff x="6096000" y="3924300"/>
            <a:chExt cx="2997200" cy="876300"/>
          </a:xfrm>
        </p:grpSpPr>
        <p:sp>
          <p:nvSpPr>
            <p:cNvPr id="6" name="Rectangle 11"/>
            <p:cNvSpPr>
              <a:spLocks noChangeArrowheads="1"/>
            </p:cNvSpPr>
            <p:nvPr/>
          </p:nvSpPr>
          <p:spPr bwMode="auto">
            <a:xfrm>
              <a:off x="6096000" y="3924300"/>
              <a:ext cx="2997200" cy="838200"/>
            </a:xfrm>
            <a:prstGeom prst="rect">
              <a:avLst/>
            </a:prstGeom>
            <a:solidFill>
              <a:srgbClr val="FF3300"/>
            </a:solidFill>
            <a:ln w="9525">
              <a:noFill/>
              <a:miter lim="800000"/>
              <a:headEnd/>
              <a:tailEnd/>
            </a:ln>
          </p:spPr>
          <p:txBody>
            <a:bodyPr wrap="none" anchor="ctr"/>
            <a:lstStyle/>
            <a:p>
              <a:endParaRPr lang="en-US">
                <a:latin typeface="Calibri" pitchFamily="34" charset="0"/>
              </a:endParaRPr>
            </a:p>
          </p:txBody>
        </p:sp>
        <p:pic>
          <p:nvPicPr>
            <p:cNvPr id="7" name="Picture 9" descr="LOGO.gif"/>
            <p:cNvPicPr>
              <a:picLocks noChangeAspect="1"/>
            </p:cNvPicPr>
            <p:nvPr/>
          </p:nvPicPr>
          <p:blipFill>
            <a:blip r:embed="rId2" cstate="print"/>
            <a:srcRect b="10713"/>
            <a:stretch>
              <a:fillRect/>
            </a:stretch>
          </p:blipFill>
          <p:spPr bwMode="auto">
            <a:xfrm>
              <a:off x="6502400" y="4152900"/>
              <a:ext cx="2057400" cy="635000"/>
            </a:xfrm>
            <a:prstGeom prst="rect">
              <a:avLst/>
            </a:prstGeom>
            <a:noFill/>
            <a:ln w="9525">
              <a:noFill/>
              <a:miter lim="800000"/>
              <a:headEnd/>
              <a:tailEnd/>
            </a:ln>
          </p:spPr>
        </p:pic>
        <p:sp>
          <p:nvSpPr>
            <p:cNvPr id="8" name="Rectangle 7"/>
            <p:cNvSpPr/>
            <p:nvPr/>
          </p:nvSpPr>
          <p:spPr>
            <a:xfrm>
              <a:off x="6477000" y="4114800"/>
              <a:ext cx="207645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pic>
        <p:nvPicPr>
          <p:cNvPr id="9" name="Picture 15" descr="logo.jpg"/>
          <p:cNvPicPr>
            <a:picLocks noChangeAspect="1"/>
          </p:cNvPicPr>
          <p:nvPr/>
        </p:nvPicPr>
        <p:blipFill>
          <a:blip r:embed="rId3" cstate="print"/>
          <a:srcRect/>
          <a:stretch>
            <a:fillRect/>
          </a:stretch>
        </p:blipFill>
        <p:spPr bwMode="auto">
          <a:xfrm>
            <a:off x="6553200" y="228600"/>
            <a:ext cx="1920875" cy="609600"/>
          </a:xfrm>
          <a:prstGeom prst="rect">
            <a:avLst/>
          </a:prstGeom>
          <a:noFill/>
          <a:ln w="9525">
            <a:noFill/>
            <a:miter lim="800000"/>
            <a:headEnd/>
            <a:tailEnd/>
          </a:ln>
        </p:spPr>
      </p:pic>
      <p:sp>
        <p:nvSpPr>
          <p:cNvPr id="2" name="Title 1"/>
          <p:cNvSpPr>
            <a:spLocks noGrp="1"/>
          </p:cNvSpPr>
          <p:nvPr>
            <p:ph type="title"/>
          </p:nvPr>
        </p:nvSpPr>
        <p:spPr/>
        <p:txBody>
          <a:bodyPr/>
          <a:lstStyle>
            <a:lvl1pPr>
              <a:defRPr sz="3200">
                <a:latin typeface="Times New Roman" panose="02020603050405020304" pitchFamily="18" charset="0"/>
                <a:cs typeface="Times New Roman" panose="02020603050405020304" pitchFamily="18"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200">
                <a:latin typeface="Times New Roman" panose="02020603050405020304" pitchFamily="18" charset="0"/>
                <a:cs typeface="Times New Roman" panose="02020603050405020304" pitchFamily="18" charset="0"/>
              </a:defRPr>
            </a:lvl1pPr>
            <a:lvl2pPr>
              <a:defRPr sz="2200">
                <a:latin typeface="Times New Roman" panose="02020603050405020304" pitchFamily="18" charset="0"/>
                <a:cs typeface="Times New Roman" panose="02020603050405020304" pitchFamily="18" charset="0"/>
              </a:defRPr>
            </a:lvl2pPr>
            <a:lvl3pPr>
              <a:defRPr sz="2200">
                <a:latin typeface="Times New Roman" panose="02020603050405020304" pitchFamily="18" charset="0"/>
                <a:cs typeface="Times New Roman" panose="02020603050405020304" pitchFamily="18" charset="0"/>
              </a:defRPr>
            </a:lvl3pPr>
            <a:lvl4pPr>
              <a:defRPr sz="2200">
                <a:latin typeface="Times New Roman" panose="02020603050405020304" pitchFamily="18" charset="0"/>
                <a:cs typeface="Times New Roman" panose="02020603050405020304" pitchFamily="18" charset="0"/>
              </a:defRPr>
            </a:lvl4pPr>
            <a:lvl5pPr>
              <a:defRPr sz="2200">
                <a:latin typeface="Times New Roman" panose="02020603050405020304" pitchFamily="18" charset="0"/>
                <a:cs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3"/>
          <p:cNvSpPr>
            <a:spLocks noGrp="1"/>
          </p:cNvSpPr>
          <p:nvPr>
            <p:ph type="dt" sz="half" idx="10"/>
          </p:nvPr>
        </p:nvSpPr>
        <p:spPr/>
        <p:txBody>
          <a:bodyPr/>
          <a:lstStyle>
            <a:lvl1pPr>
              <a:defRPr/>
            </a:lvl1pPr>
          </a:lstStyle>
          <a:p>
            <a:fld id="{1D5BB0C6-8FC1-47C0-B737-D54E21B5B868}" type="datetimeFigureOut">
              <a:rPr lang="en-US" smtClean="0"/>
              <a:pPr/>
              <a:t>9/29/2025</a:t>
            </a:fld>
            <a:endParaRPr lang="en-US"/>
          </a:p>
        </p:txBody>
      </p:sp>
      <p:sp>
        <p:nvSpPr>
          <p:cNvPr id="11" name="Footer Placeholder 4"/>
          <p:cNvSpPr>
            <a:spLocks noGrp="1"/>
          </p:cNvSpPr>
          <p:nvPr>
            <p:ph type="ftr" sz="quarter" idx="11"/>
          </p:nvPr>
        </p:nvSpPr>
        <p:spPr/>
        <p:txBody>
          <a:bodyPr/>
          <a:lstStyle>
            <a:lvl1pPr>
              <a:defRPr/>
            </a:lvl1pPr>
          </a:lstStyle>
          <a:p>
            <a:endParaRPr lang="en-US"/>
          </a:p>
        </p:txBody>
      </p:sp>
      <p:sp>
        <p:nvSpPr>
          <p:cNvPr id="12" name="Slide Number Placeholder 5"/>
          <p:cNvSpPr>
            <a:spLocks noGrp="1"/>
          </p:cNvSpPr>
          <p:nvPr>
            <p:ph type="sldNum" sz="quarter" idx="12"/>
          </p:nvPr>
        </p:nvSpPr>
        <p:spPr/>
        <p:txBody>
          <a:bodyPr/>
          <a:lstStyle>
            <a:lvl1pPr>
              <a:defRPr/>
            </a:lvl1pPr>
          </a:lstStyle>
          <a:p>
            <a:fld id="{0F8887D6-2A35-42AC-99C1-5E14D32EE4CF}"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advTm="4000">
        <p:cut/>
      </p:transition>
    </mc:Choice>
    <mc:Fallback xmlns="">
      <p:transition spd="slow" advTm="4000">
        <p:cu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1D5BB0C6-8FC1-47C0-B737-D54E21B5B868}" type="datetimeFigureOut">
              <a:rPr lang="en-US" smtClean="0"/>
              <a:pPr/>
              <a:t>9/29/2025</a:t>
            </a:fld>
            <a:endParaRPr lang="en-US"/>
          </a:p>
        </p:txBody>
      </p:sp>
      <p:sp>
        <p:nvSpPr>
          <p:cNvPr id="24" name="Footer Placeholder 23"/>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8887D6-2A35-42AC-99C1-5E14D32EE4CF}"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advTm="4000">
        <p:cut/>
      </p:transition>
    </mc:Choice>
    <mc:Fallback xmlns="">
      <p:transition spd="slow" advTm="4000">
        <p:cut/>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e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0" y="0"/>
            <a:ext cx="6477000" cy="8382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3716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b="1">
                <a:solidFill>
                  <a:srgbClr val="0070C0"/>
                </a:solidFill>
                <a:latin typeface="Times New Roman" pitchFamily="18" charset="0"/>
                <a:cs typeface="Times New Roman" pitchFamily="18" charset="0"/>
              </a:defRPr>
            </a:lvl1pPr>
          </a:lstStyle>
          <a:p>
            <a:fld id="{1D5BB0C6-8FC1-47C0-B737-D54E21B5B868}" type="datetimeFigureOut">
              <a:rPr lang="en-US" smtClean="0"/>
              <a:pPr/>
              <a:t>9/29/2025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b="1">
                <a:solidFill>
                  <a:srgbClr val="0070C0"/>
                </a:solidFill>
                <a:latin typeface="Times New Roman" pitchFamily="18" charset="0"/>
                <a:ea typeface="ＭＳ Ｐゴシック" charset="-128"/>
                <a:cs typeface="Times New Roman" pitchFamily="18" charset="0"/>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b="1">
                <a:solidFill>
                  <a:srgbClr val="0070C0"/>
                </a:solidFill>
                <a:latin typeface="Times New Roman" pitchFamily="18" charset="0"/>
                <a:cs typeface="Times New Roman" pitchFamily="18" charset="0"/>
              </a:defRPr>
            </a:lvl1pPr>
          </a:lstStyle>
          <a:p>
            <a:fld id="{0F8887D6-2A35-42AC-99C1-5E14D32EE4CF}" type="slidenum">
              <a:rPr lang="en-US" smtClean="0"/>
              <a:pPr/>
              <a:t>‹#›</a:t>
            </a:fld>
            <a:endParaRPr lang="en-US"/>
          </a:p>
        </p:txBody>
      </p:sp>
      <p:sp>
        <p:nvSpPr>
          <p:cNvPr id="1031" name="Rectangle 11"/>
          <p:cNvSpPr>
            <a:spLocks noChangeArrowheads="1"/>
          </p:cNvSpPr>
          <p:nvPr/>
        </p:nvSpPr>
        <p:spPr bwMode="auto">
          <a:xfrm>
            <a:off x="0" y="0"/>
            <a:ext cx="9144000" cy="838200"/>
          </a:xfrm>
          <a:prstGeom prst="rect">
            <a:avLst/>
          </a:prstGeom>
          <a:solidFill>
            <a:srgbClr val="FF3300"/>
          </a:solidFill>
          <a:ln w="9525">
            <a:noFill/>
            <a:miter lim="800000"/>
            <a:headEnd/>
            <a:tailEnd/>
          </a:ln>
        </p:spPr>
        <p:txBody>
          <a:bodyPr wrap="none" anchor="ctr"/>
          <a:lstStyle/>
          <a:p>
            <a:endParaRPr lang="en-US">
              <a:latin typeface="Calibri" pitchFamily="34" charset="0"/>
            </a:endParaRPr>
          </a:p>
        </p:txBody>
      </p:sp>
      <p:sp>
        <p:nvSpPr>
          <p:cNvPr id="8" name="Rectangle 11"/>
          <p:cNvSpPr>
            <a:spLocks noChangeArrowheads="1"/>
          </p:cNvSpPr>
          <p:nvPr/>
        </p:nvSpPr>
        <p:spPr bwMode="auto">
          <a:xfrm flipV="1">
            <a:off x="0" y="6705600"/>
            <a:ext cx="9144000" cy="198116"/>
          </a:xfrm>
          <a:prstGeom prst="rect">
            <a:avLst/>
          </a:prstGeom>
          <a:solidFill>
            <a:srgbClr val="FF0000"/>
          </a:solidFill>
          <a:ln w="9525">
            <a:noFill/>
            <a:miter lim="800000"/>
            <a:headEnd/>
            <a:tailEnd/>
          </a:ln>
          <a:effectLst/>
          <a:scene3d>
            <a:camera prst="orthographicFront"/>
            <a:lightRig rig="threePt" dir="t"/>
          </a:scene3d>
          <a:sp3d>
            <a:bevelB/>
          </a:sp3d>
        </p:spPr>
        <p:txBody>
          <a:bodyPr wrap="none" anchor="ctr"/>
          <a:lstStyle/>
          <a:p>
            <a:pPr>
              <a:defRPr/>
            </a:pPr>
            <a:endParaRPr lang="en-US">
              <a:latin typeface="Calibri" charset="0"/>
              <a:ea typeface="ＭＳ Ｐゴシック" charset="-128"/>
            </a:endParaRPr>
          </a:p>
        </p:txBody>
      </p:sp>
      <p:pic>
        <p:nvPicPr>
          <p:cNvPr id="1035" name="Picture 10" descr="LOGO.gif"/>
          <p:cNvPicPr>
            <a:picLocks noChangeAspect="1"/>
          </p:cNvPicPr>
          <p:nvPr/>
        </p:nvPicPr>
        <p:blipFill>
          <a:blip r:embed="rId5" cstate="print"/>
          <a:srcRect b="10713"/>
          <a:stretch>
            <a:fillRect/>
          </a:stretch>
        </p:blipFill>
        <p:spPr bwMode="auto">
          <a:xfrm>
            <a:off x="6553200" y="228600"/>
            <a:ext cx="2057400" cy="635000"/>
          </a:xfrm>
          <a:prstGeom prst="rect">
            <a:avLst/>
          </a:prstGeom>
          <a:noFill/>
          <a:ln w="9525">
            <a:noFill/>
            <a:miter lim="800000"/>
            <a:headEnd/>
            <a:tailEnd/>
          </a:ln>
        </p:spPr>
      </p:pic>
      <p:pic>
        <p:nvPicPr>
          <p:cNvPr id="1036" name="Picture 10" descr="LOGO.gif"/>
          <p:cNvPicPr>
            <a:picLocks noChangeAspect="1"/>
          </p:cNvPicPr>
          <p:nvPr/>
        </p:nvPicPr>
        <p:blipFill>
          <a:blip r:embed="rId5" cstate="print"/>
          <a:srcRect b="10713"/>
          <a:stretch>
            <a:fillRect/>
          </a:stretch>
        </p:blipFill>
        <p:spPr bwMode="auto">
          <a:xfrm>
            <a:off x="6553200" y="228600"/>
            <a:ext cx="2057400" cy="635000"/>
          </a:xfrm>
          <a:prstGeom prst="rect">
            <a:avLst/>
          </a:prstGeom>
          <a:noFill/>
          <a:ln w="9525">
            <a:noFill/>
            <a:miter lim="800000"/>
            <a:headEnd/>
            <a:tailEnd/>
          </a:ln>
        </p:spPr>
      </p:pic>
      <p:grpSp>
        <p:nvGrpSpPr>
          <p:cNvPr id="2" name="Group 7"/>
          <p:cNvGrpSpPr>
            <a:grpSpLocks/>
          </p:cNvGrpSpPr>
          <p:nvPr/>
        </p:nvGrpSpPr>
        <p:grpSpPr bwMode="auto">
          <a:xfrm>
            <a:off x="6146800" y="0"/>
            <a:ext cx="2997200" cy="876300"/>
            <a:chOff x="6096000" y="3924300"/>
            <a:chExt cx="2997200" cy="876300"/>
          </a:xfrm>
        </p:grpSpPr>
        <p:sp>
          <p:nvSpPr>
            <p:cNvPr id="1039" name="Rectangle 11"/>
            <p:cNvSpPr>
              <a:spLocks noChangeArrowheads="1"/>
            </p:cNvSpPr>
            <p:nvPr/>
          </p:nvSpPr>
          <p:spPr bwMode="auto">
            <a:xfrm>
              <a:off x="6096000" y="3924300"/>
              <a:ext cx="2997200" cy="838200"/>
            </a:xfrm>
            <a:prstGeom prst="rect">
              <a:avLst/>
            </a:prstGeom>
            <a:solidFill>
              <a:srgbClr val="FF3300"/>
            </a:solidFill>
            <a:ln w="9525">
              <a:noFill/>
              <a:miter lim="800000"/>
              <a:headEnd/>
              <a:tailEnd/>
            </a:ln>
          </p:spPr>
          <p:txBody>
            <a:bodyPr wrap="none" anchor="ctr"/>
            <a:lstStyle/>
            <a:p>
              <a:endParaRPr lang="en-US">
                <a:latin typeface="Calibri" pitchFamily="34" charset="0"/>
              </a:endParaRPr>
            </a:p>
          </p:txBody>
        </p:sp>
        <p:pic>
          <p:nvPicPr>
            <p:cNvPr id="1040" name="Picture 9" descr="LOGO.gif"/>
            <p:cNvPicPr>
              <a:picLocks noChangeAspect="1"/>
            </p:cNvPicPr>
            <p:nvPr/>
          </p:nvPicPr>
          <p:blipFill>
            <a:blip r:embed="rId5" cstate="print"/>
            <a:srcRect b="10713"/>
            <a:stretch>
              <a:fillRect/>
            </a:stretch>
          </p:blipFill>
          <p:spPr bwMode="auto">
            <a:xfrm>
              <a:off x="6502400" y="4152900"/>
              <a:ext cx="2057400" cy="635000"/>
            </a:xfrm>
            <a:prstGeom prst="rect">
              <a:avLst/>
            </a:prstGeom>
            <a:noFill/>
            <a:ln w="9525">
              <a:noFill/>
              <a:miter lim="800000"/>
              <a:headEnd/>
              <a:tailEnd/>
            </a:ln>
          </p:spPr>
        </p:pic>
        <p:sp>
          <p:nvSpPr>
            <p:cNvPr id="19" name="Rectangle 18"/>
            <p:cNvSpPr/>
            <p:nvPr/>
          </p:nvSpPr>
          <p:spPr>
            <a:xfrm>
              <a:off x="6477000" y="4114800"/>
              <a:ext cx="207645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pic>
        <p:nvPicPr>
          <p:cNvPr id="1038" name="Picture 15" descr="logo.jpg"/>
          <p:cNvPicPr>
            <a:picLocks noChangeAspect="1"/>
          </p:cNvPicPr>
          <p:nvPr/>
        </p:nvPicPr>
        <p:blipFill>
          <a:blip r:embed="rId6" cstate="print"/>
          <a:srcRect/>
          <a:stretch>
            <a:fillRect/>
          </a:stretch>
        </p:blipFill>
        <p:spPr bwMode="auto">
          <a:xfrm>
            <a:off x="6553200" y="228600"/>
            <a:ext cx="1920875" cy="60960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Lst>
  <mc:AlternateContent xmlns:mc="http://schemas.openxmlformats.org/markup-compatibility/2006" xmlns:p14="http://schemas.microsoft.com/office/powerpoint/2010/main">
    <mc:Choice Requires="p14">
      <p:transition spd="slow" p14:dur="1500" advTm="4000">
        <p:cut/>
      </p:transition>
    </mc:Choice>
    <mc:Fallback xmlns="">
      <p:transition spd="slow" advTm="4000">
        <p:cut/>
      </p:transition>
    </mc:Fallback>
  </mc:AlternateContent>
  <p:txStyles>
    <p:titleStyle>
      <a:lvl1pPr algn="ctr" rtl="0" eaLnBrk="1" fontAlgn="base" hangingPunct="1">
        <a:spcBef>
          <a:spcPct val="0"/>
        </a:spcBef>
        <a:spcAft>
          <a:spcPct val="0"/>
        </a:spcAft>
        <a:defRPr sz="3000" kern="1200">
          <a:solidFill>
            <a:schemeClr val="tx1"/>
          </a:solidFill>
          <a:latin typeface="+mj-lt"/>
          <a:ea typeface="MS PGothic"/>
          <a:cs typeface="MS PGothic"/>
        </a:defRPr>
      </a:lvl1pPr>
      <a:lvl2pPr algn="ctr" rtl="0" eaLnBrk="1" fontAlgn="base" hangingPunct="1">
        <a:spcBef>
          <a:spcPct val="0"/>
        </a:spcBef>
        <a:spcAft>
          <a:spcPct val="0"/>
        </a:spcAft>
        <a:defRPr sz="3000">
          <a:solidFill>
            <a:schemeClr val="tx1"/>
          </a:solidFill>
          <a:latin typeface="Calibri" charset="0"/>
          <a:ea typeface="MS PGothic"/>
          <a:cs typeface="MS PGothic"/>
        </a:defRPr>
      </a:lvl2pPr>
      <a:lvl3pPr algn="ctr" rtl="0" eaLnBrk="1" fontAlgn="base" hangingPunct="1">
        <a:spcBef>
          <a:spcPct val="0"/>
        </a:spcBef>
        <a:spcAft>
          <a:spcPct val="0"/>
        </a:spcAft>
        <a:defRPr sz="3000">
          <a:solidFill>
            <a:schemeClr val="tx1"/>
          </a:solidFill>
          <a:latin typeface="Calibri" charset="0"/>
          <a:ea typeface="MS PGothic"/>
          <a:cs typeface="MS PGothic"/>
        </a:defRPr>
      </a:lvl3pPr>
      <a:lvl4pPr algn="ctr" rtl="0" eaLnBrk="1" fontAlgn="base" hangingPunct="1">
        <a:spcBef>
          <a:spcPct val="0"/>
        </a:spcBef>
        <a:spcAft>
          <a:spcPct val="0"/>
        </a:spcAft>
        <a:defRPr sz="3000">
          <a:solidFill>
            <a:schemeClr val="tx1"/>
          </a:solidFill>
          <a:latin typeface="Calibri" charset="0"/>
          <a:ea typeface="MS PGothic"/>
          <a:cs typeface="MS PGothic"/>
        </a:defRPr>
      </a:lvl4pPr>
      <a:lvl5pPr algn="ctr" rtl="0" eaLnBrk="1" fontAlgn="base" hangingPunct="1">
        <a:spcBef>
          <a:spcPct val="0"/>
        </a:spcBef>
        <a:spcAft>
          <a:spcPct val="0"/>
        </a:spcAft>
        <a:defRPr sz="3000">
          <a:solidFill>
            <a:schemeClr val="tx1"/>
          </a:solidFill>
          <a:latin typeface="Calibri" charset="0"/>
          <a:ea typeface="MS PGothic"/>
          <a:cs typeface="MS PGothic"/>
        </a:defRPr>
      </a:lvl5pPr>
      <a:lvl6pPr marL="457200" algn="ctr" rtl="0" eaLnBrk="1" fontAlgn="base" hangingPunct="1">
        <a:spcBef>
          <a:spcPct val="0"/>
        </a:spcBef>
        <a:spcAft>
          <a:spcPct val="0"/>
        </a:spcAft>
        <a:defRPr sz="3000">
          <a:solidFill>
            <a:schemeClr val="tx1"/>
          </a:solidFill>
          <a:latin typeface="Calibri" charset="0"/>
          <a:ea typeface="ＭＳ Ｐゴシック" charset="-128"/>
        </a:defRPr>
      </a:lvl6pPr>
      <a:lvl7pPr marL="914400" algn="ctr" rtl="0" eaLnBrk="1" fontAlgn="base" hangingPunct="1">
        <a:spcBef>
          <a:spcPct val="0"/>
        </a:spcBef>
        <a:spcAft>
          <a:spcPct val="0"/>
        </a:spcAft>
        <a:defRPr sz="3000">
          <a:solidFill>
            <a:schemeClr val="tx1"/>
          </a:solidFill>
          <a:latin typeface="Calibri" charset="0"/>
          <a:ea typeface="ＭＳ Ｐゴシック" charset="-128"/>
        </a:defRPr>
      </a:lvl7pPr>
      <a:lvl8pPr marL="1371600" algn="ctr" rtl="0" eaLnBrk="1" fontAlgn="base" hangingPunct="1">
        <a:spcBef>
          <a:spcPct val="0"/>
        </a:spcBef>
        <a:spcAft>
          <a:spcPct val="0"/>
        </a:spcAft>
        <a:defRPr sz="3000">
          <a:solidFill>
            <a:schemeClr val="tx1"/>
          </a:solidFill>
          <a:latin typeface="Calibri" charset="0"/>
          <a:ea typeface="ＭＳ Ｐゴシック" charset="-128"/>
        </a:defRPr>
      </a:lvl8pPr>
      <a:lvl9pPr marL="1828800" algn="ctr" rtl="0" eaLnBrk="1" fontAlgn="base" hangingPunct="1">
        <a:spcBef>
          <a:spcPct val="0"/>
        </a:spcBef>
        <a:spcAft>
          <a:spcPct val="0"/>
        </a:spcAft>
        <a:defRPr sz="3000">
          <a:solidFill>
            <a:schemeClr val="tx1"/>
          </a:solidFill>
          <a:latin typeface="Calibri" charset="0"/>
          <a:ea typeface="ＭＳ Ｐゴシック" charset="-128"/>
        </a:defRPr>
      </a:lvl9pPr>
    </p:titleStyle>
    <p:body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S PGothic"/>
          <a:cs typeface="MS PGothic"/>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S PGothic"/>
          <a:cs typeface="MS PGothic"/>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S PGothic"/>
          <a:cs typeface="MS PGothic"/>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S PGothic"/>
          <a:cs typeface="MS PGothic"/>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S PGothic"/>
          <a:cs typeface="MS P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59726" y="1554760"/>
            <a:ext cx="6642850" cy="646331"/>
          </a:xfrm>
          <a:prstGeom prst="rect">
            <a:avLst/>
          </a:prstGeom>
          <a:noFill/>
        </p:spPr>
        <p:txBody>
          <a:bodyPr wrap="square" rtlCol="0">
            <a:spAutoFit/>
          </a:bodyPr>
          <a:lstStyle/>
          <a:p>
            <a:pPr algn="ctr"/>
            <a:r>
              <a:rPr lang="en-US" sz="3600" dirty="0">
                <a:solidFill>
                  <a:srgbClr val="FF0000"/>
                </a:solidFill>
                <a:latin typeface="Arial Black" pitchFamily="34" charset="0"/>
              </a:rPr>
              <a:t>MEDITRACK</a:t>
            </a:r>
          </a:p>
        </p:txBody>
      </p:sp>
      <p:sp>
        <p:nvSpPr>
          <p:cNvPr id="5" name="TextBox 4"/>
          <p:cNvSpPr txBox="1"/>
          <p:nvPr/>
        </p:nvSpPr>
        <p:spPr>
          <a:xfrm>
            <a:off x="3275856" y="4653136"/>
            <a:ext cx="255198" cy="954107"/>
          </a:xfrm>
          <a:prstGeom prst="rect">
            <a:avLst/>
          </a:prstGeom>
          <a:noFill/>
        </p:spPr>
        <p:txBody>
          <a:bodyPr wrap="none" rtlCol="0">
            <a:spAutoFit/>
          </a:bodyPr>
          <a:lstStyle/>
          <a:p>
            <a:r>
              <a:rPr lang="en-US" sz="2000" dirty="0">
                <a:latin typeface="Times New Roman" pitchFamily="18" charset="0"/>
                <a:cs typeface="Times New Roman" pitchFamily="18" charset="0"/>
              </a:rPr>
              <a:t>:</a:t>
            </a:r>
          </a:p>
          <a:p>
            <a:endParaRPr lang="en-US" dirty="0"/>
          </a:p>
          <a:p>
            <a:endParaRPr lang="en-US" dirty="0"/>
          </a:p>
        </p:txBody>
      </p:sp>
      <p:sp>
        <p:nvSpPr>
          <p:cNvPr id="6" name="TextBox 5">
            <a:extLst>
              <a:ext uri="{FF2B5EF4-FFF2-40B4-BE49-F238E27FC236}">
                <a16:creationId xmlns="" xmlns:a16="http://schemas.microsoft.com/office/drawing/2014/main" id="{39596CC0-0544-9FD2-7AFD-B23ECB7AE8F4}"/>
              </a:ext>
            </a:extLst>
          </p:cNvPr>
          <p:cNvSpPr txBox="1"/>
          <p:nvPr/>
        </p:nvSpPr>
        <p:spPr>
          <a:xfrm>
            <a:off x="1655676" y="2420888"/>
            <a:ext cx="5832648" cy="2215991"/>
          </a:xfrm>
          <a:prstGeom prst="rect">
            <a:avLst/>
          </a:prstGeom>
          <a:solidFill>
            <a:schemeClr val="accent6">
              <a:lumMod val="60000"/>
              <a:lumOff val="40000"/>
            </a:schemeClr>
          </a:solidFill>
        </p:spPr>
        <p:txBody>
          <a:bodyPr wrap="square" rtlCol="0">
            <a:spAutoFit/>
          </a:bodyPr>
          <a:lstStyle/>
          <a:p>
            <a:r>
              <a:rPr lang="en-US" sz="2000" dirty="0"/>
              <a:t>Team Details:</a:t>
            </a:r>
          </a:p>
          <a:p>
            <a:pPr algn="just"/>
            <a:r>
              <a:rPr lang="en-US" sz="2000" dirty="0" err="1" smtClean="0"/>
              <a:t>Harshita</a:t>
            </a:r>
            <a:r>
              <a:rPr lang="en-US" sz="2000" dirty="0" smtClean="0"/>
              <a:t>               </a:t>
            </a:r>
            <a:r>
              <a:rPr lang="en-US" sz="2000" dirty="0"/>
              <a:t>	             : </a:t>
            </a:r>
            <a:r>
              <a:rPr lang="en-US" sz="2000" dirty="0" smtClean="0"/>
              <a:t>2310990601</a:t>
            </a:r>
            <a:endParaRPr lang="en-US" sz="2000" dirty="0"/>
          </a:p>
          <a:p>
            <a:pPr algn="just"/>
            <a:r>
              <a:rPr lang="en-US" sz="2000" dirty="0" err="1" smtClean="0"/>
              <a:t>Moorvi</a:t>
            </a:r>
            <a:r>
              <a:rPr lang="en-US" sz="2000" dirty="0" smtClean="0"/>
              <a:t> </a:t>
            </a:r>
            <a:r>
              <a:rPr lang="en-US" sz="2000" dirty="0" err="1" smtClean="0"/>
              <a:t>Garg</a:t>
            </a:r>
            <a:r>
              <a:rPr lang="en-US" sz="2000" dirty="0" smtClean="0"/>
              <a:t>                       : 2310990659</a:t>
            </a:r>
            <a:endParaRPr lang="en-US" sz="2000" dirty="0"/>
          </a:p>
          <a:p>
            <a:pPr algn="just"/>
            <a:r>
              <a:rPr lang="en-US" sz="2000" dirty="0"/>
              <a:t>Jashan Yadav                      : 2310992105</a:t>
            </a:r>
          </a:p>
          <a:p>
            <a:pPr algn="just"/>
            <a:r>
              <a:rPr lang="en-US" sz="2000" dirty="0"/>
              <a:t>Aditi Batra                           : </a:t>
            </a:r>
            <a:r>
              <a:rPr lang="en-US" sz="2000" dirty="0" smtClean="0"/>
              <a:t>2310992582</a:t>
            </a:r>
            <a:endParaRPr lang="en-US" sz="2000" dirty="0"/>
          </a:p>
          <a:p>
            <a:endParaRPr lang="en-US" dirty="0">
              <a:solidFill>
                <a:schemeClr val="bg1"/>
              </a:solidFill>
            </a:endParaRPr>
          </a:p>
          <a:p>
            <a:r>
              <a:rPr lang="en-US" sz="2000" dirty="0">
                <a:latin typeface="Times New Roman" pitchFamily="18" charset="0"/>
                <a:cs typeface="Times New Roman" pitchFamily="18" charset="0"/>
              </a:rPr>
              <a:t>Faculty Co-Ordinator     : Mr. Adil Khan</a:t>
            </a:r>
            <a:endParaRPr lang="en-US" dirty="0">
              <a:solidFill>
                <a:schemeClr val="bg1"/>
              </a:solidFill>
            </a:endParaRPr>
          </a:p>
        </p:txBody>
      </p:sp>
      <p:sp>
        <p:nvSpPr>
          <p:cNvPr id="9" name="TextBox 8"/>
          <p:cNvSpPr txBox="1"/>
          <p:nvPr/>
        </p:nvSpPr>
        <p:spPr>
          <a:xfrm>
            <a:off x="1187624" y="5661248"/>
            <a:ext cx="6947095" cy="707886"/>
          </a:xfrm>
          <a:prstGeom prst="rect">
            <a:avLst/>
          </a:prstGeom>
          <a:noFill/>
        </p:spPr>
        <p:txBody>
          <a:bodyPr wrap="none" rtlCol="0">
            <a:spAutoFit/>
          </a:bodyPr>
          <a:lstStyle/>
          <a:p>
            <a:r>
              <a:rPr lang="en-US" sz="2000" b="1" dirty="0" err="1">
                <a:solidFill>
                  <a:srgbClr val="FF0000"/>
                </a:solidFill>
                <a:latin typeface="Times New Roman" pitchFamily="18" charset="0"/>
                <a:cs typeface="Times New Roman" pitchFamily="18" charset="0"/>
              </a:rPr>
              <a:t>Chitkara</a:t>
            </a:r>
            <a:r>
              <a:rPr lang="en-US" sz="2000" b="1" dirty="0">
                <a:solidFill>
                  <a:srgbClr val="FF0000"/>
                </a:solidFill>
                <a:latin typeface="Times New Roman" pitchFamily="18" charset="0"/>
                <a:cs typeface="Times New Roman" pitchFamily="18" charset="0"/>
              </a:rPr>
              <a:t> University Institute of Engineering and Technology, </a:t>
            </a:r>
          </a:p>
          <a:p>
            <a:pPr algn="ctr"/>
            <a:r>
              <a:rPr lang="en-US" sz="2000" b="1" dirty="0" err="1">
                <a:solidFill>
                  <a:srgbClr val="FF0000"/>
                </a:solidFill>
                <a:latin typeface="Times New Roman" pitchFamily="18" charset="0"/>
                <a:cs typeface="Times New Roman" pitchFamily="18" charset="0"/>
              </a:rPr>
              <a:t>Chitkara</a:t>
            </a:r>
            <a:r>
              <a:rPr lang="en-US" sz="2000" b="1" dirty="0">
                <a:solidFill>
                  <a:srgbClr val="FF0000"/>
                </a:solidFill>
                <a:latin typeface="Times New Roman" pitchFamily="18" charset="0"/>
                <a:cs typeface="Times New Roman" pitchFamily="18" charset="0"/>
              </a:rPr>
              <a:t> University, Punjab</a:t>
            </a:r>
          </a:p>
        </p:txBody>
      </p:sp>
    </p:spTree>
  </p:cSld>
  <p:clrMapOvr>
    <a:masterClrMapping/>
  </p:clrMapOvr>
  <mc:AlternateContent xmlns:mc="http://schemas.openxmlformats.org/markup-compatibility/2006" xmlns:p14="http://schemas.microsoft.com/office/powerpoint/2010/main">
    <mc:Choice Requires="p14">
      <p:transition spd="slow" p14:dur="1500" advTm="15000">
        <p:cut/>
      </p:transition>
    </mc:Choice>
    <mc:Fallback xmlns="">
      <p:transition spd="slow" advTm="15000">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b="1" u="sng" dirty="0">
                <a:latin typeface="Times New Roman" pitchFamily="18" charset="0"/>
                <a:cs typeface="Times New Roman" pitchFamily="18" charset="0"/>
              </a:rPr>
              <a:t>Table of Contents</a:t>
            </a:r>
            <a:endParaRPr lang="en-US" b="1" u="sng" dirty="0">
              <a:latin typeface="Times New Roman" pitchFamily="18" charset="0"/>
              <a:cs typeface="Times New Roman" pitchFamily="18" charset="0"/>
            </a:endParaRPr>
          </a:p>
        </p:txBody>
      </p:sp>
      <p:sp>
        <p:nvSpPr>
          <p:cNvPr id="3" name="TextBox 2"/>
          <p:cNvSpPr txBox="1"/>
          <p:nvPr/>
        </p:nvSpPr>
        <p:spPr>
          <a:xfrm>
            <a:off x="323528" y="980728"/>
            <a:ext cx="6912768" cy="4893647"/>
          </a:xfrm>
          <a:prstGeom prst="rect">
            <a:avLst/>
          </a:prstGeom>
          <a:noFill/>
        </p:spPr>
        <p:txBody>
          <a:bodyPr wrap="square" rtlCol="0" anchor="t">
            <a:spAutoFit/>
          </a:bodyPr>
          <a:lstStyle/>
          <a:p>
            <a:pPr>
              <a:lnSpc>
                <a:spcPct val="150000"/>
              </a:lnSpc>
              <a:buFont typeface="Arial" pitchFamily="34" charset="0"/>
              <a:buChar char="•"/>
            </a:pPr>
            <a:r>
              <a:rPr lang="en-US" sz="2400" dirty="0">
                <a:latin typeface="Times New Roman" pitchFamily="18" charset="0"/>
                <a:cs typeface="Times New Roman" pitchFamily="18" charset="0"/>
              </a:rPr>
              <a:t> Introduction</a:t>
            </a:r>
          </a:p>
          <a:p>
            <a:pPr>
              <a:lnSpc>
                <a:spcPct val="150000"/>
              </a:lnSpc>
              <a:buFont typeface="Arial" pitchFamily="34" charset="0"/>
              <a:buChar char="•"/>
            </a:pPr>
            <a:r>
              <a:rPr lang="en-US" sz="2400" dirty="0">
                <a:latin typeface="Times New Roman" pitchFamily="18" charset="0"/>
                <a:cs typeface="Times New Roman" pitchFamily="18" charset="0"/>
              </a:rPr>
              <a:t> Problem Statement</a:t>
            </a:r>
          </a:p>
          <a:p>
            <a:pPr>
              <a:lnSpc>
                <a:spcPct val="150000"/>
              </a:lnSpc>
              <a:buFont typeface="Arial" pitchFamily="34" charset="0"/>
              <a:buChar char="•"/>
            </a:pPr>
            <a:r>
              <a:rPr lang="en-US" sz="2400" dirty="0">
                <a:latin typeface="Times New Roman" pitchFamily="18" charset="0"/>
                <a:cs typeface="Times New Roman" pitchFamily="18" charset="0"/>
              </a:rPr>
              <a:t> Technical Details</a:t>
            </a:r>
          </a:p>
          <a:p>
            <a:pPr>
              <a:lnSpc>
                <a:spcPct val="150000"/>
              </a:lnSpc>
              <a:buFont typeface="Arial" pitchFamily="34" charset="0"/>
              <a:buChar char="•"/>
            </a:pPr>
            <a:r>
              <a:rPr lang="en-US" sz="2400" dirty="0">
                <a:latin typeface="Times New Roman" pitchFamily="18" charset="0"/>
                <a:cs typeface="Times New Roman" pitchFamily="18" charset="0"/>
              </a:rPr>
              <a:t> Backend</a:t>
            </a:r>
          </a:p>
          <a:p>
            <a:pPr>
              <a:lnSpc>
                <a:spcPct val="150000"/>
              </a:lnSpc>
              <a:buFont typeface="Arial" pitchFamily="34" charset="0"/>
              <a:buChar char="•"/>
            </a:pPr>
            <a:r>
              <a:rPr lang="en-US" sz="2400" dirty="0">
                <a:latin typeface="Times New Roman" pitchFamily="18" charset="0"/>
                <a:cs typeface="Times New Roman" pitchFamily="18" charset="0"/>
              </a:rPr>
              <a:t> Project Flow</a:t>
            </a:r>
          </a:p>
          <a:p>
            <a:pPr>
              <a:lnSpc>
                <a:spcPct val="150000"/>
              </a:lnSpc>
              <a:buFont typeface="Arial" pitchFamily="34" charset="0"/>
              <a:buChar char="•"/>
            </a:pPr>
            <a:r>
              <a:rPr lang="en-US" sz="2400" dirty="0">
                <a:latin typeface="Times New Roman" pitchFamily="18" charset="0"/>
                <a:cs typeface="Times New Roman" pitchFamily="18" charset="0"/>
              </a:rPr>
              <a:t> Key Features </a:t>
            </a:r>
          </a:p>
          <a:p>
            <a:pPr>
              <a:lnSpc>
                <a:spcPct val="150000"/>
              </a:lnSpc>
              <a:buFont typeface="Arial" pitchFamily="34" charset="0"/>
              <a:buChar char="•"/>
            </a:pPr>
            <a:r>
              <a:rPr lang="en-US" sz="2400" dirty="0">
                <a:latin typeface="Times New Roman" pitchFamily="18" charset="0"/>
                <a:cs typeface="Times New Roman" pitchFamily="18" charset="0"/>
              </a:rPr>
              <a:t> Project Highlights</a:t>
            </a:r>
          </a:p>
          <a:p>
            <a:pPr>
              <a:lnSpc>
                <a:spcPct val="150000"/>
              </a:lnSpc>
              <a:buFont typeface="Arial" pitchFamily="34" charset="0"/>
              <a:buChar char="•"/>
            </a:pPr>
            <a:r>
              <a:rPr lang="en-US" sz="2400" dirty="0">
                <a:latin typeface="Times New Roman" pitchFamily="18" charset="0"/>
                <a:cs typeface="Times New Roman" pitchFamily="18" charset="0"/>
              </a:rPr>
              <a:t> Conclusion</a:t>
            </a:r>
          </a:p>
          <a:p>
            <a:pPr>
              <a:buFont typeface="Arial" pitchFamily="34" charset="0"/>
              <a:buChar char="•"/>
            </a:pPr>
            <a:endParaRPr lang="en-US" sz="2400" dirty="0">
              <a:latin typeface="Times New Roman" pitchFamily="18" charset="0"/>
              <a:cs typeface="Times New Roman"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500" advTm="15000">
        <p:cut/>
      </p:transition>
    </mc:Choice>
    <mc:Fallback xmlns="">
      <p:transition spd="slow" advTm="15000">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9552" y="260648"/>
            <a:ext cx="5328592" cy="584775"/>
          </a:xfrm>
          <a:prstGeom prst="rect">
            <a:avLst/>
          </a:prstGeom>
          <a:noFill/>
        </p:spPr>
        <p:txBody>
          <a:bodyPr wrap="square" rtlCol="0">
            <a:spAutoFit/>
          </a:bodyPr>
          <a:lstStyle/>
          <a:p>
            <a:r>
              <a:rPr lang="en-US" sz="3200" b="1" u="sng" dirty="0">
                <a:latin typeface="Times New Roman" pitchFamily="18" charset="0"/>
                <a:cs typeface="Times New Roman" pitchFamily="18" charset="0"/>
              </a:rPr>
              <a:t>Introduction</a:t>
            </a:r>
          </a:p>
        </p:txBody>
      </p:sp>
      <p:sp>
        <p:nvSpPr>
          <p:cNvPr id="3" name="Rectangle 2"/>
          <p:cNvSpPr/>
          <p:nvPr/>
        </p:nvSpPr>
        <p:spPr>
          <a:xfrm>
            <a:off x="467544" y="1124744"/>
            <a:ext cx="8136904" cy="4651723"/>
          </a:xfrm>
          <a:prstGeom prst="rect">
            <a:avLst/>
          </a:prstGeom>
        </p:spPr>
        <p:txBody>
          <a:bodyPr wrap="square">
            <a:spAutoFit/>
          </a:bodyPr>
          <a:lstStyle/>
          <a:p>
            <a:r>
              <a:rPr lang="en-IN" sz="2400" b="1" i="0" u="sng" dirty="0">
                <a:effectLst/>
                <a:latin typeface="Times New Roman" panose="02020603050405020304" pitchFamily="18" charset="0"/>
                <a:cs typeface="Times New Roman" panose="02020603050405020304" pitchFamily="18" charset="0"/>
              </a:rPr>
              <a:t>Project Overview: </a:t>
            </a:r>
          </a:p>
          <a:p>
            <a:endParaRPr lang="en-IN" sz="2400" b="1" i="0" u="sng" dirty="0">
              <a:effectLst/>
              <a:latin typeface="Times New Roman" panose="02020603050405020304" pitchFamily="18" charset="0"/>
              <a:cs typeface="Times New Roman" panose="02020603050405020304" pitchFamily="18" charset="0"/>
            </a:endParaRPr>
          </a:p>
          <a:p>
            <a:r>
              <a:rPr lang="en-US" sz="2400" dirty="0"/>
              <a:t>This project is a medicine management and booking platform that facilitates the seamless interaction between users and shopkeepers to manage and purchase medicines. The objective is to simplify the process of finding, booking, and managing medicines with an easy-to-use web application interface.</a:t>
            </a:r>
          </a:p>
          <a:p>
            <a:endParaRPr lang="en-US" sz="2400" dirty="0"/>
          </a:p>
          <a:p>
            <a:pPr>
              <a:lnSpc>
                <a:spcPct val="150000"/>
              </a:lnSpc>
            </a:pPr>
            <a:r>
              <a:rPr lang="en-US" sz="2400" b="1" dirty="0"/>
              <a:t>Key Points</a:t>
            </a:r>
          </a:p>
          <a:p>
            <a:pPr>
              <a:lnSpc>
                <a:spcPct val="150000"/>
              </a:lnSpc>
            </a:pPr>
            <a:r>
              <a:rPr lang="en-US" sz="2400" dirty="0"/>
              <a:t>This project uses Java, Spring Boot, HTML, CSS, JavaScript, and MySQL for backend, frontend, and database implementation</a:t>
            </a:r>
          </a:p>
        </p:txBody>
      </p:sp>
    </p:spTree>
  </p:cSld>
  <p:clrMapOvr>
    <a:masterClrMapping/>
  </p:clrMapOvr>
  <mc:AlternateContent xmlns:mc="http://schemas.openxmlformats.org/markup-compatibility/2006" xmlns:p14="http://schemas.microsoft.com/office/powerpoint/2010/main">
    <mc:Choice Requires="p14">
      <p:transition spd="slow" p14:dur="1500" advTm="15000">
        <p:cut/>
      </p:transition>
    </mc:Choice>
    <mc:Fallback xmlns="">
      <p:transition spd="slow" advTm="15000">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B62DEAD-BD22-87C6-2A19-1605030F5459}"/>
              </a:ext>
            </a:extLst>
          </p:cNvPr>
          <p:cNvSpPr>
            <a:spLocks noGrp="1"/>
          </p:cNvSpPr>
          <p:nvPr>
            <p:ph type="ctrTitle"/>
          </p:nvPr>
        </p:nvSpPr>
        <p:spPr>
          <a:xfrm>
            <a:off x="-468560" y="116632"/>
            <a:ext cx="5486400" cy="914400"/>
          </a:xfrm>
        </p:spPr>
        <p:txBody>
          <a:bodyPr/>
          <a:lstStyle/>
          <a:p>
            <a:r>
              <a:rPr lang="en-US" u="sng" dirty="0"/>
              <a:t>Problem Statement</a:t>
            </a:r>
            <a:endParaRPr lang="en-IN" u="sng" dirty="0"/>
          </a:p>
        </p:txBody>
      </p:sp>
      <p:sp>
        <p:nvSpPr>
          <p:cNvPr id="3" name="Subtitle 2">
            <a:extLst>
              <a:ext uri="{FF2B5EF4-FFF2-40B4-BE49-F238E27FC236}">
                <a16:creationId xmlns="" xmlns:a16="http://schemas.microsoft.com/office/drawing/2014/main" id="{C7C1C39E-B4AE-19BA-1E2B-67064CDE5ED9}"/>
              </a:ext>
            </a:extLst>
          </p:cNvPr>
          <p:cNvSpPr>
            <a:spLocks noGrp="1"/>
          </p:cNvSpPr>
          <p:nvPr>
            <p:ph type="subTitle" idx="1"/>
          </p:nvPr>
        </p:nvSpPr>
        <p:spPr/>
        <p:txBody>
          <a:bodyPr/>
          <a:lstStyle/>
          <a:p>
            <a:pPr algn="just"/>
            <a:r>
              <a:rPr lang="en-US" sz="2400" dirty="0">
                <a:solidFill>
                  <a:schemeClr val="tx1"/>
                </a:solidFill>
                <a:cs typeface="Times New Roman" panose="02020603050405020304" pitchFamily="18" charset="0"/>
              </a:rPr>
              <a:t>Manual medicine management in traditional retail settings is time-consuming and prone to errors, which often results in issues such as stockouts, outdated inventory data, and inefficient communication between sellers and buyers. Customers may face significant inconveniences: inability to find required medicines on time, incorrect or insufficient stock details, and delays due to clunky offline processes. Shopkeepers, on the other hand, struggle to monitor stocks, manage expiries, and handle bookings swiftly, all risking business and customer trust.</a:t>
            </a:r>
          </a:p>
        </p:txBody>
      </p:sp>
    </p:spTree>
    <p:extLst>
      <p:ext uri="{BB962C8B-B14F-4D97-AF65-F5344CB8AC3E}">
        <p14:creationId xmlns:p14="http://schemas.microsoft.com/office/powerpoint/2010/main" val="3423894910"/>
      </p:ext>
    </p:extLst>
  </p:cSld>
  <p:clrMapOvr>
    <a:masterClrMapping/>
  </p:clrMapOvr>
  <mc:AlternateContent xmlns:mc="http://schemas.openxmlformats.org/markup-compatibility/2006" xmlns:p14="http://schemas.microsoft.com/office/powerpoint/2010/main">
    <mc:Choice Requires="p14">
      <p:transition spd="slow" p14:dur="1500" advTm="4000">
        <p:cut/>
      </p:transition>
    </mc:Choice>
    <mc:Fallback xmlns="">
      <p:transition spd="slow" advTm="4000">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b="1" u="sng" dirty="0">
                <a:latin typeface="Times New Roman" pitchFamily="18" charset="0"/>
                <a:cs typeface="Times New Roman" pitchFamily="18" charset="0"/>
              </a:rPr>
              <a:t>Technical Details</a:t>
            </a:r>
          </a:p>
        </p:txBody>
      </p:sp>
      <p:sp>
        <p:nvSpPr>
          <p:cNvPr id="3" name="Rectangle 2"/>
          <p:cNvSpPr/>
          <p:nvPr/>
        </p:nvSpPr>
        <p:spPr>
          <a:xfrm>
            <a:off x="395536" y="1329730"/>
            <a:ext cx="8136904" cy="4457952"/>
          </a:xfrm>
          <a:prstGeom prst="rect">
            <a:avLst/>
          </a:prstGeom>
        </p:spPr>
        <p:txBody>
          <a:bodyPr wrap="square">
            <a:spAutoFit/>
          </a:bodyPr>
          <a:lstStyle/>
          <a:p>
            <a:pPr>
              <a:lnSpc>
                <a:spcPct val="150000"/>
              </a:lnSpc>
            </a:pPr>
            <a:r>
              <a:rPr lang="en-IN" sz="2400" b="1" dirty="0">
                <a:latin typeface="Times New Roman" panose="02020603050405020304" pitchFamily="18" charset="0"/>
                <a:cs typeface="Times New Roman" panose="02020603050405020304" pitchFamily="18" charset="0"/>
              </a:rPr>
              <a:t>Frontend:</a:t>
            </a:r>
            <a:r>
              <a:rPr lang="en-IN" sz="2400" dirty="0">
                <a:latin typeface="Times New Roman" panose="02020603050405020304" pitchFamily="18" charset="0"/>
                <a:cs typeface="Times New Roman" panose="02020603050405020304" pitchFamily="18" charset="0"/>
              </a:rPr>
              <a:t> HTML, CSS, JavaScript</a:t>
            </a:r>
          </a:p>
          <a:p>
            <a:pPr>
              <a:lnSpc>
                <a:spcPct val="150000"/>
              </a:lnSpc>
            </a:pPr>
            <a:r>
              <a:rPr lang="en-IN" sz="2400" b="1" dirty="0">
                <a:latin typeface="Times New Roman" panose="02020603050405020304" pitchFamily="18" charset="0"/>
                <a:cs typeface="Times New Roman" panose="02020603050405020304" pitchFamily="18" charset="0"/>
              </a:rPr>
              <a:t>Backend:</a:t>
            </a:r>
            <a:r>
              <a:rPr lang="en-IN" sz="2400" dirty="0">
                <a:latin typeface="Times New Roman" panose="02020603050405020304" pitchFamily="18" charset="0"/>
                <a:cs typeface="Times New Roman" panose="02020603050405020304" pitchFamily="18" charset="0"/>
              </a:rPr>
              <a:t> Java with Spring Boot framework</a:t>
            </a:r>
          </a:p>
          <a:p>
            <a:pPr>
              <a:lnSpc>
                <a:spcPct val="150000"/>
              </a:lnSpc>
            </a:pPr>
            <a:r>
              <a:rPr lang="en-IN" sz="2400" b="1" dirty="0">
                <a:latin typeface="Times New Roman" panose="02020603050405020304" pitchFamily="18" charset="0"/>
                <a:cs typeface="Times New Roman" panose="02020603050405020304" pitchFamily="18" charset="0"/>
              </a:rPr>
              <a:t>Database:</a:t>
            </a:r>
            <a:r>
              <a:rPr lang="en-IN" sz="2400" dirty="0">
                <a:latin typeface="Times New Roman" panose="02020603050405020304" pitchFamily="18" charset="0"/>
                <a:cs typeface="Times New Roman" panose="02020603050405020304" pitchFamily="18" charset="0"/>
              </a:rPr>
              <a:t> MySQL</a:t>
            </a:r>
          </a:p>
          <a:p>
            <a:pPr>
              <a:lnSpc>
                <a:spcPct val="150000"/>
              </a:lnSpc>
            </a:pPr>
            <a:r>
              <a:rPr lang="en-IN" sz="2400" b="1" dirty="0">
                <a:latin typeface="Times New Roman" panose="02020603050405020304" pitchFamily="18" charset="0"/>
                <a:cs typeface="Times New Roman" panose="02020603050405020304" pitchFamily="18" charset="0"/>
              </a:rPr>
              <a:t>APIs:</a:t>
            </a:r>
            <a:r>
              <a:rPr lang="en-IN" sz="2400" dirty="0">
                <a:latin typeface="Times New Roman" panose="02020603050405020304" pitchFamily="18" charset="0"/>
                <a:cs typeface="Times New Roman" panose="02020603050405020304" pitchFamily="18" charset="0"/>
              </a:rPr>
              <a:t> RESTful services for CRUD operations</a:t>
            </a:r>
          </a:p>
          <a:p>
            <a:pPr>
              <a:lnSpc>
                <a:spcPct val="150000"/>
              </a:lnSpc>
            </a:pPr>
            <a:r>
              <a:rPr lang="en-IN" sz="2400" b="1" dirty="0">
                <a:latin typeface="Times New Roman" panose="02020603050405020304" pitchFamily="18" charset="0"/>
                <a:cs typeface="Times New Roman" panose="02020603050405020304" pitchFamily="18" charset="0"/>
              </a:rPr>
              <a:t>Build Tool:</a:t>
            </a:r>
            <a:r>
              <a:rPr lang="en-IN" sz="2400" dirty="0">
                <a:latin typeface="Times New Roman" panose="02020603050405020304" pitchFamily="18" charset="0"/>
                <a:cs typeface="Times New Roman" panose="02020603050405020304" pitchFamily="18" charset="0"/>
              </a:rPr>
              <a:t> Maven (using dependencies such as spring-boot-starter-web, spring-boot-starter-data-</a:t>
            </a:r>
            <a:r>
              <a:rPr lang="en-IN" sz="2400" dirty="0" err="1">
                <a:latin typeface="Times New Roman" panose="02020603050405020304" pitchFamily="18" charset="0"/>
                <a:cs typeface="Times New Roman" panose="02020603050405020304" pitchFamily="18" charset="0"/>
              </a:rPr>
              <a:t>jpa</a:t>
            </a:r>
            <a:r>
              <a:rPr lang="en-IN" sz="2400" dirty="0">
                <a:latin typeface="Times New Roman" panose="02020603050405020304" pitchFamily="18" charset="0"/>
                <a:cs typeface="Times New Roman" panose="02020603050405020304" pitchFamily="18" charset="0"/>
              </a:rPr>
              <a:t>, spring-boot-starter-security, and MySQL connector).</a:t>
            </a:r>
          </a:p>
          <a:p>
            <a:pPr algn="just">
              <a:lnSpc>
                <a:spcPct val="150000"/>
              </a:lnSpc>
            </a:pPr>
            <a:endParaRPr lang="en-US" sz="2400" dirty="0">
              <a:latin typeface="Times New Roman" pitchFamily="18" charset="0"/>
              <a:cs typeface="Times New Roman"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500" advTm="15000">
        <p:cut/>
      </p:transition>
    </mc:Choice>
    <mc:Fallback xmlns="">
      <p:transition spd="slow" advTm="15000">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75C5861-756F-947E-3906-576F4BB9DDFC}"/>
              </a:ext>
            </a:extLst>
          </p:cNvPr>
          <p:cNvSpPr>
            <a:spLocks noGrp="1"/>
          </p:cNvSpPr>
          <p:nvPr>
            <p:ph type="title"/>
          </p:nvPr>
        </p:nvSpPr>
        <p:spPr>
          <a:xfrm>
            <a:off x="179512" y="260648"/>
            <a:ext cx="6297488" cy="577552"/>
          </a:xfrm>
        </p:spPr>
        <p:txBody>
          <a:bodyPr/>
          <a:lstStyle/>
          <a:p>
            <a:pPr algn="l"/>
            <a:r>
              <a:rPr lang="en-US" b="1" u="sng" dirty="0"/>
              <a:t>Backend</a:t>
            </a:r>
            <a:endParaRPr lang="en-IN" b="1" u="sng" dirty="0"/>
          </a:p>
        </p:txBody>
      </p:sp>
      <p:sp>
        <p:nvSpPr>
          <p:cNvPr id="3" name="Content Placeholder 2">
            <a:extLst>
              <a:ext uri="{FF2B5EF4-FFF2-40B4-BE49-F238E27FC236}">
                <a16:creationId xmlns="" xmlns:a16="http://schemas.microsoft.com/office/drawing/2014/main" id="{034FCE64-7A31-DA78-6807-C543F4E99704}"/>
              </a:ext>
            </a:extLst>
          </p:cNvPr>
          <p:cNvSpPr>
            <a:spLocks noGrp="1"/>
          </p:cNvSpPr>
          <p:nvPr>
            <p:ph idx="1"/>
          </p:nvPr>
        </p:nvSpPr>
        <p:spPr/>
        <p:txBody>
          <a:bodyPr/>
          <a:lstStyle/>
          <a:p>
            <a:pPr marL="457200" lvl="1" indent="0">
              <a:buNone/>
            </a:pPr>
            <a:r>
              <a:rPr lang="en-US" sz="2800" dirty="0"/>
              <a:t>The backend is powered by Spring Boot and exposes REST APIs for user management, inventory, and bookings. It utilizes JPA for database access and Spring Security for basic authentication and input validation. Relevant configuration and dependencies are specified in the Maven pom.xml, allowing for scalable and modular development</a:t>
            </a:r>
            <a:endParaRPr lang="en-IN" sz="2800" b="1" dirty="0"/>
          </a:p>
        </p:txBody>
      </p:sp>
    </p:spTree>
    <p:extLst>
      <p:ext uri="{BB962C8B-B14F-4D97-AF65-F5344CB8AC3E}">
        <p14:creationId xmlns:p14="http://schemas.microsoft.com/office/powerpoint/2010/main" val="1978105736"/>
      </p:ext>
    </p:extLst>
  </p:cSld>
  <p:clrMapOvr>
    <a:masterClrMapping/>
  </p:clrMapOvr>
  <mc:AlternateContent xmlns:mc="http://schemas.openxmlformats.org/markup-compatibility/2006" xmlns:p14="http://schemas.microsoft.com/office/powerpoint/2010/main">
    <mc:Choice Requires="p14">
      <p:transition spd="slow" p14:dur="1500" advTm="4000">
        <p:cut/>
      </p:transition>
    </mc:Choice>
    <mc:Fallback xmlns="">
      <p:transition spd="slow" advTm="4000">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088896B-5426-53F6-8A66-7B851DD7BC53}"/>
              </a:ext>
            </a:extLst>
          </p:cNvPr>
          <p:cNvSpPr>
            <a:spLocks noGrp="1"/>
          </p:cNvSpPr>
          <p:nvPr>
            <p:ph type="title"/>
          </p:nvPr>
        </p:nvSpPr>
        <p:spPr>
          <a:xfrm>
            <a:off x="107504" y="332656"/>
            <a:ext cx="6369496" cy="505544"/>
          </a:xfrm>
        </p:spPr>
        <p:txBody>
          <a:bodyPr/>
          <a:lstStyle/>
          <a:p>
            <a:pPr algn="l"/>
            <a:r>
              <a:rPr lang="en-US" b="1" u="sng" dirty="0"/>
              <a:t>Project Flow:</a:t>
            </a:r>
            <a:r>
              <a:rPr lang="en-US" dirty="0"/>
              <a:t> </a:t>
            </a:r>
            <a:endParaRPr lang="en-IN" dirty="0"/>
          </a:p>
        </p:txBody>
      </p:sp>
      <p:sp>
        <p:nvSpPr>
          <p:cNvPr id="3" name="Content Placeholder 2">
            <a:extLst>
              <a:ext uri="{FF2B5EF4-FFF2-40B4-BE49-F238E27FC236}">
                <a16:creationId xmlns="" xmlns:a16="http://schemas.microsoft.com/office/drawing/2014/main" id="{0C6EC182-185B-0C7C-253D-0C2285490892}"/>
              </a:ext>
            </a:extLst>
          </p:cNvPr>
          <p:cNvSpPr>
            <a:spLocks noGrp="1"/>
          </p:cNvSpPr>
          <p:nvPr>
            <p:ph idx="1"/>
          </p:nvPr>
        </p:nvSpPr>
        <p:spPr/>
        <p:txBody>
          <a:bodyPr/>
          <a:lstStyle/>
          <a:p>
            <a:r>
              <a:rPr lang="en-US" sz="2400" dirty="0"/>
              <a:t>Users can browse medicines, search and sort them, and add their details locally.</a:t>
            </a:r>
          </a:p>
          <a:p>
            <a:endParaRPr lang="en-US" sz="2400" dirty="0"/>
          </a:p>
          <a:p>
            <a:r>
              <a:rPr lang="en-US" sz="2400" dirty="0"/>
              <a:t>Shopkeepers manage inventory, update stock and expiry information, and handle bookings.</a:t>
            </a:r>
          </a:p>
          <a:p>
            <a:endParaRPr lang="en-US" sz="2400" dirty="0"/>
          </a:p>
          <a:p>
            <a:r>
              <a:rPr lang="en-US" sz="2400" dirty="0"/>
              <a:t>Booking triggers a creation of user profiles if not present, then reserves the requested quantity and reduces the stock in the database.</a:t>
            </a:r>
          </a:p>
          <a:p>
            <a:endParaRPr lang="en-US" sz="2400" dirty="0"/>
          </a:p>
          <a:p>
            <a:r>
              <a:rPr lang="en-US" sz="2400" dirty="0"/>
              <a:t>All events are reflected through dynamic, responsive interfaces for both users and shopkeepers</a:t>
            </a:r>
          </a:p>
        </p:txBody>
      </p:sp>
    </p:spTree>
    <p:extLst>
      <p:ext uri="{BB962C8B-B14F-4D97-AF65-F5344CB8AC3E}">
        <p14:creationId xmlns:p14="http://schemas.microsoft.com/office/powerpoint/2010/main" val="374860268"/>
      </p:ext>
    </p:extLst>
  </p:cSld>
  <p:clrMapOvr>
    <a:masterClrMapping/>
  </p:clrMapOvr>
  <mc:AlternateContent xmlns:mc="http://schemas.openxmlformats.org/markup-compatibility/2006" xmlns:p14="http://schemas.microsoft.com/office/powerpoint/2010/main">
    <mc:Choice Requires="p14">
      <p:transition spd="slow" p14:dur="1500" advTm="4000">
        <p:cut/>
      </p:transition>
    </mc:Choice>
    <mc:Fallback xmlns="">
      <p:transition spd="slow" advTm="4000">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b="1" u="sng" dirty="0">
                <a:latin typeface="Times New Roman" pitchFamily="18" charset="0"/>
                <a:cs typeface="Times New Roman" pitchFamily="18" charset="0"/>
              </a:rPr>
              <a:t>Key Features</a:t>
            </a:r>
          </a:p>
        </p:txBody>
      </p:sp>
      <p:sp>
        <p:nvSpPr>
          <p:cNvPr id="3" name="Rectangle 2"/>
          <p:cNvSpPr/>
          <p:nvPr/>
        </p:nvSpPr>
        <p:spPr>
          <a:xfrm>
            <a:off x="323528" y="1493495"/>
            <a:ext cx="8280920" cy="4154984"/>
          </a:xfrm>
          <a:prstGeom prst="rect">
            <a:avLst/>
          </a:prstGeom>
        </p:spPr>
        <p:txBody>
          <a:bodyPr wrap="square">
            <a:spAutoFit/>
          </a:bodyPr>
          <a:lstStyle/>
          <a:p>
            <a:pPr marL="342900" indent="-342900">
              <a:buFont typeface="Arial" panose="020B0604020202020204" pitchFamily="34" charset="0"/>
              <a:buChar char="•"/>
            </a:pPr>
            <a:r>
              <a:rPr lang="en-US" sz="2400" dirty="0"/>
              <a:t>Real-time medicine inventory management</a:t>
            </a:r>
          </a:p>
          <a:p>
            <a:endParaRPr lang="en-US" sz="2400" dirty="0"/>
          </a:p>
          <a:p>
            <a:pPr marL="342900" indent="-342900">
              <a:buFont typeface="Arial" panose="020B0604020202020204" pitchFamily="34" charset="0"/>
              <a:buChar char="•"/>
            </a:pPr>
            <a:r>
              <a:rPr lang="en-US" sz="2400" dirty="0"/>
              <a:t>Stock and expiry validation with alert messages</a:t>
            </a:r>
          </a:p>
          <a:p>
            <a:endParaRPr lang="en-US" sz="2400" dirty="0"/>
          </a:p>
          <a:p>
            <a:pPr marL="342900" indent="-342900">
              <a:buFont typeface="Arial" panose="020B0604020202020204" pitchFamily="34" charset="0"/>
              <a:buChar char="•"/>
            </a:pPr>
            <a:r>
              <a:rPr lang="en-US" sz="2400" dirty="0"/>
              <a:t>User and shopkeeper specific interfaces</a:t>
            </a:r>
          </a:p>
          <a:p>
            <a:endParaRPr lang="en-US" sz="2400" dirty="0"/>
          </a:p>
          <a:p>
            <a:pPr marL="342900" indent="-342900">
              <a:buFont typeface="Arial" panose="020B0604020202020204" pitchFamily="34" charset="0"/>
              <a:buChar char="•"/>
            </a:pPr>
            <a:r>
              <a:rPr lang="en-US" sz="2400" dirty="0"/>
              <a:t>Robust search, sort, and filter capabilities</a:t>
            </a:r>
          </a:p>
          <a:p>
            <a:endParaRPr lang="en-US" sz="2400" dirty="0"/>
          </a:p>
          <a:p>
            <a:pPr marL="342900" indent="-342900">
              <a:buFont typeface="Arial" panose="020B0604020202020204" pitchFamily="34" charset="0"/>
              <a:buChar char="•"/>
            </a:pPr>
            <a:r>
              <a:rPr lang="en-US" sz="2400" dirty="0"/>
              <a:t>Secure, API-driven booking system</a:t>
            </a:r>
          </a:p>
          <a:p>
            <a:endParaRPr lang="en-US" sz="2400" dirty="0"/>
          </a:p>
          <a:p>
            <a:pPr marL="342900" indent="-342900">
              <a:buFont typeface="Arial" panose="020B0604020202020204" pitchFamily="34" charset="0"/>
              <a:buChar char="•"/>
            </a:pPr>
            <a:r>
              <a:rPr lang="en-US" sz="2400" dirty="0"/>
              <a:t>Error handling and validation of user inputs</a:t>
            </a:r>
          </a:p>
        </p:txBody>
      </p:sp>
    </p:spTree>
  </p:cSld>
  <p:clrMapOvr>
    <a:masterClrMapping/>
  </p:clrMapOvr>
  <mc:AlternateContent xmlns:mc="http://schemas.openxmlformats.org/markup-compatibility/2006" xmlns:p14="http://schemas.microsoft.com/office/powerpoint/2010/main">
    <mc:Choice Requires="p14">
      <p:transition spd="slow" p14:dur="1500" advTm="15000">
        <p:cut/>
      </p:transition>
    </mc:Choice>
    <mc:Fallback xmlns="">
      <p:transition spd="slow" advTm="15000">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12" y="260648"/>
            <a:ext cx="4032448" cy="584775"/>
          </a:xfrm>
          <a:prstGeom prst="rect">
            <a:avLst/>
          </a:prstGeom>
          <a:noFill/>
        </p:spPr>
        <p:txBody>
          <a:bodyPr wrap="square" rtlCol="0">
            <a:spAutoFit/>
          </a:bodyPr>
          <a:lstStyle/>
          <a:p>
            <a:pPr algn="ctr"/>
            <a:r>
              <a:rPr lang="en-US" sz="3200" b="1" u="sng" dirty="0">
                <a:latin typeface="Times New Roman" pitchFamily="18" charset="0"/>
                <a:cs typeface="Times New Roman" pitchFamily="18" charset="0"/>
              </a:rPr>
              <a:t>Project Highlights</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1197847"/>
            <a:ext cx="8064896" cy="50394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slow" p14:dur="1500" advTm="15000">
        <p:cut/>
      </p:transition>
    </mc:Choice>
    <mc:Fallback xmlns="">
      <p:transition spd="slow" advTm="15000">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1412776"/>
            <a:ext cx="7923558" cy="4320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51247364"/>
      </p:ext>
    </p:extLst>
  </p:cSld>
  <p:clrMapOvr>
    <a:masterClrMapping/>
  </p:clrMapOvr>
  <mc:AlternateContent xmlns:mc="http://schemas.openxmlformats.org/markup-compatibility/2006" xmlns:p14="http://schemas.microsoft.com/office/powerpoint/2010/main">
    <mc:Choice Requires="p14">
      <p:transition spd="slow" p14:dur="1500" advTm="15000">
        <p:cut/>
      </p:transition>
    </mc:Choice>
    <mc:Fallback xmlns="">
      <p:transition spd="slow" advTm="15000">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1196752"/>
            <a:ext cx="7848872" cy="47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0136137"/>
      </p:ext>
    </p:extLst>
  </p:cSld>
  <p:clrMapOvr>
    <a:masterClrMapping/>
  </p:clrMapOvr>
  <mc:AlternateContent xmlns:mc="http://schemas.openxmlformats.org/markup-compatibility/2006" xmlns:p14="http://schemas.microsoft.com/office/powerpoint/2010/main">
    <mc:Choice Requires="p14">
      <p:transition spd="slow" p14:dur="1500" advTm="4000">
        <p:cut/>
      </p:transition>
    </mc:Choice>
    <mc:Fallback xmlns="">
      <p:transition spd="slow" advTm="4000">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1006896"/>
            <a:ext cx="7344816" cy="50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98457564"/>
      </p:ext>
    </p:extLst>
  </p:cSld>
  <p:clrMapOvr>
    <a:masterClrMapping/>
  </p:clrMapOvr>
  <mc:AlternateContent xmlns:mc="http://schemas.openxmlformats.org/markup-compatibility/2006" xmlns:p14="http://schemas.microsoft.com/office/powerpoint/2010/main">
    <mc:Choice Requires="p14">
      <p:transition spd="slow" p14:dur="1500" advTm="4000">
        <p:cut/>
      </p:transition>
    </mc:Choice>
    <mc:Fallback xmlns="">
      <p:transition spd="slow" advTm="4000">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b="1" u="sng" dirty="0">
                <a:latin typeface="Times New Roman" pitchFamily="18" charset="0"/>
                <a:cs typeface="Times New Roman" pitchFamily="18" charset="0"/>
              </a:rPr>
              <a:t>Conclusion</a:t>
            </a:r>
          </a:p>
        </p:txBody>
      </p:sp>
      <p:sp>
        <p:nvSpPr>
          <p:cNvPr id="5" name="TextBox 4">
            <a:extLst>
              <a:ext uri="{FF2B5EF4-FFF2-40B4-BE49-F238E27FC236}">
                <a16:creationId xmlns="" xmlns:a16="http://schemas.microsoft.com/office/drawing/2014/main" id="{F37EDFB2-08EF-BC72-4884-76CD4A0EAFA0}"/>
              </a:ext>
            </a:extLst>
          </p:cNvPr>
          <p:cNvSpPr txBox="1"/>
          <p:nvPr/>
        </p:nvSpPr>
        <p:spPr>
          <a:xfrm>
            <a:off x="467544" y="845423"/>
            <a:ext cx="7776864" cy="4154984"/>
          </a:xfrm>
          <a:prstGeom prst="rect">
            <a:avLst/>
          </a:prstGeom>
          <a:noFill/>
        </p:spPr>
        <p:txBody>
          <a:bodyPr wrap="square">
            <a:spAutoFit/>
          </a:bodyPr>
          <a:lstStyle/>
          <a:p>
            <a:pPr algn="just"/>
            <a:endParaRPr lang="en-IN" sz="2400" b="0" i="0" dirty="0">
              <a:effectLst/>
              <a:latin typeface="Times New Roman" panose="02020603050405020304" pitchFamily="18" charset="0"/>
              <a:cs typeface="Times New Roman" panose="02020603050405020304" pitchFamily="18" charset="0"/>
            </a:endParaRPr>
          </a:p>
          <a:p>
            <a:pPr algn="just">
              <a:lnSpc>
                <a:spcPct val="150000"/>
              </a:lnSpc>
            </a:pPr>
            <a:r>
              <a:rPr lang="en-US" sz="2400" b="0" i="0" dirty="0">
                <a:effectLst/>
                <a:latin typeface="Times New Roman" panose="02020603050405020304" pitchFamily="18" charset="0"/>
                <a:cs typeface="Times New Roman" panose="02020603050405020304" pitchFamily="18" charset="0"/>
              </a:rPr>
              <a:t>The project delivers a technology-driven solution for streamlining medicine management and booking, leading to improved efficiency, reliability, and user satisfaction. With its scalable architecture, the platform can be further expanded to support more features and handle larger user bases in real-world deployments.</a:t>
            </a:r>
            <a:endParaRPr lang="en-IN" sz="2400" b="0" i="0" dirty="0">
              <a:effectLst/>
              <a:latin typeface="Times New Roman" panose="02020603050405020304" pitchFamily="18" charset="0"/>
              <a:cs typeface="Times New Roman" panose="02020603050405020304" pitchFamily="18" charset="0"/>
            </a:endParaRPr>
          </a:p>
          <a:p>
            <a:pPr algn="just"/>
            <a:endParaRPr lang="en-IN" sz="2400" i="0" dirty="0">
              <a:effectLst/>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500" advTm="15000">
        <p:cut/>
      </p:transition>
    </mc:Choice>
    <mc:Fallback xmlns="">
      <p:transition spd="slow" advTm="15000">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AutoShape 4" descr="Download The Best Thank You Slide For PPT Presenta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0" name="AutoShape 6" descr="Download The Best Thank You Slide For PPT Presenta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2" name="AutoShape 8" descr="Download The Best Thank You Slide For PPT Presenta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34" name="Picture 10" descr="Thank you cards Images | Free Vectors, Stock Photos &amp; PSD"/>
          <p:cNvPicPr>
            <a:picLocks noChangeAspect="1" noChangeArrowheads="1"/>
          </p:cNvPicPr>
          <p:nvPr/>
        </p:nvPicPr>
        <p:blipFill>
          <a:blip r:embed="rId2" cstate="print"/>
          <a:srcRect/>
          <a:stretch>
            <a:fillRect/>
          </a:stretch>
        </p:blipFill>
        <p:spPr bwMode="auto">
          <a:xfrm>
            <a:off x="0" y="857232"/>
            <a:ext cx="9144000" cy="5786478"/>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1500" advTm="15000">
        <p:cut/>
      </p:transition>
    </mc:Choice>
    <mc:Fallback xmlns="">
      <p:transition spd="slow" advTm="15000">
        <p:cut/>
      </p:transition>
    </mc:Fallback>
  </mc:AlternateContent>
</p:sld>
</file>

<file path=ppt/theme/theme1.xml><?xml version="1.0" encoding="utf-8"?>
<a:theme xmlns:a="http://schemas.openxmlformats.org/drawingml/2006/main" name="Bubble Sor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1306</TotalTime>
  <Words>420</Words>
  <Application>Microsoft Office PowerPoint</Application>
  <PresentationFormat>On-screen Show (4:3)</PresentationFormat>
  <Paragraphs>61</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Bubble Sort</vt:lpstr>
      <vt:lpstr>PowerPoint Presentation</vt:lpstr>
      <vt:lpstr>PowerPoint Presentation</vt:lpstr>
      <vt:lpstr>PowerPoint Presentation</vt:lpstr>
      <vt:lpstr>Problem Statement</vt:lpstr>
      <vt:lpstr>PowerPoint Presentation</vt:lpstr>
      <vt:lpstr>Backend</vt:lpstr>
      <vt:lpstr>Project Flow: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Cricket</dc:title>
  <dc:creator>abc</dc:creator>
  <cp:lastModifiedBy>dell</cp:lastModifiedBy>
  <cp:revision>115</cp:revision>
  <dcterms:created xsi:type="dcterms:W3CDTF">2022-12-12T14:14:34Z</dcterms:created>
  <dcterms:modified xsi:type="dcterms:W3CDTF">2025-09-29T04:21:51Z</dcterms:modified>
</cp:coreProperties>
</file>