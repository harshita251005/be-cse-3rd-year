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8231175" cx="14330350"/>
  <p:notesSz cx="6858000" cy="9144000"/>
  <p:embeddedFontLst>
    <p:embeddedFont>
      <p:font typeface="Nuni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41" roundtripDataSignature="AMtx7mic4h+IY8XooFd4zNnKwcGYBlNI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Nuni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Nunito-italic.fntdata"/><Relationship Id="rId16" Type="http://schemas.openxmlformats.org/officeDocument/2006/relationships/slide" Target="slides/slide11.xml"/><Relationship Id="rId38" Type="http://schemas.openxmlformats.org/officeDocument/2006/relationships/font" Target="fonts/Nuni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 name="Google Shape;4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50" name="Google Shape;50;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rPr b="0" i="0" lang="en-US" sz="1200" u="none" cap="none" strike="noStrike">
                <a:solidFill>
                  <a:schemeClr val="dk1"/>
                </a:solidFill>
                <a:latin typeface="Calibri"/>
                <a:ea typeface="Calibri"/>
                <a:cs typeface="Calibri"/>
                <a:sym typeface="Calibri"/>
              </a:rPr>
              <a:t>In system design, availability, reliability, and scalability are crucial characteristics that determine how well a system can handle user demands and adapt to changing conditions. Availability ensures the system is accessible when needed, reliability guarantees consistent and correct performance, and scalability allows the system to handle increasing workloads. </a:t>
            </a:r>
            <a:endParaRPr/>
          </a:p>
        </p:txBody>
      </p:sp>
      <p:sp>
        <p:nvSpPr>
          <p:cNvPr id="62" name="Google Shape;6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 name="Google Shape;69;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 name="Google Shape;83;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rPr b="1" i="0" lang="en-US" sz="1200" u="none" cap="none" strike="noStrike">
                <a:solidFill>
                  <a:schemeClr val="dk1"/>
                </a:solidFill>
                <a:latin typeface="Calibri"/>
                <a:ea typeface="Calibri"/>
                <a:cs typeface="Calibri"/>
                <a:sym typeface="Calibri"/>
              </a:rPr>
              <a:t>Reliability</a:t>
            </a:r>
            <a:r>
              <a:rPr b="0" i="0" lang="en-US" sz="1200" u="none" cap="none" strike="noStrike">
                <a:solidFill>
                  <a:schemeClr val="dk1"/>
                </a:solidFill>
                <a:latin typeface="Calibri"/>
                <a:ea typeface="Calibri"/>
                <a:cs typeface="Calibri"/>
                <a:sym typeface="Calibri"/>
              </a:rPr>
              <a:t> refers to a system’s ability to perform its intended functions consistently and accurately without failure. A reliable system ensures that users get the expected results every time they interact with your application.</a:t>
            </a:r>
            <a:endParaRPr/>
          </a:p>
        </p:txBody>
      </p:sp>
      <p:sp>
        <p:nvSpPr>
          <p:cNvPr id="91" name="Google Shape;9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7" name="Google Shape;97;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05" name="Google Shape;105;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1" name="Google Shape;131;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39" name="Google Shape;13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3" name="Google Shape;153;p1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p1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p1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1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 name="Google Shape;180;p1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032c6be29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g37032c6be29_1_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032c6be29_1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g37032c6be29_1_5: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p2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 name="Google Shape;209;p2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p2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 name="Google Shape;222;p2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230" name="Google Shape;230;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p2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p2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p2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7" name="Google Shape;257;p2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3" name="Google Shape;263;p2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31"/>
          <p:cNvPicPr preferRelativeResize="0"/>
          <p:nvPr/>
        </p:nvPicPr>
        <p:blipFill rotWithShape="1">
          <a:blip r:embed="rId2">
            <a:alphaModFix/>
          </a:blip>
          <a:srcRect b="10713" l="0" r="0" t="0"/>
          <a:stretch/>
        </p:blipFill>
        <p:spPr>
          <a:xfrm>
            <a:off x="10270103" y="274375"/>
            <a:ext cx="3224332" cy="762147"/>
          </a:xfrm>
          <a:prstGeom prst="rect">
            <a:avLst/>
          </a:prstGeom>
          <a:noFill/>
          <a:ln>
            <a:noFill/>
          </a:ln>
        </p:spPr>
      </p:pic>
      <p:grpSp>
        <p:nvGrpSpPr>
          <p:cNvPr id="26" name="Google Shape;26;p31"/>
          <p:cNvGrpSpPr/>
          <p:nvPr/>
        </p:nvGrpSpPr>
        <p:grpSpPr>
          <a:xfrm>
            <a:off x="9633189" y="2"/>
            <a:ext cx="4697174" cy="1051763"/>
            <a:chOff x="6096000" y="3924300"/>
            <a:chExt cx="2997200" cy="876300"/>
          </a:xfrm>
        </p:grpSpPr>
        <p:sp>
          <p:nvSpPr>
            <p:cNvPr id="27" name="Google Shape;27;p31"/>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8" name="Google Shape;28;p31"/>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31"/>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0" name="Google Shape;30;p31"/>
          <p:cNvPicPr preferRelativeResize="0"/>
          <p:nvPr/>
        </p:nvPicPr>
        <p:blipFill rotWithShape="1">
          <a:blip r:embed="rId3">
            <a:alphaModFix/>
          </a:blip>
          <a:srcRect b="0" l="0" r="0" t="0"/>
          <a:stretch/>
        </p:blipFill>
        <p:spPr>
          <a:xfrm>
            <a:off x="10270101" y="274378"/>
            <a:ext cx="3010371" cy="731662"/>
          </a:xfrm>
          <a:prstGeom prst="rect">
            <a:avLst/>
          </a:prstGeom>
          <a:noFill/>
          <a:ln>
            <a:noFill/>
          </a:ln>
        </p:spPr>
      </p:pic>
      <p:sp>
        <p:nvSpPr>
          <p:cNvPr id="31" name="Google Shape;31;p3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31"/>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31"/>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32"/>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33"/>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33"/>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3" name="Google Shape;43;p33"/>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3"/>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3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0"/>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0"/>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30"/>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30"/>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30"/>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30"/>
          <p:cNvGrpSpPr/>
          <p:nvPr/>
        </p:nvGrpSpPr>
        <p:grpSpPr>
          <a:xfrm>
            <a:off x="9633189" y="2"/>
            <a:ext cx="4697174" cy="1051763"/>
            <a:chOff x="6096000" y="3924300"/>
            <a:chExt cx="2997200" cy="876300"/>
          </a:xfrm>
        </p:grpSpPr>
        <p:sp>
          <p:nvSpPr>
            <p:cNvPr id="20" name="Google Shape;20;p30"/>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30"/>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0"/>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30"/>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nvSpPr>
        <p:spPr>
          <a:xfrm>
            <a:off x="3134773" y="7036631"/>
            <a:ext cx="815039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Institute of Engineering and Technology,</a:t>
            </a:r>
            <a:br>
              <a:rPr b="0"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Chitkara University, Punjab, India</a:t>
            </a:r>
            <a:endParaRPr b="0" i="0" sz="1800" u="none" cap="none" strike="noStrike">
              <a:solidFill>
                <a:schemeClr val="dk1"/>
              </a:solidFill>
              <a:latin typeface="Times New Roman"/>
              <a:ea typeface="Times New Roman"/>
              <a:cs typeface="Times New Roman"/>
              <a:sym typeface="Times New Roman"/>
            </a:endParaRPr>
          </a:p>
        </p:txBody>
      </p:sp>
      <p:sp>
        <p:nvSpPr>
          <p:cNvPr id="53" name="Google Shape;53;p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54" name="Google Shape;54;p1"/>
          <p:cNvSpPr/>
          <p:nvPr/>
        </p:nvSpPr>
        <p:spPr>
          <a:xfrm>
            <a:off x="3205359" y="6477391"/>
            <a:ext cx="7830086" cy="5592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1247574" y="2518120"/>
            <a:ext cx="11293348" cy="14896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System Design</a:t>
            </a:r>
            <a:r>
              <a:rPr b="0" i="1" lang="en-US" sz="4000" u="none" cap="none" strike="noStrike">
                <a:solidFill>
                  <a:schemeClr val="dk1"/>
                </a:solidFill>
                <a:latin typeface="Calibri"/>
                <a:ea typeface="Calibri"/>
                <a:cs typeface="Calibri"/>
                <a:sym typeface="Calibri"/>
              </a:rPr>
              <a:t>: </a:t>
            </a:r>
            <a:r>
              <a:rPr b="0" i="0" lang="en-US" sz="4000" u="none" cap="none" strike="noStrike">
                <a:solidFill>
                  <a:srgbClr val="000000"/>
                </a:solidFill>
                <a:latin typeface="Arial"/>
                <a:ea typeface="Arial"/>
                <a:cs typeface="Arial"/>
                <a:sym typeface="Arial"/>
              </a:rPr>
              <a:t>Maintainability, Consistency, Fault Tolerance, Latency, Throughput </a:t>
            </a:r>
            <a:endParaRPr b="0" i="0" sz="4000" u="none" cap="none" strike="noStrike">
              <a:solidFill>
                <a:schemeClr val="dk1"/>
              </a:solidFill>
              <a:latin typeface="Times New Roman"/>
              <a:ea typeface="Times New Roman"/>
              <a:cs typeface="Times New Roman"/>
              <a:sym typeface="Times New Roman"/>
            </a:endParaRPr>
          </a:p>
        </p:txBody>
      </p:sp>
      <p:sp>
        <p:nvSpPr>
          <p:cNvPr id="56" name="Google Shape;56;p1"/>
          <p:cNvSpPr/>
          <p:nvPr/>
        </p:nvSpPr>
        <p:spPr>
          <a:xfrm>
            <a:off x="3687925" y="5862182"/>
            <a:ext cx="85344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Bachelor of Engineering- Computer Science &amp; Engineering </a:t>
            </a:r>
            <a:endParaRPr b="0" i="0" sz="2400" u="none" cap="none" strike="noStrike">
              <a:solidFill>
                <a:schemeClr val="dk1"/>
              </a:solidFill>
              <a:latin typeface="Times New Roman"/>
              <a:ea typeface="Times New Roman"/>
              <a:cs typeface="Times New Roman"/>
              <a:sym typeface="Times New Roman"/>
            </a:endParaRPr>
          </a:p>
        </p:txBody>
      </p:sp>
      <p:sp>
        <p:nvSpPr>
          <p:cNvPr id="57" name="Google Shape;57;p1"/>
          <p:cNvSpPr/>
          <p:nvPr/>
        </p:nvSpPr>
        <p:spPr>
          <a:xfrm>
            <a:off x="5997414" y="5477806"/>
            <a:ext cx="3531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System Design(SD)(22CS024)</a:t>
            </a:r>
            <a:endParaRPr b="1" i="0" sz="2400" u="none" cap="none" strike="noStrike">
              <a:solidFill>
                <a:schemeClr val="dk1"/>
              </a:solidFill>
              <a:latin typeface="Times New Roman"/>
              <a:ea typeface="Times New Roman"/>
              <a:cs typeface="Times New Roman"/>
              <a:sym typeface="Times New Roman"/>
            </a:endParaRPr>
          </a:p>
        </p:txBody>
      </p:sp>
      <p:sp>
        <p:nvSpPr>
          <p:cNvPr id="58" name="Google Shape;58;p1"/>
          <p:cNvSpPr/>
          <p:nvPr/>
        </p:nvSpPr>
        <p:spPr>
          <a:xfrm>
            <a:off x="5031581" y="5631350"/>
            <a:ext cx="4795414"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5" name="Google Shape;65;p2"/>
          <p:cNvSpPr txBox="1"/>
          <p:nvPr/>
        </p:nvSpPr>
        <p:spPr>
          <a:xfrm>
            <a:off x="0" y="256032"/>
            <a:ext cx="6322979" cy="89611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40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000000"/>
                </a:solidFill>
                <a:latin typeface="Arial"/>
                <a:ea typeface="Arial"/>
                <a:cs typeface="Arial"/>
                <a:sym typeface="Arial"/>
              </a:rPr>
              <a:t>Maintainability </a:t>
            </a:r>
            <a:br>
              <a:rPr b="1" i="0" lang="en-US" sz="3200" u="none" cap="none" strike="noStrike">
                <a:solidFill>
                  <a:srgbClr val="000000"/>
                </a:solidFill>
                <a:latin typeface="Arial"/>
                <a:ea typeface="Arial"/>
                <a:cs typeface="Arial"/>
                <a:sym typeface="Arial"/>
              </a:rPr>
            </a:br>
            <a:endParaRPr b="1" i="0" sz="3200" u="none" cap="none" strike="noStrike">
              <a:solidFill>
                <a:srgbClr val="000000"/>
              </a:solidFill>
              <a:latin typeface="Arial"/>
              <a:ea typeface="Arial"/>
              <a:cs typeface="Arial"/>
              <a:sym typeface="Arial"/>
            </a:endParaRPr>
          </a:p>
        </p:txBody>
      </p:sp>
      <p:sp>
        <p:nvSpPr>
          <p:cNvPr id="66" name="Google Shape;66;p2"/>
          <p:cNvSpPr txBox="1"/>
          <p:nvPr/>
        </p:nvSpPr>
        <p:spPr>
          <a:xfrm>
            <a:off x="437671" y="1035259"/>
            <a:ext cx="13258873" cy="5622052"/>
          </a:xfrm>
          <a:prstGeom prst="rect">
            <a:avLst/>
          </a:prstGeom>
          <a:noFill/>
          <a:ln>
            <a:noFill/>
          </a:ln>
        </p:spPr>
        <p:txBody>
          <a:bodyPr anchorCtr="0" anchor="t" bIns="45700" lIns="91425" spcFirstLastPara="1" rIns="91425" wrap="square" tIns="45700">
            <a:spAutoFit/>
          </a:bodyPr>
          <a:lstStyle/>
          <a:p>
            <a:pPr indent="-177800" lvl="0" marL="0" marR="0" rtl="0" algn="just">
              <a:lnSpc>
                <a:spcPct val="150000"/>
              </a:lnSpc>
              <a:spcBef>
                <a:spcPts val="0"/>
              </a:spcBef>
              <a:spcAft>
                <a:spcPts val="0"/>
              </a:spcAft>
              <a:buClr>
                <a:srgbClr val="000000"/>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000000"/>
                </a:solidFill>
                <a:latin typeface="Arial"/>
                <a:ea typeface="Arial"/>
                <a:cs typeface="Arial"/>
                <a:sym typeface="Arial"/>
              </a:rPr>
              <a:t>Maintainability in system design refers to how easily a software system can be modified, updated, and extended over its lifespan. </a:t>
            </a:r>
            <a:endParaRPr/>
          </a:p>
          <a:p>
            <a:pPr indent="-177800" lvl="0" marL="0" marR="0" rtl="0" algn="just">
              <a:lnSpc>
                <a:spcPct val="150000"/>
              </a:lnSpc>
              <a:spcBef>
                <a:spcPts val="135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It's a crucial characteristic that ensures a system can adapt to changing requirements, fix bugs, and improve performance without significant disruption or cost. </a:t>
            </a:r>
            <a:endParaRPr/>
          </a:p>
          <a:p>
            <a:pPr indent="-177800" lvl="0" marL="0" marR="0" rtl="0" algn="just">
              <a:lnSpc>
                <a:spcPct val="150000"/>
              </a:lnSpc>
              <a:spcBef>
                <a:spcPts val="135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Good maintainability reduces long-term costs, minimizes the risk of introducing errors, and makes it easier for developers to understand, troubleshoot, and enhance the system.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72" name="Google Shape;72;p4"/>
          <p:cNvPicPr preferRelativeResize="0"/>
          <p:nvPr/>
        </p:nvPicPr>
        <p:blipFill rotWithShape="1">
          <a:blip r:embed="rId3">
            <a:alphaModFix/>
          </a:blip>
          <a:srcRect b="0" l="0" r="0" t="0"/>
          <a:stretch/>
        </p:blipFill>
        <p:spPr>
          <a:xfrm>
            <a:off x="1298449" y="1353312"/>
            <a:ext cx="10808208" cy="6126479"/>
          </a:xfrm>
          <a:prstGeom prst="rect">
            <a:avLst/>
          </a:prstGeom>
          <a:noFill/>
          <a:ln>
            <a:noFill/>
          </a:ln>
        </p:spPr>
      </p:pic>
      <p:sp>
        <p:nvSpPr>
          <p:cNvPr id="73" name="Google Shape;73;p4"/>
          <p:cNvSpPr/>
          <p:nvPr/>
        </p:nvSpPr>
        <p:spPr>
          <a:xfrm>
            <a:off x="1045691" y="358176"/>
            <a:ext cx="710162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273239"/>
                </a:solidFill>
                <a:latin typeface="Nunito"/>
                <a:ea typeface="Nunito"/>
                <a:cs typeface="Nunito"/>
                <a:sym typeface="Nunito"/>
              </a:rPr>
              <a:t>How to achieve high Maintainability</a:t>
            </a:r>
            <a:endParaRPr b="1" i="0" sz="3200" u="none" cap="none" strike="noStrike">
              <a:solidFill>
                <a:srgbClr val="273239"/>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9" name="Google Shape;79;p3"/>
          <p:cNvSpPr/>
          <p:nvPr/>
        </p:nvSpPr>
        <p:spPr>
          <a:xfrm>
            <a:off x="915327" y="505838"/>
            <a:ext cx="546601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1D35"/>
                </a:solidFill>
                <a:latin typeface="Arial"/>
                <a:ea typeface="Arial"/>
                <a:cs typeface="Arial"/>
                <a:sym typeface="Arial"/>
              </a:rPr>
              <a:t>Key Aspects of Maintainability</a:t>
            </a:r>
            <a:r>
              <a:rPr b="0" i="0" lang="en-US" sz="1400" u="none" cap="none" strike="noStrike">
                <a:solidFill>
                  <a:srgbClr val="001D35"/>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a:off x="1322961" y="1867712"/>
            <a:ext cx="10505873" cy="5878532"/>
          </a:xfrm>
          <a:prstGeom prst="rect">
            <a:avLst/>
          </a:prstGeom>
          <a:noFill/>
          <a:ln>
            <a:noFill/>
          </a:ln>
        </p:spPr>
        <p:txBody>
          <a:bodyPr anchorCtr="0" anchor="t" bIns="45700" lIns="91425" spcFirstLastPara="1" rIns="91425" wrap="square" tIns="45700">
            <a:spAutoFit/>
          </a:bodyPr>
          <a:lstStyle/>
          <a:p>
            <a:pPr indent="-457200" lvl="0" marL="457200" marR="0" rtl="0" algn="l">
              <a:lnSpc>
                <a:spcPct val="250000"/>
              </a:lnSpc>
              <a:spcBef>
                <a:spcPts val="0"/>
              </a:spcBef>
              <a:spcAft>
                <a:spcPts val="0"/>
              </a:spcAft>
              <a:buClr>
                <a:srgbClr val="000000"/>
              </a:buClr>
              <a:buSzPts val="3200"/>
              <a:buFont typeface="Arial"/>
              <a:buChar char="•"/>
            </a:pPr>
            <a:r>
              <a:rPr b="1" i="0" lang="en-US" sz="3200" u="none" cap="none" strike="noStrike">
                <a:solidFill>
                  <a:srgbClr val="001D35"/>
                </a:solidFill>
                <a:latin typeface="Arial"/>
                <a:ea typeface="Arial"/>
                <a:cs typeface="Arial"/>
                <a:sym typeface="Arial"/>
              </a:rPr>
              <a:t>Modularity</a:t>
            </a:r>
            <a:endParaRPr b="1" i="0" sz="3200" u="none" cap="none" strike="noStrike">
              <a:solidFill>
                <a:srgbClr val="001D35"/>
              </a:solidFill>
              <a:latin typeface="Arial"/>
              <a:ea typeface="Arial"/>
              <a:cs typeface="Arial"/>
              <a:sym typeface="Arial"/>
            </a:endParaRPr>
          </a:p>
          <a:p>
            <a:pPr indent="-457200" lvl="0" marL="457200" marR="0" rtl="0" algn="l">
              <a:lnSpc>
                <a:spcPct val="250000"/>
              </a:lnSpc>
              <a:spcBef>
                <a:spcPts val="0"/>
              </a:spcBef>
              <a:spcAft>
                <a:spcPts val="0"/>
              </a:spcAft>
              <a:buClr>
                <a:srgbClr val="000000"/>
              </a:buClr>
              <a:buSzPts val="3200"/>
              <a:buFont typeface="Arial"/>
              <a:buChar char="•"/>
            </a:pPr>
            <a:r>
              <a:rPr b="1" i="0" lang="en-US" sz="3200" u="none" cap="none" strike="noStrike">
                <a:solidFill>
                  <a:srgbClr val="000000"/>
                </a:solidFill>
                <a:latin typeface="Arial"/>
                <a:ea typeface="Arial"/>
                <a:cs typeface="Arial"/>
                <a:sym typeface="Arial"/>
              </a:rPr>
              <a:t>Readability</a:t>
            </a:r>
            <a:endParaRPr/>
          </a:p>
          <a:p>
            <a:pPr indent="-457200" lvl="0" marL="457200" marR="0" rtl="0" algn="l">
              <a:lnSpc>
                <a:spcPct val="250000"/>
              </a:lnSpc>
              <a:spcBef>
                <a:spcPts val="0"/>
              </a:spcBef>
              <a:spcAft>
                <a:spcPts val="0"/>
              </a:spcAft>
              <a:buClr>
                <a:srgbClr val="000000"/>
              </a:buClr>
              <a:buSzPts val="3200"/>
              <a:buFont typeface="Arial"/>
              <a:buChar char="•"/>
            </a:pPr>
            <a:r>
              <a:rPr b="1" i="0" lang="en-US" sz="3200" u="none" cap="none" strike="noStrike">
                <a:solidFill>
                  <a:srgbClr val="000000"/>
                </a:solidFill>
                <a:latin typeface="Arial"/>
                <a:ea typeface="Arial"/>
                <a:cs typeface="Arial"/>
                <a:sym typeface="Arial"/>
              </a:rPr>
              <a:t>Testability</a:t>
            </a:r>
            <a:endParaRPr/>
          </a:p>
          <a:p>
            <a:pPr indent="-457200" lvl="0" marL="457200" marR="0" rtl="0" algn="l">
              <a:lnSpc>
                <a:spcPct val="250000"/>
              </a:lnSpc>
              <a:spcBef>
                <a:spcPts val="0"/>
              </a:spcBef>
              <a:spcAft>
                <a:spcPts val="0"/>
              </a:spcAft>
              <a:buClr>
                <a:srgbClr val="000000"/>
              </a:buClr>
              <a:buSzPts val="3200"/>
              <a:buFont typeface="Arial"/>
              <a:buChar char="•"/>
            </a:pPr>
            <a:r>
              <a:rPr b="1" i="0" lang="en-US" sz="3200" u="none" cap="none" strike="noStrike">
                <a:solidFill>
                  <a:srgbClr val="000000"/>
                </a:solidFill>
                <a:latin typeface="Arial"/>
                <a:ea typeface="Arial"/>
                <a:cs typeface="Arial"/>
                <a:sym typeface="Arial"/>
              </a:rPr>
              <a:t>Documentation</a:t>
            </a:r>
            <a:endParaRPr b="1" i="0" sz="3200" u="none" cap="none" strike="noStrike">
              <a:solidFill>
                <a:srgbClr val="001D35"/>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1D35"/>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1D35"/>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1D35"/>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6" name="Google Shape;86;p5"/>
          <p:cNvSpPr txBox="1"/>
          <p:nvPr/>
        </p:nvSpPr>
        <p:spPr>
          <a:xfrm>
            <a:off x="319490" y="1143638"/>
            <a:ext cx="13782100" cy="806374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Modularity:</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Breaking down the system into independent modules with well-defined interfaces makes it easier to modify or replace individual components without affecting the rest of the system.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Design the system with a modular structure, where components are logically separated and have well-defined interfaces.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This allows for independent development and modification of modules, making it easier to understand, test, and maintain specific parts of the system without impacting others.</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Readability:</a:t>
            </a:r>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Writing clear, concise, and well-documented code using consistent conventions makes it easier for developers to understand and work with the code.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5"/>
          <p:cNvSpPr txBox="1"/>
          <p:nvPr/>
        </p:nvSpPr>
        <p:spPr>
          <a:xfrm>
            <a:off x="319490" y="347159"/>
            <a:ext cx="7164976" cy="74199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Key Aspects of Maintainability:</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4" name="Google Shape;94;p6"/>
          <p:cNvSpPr txBox="1"/>
          <p:nvPr/>
        </p:nvSpPr>
        <p:spPr>
          <a:xfrm>
            <a:off x="603115" y="1645015"/>
            <a:ext cx="12864691"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Testability:</a:t>
            </a:r>
            <a:endParaRPr/>
          </a:p>
          <a:p>
            <a:pPr indent="-457200" lvl="0"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Designing the system to support thorough testing (unit, integration, and automated) allows for quick identification and resolution of issues during modifications. </a:t>
            </a:r>
            <a:endParaRPr b="0" i="0" sz="2800" u="none" cap="none" strike="noStrike">
              <a:solidFill>
                <a:srgbClr val="000000"/>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Documentation:</a:t>
            </a:r>
            <a:endParaRPr/>
          </a:p>
          <a:p>
            <a:pPr indent="-457200" lvl="0"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Comprehensive and up-to-date documentation (design documents, API references, etc.) is essential for developers to understand the system's functionality and how to interact with it.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0" name="Google Shape;100;p7"/>
          <p:cNvSpPr txBox="1"/>
          <p:nvPr/>
        </p:nvSpPr>
        <p:spPr>
          <a:xfrm>
            <a:off x="683924" y="266720"/>
            <a:ext cx="7166472" cy="447687"/>
          </a:xfrm>
          <a:prstGeom prst="rect">
            <a:avLst/>
          </a:prstGeom>
          <a:noFill/>
          <a:ln>
            <a:noFill/>
          </a:ln>
        </p:spPr>
        <p:txBody>
          <a:bodyPr anchorCtr="0" anchor="t" bIns="45700" lIns="91425" spcFirstLastPara="1" rIns="91425" wrap="square" tIns="45700">
            <a:spAutoFit/>
          </a:bodyPr>
          <a:lstStyle/>
          <a:p>
            <a:pPr indent="0" lvl="0" marL="0" marR="0" rtl="0" algn="l">
              <a:lnSpc>
                <a:spcPct val="84375"/>
              </a:lnSpc>
              <a:spcBef>
                <a:spcPts val="0"/>
              </a:spcBef>
              <a:spcAft>
                <a:spcPts val="0"/>
              </a:spcAft>
              <a:buNone/>
            </a:pPr>
            <a:r>
              <a:rPr b="1" i="0" lang="en-US" sz="3200" u="none" cap="none" strike="noStrike">
                <a:solidFill>
                  <a:srgbClr val="000000"/>
                </a:solidFill>
                <a:latin typeface="Arial"/>
                <a:ea typeface="Arial"/>
                <a:cs typeface="Arial"/>
                <a:sym typeface="Arial"/>
              </a:rPr>
              <a:t>Why Maintainability is Important</a:t>
            </a:r>
            <a:endParaRPr b="1" i="0" sz="3200" u="none" cap="none" strike="noStrike">
              <a:solidFill>
                <a:srgbClr val="000000"/>
              </a:solidFill>
              <a:latin typeface="Times New Roman"/>
              <a:ea typeface="Times New Roman"/>
              <a:cs typeface="Times New Roman"/>
              <a:sym typeface="Times New Roman"/>
            </a:endParaRPr>
          </a:p>
        </p:txBody>
      </p:sp>
      <p:sp>
        <p:nvSpPr>
          <p:cNvPr id="101" name="Google Shape;101;p7"/>
          <p:cNvSpPr txBox="1"/>
          <p:nvPr/>
        </p:nvSpPr>
        <p:spPr>
          <a:xfrm>
            <a:off x="413218" y="1332620"/>
            <a:ext cx="13503926" cy="65556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Reduced Costs:</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Easier maintenance translates to lower long-term development and operational costs.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Faster Development Cycles:</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Modifying a maintainable system is quicker and more efficient, leading to faster feature delivery and bug fixes.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Improved Reliability:</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Well-maintained systems are more likely to be reliable because changes are less likely to introduce new errors.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Adaptability:</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maintainable system can adapt to evolving business needs and technological advancements, ensuring its longevity.</a:t>
            </a:r>
            <a:r>
              <a:rPr b="0" i="0" lang="en-US" sz="1400" u="none" cap="none" strike="noStrike">
                <a:solidFill>
                  <a:srgbClr val="000000"/>
                </a:solidFill>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8" name="Google Shape;108;p8"/>
          <p:cNvSpPr txBox="1"/>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Consistency</a:t>
            </a:r>
            <a:br>
              <a:rPr b="1" i="0" lang="en-US" sz="3000" u="none" cap="none" strike="noStrike">
                <a:solidFill>
                  <a:srgbClr val="000000"/>
                </a:solidFill>
                <a:latin typeface="Arial"/>
                <a:ea typeface="Arial"/>
                <a:cs typeface="Arial"/>
                <a:sym typeface="Arial"/>
              </a:rPr>
            </a:br>
            <a:endParaRPr b="0" i="0" sz="3000" u="none" cap="none" strike="noStrike">
              <a:solidFill>
                <a:srgbClr val="000000"/>
              </a:solidFill>
              <a:latin typeface="Arial"/>
              <a:ea typeface="Arial"/>
              <a:cs typeface="Arial"/>
              <a:sym typeface="Arial"/>
            </a:endParaRPr>
          </a:p>
        </p:txBody>
      </p:sp>
      <p:sp>
        <p:nvSpPr>
          <p:cNvPr id="109" name="Google Shape;109;p8"/>
          <p:cNvSpPr txBox="1"/>
          <p:nvPr/>
        </p:nvSpPr>
        <p:spPr>
          <a:xfrm>
            <a:off x="829020" y="1189667"/>
            <a:ext cx="12325120" cy="65556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Consistency ensures data accuracy across different parts of a system. 1. Consistency:</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Definition:</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Consistency refers to the guarantee that all users see the same, up-to-date data, regardless of which part of the system they interact with. </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Types:</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Strong Consistency:</a:t>
            </a:r>
            <a:r>
              <a:rPr b="0" i="0" lang="en-US" sz="2800" u="none" cap="none" strike="noStrike">
                <a:solidFill>
                  <a:srgbClr val="000000"/>
                </a:solidFill>
                <a:latin typeface="Arial"/>
                <a:ea typeface="Arial"/>
                <a:cs typeface="Arial"/>
                <a:sym typeface="Arial"/>
              </a:rPr>
              <a:t> Data is immediately consistent after a write operation. </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Eventual Consistency:</a:t>
            </a:r>
            <a:r>
              <a:rPr b="0" i="0" lang="en-US" sz="2800" u="none" cap="none" strike="noStrike">
                <a:solidFill>
                  <a:srgbClr val="000000"/>
                </a:solidFill>
                <a:latin typeface="Arial"/>
                <a:ea typeface="Arial"/>
                <a:cs typeface="Arial"/>
                <a:sym typeface="Arial"/>
              </a:rPr>
              <a:t> Data will eventually become consistent, but there might be a delay after a write operation. </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Importance:</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Ensures data integrity and a reliable user experience, especially in applications like banking or e-commerce. </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Example:</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If a user updates their profile on one server, strong consistency ensures that the updated information is immediately available on all other servers.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5" name="Google Shape;115;p9"/>
          <p:cNvSpPr/>
          <p:nvPr/>
        </p:nvSpPr>
        <p:spPr>
          <a:xfrm>
            <a:off x="661480" y="1848255"/>
            <a:ext cx="12490315" cy="526297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Fault tolerance in system design refers to a system's ability to continue operating correctly even when one or more of its components fail.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This is achieved by designing systems with redundancy and mechanisms for detecting, isolating, and recovering from failures.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Essentially, it's about building systems that can withstand component failures without disrupting their overall functionality.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Fault tolerance refers to a system's capacity to keep working even in the face of hardware or software issues.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p:txBody>
      </p:sp>
      <p:sp>
        <p:nvSpPr>
          <p:cNvPr id="116" name="Google Shape;116;p9"/>
          <p:cNvSpPr/>
          <p:nvPr/>
        </p:nvSpPr>
        <p:spPr>
          <a:xfrm>
            <a:off x="369651" y="233464"/>
            <a:ext cx="4396902" cy="60311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dk1"/>
                </a:solidFill>
                <a:latin typeface="Arial"/>
                <a:ea typeface="Arial"/>
                <a:cs typeface="Arial"/>
                <a:sym typeface="Arial"/>
              </a:rPr>
              <a:t>Fault Tolerance</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22" name="Google Shape;122;p10"/>
          <p:cNvPicPr preferRelativeResize="0"/>
          <p:nvPr/>
        </p:nvPicPr>
        <p:blipFill rotWithShape="1">
          <a:blip r:embed="rId3">
            <a:alphaModFix/>
          </a:blip>
          <a:srcRect b="0" l="0" r="0" t="0"/>
          <a:stretch/>
        </p:blipFill>
        <p:spPr>
          <a:xfrm>
            <a:off x="2334638" y="2257959"/>
            <a:ext cx="9591473" cy="46292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8" name="Google Shape;128;p11"/>
          <p:cNvSpPr/>
          <p:nvPr/>
        </p:nvSpPr>
        <p:spPr>
          <a:xfrm>
            <a:off x="544749" y="1789889"/>
            <a:ext cx="12548681"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rPr b="1" i="0" lang="en-US" sz="2800" u="none" cap="none" strike="noStrike">
                <a:solidFill>
                  <a:srgbClr val="FF0000"/>
                </a:solidFill>
                <a:latin typeface="Arial"/>
                <a:ea typeface="Arial"/>
                <a:cs typeface="Arial"/>
                <a:sym typeface="Arial"/>
              </a:rPr>
              <a:t>Redundancy, error detection, and error recovery techniques </a:t>
            </a:r>
            <a:r>
              <a:rPr b="0" i="0" lang="en-US" sz="2800" u="none" cap="none" strike="noStrike">
                <a:solidFill>
                  <a:srgbClr val="001D35"/>
                </a:solidFill>
                <a:latin typeface="Arial"/>
                <a:ea typeface="Arial"/>
                <a:cs typeface="Arial"/>
                <a:sym typeface="Arial"/>
              </a:rPr>
              <a:t>must be used to avoid a costly failure .</a:t>
            </a:r>
            <a:endParaRPr/>
          </a:p>
          <a:p>
            <a:pPr indent="0" lvl="0" marL="0" marR="0" rtl="0" algn="just">
              <a:lnSpc>
                <a:spcPct val="100000"/>
              </a:lnSpc>
              <a:spcBef>
                <a:spcPts val="0"/>
              </a:spcBef>
              <a:spcAft>
                <a:spcPts val="0"/>
              </a:spcAft>
              <a:buNone/>
            </a:pPr>
            <a:r>
              <a:rPr b="0" i="0" lang="en-US" sz="2800" u="none" cap="none" strike="noStrike">
                <a:solidFill>
                  <a:srgbClr val="001D35"/>
                </a:solidFill>
                <a:latin typeface="Arial"/>
                <a:ea typeface="Arial"/>
                <a:cs typeface="Arial"/>
                <a:sym typeface="Arial"/>
              </a:rPr>
              <a:t> </a:t>
            </a:r>
            <a:endParaRPr b="0" i="0" sz="2800" u="none" cap="none" strike="noStrike">
              <a:solidFill>
                <a:srgbClr val="001D35"/>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This will allow the system to continue operating or deteriorate in performance at a slower rate. </a:t>
            </a:r>
            <a:endParaRPr b="0" i="0" sz="2800" u="none" cap="none" strike="noStrike">
              <a:solidFill>
                <a:srgbClr val="001D35"/>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1D35"/>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1D35"/>
                </a:solidFill>
                <a:latin typeface="Arial"/>
                <a:ea typeface="Arial"/>
                <a:cs typeface="Arial"/>
                <a:sym typeface="Arial"/>
              </a:rPr>
              <a:t>Reducing the impact of errors and maintaining a stable and accessible service even in the face of disruptions are the objectives.</a:t>
            </a:r>
            <a:endParaRPr b="0" i="0" sz="2800" u="none" cap="none" strike="noStrike">
              <a:solidFill>
                <a:srgbClr val="001D3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br>
              <a:rPr lang="en-US"/>
            </a:br>
            <a:br>
              <a:rPr lang="en-US"/>
            </a:br>
            <a:r>
              <a:rPr lang="en-US" sz="3600"/>
              <a:t>Why is fault tolerance important?</a:t>
            </a:r>
            <a:br>
              <a:rPr lang="en-US"/>
            </a:br>
            <a:br>
              <a:rPr b="1" lang="en-US"/>
            </a:br>
            <a:endParaRPr/>
          </a:p>
        </p:txBody>
      </p:sp>
      <p:sp>
        <p:nvSpPr>
          <p:cNvPr id="134" name="Google Shape;134;p1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5" name="Google Shape;135;p12"/>
          <p:cNvSpPr txBox="1"/>
          <p:nvPr/>
        </p:nvSpPr>
        <p:spPr>
          <a:xfrm>
            <a:off x="259492" y="1180454"/>
            <a:ext cx="13654216"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High Availability:</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Fault-tolerant systems are crucial for achieving high availability, ensuring that systems remain operational and accessible to users even during failures.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Business Continuity:</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For businesses, especially those relying on critical applications, fault tolerance helps prevent disruptions and ensures business continuity.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Safety:</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In systems where failure could have serious consequences (like air traffic control or medical equipment), fault tolerance is paramount for safety.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2" name="Google Shape;142;p13"/>
          <p:cNvSpPr/>
          <p:nvPr/>
        </p:nvSpPr>
        <p:spPr>
          <a:xfrm>
            <a:off x="182880" y="1042416"/>
            <a:ext cx="13487399" cy="7109639"/>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RAID (Redundant Array of Independent Disks):</a:t>
            </a:r>
            <a:r>
              <a:rPr b="0" i="0" lang="en-US" sz="2400" u="none" cap="none" strike="noStrike">
                <a:solidFill>
                  <a:srgbClr val="273239"/>
                </a:solidFill>
                <a:latin typeface="Nunito"/>
                <a:ea typeface="Nunito"/>
                <a:cs typeface="Nunito"/>
                <a:sym typeface="Nunito"/>
              </a:rPr>
              <a:t> In storage systems, distribute data across multiple disks with redundancy, allowing the system to continue functioning even if one disk fails.</a:t>
            </a:r>
            <a:endParaRPr/>
          </a:p>
          <a:p>
            <a:pPr indent="0" lvl="0" marL="0" marR="0" rtl="0" algn="just">
              <a:lnSpc>
                <a:spcPct val="100000"/>
              </a:lnSpc>
              <a:spcBef>
                <a:spcPts val="0"/>
              </a:spcBef>
              <a:spcAft>
                <a:spcPts val="0"/>
              </a:spcAft>
              <a:buNone/>
            </a:pPr>
            <a:r>
              <a:t/>
            </a:r>
            <a:endParaRPr b="0" i="0" sz="2400" u="none" cap="none" strike="noStrike">
              <a:solidFill>
                <a:srgbClr val="273239"/>
              </a:solidFill>
              <a:latin typeface="Nunito"/>
              <a:ea typeface="Nunito"/>
              <a:cs typeface="Nunito"/>
              <a:sym typeface="Nunito"/>
            </a:endParaRPr>
          </a:p>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Load Balancing:</a:t>
            </a:r>
            <a:r>
              <a:rPr b="0" i="0" lang="en-US" sz="2400" u="none" cap="none" strike="noStrike">
                <a:solidFill>
                  <a:srgbClr val="273239"/>
                </a:solidFill>
                <a:latin typeface="Nunito"/>
                <a:ea typeface="Nunito"/>
                <a:cs typeface="Nunito"/>
                <a:sym typeface="Nunito"/>
              </a:rPr>
              <a:t> Distributing network traffic across multiple servers ensures that if one server fails, others can still handle the load.</a:t>
            </a:r>
            <a:endParaRPr/>
          </a:p>
          <a:p>
            <a:pPr indent="0" lvl="0" marL="0" marR="0" rtl="0" algn="just">
              <a:lnSpc>
                <a:spcPct val="100000"/>
              </a:lnSpc>
              <a:spcBef>
                <a:spcPts val="0"/>
              </a:spcBef>
              <a:spcAft>
                <a:spcPts val="0"/>
              </a:spcAft>
              <a:buNone/>
            </a:pPr>
            <a:r>
              <a:t/>
            </a:r>
            <a:endParaRPr b="0" i="0" sz="2400" u="none" cap="none" strike="noStrike">
              <a:solidFill>
                <a:srgbClr val="273239"/>
              </a:solidFill>
              <a:latin typeface="Nunito"/>
              <a:ea typeface="Nunito"/>
              <a:cs typeface="Nunito"/>
              <a:sym typeface="Nunito"/>
            </a:endParaRPr>
          </a:p>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Clustering:</a:t>
            </a:r>
            <a:r>
              <a:rPr b="0" i="0" lang="en-US" sz="2400" u="none" cap="none" strike="noStrike">
                <a:solidFill>
                  <a:srgbClr val="273239"/>
                </a:solidFill>
                <a:latin typeface="Nunito"/>
                <a:ea typeface="Nunito"/>
                <a:cs typeface="Nunito"/>
                <a:sym typeface="Nunito"/>
              </a:rPr>
              <a:t> Creating clusters of servers ensures that if one server fails, another can take over the workload seamlessly.</a:t>
            </a:r>
            <a:endParaRPr/>
          </a:p>
          <a:p>
            <a:pPr indent="0" lvl="0" marL="0" marR="0" rtl="0" algn="just">
              <a:lnSpc>
                <a:spcPct val="100000"/>
              </a:lnSpc>
              <a:spcBef>
                <a:spcPts val="0"/>
              </a:spcBef>
              <a:spcAft>
                <a:spcPts val="0"/>
              </a:spcAft>
              <a:buNone/>
            </a:pPr>
            <a:r>
              <a:t/>
            </a:r>
            <a:endParaRPr b="0" i="0" sz="2400" u="none" cap="none" strike="noStrike">
              <a:solidFill>
                <a:srgbClr val="273239"/>
              </a:solidFill>
              <a:latin typeface="Nunito"/>
              <a:ea typeface="Nunito"/>
              <a:cs typeface="Nunito"/>
              <a:sym typeface="Nunito"/>
            </a:endParaRPr>
          </a:p>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Virtualization:</a:t>
            </a:r>
            <a:r>
              <a:rPr b="0" i="0" lang="en-US" sz="2400" u="none" cap="none" strike="noStrike">
                <a:solidFill>
                  <a:srgbClr val="273239"/>
                </a:solidFill>
                <a:latin typeface="Nunito"/>
                <a:ea typeface="Nunito"/>
                <a:cs typeface="Nunito"/>
                <a:sym typeface="Nunito"/>
              </a:rPr>
              <a:t> Running virtual machines on a server allows for easy migration of workloads to another server in case of hardware failure.</a:t>
            </a:r>
            <a:endParaRPr/>
          </a:p>
          <a:p>
            <a:pPr indent="0" lvl="0" marL="0" marR="0" rtl="0" algn="just">
              <a:lnSpc>
                <a:spcPct val="100000"/>
              </a:lnSpc>
              <a:spcBef>
                <a:spcPts val="0"/>
              </a:spcBef>
              <a:spcAft>
                <a:spcPts val="0"/>
              </a:spcAft>
              <a:buNone/>
            </a:pPr>
            <a:r>
              <a:t/>
            </a:r>
            <a:endParaRPr b="0" i="0" sz="2400" u="none" cap="none" strike="noStrike">
              <a:solidFill>
                <a:srgbClr val="273239"/>
              </a:solidFill>
              <a:latin typeface="Nunito"/>
              <a:ea typeface="Nunito"/>
              <a:cs typeface="Nunito"/>
              <a:sym typeface="Nunito"/>
            </a:endParaRPr>
          </a:p>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Microservices Architecture: </a:t>
            </a:r>
            <a:r>
              <a:rPr b="0" i="0" lang="en-US" sz="2400" u="none" cap="none" strike="noStrike">
                <a:solidFill>
                  <a:srgbClr val="273239"/>
                </a:solidFill>
                <a:latin typeface="Nunito"/>
                <a:ea typeface="Nunito"/>
                <a:cs typeface="Nunito"/>
                <a:sym typeface="Nunito"/>
              </a:rPr>
              <a:t>Breaking down applications into smaller, </a:t>
            </a:r>
            <a:r>
              <a:rPr b="1" i="0" lang="en-US" sz="2400" u="none" cap="none" strike="noStrike">
                <a:solidFill>
                  <a:srgbClr val="273239"/>
                </a:solidFill>
                <a:latin typeface="Nunito"/>
                <a:ea typeface="Nunito"/>
                <a:cs typeface="Nunito"/>
                <a:sym typeface="Nunito"/>
              </a:rPr>
              <a:t>independent services</a:t>
            </a:r>
            <a:r>
              <a:rPr b="0" i="0" lang="en-US" sz="2400" u="none" cap="none" strike="noStrike">
                <a:solidFill>
                  <a:srgbClr val="273239"/>
                </a:solidFill>
                <a:latin typeface="Nunito"/>
                <a:ea typeface="Nunito"/>
                <a:cs typeface="Nunito"/>
                <a:sym typeface="Nunito"/>
              </a:rPr>
              <a:t> allows for the isolation of faults, preventing the entire system from failing if one service encounters issues.</a:t>
            </a:r>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273239"/>
              </a:solidFill>
              <a:latin typeface="Nunito"/>
              <a:ea typeface="Nunito"/>
              <a:cs typeface="Nunito"/>
              <a:sym typeface="Nunito"/>
            </a:endParaRPr>
          </a:p>
          <a:p>
            <a:pPr indent="-152400" lvl="0" marL="0" marR="0" rtl="0" algn="just">
              <a:lnSpc>
                <a:spcPct val="100000"/>
              </a:lnSpc>
              <a:spcBef>
                <a:spcPts val="0"/>
              </a:spcBef>
              <a:spcAft>
                <a:spcPts val="0"/>
              </a:spcAft>
              <a:buClr>
                <a:srgbClr val="000000"/>
              </a:buClr>
              <a:buSzPts val="2400"/>
              <a:buFont typeface="Arial"/>
              <a:buChar char="•"/>
            </a:pPr>
            <a:r>
              <a:rPr b="1" i="0" lang="en-US" sz="2400" u="none" cap="none" strike="noStrike">
                <a:solidFill>
                  <a:srgbClr val="273239"/>
                </a:solidFill>
                <a:latin typeface="Nunito"/>
                <a:ea typeface="Nunito"/>
                <a:cs typeface="Nunito"/>
                <a:sym typeface="Nunito"/>
              </a:rPr>
              <a:t>Distributed Cloud Architecture:</a:t>
            </a:r>
            <a:r>
              <a:rPr b="0" i="0" lang="en-US" sz="2400" u="none" cap="none" strike="noStrike">
                <a:solidFill>
                  <a:srgbClr val="273239"/>
                </a:solidFill>
                <a:latin typeface="Nunito"/>
                <a:ea typeface="Nunito"/>
                <a:cs typeface="Nunito"/>
                <a:sym typeface="Nunito"/>
              </a:rPr>
              <a:t> Distributing applications across multiple cloud regions or providers enhances fault tolerance by reducing the impact of a failure in a specific region or service.</a:t>
            </a:r>
            <a:endParaRPr/>
          </a:p>
        </p:txBody>
      </p:sp>
      <p:sp>
        <p:nvSpPr>
          <p:cNvPr id="143" name="Google Shape;143;p13"/>
          <p:cNvSpPr/>
          <p:nvPr/>
        </p:nvSpPr>
        <p:spPr>
          <a:xfrm>
            <a:off x="402335" y="256032"/>
            <a:ext cx="8375905"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3200" u="none" cap="none" strike="noStrike">
                <a:solidFill>
                  <a:srgbClr val="273239"/>
                </a:solidFill>
                <a:latin typeface="Nunito"/>
                <a:ea typeface="Nunito"/>
                <a:cs typeface="Nunito"/>
                <a:sym typeface="Nunito"/>
              </a:rPr>
              <a:t>Situations where fault tolerance is crucial</a:t>
            </a:r>
            <a:endParaRPr b="1" i="0" sz="3200" u="none" cap="none" strike="noStrike">
              <a:solidFill>
                <a:srgbClr val="273239"/>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9" name="Google Shape;149;p14"/>
          <p:cNvSpPr/>
          <p:nvPr/>
        </p:nvSpPr>
        <p:spPr>
          <a:xfrm>
            <a:off x="274320" y="1170432"/>
            <a:ext cx="13222224" cy="6124754"/>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273239"/>
                </a:solidFill>
                <a:latin typeface="Nunito"/>
                <a:ea typeface="Nunito"/>
                <a:cs typeface="Nunito"/>
                <a:sym typeface="Nunito"/>
              </a:rPr>
              <a:t>Scalability Issues:</a:t>
            </a:r>
            <a:r>
              <a:rPr b="0" i="0" lang="en-US" sz="2800" u="none" cap="none" strike="noStrike">
                <a:solidFill>
                  <a:srgbClr val="273239"/>
                </a:solidFill>
                <a:latin typeface="Nunito"/>
                <a:ea typeface="Nunito"/>
                <a:cs typeface="Nunito"/>
                <a:sym typeface="Nunito"/>
              </a:rPr>
              <a:t> </a:t>
            </a:r>
            <a:endParaRPr b="0"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Scalability refers to the ability of a system to handle increasing workload or data size gracefully without sacrificing </a:t>
            </a:r>
            <a:r>
              <a:rPr b="1" i="0" lang="en-US" sz="2800" u="none" cap="none" strike="noStrike">
                <a:solidFill>
                  <a:srgbClr val="273239"/>
                </a:solidFill>
                <a:latin typeface="Nunito"/>
                <a:ea typeface="Nunito"/>
                <a:cs typeface="Nunito"/>
                <a:sym typeface="Nunito"/>
              </a:rPr>
              <a:t>performance</a:t>
            </a:r>
            <a:r>
              <a:rPr b="0" i="0" lang="en-US" sz="2800" u="none" cap="none" strike="noStrike">
                <a:solidFill>
                  <a:srgbClr val="273239"/>
                </a:solidFill>
                <a:latin typeface="Nunito"/>
                <a:ea typeface="Nunito"/>
                <a:cs typeface="Nunito"/>
                <a:sym typeface="Nunito"/>
              </a:rPr>
              <a:t> or availability. </a:t>
            </a:r>
            <a:endParaRPr b="0"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Scalability challenges in fault tolerance involve ensuring that fault-tolerant mechanisms can scale alongside the system's growth.</a:t>
            </a:r>
            <a:endParaRPr/>
          </a:p>
          <a:p>
            <a:pPr indent="-177800" lvl="0" marL="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273239"/>
                </a:solidFill>
                <a:latin typeface="Nunito"/>
                <a:ea typeface="Nunito"/>
                <a:cs typeface="Nunito"/>
                <a:sym typeface="Nunito"/>
              </a:rPr>
              <a:t>Performance Impacts:</a:t>
            </a:r>
            <a:r>
              <a:rPr b="0" i="0" lang="en-US" sz="2800" u="none" cap="none" strike="noStrike">
                <a:solidFill>
                  <a:srgbClr val="273239"/>
                </a:solidFill>
                <a:latin typeface="Nunito"/>
                <a:ea typeface="Nunito"/>
                <a:cs typeface="Nunito"/>
                <a:sym typeface="Nunito"/>
              </a:rPr>
              <a:t> </a:t>
            </a:r>
            <a:endParaRPr b="0"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Fault tolerance mechanisms, such as redundancy and error correction, can impact system performance. </a:t>
            </a:r>
            <a:endParaRPr b="0"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This challenge involves minimizing performance degradation while maintaining high fault tolerance.</a:t>
            </a:r>
            <a:endParaRPr/>
          </a:p>
          <a:p>
            <a:pPr indent="-177800" lvl="0" marL="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273239"/>
                </a:solidFill>
                <a:latin typeface="Nunito"/>
                <a:ea typeface="Nunito"/>
                <a:cs typeface="Nunito"/>
                <a:sym typeface="Nunito"/>
              </a:rPr>
              <a:t>Cost Considerations:</a:t>
            </a:r>
            <a:r>
              <a:rPr b="0" i="0" lang="en-US" sz="2800" u="none" cap="none" strike="noStrike">
                <a:solidFill>
                  <a:srgbClr val="273239"/>
                </a:solidFill>
                <a:latin typeface="Nunito"/>
                <a:ea typeface="Nunito"/>
                <a:cs typeface="Nunito"/>
                <a:sym typeface="Nunito"/>
              </a:rPr>
              <a:t> </a:t>
            </a:r>
            <a:endParaRPr b="0"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Implementing robust fault tolerance strategies often incurs additional costs due to the need for redundant hardware, software licenses, maintenance, and monitoring systems.</a:t>
            </a:r>
            <a:endParaRPr/>
          </a:p>
        </p:txBody>
      </p:sp>
      <p:sp>
        <p:nvSpPr>
          <p:cNvPr id="150" name="Google Shape;150;p14"/>
          <p:cNvSpPr/>
          <p:nvPr/>
        </p:nvSpPr>
        <p:spPr>
          <a:xfrm>
            <a:off x="0" y="274320"/>
            <a:ext cx="9129830"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3200" u="none" cap="none" strike="noStrike">
                <a:solidFill>
                  <a:srgbClr val="273239"/>
                </a:solidFill>
                <a:latin typeface="Nunito"/>
                <a:ea typeface="Nunito"/>
                <a:cs typeface="Nunito"/>
                <a:sym typeface="Nunito"/>
              </a:rPr>
              <a:t>Challenges in Implementing Fault Tolerance</a:t>
            </a:r>
            <a:endParaRPr b="1" i="0" sz="3200" u="none" cap="none" strike="noStrike">
              <a:solidFill>
                <a:srgbClr val="273239"/>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5"/>
          <p:cNvSpPr txBox="1"/>
          <p:nvPr/>
        </p:nvSpPr>
        <p:spPr>
          <a:xfrm>
            <a:off x="216911" y="281541"/>
            <a:ext cx="827394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Examples of Fault Tolerance Techniques</a:t>
            </a:r>
            <a:r>
              <a:rPr b="1" i="0" lang="en-US" sz="1400" u="none" cap="none" strike="noStrike">
                <a:solidFill>
                  <a:srgbClr val="000000"/>
                </a:solidFill>
                <a:latin typeface="Arial"/>
                <a:ea typeface="Arial"/>
                <a:cs typeface="Arial"/>
                <a:sym typeface="Arial"/>
              </a:rPr>
              <a:t>:</a:t>
            </a:r>
            <a:endParaRPr b="1" i="0" sz="3000" u="none" cap="none" strike="noStrike">
              <a:solidFill>
                <a:schemeClr val="dk1"/>
              </a:solidFill>
              <a:latin typeface="Times New Roman"/>
              <a:ea typeface="Times New Roman"/>
              <a:cs typeface="Times New Roman"/>
              <a:sym typeface="Times New Roman"/>
            </a:endParaRPr>
          </a:p>
        </p:txBody>
      </p:sp>
      <p:sp>
        <p:nvSpPr>
          <p:cNvPr id="156" name="Google Shape;156;p15"/>
          <p:cNvSpPr txBox="1"/>
          <p:nvPr/>
        </p:nvSpPr>
        <p:spPr>
          <a:xfrm>
            <a:off x="943532" y="1839690"/>
            <a:ext cx="12908655" cy="526297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Replication:</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Creating multiple copies of data or services across different locations or nodes. If one copy fails, others are available.</a:t>
            </a:r>
            <a:endParaRPr/>
          </a:p>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Load Balancing:</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Distributing traffic across multiple servers to prevent any single server from being overwhelmed and becoming a point of failure.</a:t>
            </a:r>
            <a:endParaRPr/>
          </a:p>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Check pointing and Rollback:</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Saving the system's state at regular intervals (checkpoints) so that it can be rolled back to a consistent state in case of a failure.</a:t>
            </a:r>
            <a:endParaRPr/>
          </a:p>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Consensus Algorithms:</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Used in distributed systems to ensure that all nodes agree on the system's state, even if some nodes fail.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2" name="Google Shape;162;p16"/>
          <p:cNvSpPr/>
          <p:nvPr/>
        </p:nvSpPr>
        <p:spPr>
          <a:xfrm>
            <a:off x="658368" y="1585478"/>
            <a:ext cx="12783312"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1" lang="en-US" sz="2800" u="none" cap="none" strike="noStrike">
                <a:solidFill>
                  <a:srgbClr val="273239"/>
                </a:solidFill>
                <a:latin typeface="Arial"/>
                <a:ea typeface="Arial"/>
                <a:cs typeface="Arial"/>
                <a:sym typeface="Arial"/>
              </a:rPr>
              <a:t>Latency refers to the time it takes for a request to travel from its point of origin to its destination and receive a response. </a:t>
            </a:r>
            <a:endParaRPr b="0" i="0" sz="2800" u="none" cap="none" strike="noStrike">
              <a:solidFill>
                <a:srgbClr val="000000"/>
              </a:solidFill>
              <a:latin typeface="Arial"/>
              <a:ea typeface="Arial"/>
              <a:cs typeface="Arial"/>
              <a:sym typeface="Arial"/>
            </a:endParaRPr>
          </a:p>
        </p:txBody>
      </p:sp>
      <p:sp>
        <p:nvSpPr>
          <p:cNvPr id="163" name="Google Shape;163;p16"/>
          <p:cNvSpPr/>
          <p:nvPr/>
        </p:nvSpPr>
        <p:spPr>
          <a:xfrm>
            <a:off x="1627632" y="2871216"/>
            <a:ext cx="11667744" cy="1815882"/>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Latency represents the delay between an action and its corresponding reaction.</a:t>
            </a:r>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It can be measured in various units like seconds, milliseconds, and nanoseconds depending on the system and application.</a:t>
            </a:r>
            <a:endParaRPr/>
          </a:p>
        </p:txBody>
      </p:sp>
      <p:sp>
        <p:nvSpPr>
          <p:cNvPr id="164" name="Google Shape;164;p16"/>
          <p:cNvSpPr/>
          <p:nvPr/>
        </p:nvSpPr>
        <p:spPr>
          <a:xfrm>
            <a:off x="548640" y="394752"/>
            <a:ext cx="307238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US" sz="3200" u="none" cap="none" strike="noStrike">
                <a:solidFill>
                  <a:srgbClr val="273239"/>
                </a:solidFill>
                <a:latin typeface="Arial"/>
                <a:ea typeface="Arial"/>
                <a:cs typeface="Arial"/>
                <a:sym typeface="Arial"/>
              </a:rPr>
              <a:t>Latency </a:t>
            </a:r>
            <a:endParaRPr b="1" i="0" sz="32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70" name="Google Shape;170;p17"/>
          <p:cNvPicPr preferRelativeResize="0"/>
          <p:nvPr/>
        </p:nvPicPr>
        <p:blipFill rotWithShape="1">
          <a:blip r:embed="rId3">
            <a:alphaModFix/>
          </a:blip>
          <a:srcRect b="0" l="0" r="0" t="0"/>
          <a:stretch/>
        </p:blipFill>
        <p:spPr>
          <a:xfrm>
            <a:off x="932688" y="1755648"/>
            <a:ext cx="12252960" cy="55229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6" name="Google Shape;176;p18"/>
          <p:cNvSpPr/>
          <p:nvPr/>
        </p:nvSpPr>
        <p:spPr>
          <a:xfrm>
            <a:off x="512064" y="1335024"/>
            <a:ext cx="12600432" cy="63094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The time taken for each step—transmitting the action, server processing, transmitting the response, and updating your screen—contributes to the overall latency.</a:t>
            </a:r>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0" lvl="0" marL="0" marR="0" rtl="0" algn="just">
              <a:lnSpc>
                <a:spcPct val="100000"/>
              </a:lnSpc>
              <a:spcBef>
                <a:spcPts val="0"/>
              </a:spcBef>
              <a:spcAft>
                <a:spcPts val="0"/>
              </a:spcAft>
              <a:buNone/>
            </a:pPr>
            <a:r>
              <a:rPr b="1" i="0" lang="en-US" sz="2800" u="none" cap="none" strike="noStrike">
                <a:solidFill>
                  <a:srgbClr val="273239"/>
                </a:solidFill>
                <a:latin typeface="Nunito"/>
                <a:ea typeface="Nunito"/>
                <a:cs typeface="Nunito"/>
                <a:sym typeface="Nunito"/>
              </a:rPr>
              <a:t>Example:</a:t>
            </a:r>
            <a:r>
              <a:rPr b="0" i="0" lang="en-US" sz="2800" u="none" cap="none" strike="noStrike">
                <a:solidFill>
                  <a:srgbClr val="273239"/>
                </a:solidFill>
                <a:latin typeface="Nunito"/>
                <a:ea typeface="Nunito"/>
                <a:cs typeface="Nunito"/>
                <a:sym typeface="Nunito"/>
              </a:rPr>
              <a:t> Let see an example when player in an online game firing a weapon.</a:t>
            </a:r>
            <a:endParaRPr/>
          </a:p>
          <a:p>
            <a:pPr indent="-177800" lvl="0" marL="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273239"/>
                </a:solidFill>
                <a:latin typeface="Nunito"/>
                <a:ea typeface="Nunito"/>
                <a:cs typeface="Nunito"/>
                <a:sym typeface="Nunito"/>
              </a:rPr>
              <a:t>If your latency is high: </a:t>
            </a:r>
            <a:r>
              <a:rPr b="0" i="0" lang="en-US" sz="2800" u="none" cap="none" strike="noStrike">
                <a:solidFill>
                  <a:srgbClr val="273239"/>
                </a:solidFill>
                <a:latin typeface="Nunito"/>
                <a:ea typeface="Nunito"/>
                <a:cs typeface="Nunito"/>
                <a:sym typeface="Nunito"/>
              </a:rPr>
              <a:t>You press "fire."</a:t>
            </a:r>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The command travels through the internet to the server, which takes time.</a:t>
            </a:r>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The server processes the shot.</a:t>
            </a:r>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The result travels back to your device.</a:t>
            </a:r>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Your screen updates the result.</a:t>
            </a:r>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0" lvl="0" marL="0" marR="0" rtl="0" algn="ctr">
              <a:lnSpc>
                <a:spcPct val="100000"/>
              </a:lnSpc>
              <a:spcBef>
                <a:spcPts val="0"/>
              </a:spcBef>
              <a:spcAft>
                <a:spcPts val="0"/>
              </a:spcAft>
              <a:buNone/>
            </a:pPr>
            <a:r>
              <a:rPr b="0" i="1" lang="en-US" sz="2400" u="none" cap="none" strike="noStrike">
                <a:solidFill>
                  <a:srgbClr val="000000"/>
                </a:solidFill>
                <a:latin typeface="Arial"/>
                <a:ea typeface="Arial"/>
                <a:cs typeface="Arial"/>
                <a:sym typeface="Arial"/>
              </a:rPr>
              <a:t>During this time, another player might have moved or shot you, but their actions haven't reached your device yet due to latency. This can result in what's called "</a:t>
            </a:r>
            <a:r>
              <a:rPr b="1" i="1" lang="en-US" sz="2400" u="none" cap="none" strike="noStrike">
                <a:solidFill>
                  <a:srgbClr val="000000"/>
                </a:solidFill>
                <a:latin typeface="Arial"/>
                <a:ea typeface="Arial"/>
                <a:cs typeface="Arial"/>
                <a:sym typeface="Arial"/>
              </a:rPr>
              <a:t>shot registration delay</a:t>
            </a:r>
            <a:r>
              <a:rPr b="0" i="1" lang="en-US" sz="2400" u="none" cap="none" strike="noStrike">
                <a:solidFill>
                  <a:srgbClr val="000000"/>
                </a:solidFill>
                <a:latin typeface="Arial"/>
                <a:ea typeface="Arial"/>
                <a:cs typeface="Arial"/>
                <a:sym typeface="Arial"/>
              </a:rPr>
              <a:t>." Your actions feel less immediate, and you might see inconsistencies between what you're seeing and what's happening in the game world.</a:t>
            </a:r>
            <a:endParaRPr b="0" i="0" sz="2400" u="none" cap="none" strike="noStrike">
              <a:solidFill>
                <a:srgbClr val="273239"/>
              </a:solidFill>
              <a:latin typeface="Nunito"/>
              <a:ea typeface="Nunito"/>
              <a:cs typeface="Nunito"/>
              <a:sym typeface="Nunito"/>
            </a:endParaRPr>
          </a:p>
        </p:txBody>
      </p:sp>
      <p:sp>
        <p:nvSpPr>
          <p:cNvPr id="177" name="Google Shape;177;p18"/>
          <p:cNvSpPr/>
          <p:nvPr/>
        </p:nvSpPr>
        <p:spPr>
          <a:xfrm>
            <a:off x="493776" y="413040"/>
            <a:ext cx="6382512"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3200" u="none" cap="none" strike="noStrike">
                <a:solidFill>
                  <a:srgbClr val="273239"/>
                </a:solidFill>
                <a:latin typeface="Arial"/>
                <a:ea typeface="Arial"/>
                <a:cs typeface="Arial"/>
                <a:sym typeface="Arial"/>
              </a:rPr>
              <a:t>How does Latency works?</a:t>
            </a:r>
            <a:endParaRPr b="1" i="0" sz="3200" u="none" cap="none" strike="noStrike">
              <a:solidFill>
                <a:srgbClr val="273239"/>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83" name="Google Shape;183;p19"/>
          <p:cNvPicPr preferRelativeResize="0"/>
          <p:nvPr/>
        </p:nvPicPr>
        <p:blipFill rotWithShape="1">
          <a:blip r:embed="rId3">
            <a:alphaModFix/>
          </a:blip>
          <a:srcRect b="0" l="0" r="0" t="0"/>
          <a:stretch/>
        </p:blipFill>
        <p:spPr>
          <a:xfrm>
            <a:off x="950976" y="3255264"/>
            <a:ext cx="12490704" cy="4352544"/>
          </a:xfrm>
          <a:prstGeom prst="rect">
            <a:avLst/>
          </a:prstGeom>
          <a:noFill/>
          <a:ln>
            <a:noFill/>
          </a:ln>
        </p:spPr>
      </p:pic>
      <p:sp>
        <p:nvSpPr>
          <p:cNvPr id="184" name="Google Shape;184;p19"/>
          <p:cNvSpPr/>
          <p:nvPr/>
        </p:nvSpPr>
        <p:spPr>
          <a:xfrm>
            <a:off x="256033" y="230160"/>
            <a:ext cx="1000353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273239"/>
                </a:solidFill>
                <a:latin typeface="Nunito"/>
                <a:ea typeface="Nunito"/>
                <a:cs typeface="Nunito"/>
                <a:sym typeface="Nunito"/>
              </a:rPr>
              <a:t>The working of Latency can be understood by two ways:</a:t>
            </a:r>
            <a:endParaRPr b="1" i="0" sz="2800" u="none" cap="none" strike="noStrike">
              <a:solidFill>
                <a:srgbClr val="000000"/>
              </a:solidFill>
              <a:latin typeface="Arial"/>
              <a:ea typeface="Arial"/>
              <a:cs typeface="Arial"/>
              <a:sym typeface="Arial"/>
            </a:endParaRPr>
          </a:p>
        </p:txBody>
      </p:sp>
      <p:sp>
        <p:nvSpPr>
          <p:cNvPr id="185" name="Google Shape;185;p19"/>
          <p:cNvSpPr/>
          <p:nvPr/>
        </p:nvSpPr>
        <p:spPr>
          <a:xfrm>
            <a:off x="603504" y="1225296"/>
            <a:ext cx="12819888" cy="2062103"/>
          </a:xfrm>
          <a:prstGeom prst="rect">
            <a:avLst/>
          </a:prstGeom>
          <a:noFill/>
          <a:ln>
            <a:noFill/>
          </a:ln>
        </p:spPr>
        <p:txBody>
          <a:bodyPr anchorCtr="0" anchor="t" bIns="45700" lIns="91425" spcFirstLastPara="1" rIns="91425" wrap="square" tIns="45700">
            <a:spAutoFit/>
          </a:bodyPr>
          <a:lstStyle/>
          <a:p>
            <a:pPr indent="-514350" lvl="0" marL="51435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Network Latency: </a:t>
            </a:r>
            <a:r>
              <a:rPr b="0" i="0" lang="en-US" sz="2400" u="none" cap="none" strike="noStrike">
                <a:solidFill>
                  <a:srgbClr val="000000"/>
                </a:solidFill>
                <a:latin typeface="Arial"/>
                <a:ea typeface="Arial"/>
                <a:cs typeface="Arial"/>
                <a:sym typeface="Arial"/>
              </a:rPr>
              <a:t>In</a:t>
            </a:r>
            <a:r>
              <a:rPr b="0" i="0" lang="en-US" sz="14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system architecture, network latency is a sort of latency that describes how long it takes for data to move between two points in a network. </a:t>
            </a:r>
            <a:endParaRPr b="0" i="0" sz="2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 System Latency : </a:t>
            </a:r>
            <a:r>
              <a:rPr b="0" i="0" lang="en-US" sz="2400" u="none" cap="none" strike="noStrike">
                <a:solidFill>
                  <a:srgbClr val="000000"/>
                </a:solidFill>
                <a:latin typeface="Arial"/>
                <a:ea typeface="Arial"/>
                <a:cs typeface="Arial"/>
                <a:sym typeface="Arial"/>
              </a:rPr>
              <a:t>System latency refers to the overall time it takes for a request to go from its origin in the system to its destination and receive a response. </a:t>
            </a:r>
            <a:endParaRPr b="0" i="0" sz="24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2400"/>
              <a:buFont typeface="Arial"/>
              <a:buNone/>
            </a:pPr>
            <a:r>
              <a:t/>
            </a:r>
            <a:endParaRPr b="1" i="0" sz="2400" u="none" cap="none" strike="noStrike">
              <a:solidFill>
                <a:srgbClr val="273239"/>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7032c6be29_1_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91" name="Google Shape;191;g37032c6be29_1_0"/>
          <p:cNvSpPr txBox="1"/>
          <p:nvPr/>
        </p:nvSpPr>
        <p:spPr>
          <a:xfrm>
            <a:off x="414528" y="1103585"/>
            <a:ext cx="13569600" cy="56952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0"/>
              </a:spcBef>
              <a:spcAft>
                <a:spcPts val="0"/>
              </a:spcAft>
              <a:buNone/>
            </a:pPr>
            <a:r>
              <a:rPr lang="en-US" sz="2600">
                <a:solidFill>
                  <a:srgbClr val="273239"/>
                </a:solidFill>
                <a:latin typeface="Nunito"/>
                <a:ea typeface="Nunito"/>
                <a:cs typeface="Nunito"/>
                <a:sym typeface="Nunito"/>
              </a:rPr>
              <a:t>There are various ways to measure latency. Here are some common methods:</a:t>
            </a:r>
            <a:endParaRPr sz="2600">
              <a:solidFill>
                <a:srgbClr val="273239"/>
              </a:solidFill>
              <a:latin typeface="Nunito"/>
              <a:ea typeface="Nunito"/>
              <a:cs typeface="Nunito"/>
              <a:sym typeface="Nunito"/>
            </a:endParaRPr>
          </a:p>
          <a:p>
            <a:pPr indent="-501650" lvl="0" marL="514350" marR="0" rtl="0" algn="just">
              <a:lnSpc>
                <a:spcPct val="100000"/>
              </a:lnSpc>
              <a:spcBef>
                <a:spcPts val="0"/>
              </a:spcBef>
              <a:spcAft>
                <a:spcPts val="0"/>
              </a:spcAft>
              <a:buSzPts val="2600"/>
              <a:buAutoNum type="arabicPeriod"/>
            </a:pPr>
            <a:r>
              <a:rPr b="1" lang="en-US" sz="2600">
                <a:solidFill>
                  <a:srgbClr val="273239"/>
                </a:solidFill>
                <a:latin typeface="Nunito"/>
                <a:ea typeface="Nunito"/>
                <a:cs typeface="Nunito"/>
                <a:sym typeface="Nunito"/>
              </a:rPr>
              <a:t>Ping: </a:t>
            </a:r>
            <a:r>
              <a:rPr lang="en-US" sz="2600">
                <a:solidFill>
                  <a:srgbClr val="273239"/>
                </a:solidFill>
                <a:latin typeface="Nunito"/>
                <a:ea typeface="Nunito"/>
                <a:cs typeface="Nunito"/>
                <a:sym typeface="Nunito"/>
              </a:rPr>
              <a:t>This widely used tool sends data packets to a target server and measures the round-trip time (RTT), providing an estimate of network latency between two points. </a:t>
            </a:r>
            <a:r>
              <a:rPr b="1" lang="en-US" sz="2600">
                <a:solidFill>
                  <a:srgbClr val="273239"/>
                </a:solidFill>
                <a:latin typeface="Nunito"/>
                <a:ea typeface="Nunito"/>
                <a:cs typeface="Nunito"/>
                <a:sym typeface="Nunito"/>
              </a:rPr>
              <a:t>(RTT = 2 * one-way latency).</a:t>
            </a:r>
            <a:endParaRPr b="1" sz="2600">
              <a:solidFill>
                <a:srgbClr val="273239"/>
              </a:solidFill>
              <a:latin typeface="Nunito"/>
              <a:ea typeface="Nunito"/>
              <a:cs typeface="Nunito"/>
              <a:sym typeface="Nunito"/>
            </a:endParaRPr>
          </a:p>
          <a:p>
            <a:pPr indent="-501650" lvl="0" marL="514350" marR="0" rtl="0" algn="just">
              <a:lnSpc>
                <a:spcPct val="100000"/>
              </a:lnSpc>
              <a:spcBef>
                <a:spcPts val="0"/>
              </a:spcBef>
              <a:spcAft>
                <a:spcPts val="0"/>
              </a:spcAft>
              <a:buSzPts val="2600"/>
              <a:buAutoNum type="arabicPeriod"/>
            </a:pPr>
            <a:r>
              <a:rPr b="1" lang="en-US" sz="2600">
                <a:solidFill>
                  <a:srgbClr val="273239"/>
                </a:solidFill>
                <a:latin typeface="Nunito"/>
                <a:ea typeface="Nunito"/>
                <a:cs typeface="Nunito"/>
                <a:sym typeface="Nunito"/>
              </a:rPr>
              <a:t>Traceroute</a:t>
            </a:r>
            <a:r>
              <a:rPr lang="en-US" sz="2600">
                <a:solidFill>
                  <a:srgbClr val="273239"/>
                </a:solidFill>
                <a:latin typeface="Nunito"/>
                <a:ea typeface="Nunito"/>
                <a:cs typeface="Nunito"/>
                <a:sym typeface="Nunito"/>
              </a:rPr>
              <a:t>: This tool displays the path data packets take to reach a specific destination, revealing which network hops contribute the most to overall latency.</a:t>
            </a:r>
            <a:endParaRPr sz="2600">
              <a:solidFill>
                <a:srgbClr val="273239"/>
              </a:solidFill>
              <a:latin typeface="Nunito"/>
              <a:ea typeface="Nunito"/>
              <a:cs typeface="Nunito"/>
              <a:sym typeface="Nunito"/>
            </a:endParaRPr>
          </a:p>
          <a:p>
            <a:pPr indent="-501650" lvl="0" marL="514350" marR="0" rtl="0" algn="just">
              <a:lnSpc>
                <a:spcPct val="100000"/>
              </a:lnSpc>
              <a:spcBef>
                <a:spcPts val="0"/>
              </a:spcBef>
              <a:spcAft>
                <a:spcPts val="0"/>
              </a:spcAft>
              <a:buSzPts val="2600"/>
              <a:buAutoNum type="arabicPeriod"/>
            </a:pPr>
            <a:r>
              <a:rPr b="1" lang="en-US" sz="2600">
                <a:solidFill>
                  <a:srgbClr val="273239"/>
                </a:solidFill>
                <a:latin typeface="Nunito"/>
                <a:ea typeface="Nunito"/>
                <a:cs typeface="Nunito"/>
                <a:sym typeface="Nunito"/>
              </a:rPr>
              <a:t>MTR (traceroute with ping):</a:t>
            </a:r>
            <a:r>
              <a:rPr lang="en-US" sz="2600">
                <a:solidFill>
                  <a:srgbClr val="273239"/>
                </a:solidFill>
                <a:latin typeface="Nunito"/>
                <a:ea typeface="Nunito"/>
                <a:cs typeface="Nunito"/>
                <a:sym typeface="Nunito"/>
              </a:rPr>
              <a:t> Combines traceroute and ping functionality, showing both routing information and RTT at each hop along the path.</a:t>
            </a:r>
            <a:endParaRPr sz="2600">
              <a:solidFill>
                <a:srgbClr val="273239"/>
              </a:solidFill>
              <a:latin typeface="Nunito"/>
              <a:ea typeface="Nunito"/>
              <a:cs typeface="Nunito"/>
              <a:sym typeface="Nunito"/>
            </a:endParaRPr>
          </a:p>
          <a:p>
            <a:pPr indent="-501650" lvl="0" marL="514350" marR="0" rtl="0" algn="just">
              <a:lnSpc>
                <a:spcPct val="100000"/>
              </a:lnSpc>
              <a:spcBef>
                <a:spcPts val="0"/>
              </a:spcBef>
              <a:spcAft>
                <a:spcPts val="0"/>
              </a:spcAft>
              <a:buSzPts val="2600"/>
              <a:buAutoNum type="arabicPeriod"/>
            </a:pPr>
            <a:r>
              <a:rPr b="1" lang="en-US" sz="2600">
                <a:solidFill>
                  <a:srgbClr val="273239"/>
                </a:solidFill>
                <a:latin typeface="Nunito"/>
                <a:ea typeface="Nunito"/>
                <a:cs typeface="Nunito"/>
                <a:sym typeface="Nunito"/>
              </a:rPr>
              <a:t>Performance profiling tools: </a:t>
            </a:r>
            <a:r>
              <a:rPr lang="en-US" sz="2600">
                <a:solidFill>
                  <a:srgbClr val="273239"/>
                </a:solidFill>
                <a:latin typeface="Nunito"/>
                <a:ea typeface="Nunito"/>
                <a:cs typeface="Nunito"/>
                <a:sym typeface="Nunito"/>
              </a:rPr>
              <a:t>Specialized profiling tools track resource usage and execution times within a system, providing detailed insights into system latency contributors.</a:t>
            </a:r>
            <a:endParaRPr sz="2600">
              <a:solidFill>
                <a:srgbClr val="273239"/>
              </a:solidFill>
              <a:latin typeface="Nunito"/>
              <a:ea typeface="Nunito"/>
              <a:cs typeface="Nunito"/>
              <a:sym typeface="Nunito"/>
            </a:endParaRPr>
          </a:p>
          <a:p>
            <a:pPr indent="-501650" lvl="0" marL="514350" marR="0" rtl="0" algn="just">
              <a:lnSpc>
                <a:spcPct val="100000"/>
              </a:lnSpc>
              <a:spcBef>
                <a:spcPts val="0"/>
              </a:spcBef>
              <a:spcAft>
                <a:spcPts val="0"/>
              </a:spcAft>
              <a:buSzPts val="2600"/>
              <a:buAutoNum type="arabicPeriod"/>
            </a:pPr>
            <a:r>
              <a:rPr b="1" lang="en-US" sz="2600">
                <a:solidFill>
                  <a:srgbClr val="273239"/>
                </a:solidFill>
                <a:latin typeface="Nunito"/>
                <a:ea typeface="Nunito"/>
                <a:cs typeface="Nunito"/>
                <a:sym typeface="Nunito"/>
              </a:rPr>
              <a:t>Application performance monitoring (APM) tools:</a:t>
            </a:r>
            <a:r>
              <a:rPr lang="en-US" sz="2600">
                <a:solidFill>
                  <a:srgbClr val="273239"/>
                </a:solidFill>
                <a:latin typeface="Nunito"/>
                <a:ea typeface="Nunito"/>
                <a:cs typeface="Nunito"/>
                <a:sym typeface="Nunito"/>
              </a:rPr>
              <a:t> Similar to network monitoring tools for networks, APM tools monitor the performance of applications, including response times and latency across various components.</a:t>
            </a:r>
            <a:endParaRPr sz="2600">
              <a:solidFill>
                <a:srgbClr val="273239"/>
              </a:solidFill>
              <a:latin typeface="Nunito"/>
              <a:ea typeface="Nunito"/>
              <a:cs typeface="Nunito"/>
              <a:sym typeface="Nunito"/>
            </a:endParaRPr>
          </a:p>
        </p:txBody>
      </p:sp>
      <p:sp>
        <p:nvSpPr>
          <p:cNvPr id="192" name="Google Shape;192;g37032c6be29_1_0"/>
          <p:cNvSpPr txBox="1"/>
          <p:nvPr/>
        </p:nvSpPr>
        <p:spPr>
          <a:xfrm>
            <a:off x="0" y="0"/>
            <a:ext cx="6008700" cy="61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2800">
                <a:solidFill>
                  <a:srgbClr val="273239"/>
                </a:solidFill>
                <a:latin typeface="Nunito"/>
                <a:ea typeface="Nunito"/>
                <a:cs typeface="Nunito"/>
                <a:sym typeface="Nunito"/>
              </a:rPr>
              <a:t>How to measure Latency?</a:t>
            </a:r>
            <a:endParaRPr b="1" sz="2800">
              <a:solidFill>
                <a:srgbClr val="273239"/>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7032c6be29_1_5"/>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98" name="Google Shape;198;g37032c6be29_1_5"/>
          <p:cNvSpPr/>
          <p:nvPr/>
        </p:nvSpPr>
        <p:spPr>
          <a:xfrm>
            <a:off x="223522" y="931502"/>
            <a:ext cx="13390200" cy="378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b="1" lang="en-US" sz="2600">
                <a:solidFill>
                  <a:srgbClr val="273239"/>
                </a:solidFill>
                <a:latin typeface="Nunito"/>
                <a:ea typeface="Nunito"/>
                <a:cs typeface="Nunito"/>
                <a:sym typeface="Nunito"/>
              </a:rPr>
              <a:t>Problem Statement:</a:t>
            </a:r>
            <a:endParaRPr b="1"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lang="en-US" sz="2600">
                <a:solidFill>
                  <a:srgbClr val="273239"/>
                </a:solidFill>
                <a:latin typeface="Nunito"/>
                <a:ea typeface="Nunito"/>
                <a:cs typeface="Nunito"/>
                <a:sym typeface="Nunito"/>
              </a:rPr>
              <a:t>Calculate the round-trip time (RTT) latency for a data packet traveling between a client in New York City and a server in London, UK, assuming a direct fiber-optic connection with a propagation speed of 200,000 km/s. </a:t>
            </a:r>
            <a:endParaRPr sz="2600">
              <a:solidFill>
                <a:srgbClr val="273239"/>
              </a:solidFill>
              <a:latin typeface="Nunito"/>
              <a:ea typeface="Nunito"/>
              <a:cs typeface="Nunito"/>
              <a:sym typeface="Nunito"/>
            </a:endParaRPr>
          </a:p>
          <a:p>
            <a:pPr indent="-127000" lvl="0" marL="0" marR="0" rtl="0" algn="l">
              <a:lnSpc>
                <a:spcPct val="100000"/>
              </a:lnSpc>
              <a:spcBef>
                <a:spcPts val="0"/>
              </a:spcBef>
              <a:spcAft>
                <a:spcPts val="0"/>
              </a:spcAft>
              <a:buClr>
                <a:schemeClr val="dk1"/>
              </a:buClr>
              <a:buSzPts val="2000"/>
              <a:buFont typeface="Arial"/>
              <a:buChar char="•"/>
            </a:pPr>
            <a:r>
              <a:rPr b="1" lang="en-US" sz="2600">
                <a:solidFill>
                  <a:srgbClr val="273239"/>
                </a:solidFill>
                <a:latin typeface="Nunito"/>
                <a:ea typeface="Nunito"/>
                <a:cs typeface="Nunito"/>
                <a:sym typeface="Nunito"/>
              </a:rPr>
              <a:t>Distance</a:t>
            </a:r>
            <a:r>
              <a:rPr lang="en-US" sz="2600">
                <a:solidFill>
                  <a:srgbClr val="273239"/>
                </a:solidFill>
                <a:latin typeface="Nunito"/>
                <a:ea typeface="Nunito"/>
                <a:cs typeface="Nunito"/>
                <a:sym typeface="Nunito"/>
              </a:rPr>
              <a:t>: Distance between NYC and London: 5570 km</a:t>
            </a:r>
            <a:endParaRPr sz="2600">
              <a:solidFill>
                <a:srgbClr val="273239"/>
              </a:solidFill>
              <a:latin typeface="Nunito"/>
              <a:ea typeface="Nunito"/>
              <a:cs typeface="Nunito"/>
              <a:sym typeface="Nunito"/>
            </a:endParaRPr>
          </a:p>
          <a:p>
            <a:pPr indent="-127000" lvl="0" marL="0" marR="0" rtl="0" algn="l">
              <a:lnSpc>
                <a:spcPct val="100000"/>
              </a:lnSpc>
              <a:spcBef>
                <a:spcPts val="0"/>
              </a:spcBef>
              <a:spcAft>
                <a:spcPts val="0"/>
              </a:spcAft>
              <a:buClr>
                <a:schemeClr val="dk1"/>
              </a:buClr>
              <a:buSzPts val="2000"/>
              <a:buFont typeface="Arial"/>
              <a:buChar char="•"/>
            </a:pPr>
            <a:r>
              <a:rPr b="1" lang="en-US" sz="2600">
                <a:solidFill>
                  <a:srgbClr val="273239"/>
                </a:solidFill>
                <a:latin typeface="Nunito"/>
                <a:ea typeface="Nunito"/>
                <a:cs typeface="Nunito"/>
                <a:sym typeface="Nunito"/>
              </a:rPr>
              <a:t>Propagation speed</a:t>
            </a:r>
            <a:r>
              <a:rPr lang="en-US" sz="2600">
                <a:solidFill>
                  <a:srgbClr val="273239"/>
                </a:solidFill>
                <a:latin typeface="Nunito"/>
                <a:ea typeface="Nunito"/>
                <a:cs typeface="Nunito"/>
                <a:sym typeface="Nunito"/>
              </a:rPr>
              <a:t>: 200,000 km/s </a:t>
            </a:r>
            <a:endParaRPr sz="2600">
              <a:solidFill>
                <a:srgbClr val="273239"/>
              </a:solidFill>
              <a:latin typeface="Nunito"/>
              <a:ea typeface="Nunito"/>
              <a:cs typeface="Nunito"/>
              <a:sym typeface="Nunito"/>
            </a:endParaRPr>
          </a:p>
          <a:p>
            <a:pPr indent="-127000" lvl="0" marL="0" marR="0" rtl="0" algn="l">
              <a:lnSpc>
                <a:spcPct val="100000"/>
              </a:lnSpc>
              <a:spcBef>
                <a:spcPts val="0"/>
              </a:spcBef>
              <a:spcAft>
                <a:spcPts val="0"/>
              </a:spcAft>
              <a:buClr>
                <a:schemeClr val="dk1"/>
              </a:buClr>
              <a:buSzPts val="2000"/>
              <a:buFont typeface="Arial"/>
              <a:buChar char="•"/>
            </a:pPr>
            <a:r>
              <a:rPr b="1" lang="en-US" sz="2600">
                <a:solidFill>
                  <a:srgbClr val="273239"/>
                </a:solidFill>
                <a:latin typeface="Nunito"/>
                <a:ea typeface="Nunito"/>
                <a:cs typeface="Nunito"/>
                <a:sym typeface="Nunito"/>
              </a:rPr>
              <a:t>Constraints</a:t>
            </a:r>
            <a:r>
              <a:rPr lang="en-US" sz="2600">
                <a:solidFill>
                  <a:srgbClr val="273239"/>
                </a:solidFill>
                <a:latin typeface="Nunito"/>
                <a:ea typeface="Nunito"/>
                <a:cs typeface="Nunito"/>
                <a:sym typeface="Nunito"/>
              </a:rPr>
              <a:t>: Assume no network congestion or processing delays.</a:t>
            </a:r>
            <a:endParaRPr sz="2600">
              <a:solidFill>
                <a:srgbClr val="273239"/>
              </a:solidFill>
              <a:latin typeface="Nunito"/>
              <a:ea typeface="Nunito"/>
              <a:cs typeface="Nunito"/>
              <a:sym typeface="Nunito"/>
            </a:endParaRPr>
          </a:p>
          <a:p>
            <a:pPr indent="-127000" lvl="0" marL="0" marR="0" rtl="0" algn="l">
              <a:lnSpc>
                <a:spcPct val="100000"/>
              </a:lnSpc>
              <a:spcBef>
                <a:spcPts val="0"/>
              </a:spcBef>
              <a:spcAft>
                <a:spcPts val="0"/>
              </a:spcAft>
              <a:buClr>
                <a:schemeClr val="dk1"/>
              </a:buClr>
              <a:buSzPts val="2000"/>
              <a:buFont typeface="Arial"/>
              <a:buChar char="•"/>
            </a:pPr>
            <a:r>
              <a:rPr b="1" lang="en-US" sz="2600">
                <a:solidFill>
                  <a:srgbClr val="273239"/>
                </a:solidFill>
                <a:latin typeface="Nunito"/>
                <a:ea typeface="Nunito"/>
                <a:cs typeface="Nunito"/>
                <a:sym typeface="Nunito"/>
              </a:rPr>
              <a:t>Desired Output</a:t>
            </a:r>
            <a:r>
              <a:rPr lang="en-US" sz="2600">
                <a:solidFill>
                  <a:srgbClr val="273239"/>
                </a:solidFill>
                <a:latin typeface="Nunito"/>
                <a:ea typeface="Nunito"/>
                <a:cs typeface="Nunito"/>
                <a:sym typeface="Nunito"/>
              </a:rPr>
              <a:t>: RTT latency in milliseconds.</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None/>
            </a:pPr>
            <a:r>
              <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lang="en-US" sz="2600">
                <a:solidFill>
                  <a:srgbClr val="273239"/>
                </a:solidFill>
                <a:latin typeface="Nunito"/>
                <a:ea typeface="Nunito"/>
                <a:cs typeface="Nunito"/>
                <a:sym typeface="Nunito"/>
              </a:rPr>
              <a:t>1. </a:t>
            </a:r>
            <a:r>
              <a:rPr b="1" lang="en-US" sz="2600">
                <a:solidFill>
                  <a:srgbClr val="273239"/>
                </a:solidFill>
                <a:latin typeface="Nunito"/>
                <a:ea typeface="Nunito"/>
                <a:cs typeface="Nunito"/>
                <a:sym typeface="Nunito"/>
              </a:rPr>
              <a:t>Calculate One-Way Latency:</a:t>
            </a:r>
            <a:r>
              <a:rPr lang="en-US" sz="2600">
                <a:solidFill>
                  <a:srgbClr val="273239"/>
                </a:solidFill>
                <a:latin typeface="Nunito"/>
                <a:ea typeface="Nunito"/>
                <a:cs typeface="Nunito"/>
                <a:sym typeface="Nunito"/>
              </a:rPr>
              <a:t> One-way latency is the time taken for the data to travel from the client to the server:</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b="1" lang="en-US" sz="2600">
                <a:solidFill>
                  <a:srgbClr val="273239"/>
                </a:solidFill>
                <a:latin typeface="Nunito"/>
                <a:ea typeface="Nunito"/>
                <a:cs typeface="Nunito"/>
                <a:sym typeface="Nunito"/>
              </a:rPr>
              <a:t>One-way latency = Distance / Propagation speed = 5570 KM / 200,000 Km/s = 27.85 ms</a:t>
            </a:r>
            <a:endParaRPr b="1"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lang="en-US" sz="2600">
                <a:solidFill>
                  <a:srgbClr val="273239"/>
                </a:solidFill>
                <a:latin typeface="Nunito"/>
                <a:ea typeface="Nunito"/>
                <a:cs typeface="Nunito"/>
                <a:sym typeface="Nunito"/>
              </a:rPr>
              <a:t>2. </a:t>
            </a:r>
            <a:r>
              <a:rPr b="1" lang="en-US" sz="2600">
                <a:solidFill>
                  <a:srgbClr val="273239"/>
                </a:solidFill>
                <a:latin typeface="Nunito"/>
                <a:ea typeface="Nunito"/>
                <a:cs typeface="Nunito"/>
                <a:sym typeface="Nunito"/>
              </a:rPr>
              <a:t>Calculate RTT:</a:t>
            </a:r>
            <a:r>
              <a:rPr lang="en-US" sz="2600">
                <a:solidFill>
                  <a:srgbClr val="273239"/>
                </a:solidFill>
                <a:latin typeface="Nunito"/>
                <a:ea typeface="Nunito"/>
                <a:cs typeface="Nunito"/>
                <a:sym typeface="Nunito"/>
              </a:rPr>
              <a:t> The RTT is twice the one-way latency:</a:t>
            </a:r>
            <a:endParaRPr sz="2600">
              <a:solidFill>
                <a:srgbClr val="273239"/>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b="1" lang="en-US" sz="2600">
                <a:solidFill>
                  <a:srgbClr val="273239"/>
                </a:solidFill>
                <a:latin typeface="Nunito"/>
                <a:ea typeface="Nunito"/>
                <a:cs typeface="Nunito"/>
                <a:sym typeface="Nunito"/>
              </a:rPr>
              <a:t>RTT = 2 × 27.85ms = 55.7ms</a:t>
            </a:r>
            <a:endParaRPr b="1" sz="2600">
              <a:solidFill>
                <a:srgbClr val="273239"/>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4" name="Google Shape;204;p21"/>
          <p:cNvSpPr/>
          <p:nvPr/>
        </p:nvSpPr>
        <p:spPr>
          <a:xfrm>
            <a:off x="457200" y="1719072"/>
            <a:ext cx="12783312" cy="269594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The rate at which a system, process, or network can move data or carry out operations in a particular period of time is referred to as throughput. </a:t>
            </a:r>
            <a:r>
              <a:rPr b="1" i="0" lang="en-US" sz="2800" u="none" cap="none" strike="noStrike">
                <a:solidFill>
                  <a:srgbClr val="273239"/>
                </a:solidFill>
                <a:latin typeface="Nunito"/>
                <a:ea typeface="Nunito"/>
                <a:cs typeface="Nunito"/>
                <a:sym typeface="Nunito"/>
              </a:rPr>
              <a:t>Bits per second (bps), bytes per second, transactions per second, etc. are common units of measurement. </a:t>
            </a:r>
            <a:endParaRPr b="1" i="0" sz="2800" u="none" cap="none" strike="noStrike">
              <a:solidFill>
                <a:srgbClr val="273239"/>
              </a:solidFill>
              <a:latin typeface="Nunito"/>
              <a:ea typeface="Nunito"/>
              <a:cs typeface="Nunito"/>
              <a:sym typeface="Nunito"/>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273239"/>
                </a:solidFill>
                <a:latin typeface="Nunito"/>
                <a:ea typeface="Nunito"/>
                <a:cs typeface="Nunito"/>
                <a:sym typeface="Nunito"/>
              </a:rPr>
              <a:t>It is computed by dividing the total number of operations or objects executed by the time taken.</a:t>
            </a:r>
            <a:endParaRPr/>
          </a:p>
        </p:txBody>
      </p:sp>
      <p:sp>
        <p:nvSpPr>
          <p:cNvPr id="205" name="Google Shape;205;p21"/>
          <p:cNvSpPr/>
          <p:nvPr/>
        </p:nvSpPr>
        <p:spPr>
          <a:xfrm>
            <a:off x="475489" y="358176"/>
            <a:ext cx="471563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273239"/>
                </a:solidFill>
                <a:latin typeface="Nunito"/>
                <a:ea typeface="Nunito"/>
                <a:cs typeface="Nunito"/>
                <a:sym typeface="Nunito"/>
              </a:rPr>
              <a:t>What is Throughput?</a:t>
            </a:r>
            <a:endParaRPr b="1" i="0" sz="3200" u="none" cap="none" strike="noStrike">
              <a:solidFill>
                <a:srgbClr val="273239"/>
              </a:solidFill>
              <a:latin typeface="Nunito"/>
              <a:ea typeface="Nunito"/>
              <a:cs typeface="Nunito"/>
              <a:sym typeface="Nunito"/>
            </a:endParaRPr>
          </a:p>
        </p:txBody>
      </p:sp>
      <p:sp>
        <p:nvSpPr>
          <p:cNvPr id="206" name="Google Shape;206;p21"/>
          <p:cNvSpPr/>
          <p:nvPr/>
        </p:nvSpPr>
        <p:spPr>
          <a:xfrm>
            <a:off x="1243584" y="4602998"/>
            <a:ext cx="11448288"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1" sz="2800" u="none" cap="none" strike="noStrike">
              <a:solidFill>
                <a:srgbClr val="273239"/>
              </a:solidFill>
              <a:latin typeface="Nunito"/>
              <a:ea typeface="Nunito"/>
              <a:cs typeface="Nunito"/>
              <a:sym typeface="Nunito"/>
            </a:endParaRPr>
          </a:p>
          <a:p>
            <a:pPr indent="0" lvl="0" marL="0" marR="0" rtl="0" algn="just">
              <a:lnSpc>
                <a:spcPct val="100000"/>
              </a:lnSpc>
              <a:spcBef>
                <a:spcPts val="0"/>
              </a:spcBef>
              <a:spcAft>
                <a:spcPts val="0"/>
              </a:spcAft>
              <a:buNone/>
            </a:pPr>
            <a:r>
              <a:rPr b="0" i="1" lang="en-US" sz="2800" u="none" cap="none" strike="noStrike">
                <a:solidFill>
                  <a:srgbClr val="273239"/>
                </a:solidFill>
                <a:latin typeface="Nunito"/>
                <a:ea typeface="Nunito"/>
                <a:cs typeface="Nunito"/>
                <a:sym typeface="Nunito"/>
              </a:rPr>
              <a:t>For example, an ice-cream factory produces 50 ice-creams in an hour so the throughput of the factory is </a:t>
            </a:r>
            <a:r>
              <a:rPr b="1" i="1" lang="en-US" sz="2800" u="none" cap="none" strike="noStrike">
                <a:solidFill>
                  <a:srgbClr val="273239"/>
                </a:solidFill>
                <a:latin typeface="Nunito"/>
                <a:ea typeface="Nunito"/>
                <a:cs typeface="Nunito"/>
                <a:sym typeface="Nunito"/>
              </a:rPr>
              <a:t>50 ice-creams/hour</a:t>
            </a:r>
            <a:r>
              <a:rPr b="0" i="1" lang="en-US" sz="2800" u="none" cap="none" strike="noStrike">
                <a:solidFill>
                  <a:srgbClr val="273239"/>
                </a:solidFill>
                <a:latin typeface="Nunito"/>
                <a:ea typeface="Nunito"/>
                <a:cs typeface="Nunito"/>
                <a:sym typeface="Nunito"/>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12" name="Google Shape;212;p22"/>
          <p:cNvPicPr preferRelativeResize="0"/>
          <p:nvPr/>
        </p:nvPicPr>
        <p:blipFill rotWithShape="1">
          <a:blip r:embed="rId3">
            <a:alphaModFix/>
          </a:blip>
          <a:srcRect b="0" l="0" r="0" t="0"/>
          <a:stretch/>
        </p:blipFill>
        <p:spPr>
          <a:xfrm>
            <a:off x="1867166" y="2505456"/>
            <a:ext cx="10952722" cy="44805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8" name="Google Shape;218;p23"/>
          <p:cNvSpPr/>
          <p:nvPr/>
        </p:nvSpPr>
        <p:spPr>
          <a:xfrm>
            <a:off x="987552" y="1865376"/>
            <a:ext cx="12545568" cy="5262979"/>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Network Throughput:</a:t>
            </a:r>
            <a:r>
              <a:rPr b="0" i="0" lang="en-US" sz="2800" u="none" cap="none" strike="noStrike">
                <a:solidFill>
                  <a:srgbClr val="273239"/>
                </a:solidFill>
                <a:latin typeface="Nunito"/>
                <a:ea typeface="Nunito"/>
                <a:cs typeface="Nunito"/>
                <a:sym typeface="Nunito"/>
              </a:rPr>
              <a:t> Throughput in networking is the quantity of data that can be sent via a network in a specific amount of time. When assessing the effectiveness of communication routes, this measure is important.</a:t>
            </a:r>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Disk Throughput:</a:t>
            </a:r>
            <a:r>
              <a:rPr b="0" i="0" lang="en-US" sz="2800" u="none" cap="none" strike="noStrike">
                <a:solidFill>
                  <a:srgbClr val="273239"/>
                </a:solidFill>
                <a:latin typeface="Nunito"/>
                <a:ea typeface="Nunito"/>
                <a:cs typeface="Nunito"/>
                <a:sym typeface="Nunito"/>
              </a:rPr>
              <a:t> In storage systems, throughput measures how quickly data can be read from or written to a storage device, usually expressed in terms of bytes per second.</a:t>
            </a:r>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273239"/>
              </a:solidFill>
              <a:latin typeface="Nunito"/>
              <a:ea typeface="Nunito"/>
              <a:cs typeface="Nunito"/>
              <a:sym typeface="Nunito"/>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Processing Throughput:</a:t>
            </a:r>
            <a:r>
              <a:rPr b="0" i="0" lang="en-US" sz="2800" u="none" cap="none" strike="noStrike">
                <a:solidFill>
                  <a:srgbClr val="273239"/>
                </a:solidFill>
                <a:latin typeface="Nunito"/>
                <a:ea typeface="Nunito"/>
                <a:cs typeface="Nunito"/>
                <a:sym typeface="Nunito"/>
              </a:rPr>
              <a:t> In computing, especially in the context of CPUs or processors, throughput is the number of operations completed in a unit of time. It could refer to the number of instructions executed per second.</a:t>
            </a:r>
            <a:endParaRPr/>
          </a:p>
        </p:txBody>
      </p:sp>
      <p:sp>
        <p:nvSpPr>
          <p:cNvPr id="219" name="Google Shape;219;p23"/>
          <p:cNvSpPr/>
          <p:nvPr/>
        </p:nvSpPr>
        <p:spPr>
          <a:xfrm>
            <a:off x="274320" y="413040"/>
            <a:ext cx="9656064"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en-US" sz="3200">
                <a:solidFill>
                  <a:srgbClr val="273239"/>
                </a:solidFill>
                <a:latin typeface="Nunito"/>
                <a:ea typeface="Nunito"/>
                <a:cs typeface="Nunito"/>
                <a:sym typeface="Nunito"/>
              </a:rPr>
              <a:t>C</a:t>
            </a:r>
            <a:r>
              <a:rPr b="1" i="0" lang="en-US" sz="3200" u="none" cap="none" strike="noStrike">
                <a:solidFill>
                  <a:srgbClr val="273239"/>
                </a:solidFill>
                <a:latin typeface="Nunito"/>
                <a:ea typeface="Nunito"/>
                <a:cs typeface="Nunito"/>
                <a:sym typeface="Nunito"/>
              </a:rPr>
              <a:t>ontexts in which throughput is commonly used:</a:t>
            </a:r>
            <a:endParaRPr b="1" i="0" sz="3200" u="none" cap="none" strike="noStrike">
              <a:solidFill>
                <a:srgbClr val="273239"/>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5" name="Google Shape;225;p24"/>
          <p:cNvSpPr/>
          <p:nvPr/>
        </p:nvSpPr>
        <p:spPr>
          <a:xfrm>
            <a:off x="888762" y="230160"/>
            <a:ext cx="589456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273239"/>
                </a:solidFill>
                <a:latin typeface="Arial"/>
                <a:ea typeface="Arial"/>
                <a:cs typeface="Arial"/>
                <a:sym typeface="Arial"/>
              </a:rPr>
              <a:t>Factors affecting Throughput</a:t>
            </a:r>
            <a:endParaRPr/>
          </a:p>
        </p:txBody>
      </p:sp>
      <p:sp>
        <p:nvSpPr>
          <p:cNvPr id="226" name="Google Shape;226;p24"/>
          <p:cNvSpPr/>
          <p:nvPr/>
        </p:nvSpPr>
        <p:spPr>
          <a:xfrm>
            <a:off x="914400" y="2359152"/>
            <a:ext cx="9070848" cy="3970318"/>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Network Congestion</a:t>
            </a:r>
            <a:endParaRPr b="0" i="0" sz="2800" u="none" cap="none" strike="noStrike">
              <a:solidFill>
                <a:srgbClr val="273239"/>
              </a:solidFill>
              <a:latin typeface="Nunito"/>
              <a:ea typeface="Nunito"/>
              <a:cs typeface="Nunito"/>
              <a:sym typeface="Nunito"/>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Bandwidth Limitations</a:t>
            </a:r>
            <a:endParaRPr/>
          </a:p>
          <a:p>
            <a:pPr indent="0" lvl="0" marL="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Hardware Performance</a:t>
            </a:r>
            <a:endParaRPr b="0" i="0" sz="2800" u="none" cap="none" strike="noStrike">
              <a:solidFill>
                <a:srgbClr val="273239"/>
              </a:solidFill>
              <a:latin typeface="Nunito"/>
              <a:ea typeface="Nunito"/>
              <a:cs typeface="Nunito"/>
              <a:sym typeface="Nunito"/>
            </a:endParaRPr>
          </a:p>
          <a:p>
            <a:pPr indent="0" lvl="0" marL="0" marR="0" rtl="0" algn="just">
              <a:lnSpc>
                <a:spcPct val="100000"/>
              </a:lnSpc>
              <a:spcBef>
                <a:spcPts val="0"/>
              </a:spcBef>
              <a:spcAft>
                <a:spcPts val="0"/>
              </a:spcAft>
              <a:buNone/>
            </a:pPr>
            <a:r>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Software Efficiency</a:t>
            </a:r>
            <a:endParaRPr/>
          </a:p>
          <a:p>
            <a:pPr indent="0" lvl="0" marL="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 </a:t>
            </a:r>
            <a:endParaRPr b="0"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273239"/>
                </a:solidFill>
                <a:latin typeface="Nunito"/>
                <a:ea typeface="Nunito"/>
                <a:cs typeface="Nunito"/>
                <a:sym typeface="Nunito"/>
              </a:rPr>
              <a:t>Latency</a:t>
            </a:r>
            <a:endParaRPr b="0" i="0" sz="2800" u="none" cap="none" strike="noStrike">
              <a:solidFill>
                <a:srgbClr val="273239"/>
              </a:solidFill>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3" name="Google Shape;233;p25"/>
          <p:cNvSpPr/>
          <p:nvPr/>
        </p:nvSpPr>
        <p:spPr>
          <a:xfrm>
            <a:off x="1078992" y="402336"/>
            <a:ext cx="773582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273239"/>
                </a:solidFill>
                <a:latin typeface="Nunito"/>
                <a:ea typeface="Nunito"/>
                <a:cs typeface="Nunito"/>
                <a:sym typeface="Nunito"/>
              </a:rPr>
              <a:t>Methods to improve Throughput</a:t>
            </a:r>
            <a:endParaRPr/>
          </a:p>
        </p:txBody>
      </p:sp>
      <p:sp>
        <p:nvSpPr>
          <p:cNvPr id="234" name="Google Shape;234;p25"/>
          <p:cNvSpPr/>
          <p:nvPr/>
        </p:nvSpPr>
        <p:spPr>
          <a:xfrm>
            <a:off x="237744" y="1444752"/>
            <a:ext cx="13551408" cy="4832092"/>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AutoNum type="arabicPeriod"/>
            </a:pPr>
            <a:r>
              <a:rPr b="1" i="0" lang="en-US" sz="2800" u="none" cap="none" strike="noStrike">
                <a:solidFill>
                  <a:srgbClr val="273239"/>
                </a:solidFill>
                <a:latin typeface="Nunito"/>
                <a:ea typeface="Nunito"/>
                <a:cs typeface="Nunito"/>
                <a:sym typeface="Nunito"/>
              </a:rPr>
              <a:t>Network Optimization:</a:t>
            </a:r>
            <a:endParaRPr b="0" i="0" sz="2800" u="none" cap="none" strike="noStrike">
              <a:solidFill>
                <a:srgbClr val="273239"/>
              </a:solidFill>
              <a:latin typeface="Nunito"/>
              <a:ea typeface="Nunito"/>
              <a:cs typeface="Nunito"/>
              <a:sym typeface="Nunito"/>
            </a:endParaRPr>
          </a:p>
          <a:p>
            <a:pPr indent="-285750" lvl="1" marL="742950"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273239"/>
                </a:solidFill>
                <a:latin typeface="Nunito"/>
                <a:ea typeface="Nunito"/>
                <a:cs typeface="Nunito"/>
                <a:sym typeface="Nunito"/>
              </a:rPr>
              <a:t>Utilize efficient network protocols to minimize overhead.</a:t>
            </a:r>
            <a:endParaRPr/>
          </a:p>
          <a:p>
            <a:pPr indent="-285750" lvl="1" marL="742950"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273239"/>
                </a:solidFill>
                <a:latin typeface="Nunito"/>
                <a:ea typeface="Nunito"/>
                <a:cs typeface="Nunito"/>
                <a:sym typeface="Nunito"/>
              </a:rPr>
              <a:t>Optimize routing algorithms to reduce latency and packet loss.</a:t>
            </a:r>
            <a:endParaRPr/>
          </a:p>
          <a:p>
            <a:pPr indent="0" lvl="0" marL="0" marR="0" rtl="0" algn="just">
              <a:lnSpc>
                <a:spcPct val="100000"/>
              </a:lnSpc>
              <a:spcBef>
                <a:spcPts val="0"/>
              </a:spcBef>
              <a:spcAft>
                <a:spcPts val="0"/>
              </a:spcAft>
              <a:buNone/>
            </a:pPr>
            <a:r>
              <a:rPr b="1" i="0" lang="en-US" sz="2800" u="none" cap="none" strike="noStrike">
                <a:solidFill>
                  <a:srgbClr val="357960"/>
                </a:solidFill>
                <a:latin typeface="Nunito"/>
                <a:ea typeface="Nunito"/>
                <a:cs typeface="Nunito"/>
                <a:sym typeface="Nunito"/>
              </a:rPr>
              <a:t>2</a:t>
            </a:r>
            <a:r>
              <a:rPr b="1" i="0" lang="en-US" sz="2800" u="none" cap="none" strike="noStrike">
                <a:solidFill>
                  <a:srgbClr val="273239"/>
                </a:solidFill>
                <a:latin typeface="Nunito"/>
                <a:ea typeface="Nunito"/>
                <a:cs typeface="Nunito"/>
                <a:sym typeface="Nunito"/>
              </a:rPr>
              <a:t>: Load Balancing:</a:t>
            </a:r>
            <a:endParaRPr b="0" i="0" sz="2800" u="none" cap="none" strike="noStrike">
              <a:solidFill>
                <a:srgbClr val="273239"/>
              </a:solidFill>
              <a:latin typeface="Nunito"/>
              <a:ea typeface="Nunito"/>
              <a:cs typeface="Nunito"/>
              <a:sym typeface="Nunito"/>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1. Distribute network traffic evenly across multiple servers or paths.</a:t>
            </a:r>
            <a:endParaRPr/>
          </a:p>
          <a:p>
            <a:pPr indent="-285750" lvl="1" marL="742950" marR="0" rtl="0" algn="just">
              <a:lnSpc>
                <a:spcPct val="100000"/>
              </a:lnSpc>
              <a:spcBef>
                <a:spcPts val="0"/>
              </a:spcBef>
              <a:spcAft>
                <a:spcPts val="0"/>
              </a:spcAft>
              <a:buClr>
                <a:srgbClr val="000000"/>
              </a:buClr>
              <a:buSzPts val="2800"/>
              <a:buFont typeface="Arial"/>
              <a:buAutoNum type="arabicPeriod" startAt="2"/>
            </a:pPr>
            <a:r>
              <a:rPr b="0" i="0" lang="en-US" sz="2800" u="none" cap="none" strike="noStrike">
                <a:solidFill>
                  <a:srgbClr val="273239"/>
                </a:solidFill>
                <a:latin typeface="Nunito"/>
                <a:ea typeface="Nunito"/>
                <a:cs typeface="Nunito"/>
                <a:sym typeface="Nunito"/>
              </a:rPr>
              <a:t>Prevents resource overutilization on specific nodes, improving overall throughput.</a:t>
            </a:r>
            <a:endParaRPr/>
          </a:p>
          <a:p>
            <a:pPr indent="0" lvl="0" marL="457200" marR="0" rtl="0" algn="just">
              <a:lnSpc>
                <a:spcPct val="100000"/>
              </a:lnSpc>
              <a:spcBef>
                <a:spcPts val="0"/>
              </a:spcBef>
              <a:spcAft>
                <a:spcPts val="0"/>
              </a:spcAft>
              <a:buNone/>
            </a:pPr>
            <a:r>
              <a:rPr b="1" lang="en-US" sz="2800">
                <a:solidFill>
                  <a:srgbClr val="273239"/>
                </a:solidFill>
                <a:latin typeface="Nunito"/>
                <a:ea typeface="Nunito"/>
                <a:cs typeface="Nunito"/>
                <a:sym typeface="Nunito"/>
              </a:rPr>
              <a:t>3. </a:t>
            </a:r>
            <a:r>
              <a:rPr b="1" i="0" lang="en-US" sz="2800" u="none" cap="none" strike="noStrike">
                <a:solidFill>
                  <a:srgbClr val="273239"/>
                </a:solidFill>
                <a:latin typeface="Nunito"/>
                <a:ea typeface="Nunito"/>
                <a:cs typeface="Nunito"/>
                <a:sym typeface="Nunito"/>
              </a:rPr>
              <a:t>Hardware Upgrades:</a:t>
            </a:r>
            <a:endParaRPr b="0" i="0" sz="2800" u="none" cap="none" strike="noStrike">
              <a:solidFill>
                <a:srgbClr val="273239"/>
              </a:solidFill>
              <a:latin typeface="Nunito"/>
              <a:ea typeface="Nunito"/>
              <a:cs typeface="Nunito"/>
              <a:sym typeface="Nunito"/>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1. Upgrade network devices, such as routers, switches, and NICs, to higher-performing models.</a:t>
            </a:r>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2. Ensure that servers and storage devices meet the demands of the workload.</a:t>
            </a:r>
            <a:endParaRPr b="0" i="0" sz="2800" u="none" cap="none" strike="noStrike">
              <a:solidFill>
                <a:srgbClr val="273239"/>
              </a:solidFill>
              <a:latin typeface="Nunito"/>
              <a:ea typeface="Nunito"/>
              <a:cs typeface="Nunito"/>
              <a:sym typeface="Nuni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0" name="Google Shape;240;p26"/>
          <p:cNvSpPr/>
          <p:nvPr/>
        </p:nvSpPr>
        <p:spPr>
          <a:xfrm>
            <a:off x="731520" y="1267867"/>
            <a:ext cx="12362688" cy="5693866"/>
          </a:xfrm>
          <a:prstGeom prst="rect">
            <a:avLst/>
          </a:prstGeom>
          <a:noFill/>
          <a:ln>
            <a:noFill/>
          </a:ln>
        </p:spPr>
        <p:txBody>
          <a:bodyPr anchorCtr="0" anchor="t" bIns="45700" lIns="91425" spcFirstLastPara="1" rIns="91425" wrap="square" tIns="45700">
            <a:spAutoFit/>
          </a:bodyPr>
          <a:lstStyle/>
          <a:p>
            <a:pPr indent="-177800" lvl="0" marL="0" marR="0" rtl="0" algn="just">
              <a:lnSpc>
                <a:spcPct val="100000"/>
              </a:lnSpc>
              <a:spcBef>
                <a:spcPts val="0"/>
              </a:spcBef>
              <a:spcAft>
                <a:spcPts val="0"/>
              </a:spcAft>
              <a:buClr>
                <a:srgbClr val="000000"/>
              </a:buClr>
              <a:buSzPts val="2800"/>
              <a:buFont typeface="Arial"/>
              <a:buAutoNum type="arabicPeriod" startAt="4"/>
            </a:pPr>
            <a:r>
              <a:rPr b="1" i="0" lang="en-US" sz="2800" u="none" cap="none" strike="noStrike">
                <a:solidFill>
                  <a:srgbClr val="273239"/>
                </a:solidFill>
                <a:latin typeface="Nunito"/>
                <a:ea typeface="Nunito"/>
                <a:cs typeface="Nunito"/>
                <a:sym typeface="Nunito"/>
              </a:rPr>
              <a:t>Software Optimization:</a:t>
            </a:r>
            <a:endParaRPr b="0" i="0" sz="2800" u="none" cap="none" strike="noStrike">
              <a:solidFill>
                <a:srgbClr val="273239"/>
              </a:solidFill>
              <a:latin typeface="Nunito"/>
              <a:ea typeface="Nunito"/>
              <a:cs typeface="Nunito"/>
              <a:sym typeface="Nunito"/>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1. Optimize algorithms and code to reduce processing time.</a:t>
            </a:r>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2. Minimize unnecessary computations and improve code efficiency.</a:t>
            </a:r>
            <a:endParaRPr/>
          </a:p>
          <a:p>
            <a:pPr indent="0" lvl="0" marL="0" marR="0" rtl="0" algn="just">
              <a:lnSpc>
                <a:spcPct val="100000"/>
              </a:lnSpc>
              <a:spcBef>
                <a:spcPts val="0"/>
              </a:spcBef>
              <a:spcAft>
                <a:spcPts val="0"/>
              </a:spcAft>
              <a:buClr>
                <a:srgbClr val="000000"/>
              </a:buClr>
              <a:buSzPts val="2800"/>
              <a:buFont typeface="Arial"/>
              <a:buNone/>
            </a:pPr>
            <a:r>
              <a:t/>
            </a:r>
            <a:endParaRPr b="1" i="0" sz="2800" u="none" cap="none" strike="noStrike">
              <a:solidFill>
                <a:srgbClr val="273239"/>
              </a:solidFill>
              <a:latin typeface="Nunito"/>
              <a:ea typeface="Nunito"/>
              <a:cs typeface="Nunito"/>
              <a:sym typeface="Nunito"/>
            </a:endParaRPr>
          </a:p>
          <a:p>
            <a:pPr indent="-177800" lvl="0" marL="0" marR="0" rtl="0" algn="just">
              <a:lnSpc>
                <a:spcPct val="100000"/>
              </a:lnSpc>
              <a:spcBef>
                <a:spcPts val="0"/>
              </a:spcBef>
              <a:spcAft>
                <a:spcPts val="0"/>
              </a:spcAft>
              <a:buClr>
                <a:srgbClr val="000000"/>
              </a:buClr>
              <a:buSzPts val="2800"/>
              <a:buFont typeface="Arial"/>
              <a:buAutoNum type="arabicPeriod" startAt="4"/>
            </a:pPr>
            <a:r>
              <a:rPr b="1" i="0" lang="en-US" sz="2800" u="none" cap="none" strike="noStrike">
                <a:solidFill>
                  <a:srgbClr val="273239"/>
                </a:solidFill>
                <a:latin typeface="Nunito"/>
                <a:ea typeface="Nunito"/>
                <a:cs typeface="Nunito"/>
                <a:sym typeface="Nunito"/>
              </a:rPr>
              <a:t>Compression Techniques:</a:t>
            </a:r>
            <a:endParaRPr b="0" i="0" sz="2800" u="none" cap="none" strike="noStrike">
              <a:solidFill>
                <a:srgbClr val="273239"/>
              </a:solidFill>
              <a:latin typeface="Nunito"/>
              <a:ea typeface="Nunito"/>
              <a:cs typeface="Nunito"/>
              <a:sym typeface="Nunito"/>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1. Use data compression to reduce the amount of data transmitted over the network.</a:t>
            </a:r>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2. Decreases the time required for data transfer, improving throughput.</a:t>
            </a:r>
            <a:endParaRPr/>
          </a:p>
          <a:p>
            <a:pPr indent="-177800" lvl="0" marL="0" marR="0" rtl="0" algn="just">
              <a:lnSpc>
                <a:spcPct val="100000"/>
              </a:lnSpc>
              <a:spcBef>
                <a:spcPts val="0"/>
              </a:spcBef>
              <a:spcAft>
                <a:spcPts val="0"/>
              </a:spcAft>
              <a:buClr>
                <a:srgbClr val="000000"/>
              </a:buClr>
              <a:buSzPts val="2800"/>
              <a:buFont typeface="Arial"/>
              <a:buAutoNum type="arabicPeriod" startAt="4"/>
            </a:pPr>
            <a:r>
              <a:rPr b="1" i="0" lang="en-US" sz="2800" u="none" cap="none" strike="noStrike">
                <a:solidFill>
                  <a:srgbClr val="273239"/>
                </a:solidFill>
                <a:latin typeface="Nunito"/>
                <a:ea typeface="Nunito"/>
                <a:cs typeface="Nunito"/>
                <a:sym typeface="Nunito"/>
              </a:rPr>
              <a:t>Caching Strategies:</a:t>
            </a:r>
            <a:endParaRPr b="0" i="0" sz="2800" u="none" cap="none" strike="noStrike">
              <a:solidFill>
                <a:srgbClr val="273239"/>
              </a:solidFill>
              <a:latin typeface="Nunito"/>
              <a:ea typeface="Nunito"/>
              <a:cs typeface="Nunito"/>
              <a:sym typeface="Nunito"/>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1. Implement caching mechanisms to store and retrieve frequently used data locally.</a:t>
            </a:r>
            <a:endParaRPr/>
          </a:p>
          <a:p>
            <a:pPr indent="0" lvl="1" marL="457200" marR="0" rtl="0" algn="just">
              <a:lnSpc>
                <a:spcPct val="100000"/>
              </a:lnSpc>
              <a:spcBef>
                <a:spcPts val="0"/>
              </a:spcBef>
              <a:spcAft>
                <a:spcPts val="0"/>
              </a:spcAft>
              <a:buNone/>
            </a:pPr>
            <a:r>
              <a:rPr b="0" i="0" lang="en-US" sz="2800" u="none" cap="none" strike="noStrike">
                <a:solidFill>
                  <a:srgbClr val="273239"/>
                </a:solidFill>
                <a:latin typeface="Nunito"/>
                <a:ea typeface="Nunito"/>
                <a:cs typeface="Nunito"/>
                <a:sym typeface="Nunito"/>
              </a:rPr>
              <a:t>2. Reduces the need to fetch data from slower external sources, improving response times and throughput</a:t>
            </a:r>
            <a:r>
              <a:rPr b="0" i="0" lang="en-US" sz="1400" u="none" cap="none" strike="noStrike">
                <a:solidFill>
                  <a:srgbClr val="273239"/>
                </a:solidFill>
                <a:latin typeface="Nunito"/>
                <a:ea typeface="Nunito"/>
                <a:cs typeface="Nunito"/>
                <a:sym typeface="Nunito"/>
              </a:rPr>
              <a:t>.</a:t>
            </a:r>
            <a:endParaRPr b="0" i="0" sz="1400" u="none" cap="none" strike="noStrike">
              <a:solidFill>
                <a:srgbClr val="273239"/>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6" name="Google Shape;246;p20"/>
          <p:cNvSpPr txBox="1"/>
          <p:nvPr/>
        </p:nvSpPr>
        <p:spPr>
          <a:xfrm>
            <a:off x="981550" y="1696582"/>
            <a:ext cx="12734449" cy="612475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Throughput</a:t>
            </a:r>
            <a:r>
              <a:rPr b="0" i="0" lang="en-US" sz="2800" u="none" cap="none" strike="noStrike">
                <a:solidFill>
                  <a:srgbClr val="000000"/>
                </a:solidFill>
                <a:latin typeface="Arial"/>
                <a:ea typeface="Arial"/>
                <a:cs typeface="Arial"/>
                <a:sym typeface="Arial"/>
              </a:rPr>
              <a:t> refers to the amount of data processed by the system in a given amount of time.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Think of it as the speed at which work is done.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For example, if a system can handle 1,000 requests per second, its throughput is 1,000 requests/second.</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Latency</a:t>
            </a:r>
            <a:r>
              <a:rPr b="0" i="0" lang="en-US" sz="2800" u="none" cap="none" strike="noStrike">
                <a:solidFill>
                  <a:srgbClr val="000000"/>
                </a:solidFill>
                <a:latin typeface="Arial"/>
                <a:ea typeface="Arial"/>
                <a:cs typeface="Arial"/>
                <a:sym typeface="Arial"/>
              </a:rPr>
              <a:t> is the time it takes for a request to travel from the client to the server and back. It’s like the delay you experience before you see the results of your action.</a:t>
            </a:r>
            <a:endParaRPr/>
          </a:p>
          <a:p>
            <a:pPr indent="-457200" lvl="0" marL="457200" marR="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 For instance, if you click a button on a website and it takes 2 seconds for the page to load, that’s the latency.</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247" name="Google Shape;247;p20"/>
          <p:cNvSpPr txBox="1"/>
          <p:nvPr/>
        </p:nvSpPr>
        <p:spPr>
          <a:xfrm>
            <a:off x="194554" y="389106"/>
            <a:ext cx="925829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Throughput and Latency: How They Work Together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3" name="Google Shape;253;p27"/>
          <p:cNvSpPr/>
          <p:nvPr/>
        </p:nvSpPr>
        <p:spPr>
          <a:xfrm>
            <a:off x="219456" y="321600"/>
            <a:ext cx="941832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273239"/>
                </a:solidFill>
                <a:latin typeface="Nunito"/>
                <a:ea typeface="Nunito"/>
                <a:cs typeface="Nunito"/>
                <a:sym typeface="Nunito"/>
              </a:rPr>
              <a:t>Differences between Throughput and Latency (Throughput vs. Latency)</a:t>
            </a:r>
            <a:endParaRPr/>
          </a:p>
        </p:txBody>
      </p:sp>
      <p:pic>
        <p:nvPicPr>
          <p:cNvPr id="254" name="Google Shape;254;p27"/>
          <p:cNvPicPr preferRelativeResize="0"/>
          <p:nvPr/>
        </p:nvPicPr>
        <p:blipFill rotWithShape="1">
          <a:blip r:embed="rId3">
            <a:alphaModFix/>
          </a:blip>
          <a:srcRect b="0" l="0" r="0" t="0"/>
          <a:stretch/>
        </p:blipFill>
        <p:spPr>
          <a:xfrm>
            <a:off x="804672" y="2296064"/>
            <a:ext cx="12124944" cy="50739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60" name="Google Shape;260;p28"/>
          <p:cNvPicPr preferRelativeResize="0"/>
          <p:nvPr/>
        </p:nvPicPr>
        <p:blipFill rotWithShape="1">
          <a:blip r:embed="rId3">
            <a:alphaModFix/>
          </a:blip>
          <a:srcRect b="0" l="0" r="0" t="0"/>
          <a:stretch/>
        </p:blipFill>
        <p:spPr>
          <a:xfrm>
            <a:off x="71260" y="1298448"/>
            <a:ext cx="13699604" cy="63093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66" name="Google Shape;266;p29"/>
          <p:cNvPicPr preferRelativeResize="0"/>
          <p:nvPr/>
        </p:nvPicPr>
        <p:blipFill rotWithShape="1">
          <a:blip r:embed="rId3">
            <a:alphaModFix/>
          </a:blip>
          <a:srcRect b="0" l="0" r="0" t="0"/>
          <a:stretch/>
        </p:blipFill>
        <p:spPr>
          <a:xfrm>
            <a:off x="621792" y="1517904"/>
            <a:ext cx="13258800" cy="5980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