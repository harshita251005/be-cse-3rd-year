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38" roundtripDataSignature="AMtx7mgRqWEm/53mf3oE7GT7u87HV9j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 name="Google Shape;4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50" name="Google Shape;50;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 name="Google Shape;61;p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p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 name="Google Shape;75;p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 name="Google Shape;82;p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9" name="Google Shape;89;p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6" name="Google Shape;96;p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 name="Google Shape;103;p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 name="Google Shape;110;p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 name="Google Shape;117;p1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1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33" name="Google Shape;13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p1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p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 name="Google Shape;154;p1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 name="Google Shape;161;p1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8" name="Google Shape;168;p1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p1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2" name="Google Shape;182;p1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p2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p2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3" name="Google Shape;203;p2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0" name="Google Shape;210;p2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8" name="Google Shape;218;p2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 name="Google Shape;225;p2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2" name="Google Shape;232;p2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9" name="Google Shape;239;p2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7" name="Google Shape;247;p2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4" name="Google Shape;254;p2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1" name="Google Shape;261;p3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9" name="Google Shape;269;p3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6" name="Google Shape;276;p3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34"/>
          <p:cNvPicPr preferRelativeResize="0"/>
          <p:nvPr/>
        </p:nvPicPr>
        <p:blipFill rotWithShape="1">
          <a:blip r:embed="rId2">
            <a:alphaModFix/>
          </a:blip>
          <a:srcRect b="10713" l="0" r="0" t="0"/>
          <a:stretch/>
        </p:blipFill>
        <p:spPr>
          <a:xfrm>
            <a:off x="10270103" y="274375"/>
            <a:ext cx="3224332" cy="762147"/>
          </a:xfrm>
          <a:prstGeom prst="rect">
            <a:avLst/>
          </a:prstGeom>
          <a:noFill/>
          <a:ln>
            <a:noFill/>
          </a:ln>
        </p:spPr>
      </p:pic>
      <p:grpSp>
        <p:nvGrpSpPr>
          <p:cNvPr id="26" name="Google Shape;26;p34"/>
          <p:cNvGrpSpPr/>
          <p:nvPr/>
        </p:nvGrpSpPr>
        <p:grpSpPr>
          <a:xfrm>
            <a:off x="9633189" y="2"/>
            <a:ext cx="4697174" cy="1051763"/>
            <a:chOff x="6096000" y="3924300"/>
            <a:chExt cx="2997200" cy="876300"/>
          </a:xfrm>
        </p:grpSpPr>
        <p:sp>
          <p:nvSpPr>
            <p:cNvPr id="27" name="Google Shape;27;p34"/>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8" name="Google Shape;28;p34"/>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34"/>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0" name="Google Shape;30;p34"/>
          <p:cNvPicPr preferRelativeResize="0"/>
          <p:nvPr/>
        </p:nvPicPr>
        <p:blipFill rotWithShape="1">
          <a:blip r:embed="rId3">
            <a:alphaModFix/>
          </a:blip>
          <a:srcRect b="0" l="0" r="0" t="0"/>
          <a:stretch/>
        </p:blipFill>
        <p:spPr>
          <a:xfrm>
            <a:off x="10270101" y="274378"/>
            <a:ext cx="3010371" cy="731662"/>
          </a:xfrm>
          <a:prstGeom prst="rect">
            <a:avLst/>
          </a:prstGeom>
          <a:noFill/>
          <a:ln>
            <a:noFill/>
          </a:ln>
        </p:spPr>
      </p:pic>
      <p:sp>
        <p:nvSpPr>
          <p:cNvPr id="31" name="Google Shape;31;p3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34"/>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34"/>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4"/>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35"/>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5"/>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36"/>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36"/>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3" name="Google Shape;43;p36"/>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6"/>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33"/>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3"/>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3"/>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33"/>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33"/>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33"/>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33"/>
          <p:cNvGrpSpPr/>
          <p:nvPr/>
        </p:nvGrpSpPr>
        <p:grpSpPr>
          <a:xfrm>
            <a:off x="9633189" y="2"/>
            <a:ext cx="4697174" cy="1051763"/>
            <a:chOff x="6096000" y="3924300"/>
            <a:chExt cx="2997200" cy="876300"/>
          </a:xfrm>
        </p:grpSpPr>
        <p:sp>
          <p:nvSpPr>
            <p:cNvPr id="20" name="Google Shape;20;p33"/>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33"/>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33"/>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33"/>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nvSpPr>
        <p:spPr>
          <a:xfrm>
            <a:off x="3134773" y="7036631"/>
            <a:ext cx="815039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Chitkara University Institute of Engineering and Technology,</a:t>
            </a:r>
            <a:br>
              <a:rPr b="0" i="0" lang="en-US" sz="1800" u="none" cap="none" strike="noStrike">
                <a:solidFill>
                  <a:schemeClr val="dk1"/>
                </a:solidFill>
                <a:latin typeface="Times New Roman"/>
                <a:ea typeface="Times New Roman"/>
                <a:cs typeface="Times New Roman"/>
                <a:sym typeface="Times New Roman"/>
              </a:rPr>
            </a:br>
            <a:r>
              <a:rPr b="1" i="0" lang="en-US" sz="1800" u="none" cap="none" strike="noStrike">
                <a:solidFill>
                  <a:schemeClr val="dk1"/>
                </a:solidFill>
                <a:latin typeface="Times New Roman"/>
                <a:ea typeface="Times New Roman"/>
                <a:cs typeface="Times New Roman"/>
                <a:sym typeface="Times New Roman"/>
              </a:rPr>
              <a:t>Chitkara University, Punjab, India</a:t>
            </a:r>
            <a:endParaRPr b="0" i="0" sz="1800" u="none" cap="none" strike="noStrike">
              <a:solidFill>
                <a:schemeClr val="dk1"/>
              </a:solidFill>
              <a:latin typeface="Times New Roman"/>
              <a:ea typeface="Times New Roman"/>
              <a:cs typeface="Times New Roman"/>
              <a:sym typeface="Times New Roman"/>
            </a:endParaRPr>
          </a:p>
        </p:txBody>
      </p:sp>
      <p:sp>
        <p:nvSpPr>
          <p:cNvPr id="53" name="Google Shape;53;p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54" name="Google Shape;54;p1"/>
          <p:cNvSpPr/>
          <p:nvPr/>
        </p:nvSpPr>
        <p:spPr>
          <a:xfrm>
            <a:off x="3250138" y="6477399"/>
            <a:ext cx="7830086" cy="5592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1247574" y="2518121"/>
            <a:ext cx="11293348" cy="9233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4000" u="none" cap="none" strike="noStrike">
                <a:solidFill>
                  <a:schemeClr val="dk1"/>
                </a:solidFill>
                <a:latin typeface="Calibri"/>
                <a:ea typeface="Calibri"/>
                <a:cs typeface="Calibri"/>
                <a:sym typeface="Calibri"/>
              </a:rPr>
              <a:t>Database Design Lifecycle</a:t>
            </a:r>
            <a:endParaRPr b="0" i="0" sz="4000" u="none" cap="none" strike="noStrike">
              <a:solidFill>
                <a:schemeClr val="dk1"/>
              </a:solidFill>
              <a:latin typeface="Times New Roman"/>
              <a:ea typeface="Times New Roman"/>
              <a:cs typeface="Times New Roman"/>
              <a:sym typeface="Times New Roman"/>
            </a:endParaRPr>
          </a:p>
        </p:txBody>
      </p:sp>
      <p:sp>
        <p:nvSpPr>
          <p:cNvPr id="56" name="Google Shape;56;p1"/>
          <p:cNvSpPr/>
          <p:nvPr/>
        </p:nvSpPr>
        <p:spPr>
          <a:xfrm>
            <a:off x="3407569" y="4943289"/>
            <a:ext cx="85344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Bachelor of Engineering- Computer Science &amp; Engineering </a:t>
            </a:r>
            <a:endParaRPr b="0" i="0" sz="2400" u="none" cap="none" strike="noStrike">
              <a:solidFill>
                <a:schemeClr val="dk1"/>
              </a:solidFill>
              <a:latin typeface="Times New Roman"/>
              <a:ea typeface="Times New Roman"/>
              <a:cs typeface="Times New Roman"/>
              <a:sym typeface="Times New Roman"/>
            </a:endParaRPr>
          </a:p>
        </p:txBody>
      </p:sp>
      <p:sp>
        <p:nvSpPr>
          <p:cNvPr id="57" name="Google Shape;57;p1"/>
          <p:cNvSpPr/>
          <p:nvPr/>
        </p:nvSpPr>
        <p:spPr>
          <a:xfrm>
            <a:off x="5663488" y="4420438"/>
            <a:ext cx="3531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System Design(SD)(22CS024)</a:t>
            </a:r>
            <a:endParaRPr b="1" i="0" sz="2400" u="none" cap="none" strike="noStrike">
              <a:solidFill>
                <a:schemeClr val="dk1"/>
              </a:solidFill>
              <a:latin typeface="Times New Roman"/>
              <a:ea typeface="Times New Roman"/>
              <a:cs typeface="Times New Roman"/>
              <a:sym typeface="Times New Roman"/>
            </a:endParaRPr>
          </a:p>
        </p:txBody>
      </p:sp>
      <p:sp>
        <p:nvSpPr>
          <p:cNvPr id="58" name="Google Shape;58;p1"/>
          <p:cNvSpPr/>
          <p:nvPr/>
        </p:nvSpPr>
        <p:spPr>
          <a:xfrm>
            <a:off x="5031581" y="5631350"/>
            <a:ext cx="4795414"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Database Design in DBMS</a:t>
            </a:r>
            <a:br>
              <a:rPr b="1" lang="en-US"/>
            </a:br>
            <a:endParaRPr/>
          </a:p>
        </p:txBody>
      </p:sp>
      <p:sp>
        <p:nvSpPr>
          <p:cNvPr id="64" name="Google Shape;64;p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lang="en-US"/>
              <a:t>A properly structured database guarantees efficiency, data accuracy, and usability. From understanding data storage to the principles that define data relationships, these concepts are essential for anyone involved in designing, managing, or optimizing databases.</a:t>
            </a:r>
            <a:endParaRPr/>
          </a:p>
          <a:p>
            <a:pPr indent="0" lvl="0" marL="114300" rtl="0" algn="just">
              <a:lnSpc>
                <a:spcPct val="100000"/>
              </a:lnSpc>
              <a:spcBef>
                <a:spcPts val="360"/>
              </a:spcBef>
              <a:spcAft>
                <a:spcPts val="0"/>
              </a:spcAft>
              <a:buSzPts val="1800"/>
              <a:buNone/>
            </a:pPr>
            <a:r>
              <a:rPr b="1" lang="en-US"/>
              <a:t>What is database design?</a:t>
            </a:r>
            <a:endParaRPr/>
          </a:p>
          <a:p>
            <a:pPr indent="0" lvl="0" marL="114300" rtl="0" algn="just">
              <a:lnSpc>
                <a:spcPct val="100000"/>
              </a:lnSpc>
              <a:spcBef>
                <a:spcPts val="360"/>
              </a:spcBef>
              <a:spcAft>
                <a:spcPts val="0"/>
              </a:spcAft>
              <a:buSzPts val="1800"/>
              <a:buNone/>
            </a:pPr>
            <a:r>
              <a:rPr lang="en-US"/>
              <a:t>Database Design can be defined as a set of procedures or collection of tasks involving various steps taken to implement a database. A good database design is important. It helps you get the right information when you need it.</a:t>
            </a:r>
            <a:endParaRPr/>
          </a:p>
          <a:p>
            <a:pPr indent="0" lvl="0" marL="114300" rtl="0" algn="l">
              <a:lnSpc>
                <a:spcPct val="100000"/>
              </a:lnSpc>
              <a:spcBef>
                <a:spcPts val="360"/>
              </a:spcBef>
              <a:spcAft>
                <a:spcPts val="0"/>
              </a:spcAft>
              <a:buSzPts val="1800"/>
              <a:buNone/>
            </a:pPr>
            <a:r>
              <a:t/>
            </a:r>
            <a:endParaRPr/>
          </a:p>
        </p:txBody>
      </p:sp>
      <p:sp>
        <p:nvSpPr>
          <p:cNvPr id="65" name="Google Shape;65;p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71" name="Google Shape;71;p3"/>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lang="en-US" sz="2800"/>
              <a:t>Following are some critical points to keep in mind to achieve a good database design:</a:t>
            </a:r>
            <a:endParaRPr/>
          </a:p>
          <a:p>
            <a:pPr indent="-342900" lvl="0" marL="457200" rtl="0" algn="just">
              <a:lnSpc>
                <a:spcPct val="100000"/>
              </a:lnSpc>
              <a:spcBef>
                <a:spcPts val="360"/>
              </a:spcBef>
              <a:spcAft>
                <a:spcPts val="0"/>
              </a:spcAft>
              <a:buSzPts val="1800"/>
              <a:buFont typeface="Noto Sans Symbols"/>
              <a:buChar char="❖"/>
            </a:pPr>
            <a:r>
              <a:rPr lang="en-US" sz="2800"/>
              <a:t>Data consistency and integrity must be maintained.</a:t>
            </a:r>
            <a:endParaRPr/>
          </a:p>
          <a:p>
            <a:pPr indent="-342900" lvl="0" marL="457200" rtl="0" algn="just">
              <a:lnSpc>
                <a:spcPct val="100000"/>
              </a:lnSpc>
              <a:spcBef>
                <a:spcPts val="360"/>
              </a:spcBef>
              <a:spcAft>
                <a:spcPts val="0"/>
              </a:spcAft>
              <a:buSzPts val="1800"/>
              <a:buFont typeface="Noto Sans Symbols"/>
              <a:buChar char="❖"/>
            </a:pPr>
            <a:r>
              <a:rPr lang="en-US" sz="2800"/>
              <a:t>Low Redundancy</a:t>
            </a:r>
            <a:endParaRPr/>
          </a:p>
          <a:p>
            <a:pPr indent="-342900" lvl="0" marL="457200" rtl="0" algn="just">
              <a:lnSpc>
                <a:spcPct val="100000"/>
              </a:lnSpc>
              <a:spcBef>
                <a:spcPts val="360"/>
              </a:spcBef>
              <a:spcAft>
                <a:spcPts val="0"/>
              </a:spcAft>
              <a:buSzPts val="1800"/>
              <a:buFont typeface="Noto Sans Symbols"/>
              <a:buChar char="❖"/>
            </a:pPr>
            <a:r>
              <a:rPr lang="en-US" sz="2800"/>
              <a:t>Faster searching through indices</a:t>
            </a:r>
            <a:endParaRPr/>
          </a:p>
          <a:p>
            <a:pPr indent="-342900" lvl="0" marL="457200" rtl="0" algn="just">
              <a:lnSpc>
                <a:spcPct val="100000"/>
              </a:lnSpc>
              <a:spcBef>
                <a:spcPts val="360"/>
              </a:spcBef>
              <a:spcAft>
                <a:spcPts val="0"/>
              </a:spcAft>
              <a:buSzPts val="1800"/>
              <a:buFont typeface="Noto Sans Symbols"/>
              <a:buChar char="❖"/>
            </a:pPr>
            <a:r>
              <a:rPr lang="en-US" sz="2800"/>
              <a:t>Security measures should be taken by enforcing various integrity constraints.</a:t>
            </a:r>
            <a:endParaRPr/>
          </a:p>
          <a:p>
            <a:pPr indent="-342900" lvl="0" marL="457200" rtl="0" algn="just">
              <a:lnSpc>
                <a:spcPct val="100000"/>
              </a:lnSpc>
              <a:spcBef>
                <a:spcPts val="360"/>
              </a:spcBef>
              <a:spcAft>
                <a:spcPts val="0"/>
              </a:spcAft>
              <a:buSzPts val="1800"/>
              <a:buFont typeface="Noto Sans Symbols"/>
              <a:buChar char="❖"/>
            </a:pPr>
            <a:r>
              <a:rPr lang="en-US" sz="2800"/>
              <a:t>Data should be stored in fragmented bits of information in the most atomic format possible. </a:t>
            </a:r>
            <a:endParaRPr/>
          </a:p>
          <a:p>
            <a:pPr indent="0" lvl="0" marL="114300" rtl="0" algn="just">
              <a:lnSpc>
                <a:spcPct val="100000"/>
              </a:lnSpc>
              <a:spcBef>
                <a:spcPts val="360"/>
              </a:spcBef>
              <a:spcAft>
                <a:spcPts val="0"/>
              </a:spcAft>
              <a:buSzPts val="1800"/>
              <a:buNone/>
            </a:pPr>
            <a:r>
              <a:rPr lang="en-US" sz="2800"/>
              <a:t>However, depending on specific requirements above criteria might change. But these are the most common things that ensure a good database design.</a:t>
            </a:r>
            <a:endParaRPr/>
          </a:p>
          <a:p>
            <a:pPr indent="0" lvl="0" marL="114300" rtl="0" algn="l">
              <a:lnSpc>
                <a:spcPct val="100000"/>
              </a:lnSpc>
              <a:spcBef>
                <a:spcPts val="360"/>
              </a:spcBef>
              <a:spcAft>
                <a:spcPts val="0"/>
              </a:spcAft>
              <a:buSzPts val="1800"/>
              <a:buNone/>
            </a:pPr>
            <a:r>
              <a:t/>
            </a:r>
            <a:endParaRPr/>
          </a:p>
        </p:txBody>
      </p:sp>
      <p:sp>
        <p:nvSpPr>
          <p:cNvPr id="72" name="Google Shape;72;p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STEPS TO ENSURE GOOD DATABASE DESIGN</a:t>
            </a:r>
            <a:endParaRPr/>
          </a:p>
        </p:txBody>
      </p:sp>
      <p:sp>
        <p:nvSpPr>
          <p:cNvPr id="78" name="Google Shape;78;p4"/>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Step 1:</a:t>
            </a:r>
            <a:r>
              <a:rPr lang="en-US"/>
              <a:t> Determine the goal of your database, and ensure clear communication with the stakeholders (if any). Understanding the purpose of a database will help in thinking of various use cases &amp; where the problem may arise &amp; how we can prevent it.</a:t>
            </a:r>
            <a:endParaRPr/>
          </a:p>
          <a:p>
            <a:pPr indent="0" lvl="0" marL="114300" rtl="0" algn="just">
              <a:lnSpc>
                <a:spcPct val="100000"/>
              </a:lnSpc>
              <a:spcBef>
                <a:spcPts val="360"/>
              </a:spcBef>
              <a:spcAft>
                <a:spcPts val="0"/>
              </a:spcAft>
              <a:buSzPts val="1800"/>
              <a:buNone/>
            </a:pPr>
            <a:r>
              <a:t/>
            </a:r>
            <a:endParaRPr/>
          </a:p>
          <a:p>
            <a:pPr indent="0" lvl="0" marL="114300" rtl="0" algn="just">
              <a:lnSpc>
                <a:spcPct val="100000"/>
              </a:lnSpc>
              <a:spcBef>
                <a:spcPts val="360"/>
              </a:spcBef>
              <a:spcAft>
                <a:spcPts val="0"/>
              </a:spcAft>
              <a:buSzPts val="1800"/>
              <a:buNone/>
            </a:pPr>
            <a:r>
              <a:rPr b="1" lang="en-US"/>
              <a:t>Step 2:</a:t>
            </a:r>
            <a:r>
              <a:rPr lang="en-US"/>
              <a:t> List down all the entities that will be present in the database &amp; what relationships exist among them.</a:t>
            </a:r>
            <a:endParaRPr/>
          </a:p>
          <a:p>
            <a:pPr indent="0" lvl="0" marL="114300" rtl="0" algn="just">
              <a:lnSpc>
                <a:spcPct val="100000"/>
              </a:lnSpc>
              <a:spcBef>
                <a:spcPts val="360"/>
              </a:spcBef>
              <a:spcAft>
                <a:spcPts val="0"/>
              </a:spcAft>
              <a:buSzPts val="1800"/>
              <a:buNone/>
            </a:pPr>
            <a:r>
              <a:t/>
            </a:r>
            <a:endParaRPr/>
          </a:p>
          <a:p>
            <a:pPr indent="0" lvl="0" marL="114300" rtl="0" algn="just">
              <a:lnSpc>
                <a:spcPct val="100000"/>
              </a:lnSpc>
              <a:spcBef>
                <a:spcPts val="360"/>
              </a:spcBef>
              <a:spcAft>
                <a:spcPts val="0"/>
              </a:spcAft>
              <a:buSzPts val="1800"/>
              <a:buNone/>
            </a:pPr>
            <a:r>
              <a:rPr b="1" lang="en-US"/>
              <a:t>Step 3:</a:t>
            </a:r>
            <a:r>
              <a:rPr lang="en-US"/>
              <a:t> Organize the information into different tables such that no or very little redundancy is there.</a:t>
            </a:r>
            <a:endParaRPr/>
          </a:p>
          <a:p>
            <a:pPr indent="0" lvl="0" marL="114300" rtl="0" algn="just">
              <a:lnSpc>
                <a:spcPct val="100000"/>
              </a:lnSpc>
              <a:spcBef>
                <a:spcPts val="360"/>
              </a:spcBef>
              <a:spcAft>
                <a:spcPts val="0"/>
              </a:spcAft>
              <a:buSzPts val="1800"/>
              <a:buNone/>
            </a:pPr>
            <a:r>
              <a:t/>
            </a:r>
            <a:endParaRPr/>
          </a:p>
        </p:txBody>
      </p:sp>
      <p:sp>
        <p:nvSpPr>
          <p:cNvPr id="79" name="Google Shape;79;p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85" name="Google Shape;85;p5"/>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Step 4:</a:t>
            </a:r>
            <a:r>
              <a:rPr lang="en-US"/>
              <a:t> Ensure uniqueness in every table. The uniqueness of records present in any relation is a very crucial part of database design that helps us avoid redundancy. Identify the key attributes to uniquely identify every row from columns. You can use various key constraints to ensure the uniqueness of your table, also keep in mind the uniquely identifying records must consume as little space as possible &amp; shall not contain any NULL values.</a:t>
            </a:r>
            <a:endParaRPr/>
          </a:p>
          <a:p>
            <a:pPr indent="0" lvl="0" marL="114300" rtl="0" algn="just">
              <a:lnSpc>
                <a:spcPct val="100000"/>
              </a:lnSpc>
              <a:spcBef>
                <a:spcPts val="360"/>
              </a:spcBef>
              <a:spcAft>
                <a:spcPts val="0"/>
              </a:spcAft>
              <a:buSzPts val="1800"/>
              <a:buNone/>
            </a:pPr>
            <a:r>
              <a:rPr b="1" lang="en-US"/>
              <a:t>Step 5:</a:t>
            </a:r>
            <a:r>
              <a:rPr lang="en-US"/>
              <a:t> After all the tables are structured, and information is organized apply Normalization Forms to identify anomalies that may arise &amp; redundancy that can cause inconsistency in the database.</a:t>
            </a:r>
            <a:endParaRPr/>
          </a:p>
          <a:p>
            <a:pPr indent="0" lvl="0" marL="114300" rtl="0" algn="just">
              <a:lnSpc>
                <a:spcPct val="100000"/>
              </a:lnSpc>
              <a:spcBef>
                <a:spcPts val="360"/>
              </a:spcBef>
              <a:spcAft>
                <a:spcPts val="0"/>
              </a:spcAft>
              <a:buSzPts val="1800"/>
              <a:buNone/>
            </a:pPr>
            <a:r>
              <a:t/>
            </a:r>
            <a:endParaRPr/>
          </a:p>
        </p:txBody>
      </p:sp>
      <p:sp>
        <p:nvSpPr>
          <p:cNvPr id="86" name="Google Shape;86;p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Primary Terminologies Used in Database Design</a:t>
            </a:r>
            <a:br>
              <a:rPr b="1" lang="en-US"/>
            </a:br>
            <a:endParaRPr/>
          </a:p>
        </p:txBody>
      </p:sp>
      <p:sp>
        <p:nvSpPr>
          <p:cNvPr id="92" name="Google Shape;92;p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a:t>Redundancy</a:t>
            </a:r>
            <a:r>
              <a:rPr lang="en-US"/>
              <a:t>: Redundancy refers to the duplicity of the data. There can be specific use cases when we need or don't need redundancy in our Database. For ex: If we have a banking system application then we may need to strictly prevent redundancy in our Database.</a:t>
            </a:r>
            <a:endParaRPr/>
          </a:p>
          <a:p>
            <a:pPr indent="-342900" lvl="0" marL="457200" rtl="0" algn="just">
              <a:lnSpc>
                <a:spcPct val="100000"/>
              </a:lnSpc>
              <a:spcBef>
                <a:spcPts val="360"/>
              </a:spcBef>
              <a:spcAft>
                <a:spcPts val="0"/>
              </a:spcAft>
              <a:buSzPts val="1800"/>
              <a:buChar char="•"/>
            </a:pPr>
            <a:r>
              <a:rPr b="1" lang="en-US"/>
              <a:t>Schema</a:t>
            </a:r>
            <a:r>
              <a:rPr lang="en-US"/>
              <a:t>: </a:t>
            </a:r>
            <a:r>
              <a:rPr lang="en-US" u="sng"/>
              <a:t>Schema</a:t>
            </a:r>
            <a:r>
              <a:rPr lang="en-US"/>
              <a:t> is a logical container that defines the structure &amp; manages the organization of the data stored in it. It consists of rows and columns having data types for each column.</a:t>
            </a:r>
            <a:endParaRPr/>
          </a:p>
          <a:p>
            <a:pPr indent="-342900" lvl="0" marL="457200" rtl="0" algn="just">
              <a:lnSpc>
                <a:spcPct val="100000"/>
              </a:lnSpc>
              <a:spcBef>
                <a:spcPts val="360"/>
              </a:spcBef>
              <a:spcAft>
                <a:spcPts val="0"/>
              </a:spcAft>
              <a:buSzPts val="1800"/>
              <a:buChar char="•"/>
            </a:pPr>
            <a:r>
              <a:rPr b="1" lang="en-US"/>
              <a:t>Records/Tuples</a:t>
            </a:r>
            <a:r>
              <a:rPr lang="en-US"/>
              <a:t>: A Record or a tuple is the same thing, basically its where our data is stored inside a table</a:t>
            </a:r>
            <a:endParaRPr/>
          </a:p>
          <a:p>
            <a:pPr indent="0" lvl="0" marL="114300" rtl="0" algn="l">
              <a:lnSpc>
                <a:spcPct val="100000"/>
              </a:lnSpc>
              <a:spcBef>
                <a:spcPts val="360"/>
              </a:spcBef>
              <a:spcAft>
                <a:spcPts val="0"/>
              </a:spcAft>
              <a:buSzPts val="1800"/>
              <a:buNone/>
            </a:pPr>
            <a:r>
              <a:t/>
            </a:r>
            <a:endParaRPr/>
          </a:p>
        </p:txBody>
      </p:sp>
      <p:sp>
        <p:nvSpPr>
          <p:cNvPr id="93" name="Google Shape;93;p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99" name="Google Shape;99;p7"/>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a:t>Indexing</a:t>
            </a:r>
            <a:r>
              <a:rPr lang="en-US"/>
              <a:t>: Indexing is a data structure technique to promote efficient retrieval of the data stored in our database.</a:t>
            </a:r>
            <a:endParaRPr/>
          </a:p>
          <a:p>
            <a:pPr indent="-342900" lvl="0" marL="457200" rtl="0" algn="just">
              <a:lnSpc>
                <a:spcPct val="100000"/>
              </a:lnSpc>
              <a:spcBef>
                <a:spcPts val="360"/>
              </a:spcBef>
              <a:spcAft>
                <a:spcPts val="0"/>
              </a:spcAft>
              <a:buSzPts val="1800"/>
              <a:buChar char="•"/>
            </a:pPr>
            <a:r>
              <a:rPr b="1" lang="en-US"/>
              <a:t>Data Integrity &amp; Consistency:</a:t>
            </a:r>
            <a:r>
              <a:rPr lang="en-US"/>
              <a:t> Data integrity refers to the quality of the information stored in our database and consistency refers to the correctness of the data stored.</a:t>
            </a:r>
            <a:endParaRPr/>
          </a:p>
          <a:p>
            <a:pPr indent="-342900" lvl="0" marL="457200" rtl="0" algn="just">
              <a:lnSpc>
                <a:spcPct val="100000"/>
              </a:lnSpc>
              <a:spcBef>
                <a:spcPts val="360"/>
              </a:spcBef>
              <a:spcAft>
                <a:spcPts val="0"/>
              </a:spcAft>
              <a:buSzPts val="1800"/>
              <a:buChar char="•"/>
            </a:pPr>
            <a:r>
              <a:rPr b="1" lang="en-US"/>
              <a:t>Data Models:</a:t>
            </a:r>
            <a:r>
              <a:rPr lang="en-US"/>
              <a:t> Data models provide us with visual modeling techniques to visualize the data &amp; the relationship that exists among those data. Ex: model, Network Model, Object Oriented Model, Hierarchical model, etc.</a:t>
            </a:r>
            <a:endParaRPr/>
          </a:p>
          <a:p>
            <a:pPr indent="-342900" lvl="0" marL="457200" rtl="0" algn="just">
              <a:lnSpc>
                <a:spcPct val="100000"/>
              </a:lnSpc>
              <a:spcBef>
                <a:spcPts val="360"/>
              </a:spcBef>
              <a:spcAft>
                <a:spcPts val="0"/>
              </a:spcAft>
              <a:buSzPts val="1800"/>
              <a:buChar char="•"/>
            </a:pPr>
            <a:r>
              <a:rPr b="1" lang="en-US"/>
              <a:t>Normalization: </a:t>
            </a:r>
            <a:r>
              <a:rPr lang="en-US"/>
              <a:t>The process of organizing data to reduce redundancy and dependency by dividing larger tables into smaller ones and defining relationships. It ensures data storage and consistency.</a:t>
            </a:r>
            <a:endParaRPr/>
          </a:p>
          <a:p>
            <a:pPr indent="0" lvl="0" marL="114300" rtl="0" algn="l">
              <a:lnSpc>
                <a:spcPct val="100000"/>
              </a:lnSpc>
              <a:spcBef>
                <a:spcPts val="360"/>
              </a:spcBef>
              <a:spcAft>
                <a:spcPts val="0"/>
              </a:spcAft>
              <a:buSzPts val="1800"/>
              <a:buNone/>
            </a:pPr>
            <a:r>
              <a:t/>
            </a:r>
            <a:endParaRPr/>
          </a:p>
        </p:txBody>
      </p:sp>
      <p:sp>
        <p:nvSpPr>
          <p:cNvPr id="100" name="Google Shape;100;p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06" name="Google Shape;106;p8"/>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a:t>Functional Dependency:</a:t>
            </a:r>
            <a:r>
              <a:rPr lang="en-US"/>
              <a:t> </a:t>
            </a:r>
            <a:r>
              <a:rPr lang="en-US" u="sng"/>
              <a:t>Functional Dependency</a:t>
            </a:r>
            <a:r>
              <a:rPr lang="en-US"/>
              <a:t> is a relationship between two attributes of the table that represents that the value of one attribute can be determined by another. Ex: {</a:t>
            </a:r>
            <a:r>
              <a:rPr i="1" lang="en-US"/>
              <a:t>A -&gt; B}, </a:t>
            </a:r>
            <a:r>
              <a:rPr lang="en-US"/>
              <a:t>A &amp; B are two attributes and attribute A can uniquely determine the value of B.</a:t>
            </a:r>
            <a:endParaRPr/>
          </a:p>
          <a:p>
            <a:pPr indent="-342900" lvl="0" marL="457200" rtl="0" algn="just">
              <a:lnSpc>
                <a:spcPct val="100000"/>
              </a:lnSpc>
              <a:spcBef>
                <a:spcPts val="360"/>
              </a:spcBef>
              <a:spcAft>
                <a:spcPts val="0"/>
              </a:spcAft>
              <a:buSzPts val="1800"/>
              <a:buChar char="•"/>
            </a:pPr>
            <a:r>
              <a:rPr b="1" lang="en-US"/>
              <a:t>Transaction:</a:t>
            </a:r>
            <a:r>
              <a:rPr lang="en-US"/>
              <a:t> Transaction is a single logical unit of work. It signifies that some changes are made in the database. A transaction must satisfy the </a:t>
            </a:r>
            <a:r>
              <a:rPr lang="en-US" u="sng"/>
              <a:t>ACID</a:t>
            </a:r>
            <a:r>
              <a:rPr lang="en-US"/>
              <a:t> properties.</a:t>
            </a:r>
            <a:endParaRPr/>
          </a:p>
          <a:p>
            <a:pPr indent="-342900" lvl="0" marL="457200" rtl="0" algn="just">
              <a:lnSpc>
                <a:spcPct val="100000"/>
              </a:lnSpc>
              <a:spcBef>
                <a:spcPts val="360"/>
              </a:spcBef>
              <a:spcAft>
                <a:spcPts val="0"/>
              </a:spcAft>
              <a:buSzPts val="1800"/>
              <a:buChar char="•"/>
            </a:pPr>
            <a:r>
              <a:rPr b="1" lang="en-US"/>
              <a:t>Schedule: </a:t>
            </a:r>
            <a:r>
              <a:rPr lang="en-US"/>
              <a:t>Schedule defines the sequence of transactions in which they're executed by one or multiple users.</a:t>
            </a:r>
            <a:endParaRPr/>
          </a:p>
          <a:p>
            <a:pPr indent="0" lvl="0" marL="114300" rtl="0" algn="l">
              <a:lnSpc>
                <a:spcPct val="100000"/>
              </a:lnSpc>
              <a:spcBef>
                <a:spcPts val="360"/>
              </a:spcBef>
              <a:spcAft>
                <a:spcPts val="0"/>
              </a:spcAft>
              <a:buSzPts val="1800"/>
              <a:buNone/>
            </a:pPr>
            <a:r>
              <a:t/>
            </a:r>
            <a:endParaRPr/>
          </a:p>
        </p:txBody>
      </p:sp>
      <p:sp>
        <p:nvSpPr>
          <p:cNvPr id="107" name="Google Shape;107;p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13" name="Google Shape;113;p9"/>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a:t>Concurrency:</a:t>
            </a:r>
            <a:r>
              <a:rPr lang="en-US"/>
              <a:t> </a:t>
            </a:r>
            <a:r>
              <a:rPr lang="en-US" u="sng"/>
              <a:t>Concurrency</a:t>
            </a:r>
            <a:r>
              <a:rPr lang="en-US"/>
              <a:t> refers to allowing multiple transactions to operate simultaneously without interfering with one another.</a:t>
            </a:r>
            <a:endParaRPr/>
          </a:p>
          <a:p>
            <a:pPr indent="0" lvl="0" marL="114300" rtl="0" algn="just">
              <a:lnSpc>
                <a:spcPct val="100000"/>
              </a:lnSpc>
              <a:spcBef>
                <a:spcPts val="360"/>
              </a:spcBef>
              <a:spcAft>
                <a:spcPts val="0"/>
              </a:spcAft>
              <a:buSzPts val="1800"/>
              <a:buNone/>
            </a:pPr>
            <a:r>
              <a:t/>
            </a:r>
            <a:endParaRPr/>
          </a:p>
          <a:p>
            <a:pPr indent="-342900" lvl="0" marL="457200" rtl="0" algn="just">
              <a:lnSpc>
                <a:spcPct val="100000"/>
              </a:lnSpc>
              <a:spcBef>
                <a:spcPts val="360"/>
              </a:spcBef>
              <a:spcAft>
                <a:spcPts val="0"/>
              </a:spcAft>
              <a:buSzPts val="1800"/>
              <a:buChar char="•"/>
            </a:pPr>
            <a:r>
              <a:rPr b="1" lang="en-US"/>
              <a:t>Constraints: </a:t>
            </a:r>
            <a:r>
              <a:rPr lang="en-US"/>
              <a:t>Constraints are the rules applied to fields in a table to enforce data integrity. e.g., NOT NULL, UNIQUE, CHECK, etc. It ensures data quality and accuracy.</a:t>
            </a:r>
            <a:endParaRPr/>
          </a:p>
          <a:p>
            <a:pPr indent="0" lvl="0" marL="114300" rtl="0" algn="just">
              <a:lnSpc>
                <a:spcPct val="100000"/>
              </a:lnSpc>
              <a:spcBef>
                <a:spcPts val="360"/>
              </a:spcBef>
              <a:spcAft>
                <a:spcPts val="0"/>
              </a:spcAft>
              <a:buSzPts val="1800"/>
              <a:buNone/>
            </a:pPr>
            <a:r>
              <a:t/>
            </a:r>
            <a:endParaRPr/>
          </a:p>
        </p:txBody>
      </p:sp>
      <p:sp>
        <p:nvSpPr>
          <p:cNvPr id="114" name="Google Shape;114;p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Database Design Lifecycle</a:t>
            </a:r>
            <a:br>
              <a:rPr b="1" lang="en-US"/>
            </a:br>
            <a:endParaRPr/>
          </a:p>
        </p:txBody>
      </p:sp>
      <p:sp>
        <p:nvSpPr>
          <p:cNvPr id="120" name="Google Shape;120;p10"/>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t/>
            </a:r>
            <a:endParaRPr/>
          </a:p>
        </p:txBody>
      </p:sp>
      <p:sp>
        <p:nvSpPr>
          <p:cNvPr id="121" name="Google Shape;121;p1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b-design" id="122" name="Google Shape;122;p10"/>
          <p:cNvPicPr preferRelativeResize="0"/>
          <p:nvPr/>
        </p:nvPicPr>
        <p:blipFill rotWithShape="1">
          <a:blip r:embed="rId3">
            <a:alphaModFix/>
          </a:blip>
          <a:srcRect b="0" l="0" r="0" t="0"/>
          <a:stretch/>
        </p:blipFill>
        <p:spPr>
          <a:xfrm>
            <a:off x="2049463" y="2119086"/>
            <a:ext cx="10229850" cy="47897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28" name="Google Shape;128;p11"/>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1. Requirement Analysis</a:t>
            </a:r>
            <a:endParaRPr/>
          </a:p>
          <a:p>
            <a:pPr indent="-342900" lvl="0" marL="457200" rtl="0" algn="just">
              <a:lnSpc>
                <a:spcPct val="100000"/>
              </a:lnSpc>
              <a:spcBef>
                <a:spcPts val="360"/>
              </a:spcBef>
              <a:spcAft>
                <a:spcPts val="0"/>
              </a:spcAft>
              <a:buSzPts val="1800"/>
              <a:buChar char="•"/>
            </a:pPr>
            <a:r>
              <a:rPr lang="en-US"/>
              <a:t>It's very crucial to understand the requirements of our application so that you can think in productive terms. And imply appropriate integrity constraints to maintain the data integrity &amp; consistency.</a:t>
            </a:r>
            <a:endParaRPr/>
          </a:p>
          <a:p>
            <a:pPr indent="0" lvl="0" marL="114300" rtl="0" algn="just">
              <a:lnSpc>
                <a:spcPct val="100000"/>
              </a:lnSpc>
              <a:spcBef>
                <a:spcPts val="360"/>
              </a:spcBef>
              <a:spcAft>
                <a:spcPts val="0"/>
              </a:spcAft>
              <a:buSzPts val="1800"/>
              <a:buNone/>
            </a:pPr>
            <a:r>
              <a:t/>
            </a:r>
            <a:endParaRPr/>
          </a:p>
        </p:txBody>
      </p:sp>
      <p:sp>
        <p:nvSpPr>
          <p:cNvPr id="129" name="Google Shape;129;p1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type="title"/>
          </p:nvPr>
        </p:nvSpPr>
        <p:spPr>
          <a:xfrm>
            <a:off x="1677723" y="84641"/>
            <a:ext cx="7631012" cy="83318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b="1"/>
          </a:p>
        </p:txBody>
      </p:sp>
      <p:sp>
        <p:nvSpPr>
          <p:cNvPr id="136" name="Google Shape;136;p12"/>
          <p:cNvSpPr txBox="1"/>
          <p:nvPr>
            <p:ph idx="12" type="sldNum"/>
          </p:nvPr>
        </p:nvSpPr>
        <p:spPr>
          <a:xfrm>
            <a:off x="9543080" y="7612806"/>
            <a:ext cx="2560814" cy="43823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7" name="Google Shape;137;p12"/>
          <p:cNvSpPr txBox="1"/>
          <p:nvPr>
            <p:ph idx="1" type="body"/>
          </p:nvPr>
        </p:nvSpPr>
        <p:spPr>
          <a:xfrm>
            <a:off x="2226469" y="1177101"/>
            <a:ext cx="9877425" cy="6827675"/>
          </a:xfrm>
          <a:prstGeom prst="rect">
            <a:avLst/>
          </a:prstGeom>
          <a:noFill/>
          <a:ln>
            <a:noFill/>
          </a:ln>
        </p:spPr>
        <p:txBody>
          <a:bodyPr anchorCtr="0" anchor="t" bIns="45700" lIns="91425" spcFirstLastPara="1" rIns="91425" wrap="square" tIns="45700">
            <a:noAutofit/>
          </a:bodyPr>
          <a:lstStyle/>
          <a:p>
            <a:pPr indent="0" lvl="0" marL="114300" rtl="0" algn="just">
              <a:lnSpc>
                <a:spcPct val="114000"/>
              </a:lnSpc>
              <a:spcBef>
                <a:spcPts val="360"/>
              </a:spcBef>
              <a:spcAft>
                <a:spcPts val="0"/>
              </a:spcAft>
              <a:buSzPts val="1800"/>
              <a:buNone/>
            </a:pPr>
            <a:r>
              <a:rPr b="1" lang="en-US" sz="2400"/>
              <a:t>Requirement analysis – </a:t>
            </a:r>
            <a:r>
              <a:rPr lang="en-US" sz="2400"/>
              <a:t>This is the foundation of the database design process, where the </a:t>
            </a:r>
            <a:r>
              <a:rPr b="1" lang="en-US" sz="2400"/>
              <a:t>requirements of the system are gathered</a:t>
            </a:r>
            <a:r>
              <a:rPr lang="en-US" sz="2400"/>
              <a:t>.</a:t>
            </a:r>
            <a:endParaRPr b="1" sz="2400"/>
          </a:p>
          <a:p>
            <a:pPr indent="0" lvl="0" marL="0" rtl="0" algn="just">
              <a:lnSpc>
                <a:spcPct val="114000"/>
              </a:lnSpc>
              <a:spcBef>
                <a:spcPts val="360"/>
              </a:spcBef>
              <a:spcAft>
                <a:spcPts val="0"/>
              </a:spcAft>
              <a:buSzPts val="1800"/>
              <a:buNone/>
            </a:pPr>
            <a:r>
              <a:rPr b="1" lang="en-US" sz="2400"/>
              <a:t>Activities</a:t>
            </a:r>
            <a:r>
              <a:rPr lang="en-US" sz="2400"/>
              <a:t>:</a:t>
            </a:r>
            <a:endParaRPr/>
          </a:p>
          <a:p>
            <a:pPr indent="-342900" lvl="1" marL="914400" rtl="0" algn="just">
              <a:lnSpc>
                <a:spcPct val="114000"/>
              </a:lnSpc>
              <a:spcBef>
                <a:spcPts val="360"/>
              </a:spcBef>
              <a:spcAft>
                <a:spcPts val="0"/>
              </a:spcAft>
              <a:buSzPts val="1800"/>
              <a:buChar char="–"/>
            </a:pPr>
            <a:r>
              <a:rPr lang="en-US" sz="2400"/>
              <a:t>Identiy the purpose of the database (e.g., a student management system, e-commerce platform).</a:t>
            </a:r>
            <a:endParaRPr/>
          </a:p>
          <a:p>
            <a:pPr indent="-342900" lvl="1" marL="914400" rtl="0" algn="just">
              <a:lnSpc>
                <a:spcPct val="114000"/>
              </a:lnSpc>
              <a:spcBef>
                <a:spcPts val="360"/>
              </a:spcBef>
              <a:spcAft>
                <a:spcPts val="0"/>
              </a:spcAft>
              <a:buSzPts val="1800"/>
              <a:buChar char="–"/>
            </a:pPr>
            <a:r>
              <a:rPr lang="en-US" sz="2400"/>
              <a:t>Collect data requirements from stakeholders, including users, managers, and developers.</a:t>
            </a:r>
            <a:endParaRPr/>
          </a:p>
          <a:p>
            <a:pPr indent="-342900" lvl="1" marL="914400" rtl="0" algn="just">
              <a:lnSpc>
                <a:spcPct val="114000"/>
              </a:lnSpc>
              <a:spcBef>
                <a:spcPts val="360"/>
              </a:spcBef>
              <a:spcAft>
                <a:spcPts val="0"/>
              </a:spcAft>
              <a:buSzPts val="1800"/>
              <a:buChar char="–"/>
            </a:pPr>
            <a:r>
              <a:rPr lang="en-US" sz="2400"/>
              <a:t>Understand business rules, workflows, and constraints.</a:t>
            </a:r>
            <a:endParaRPr/>
          </a:p>
          <a:p>
            <a:pPr indent="-342900" lvl="1" marL="914400" rtl="0" algn="just">
              <a:lnSpc>
                <a:spcPct val="114000"/>
              </a:lnSpc>
              <a:spcBef>
                <a:spcPts val="360"/>
              </a:spcBef>
              <a:spcAft>
                <a:spcPts val="0"/>
              </a:spcAft>
              <a:buSzPts val="1800"/>
              <a:buChar char="–"/>
            </a:pPr>
            <a:r>
              <a:rPr lang="en-US" sz="2400"/>
              <a:t>Define what kind of data needs to be stored, such as entities, attributes, and relationships.</a:t>
            </a:r>
            <a:endParaRPr/>
          </a:p>
          <a:p>
            <a:pPr indent="0" lvl="0" marL="0" rtl="0" algn="just">
              <a:lnSpc>
                <a:spcPct val="114000"/>
              </a:lnSpc>
              <a:spcBef>
                <a:spcPts val="360"/>
              </a:spcBef>
              <a:spcAft>
                <a:spcPts val="0"/>
              </a:spcAft>
              <a:buSzPts val="1800"/>
              <a:buNone/>
            </a:pPr>
            <a:r>
              <a:rPr b="1" lang="en-US" sz="2400"/>
              <a:t>Output</a:t>
            </a:r>
            <a:r>
              <a:rPr lang="en-US" sz="2400"/>
              <a:t>:</a:t>
            </a:r>
            <a:endParaRPr/>
          </a:p>
          <a:p>
            <a:pPr indent="-342900" lvl="1" marL="914400" rtl="0" algn="just">
              <a:lnSpc>
                <a:spcPct val="114000"/>
              </a:lnSpc>
              <a:spcBef>
                <a:spcPts val="360"/>
              </a:spcBef>
              <a:spcAft>
                <a:spcPts val="0"/>
              </a:spcAft>
              <a:buSzPts val="1800"/>
              <a:buChar char="–"/>
            </a:pPr>
            <a:r>
              <a:rPr lang="en-US" sz="2400"/>
              <a:t>A document listing data requirements and constraints.</a:t>
            </a:r>
            <a:endParaRPr/>
          </a:p>
          <a:p>
            <a:pPr indent="-228600" lvl="0" marL="457200" rtl="0" algn="just">
              <a:lnSpc>
                <a:spcPct val="114000"/>
              </a:lnSpc>
              <a:spcBef>
                <a:spcPts val="360"/>
              </a:spcBef>
              <a:spcAft>
                <a:spcPts val="0"/>
              </a:spcAft>
              <a:buSzPts val="1800"/>
              <a:buNone/>
            </a:pPr>
            <a:r>
              <a:t/>
            </a:r>
            <a:endParaRPr b="1" sz="216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43" name="Google Shape;143;p13"/>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2. Logical &amp; Physical Design</a:t>
            </a:r>
            <a:endParaRPr/>
          </a:p>
          <a:p>
            <a:pPr indent="-342900" lvl="0" marL="457200" rtl="0" algn="just">
              <a:lnSpc>
                <a:spcPct val="100000"/>
              </a:lnSpc>
              <a:spcBef>
                <a:spcPts val="360"/>
              </a:spcBef>
              <a:spcAft>
                <a:spcPts val="0"/>
              </a:spcAft>
              <a:buSzPts val="1800"/>
              <a:buChar char="•"/>
            </a:pPr>
            <a:r>
              <a:rPr lang="en-US"/>
              <a:t>This is the actual design phase that involves various steps that are to be taken while designing a database. This phase is further divided into two stages:</a:t>
            </a:r>
            <a:endParaRPr/>
          </a:p>
          <a:p>
            <a:pPr indent="-342900" lvl="0" marL="457200" rtl="0" algn="just">
              <a:lnSpc>
                <a:spcPct val="100000"/>
              </a:lnSpc>
              <a:spcBef>
                <a:spcPts val="360"/>
              </a:spcBef>
              <a:spcAft>
                <a:spcPts val="0"/>
              </a:spcAft>
              <a:buSzPts val="1800"/>
              <a:buFont typeface="Noto Sans Symbols"/>
              <a:buChar char="⮚"/>
            </a:pPr>
            <a:r>
              <a:rPr b="1" lang="en-US"/>
              <a:t>Logical Data Model Design: </a:t>
            </a:r>
            <a:r>
              <a:rPr lang="en-US"/>
              <a:t>This phase consists of coming up with a high-level design of our database based on initially gathered requirements to structure &amp; organize our data accordingly. A high-level overview on paper is made of the database without considering the physical level design, this phase proceeds by </a:t>
            </a:r>
            <a:r>
              <a:rPr b="1" i="1" lang="en-US"/>
              <a:t>identifying</a:t>
            </a:r>
            <a:r>
              <a:rPr lang="en-US"/>
              <a:t> the kind of data to be stored and what relationship will exist among those data.</a:t>
            </a:r>
            <a:endParaRPr/>
          </a:p>
          <a:p>
            <a:pPr indent="0" lvl="0" marL="114300" rtl="0" algn="just">
              <a:lnSpc>
                <a:spcPct val="100000"/>
              </a:lnSpc>
              <a:spcBef>
                <a:spcPts val="360"/>
              </a:spcBef>
              <a:spcAft>
                <a:spcPts val="0"/>
              </a:spcAft>
              <a:buSzPts val="1800"/>
              <a:buNone/>
            </a:pPr>
            <a:r>
              <a:t/>
            </a:r>
            <a:endParaRPr/>
          </a:p>
        </p:txBody>
      </p:sp>
      <p:sp>
        <p:nvSpPr>
          <p:cNvPr id="144" name="Google Shape;144;p1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50" name="Google Shape;150;p14"/>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lang="en-US"/>
              <a:t>Entity, Key attributes identification &amp; what constraints are to be implemented is the core functionality of this phase. It involves techniques such as Data Modeling to visualize data, normalization to prevent redundancy, etc.</a:t>
            </a:r>
            <a:endParaRPr/>
          </a:p>
          <a:p>
            <a:pPr indent="0" lvl="0" marL="114300" rtl="0" algn="just">
              <a:lnSpc>
                <a:spcPct val="100000"/>
              </a:lnSpc>
              <a:spcBef>
                <a:spcPts val="360"/>
              </a:spcBef>
              <a:spcAft>
                <a:spcPts val="0"/>
              </a:spcAft>
              <a:buSzPts val="1800"/>
              <a:buNone/>
            </a:pPr>
            <a:r>
              <a:t/>
            </a:r>
            <a:endParaRPr/>
          </a:p>
        </p:txBody>
      </p:sp>
      <p:sp>
        <p:nvSpPr>
          <p:cNvPr id="151" name="Google Shape;151;p1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57" name="Google Shape;157;p15"/>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0" rtl="0" algn="just">
              <a:lnSpc>
                <a:spcPct val="114000"/>
              </a:lnSpc>
              <a:spcBef>
                <a:spcPts val="360"/>
              </a:spcBef>
              <a:spcAft>
                <a:spcPts val="0"/>
              </a:spcAft>
              <a:buSzPts val="1800"/>
              <a:buNone/>
            </a:pPr>
            <a:r>
              <a:rPr b="1" lang="en-US" sz="2400"/>
              <a:t>Conceptual Design – </a:t>
            </a:r>
            <a:r>
              <a:rPr lang="en-US" sz="2400"/>
              <a:t>In this phase, a high-level abstract data model is created. The Entity-Relationship (ER) model is typically used here.</a:t>
            </a:r>
            <a:endParaRPr/>
          </a:p>
          <a:p>
            <a:pPr indent="0" lvl="0" marL="0" rtl="0" algn="just">
              <a:lnSpc>
                <a:spcPct val="114000"/>
              </a:lnSpc>
              <a:spcBef>
                <a:spcPts val="360"/>
              </a:spcBef>
              <a:spcAft>
                <a:spcPts val="0"/>
              </a:spcAft>
              <a:buSzPts val="1800"/>
              <a:buNone/>
            </a:pPr>
            <a:r>
              <a:rPr b="1" lang="en-US" sz="2400"/>
              <a:t>Steps:</a:t>
            </a:r>
            <a:endParaRPr/>
          </a:p>
          <a:p>
            <a:pPr indent="-342900" lvl="1" marL="914400" rtl="0" algn="just">
              <a:lnSpc>
                <a:spcPct val="114000"/>
              </a:lnSpc>
              <a:spcBef>
                <a:spcPts val="360"/>
              </a:spcBef>
              <a:spcAft>
                <a:spcPts val="0"/>
              </a:spcAft>
              <a:buSzPts val="1800"/>
              <a:buChar char="–"/>
            </a:pPr>
            <a:r>
              <a:rPr b="1" lang="en-US" sz="2400"/>
              <a:t>Identify Entities:</a:t>
            </a:r>
            <a:r>
              <a:rPr lang="en-US" sz="2400"/>
              <a:t> Determine real-world objects to represent in the database (e.g., Student, Course, Teacher).</a:t>
            </a:r>
            <a:endParaRPr/>
          </a:p>
          <a:p>
            <a:pPr indent="-342900" lvl="1" marL="914400" rtl="0" algn="just">
              <a:lnSpc>
                <a:spcPct val="114000"/>
              </a:lnSpc>
              <a:spcBef>
                <a:spcPts val="360"/>
              </a:spcBef>
              <a:spcAft>
                <a:spcPts val="0"/>
              </a:spcAft>
              <a:buSzPts val="1800"/>
              <a:buChar char="–"/>
            </a:pPr>
            <a:r>
              <a:rPr b="1" lang="en-US" sz="2400"/>
              <a:t>Define Relationships: </a:t>
            </a:r>
            <a:r>
              <a:rPr lang="en-US" sz="2400"/>
              <a:t>Identify how entities interact (e.g., a Student enrolls in a Course).</a:t>
            </a:r>
            <a:endParaRPr/>
          </a:p>
          <a:p>
            <a:pPr indent="-342900" lvl="1" marL="914400" rtl="0" algn="just">
              <a:lnSpc>
                <a:spcPct val="114000"/>
              </a:lnSpc>
              <a:spcBef>
                <a:spcPts val="360"/>
              </a:spcBef>
              <a:spcAft>
                <a:spcPts val="0"/>
              </a:spcAft>
              <a:buSzPts val="1800"/>
              <a:buChar char="–"/>
            </a:pPr>
            <a:r>
              <a:rPr b="1" lang="en-US" sz="2400"/>
              <a:t>Specify Attributes: </a:t>
            </a:r>
            <a:r>
              <a:rPr lang="en-US" sz="2400"/>
              <a:t>List the properties for each entity and relationship (e.g., Student has Name, RollNo, DOB).</a:t>
            </a:r>
            <a:endParaRPr/>
          </a:p>
          <a:p>
            <a:pPr indent="-342900" lvl="1" marL="914400" rtl="0" algn="just">
              <a:lnSpc>
                <a:spcPct val="114000"/>
              </a:lnSpc>
              <a:spcBef>
                <a:spcPts val="360"/>
              </a:spcBef>
              <a:spcAft>
                <a:spcPts val="0"/>
              </a:spcAft>
              <a:buSzPts val="1800"/>
              <a:buChar char="–"/>
            </a:pPr>
            <a:r>
              <a:rPr b="1" lang="en-US" sz="2400"/>
              <a:t>Determine Keys: </a:t>
            </a:r>
            <a:r>
              <a:rPr lang="en-US" sz="2400"/>
              <a:t>Identify primary keys and candidate keys for each entity.</a:t>
            </a:r>
            <a:endParaRPr/>
          </a:p>
          <a:p>
            <a:pPr indent="0" lvl="0" marL="0" rtl="0" algn="just">
              <a:lnSpc>
                <a:spcPct val="114000"/>
              </a:lnSpc>
              <a:spcBef>
                <a:spcPts val="360"/>
              </a:spcBef>
              <a:spcAft>
                <a:spcPts val="0"/>
              </a:spcAft>
              <a:buSzPts val="1800"/>
              <a:buNone/>
            </a:pPr>
            <a:r>
              <a:rPr b="1" lang="en-US" sz="2400"/>
              <a:t>Output:</a:t>
            </a:r>
            <a:endParaRPr/>
          </a:p>
          <a:p>
            <a:pPr indent="-342900" lvl="1" marL="914400" rtl="0" algn="just">
              <a:lnSpc>
                <a:spcPct val="114000"/>
              </a:lnSpc>
              <a:spcBef>
                <a:spcPts val="360"/>
              </a:spcBef>
              <a:spcAft>
                <a:spcPts val="0"/>
              </a:spcAft>
              <a:buSzPts val="1800"/>
              <a:buChar char="–"/>
            </a:pPr>
            <a:r>
              <a:rPr lang="en-US" sz="2400"/>
              <a:t>An ER Diagram representing entities, attributes, relationships, and cardinality.</a:t>
            </a:r>
            <a:endParaRPr sz="2400"/>
          </a:p>
        </p:txBody>
      </p:sp>
      <p:sp>
        <p:nvSpPr>
          <p:cNvPr id="158" name="Google Shape;158;p1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64" name="Google Shape;164;p1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360"/>
              </a:spcBef>
              <a:spcAft>
                <a:spcPts val="0"/>
              </a:spcAft>
              <a:buSzPts val="1800"/>
              <a:buNone/>
            </a:pPr>
            <a:r>
              <a:rPr b="1" lang="en-US" sz="2000"/>
              <a:t>Logical Design – </a:t>
            </a:r>
            <a:r>
              <a:rPr lang="en-US" sz="2000"/>
              <a:t>This phase translates the conceptual model into a logical model suitable for the database management system (DBMS).</a:t>
            </a:r>
            <a:endParaRPr/>
          </a:p>
          <a:p>
            <a:pPr indent="0" lvl="0" marL="0" rtl="0" algn="just">
              <a:lnSpc>
                <a:spcPct val="100000"/>
              </a:lnSpc>
              <a:spcBef>
                <a:spcPts val="360"/>
              </a:spcBef>
              <a:spcAft>
                <a:spcPts val="0"/>
              </a:spcAft>
              <a:buSzPts val="1800"/>
              <a:buNone/>
            </a:pPr>
            <a:r>
              <a:rPr b="1" lang="en-US" sz="2000"/>
              <a:t>Steps</a:t>
            </a:r>
            <a:r>
              <a:rPr lang="en-US" sz="2000"/>
              <a:t>:</a:t>
            </a:r>
            <a:endParaRPr/>
          </a:p>
          <a:p>
            <a:pPr indent="-342900" lvl="1" marL="914400" rtl="0" algn="just">
              <a:lnSpc>
                <a:spcPct val="100000"/>
              </a:lnSpc>
              <a:spcBef>
                <a:spcPts val="360"/>
              </a:spcBef>
              <a:spcAft>
                <a:spcPts val="0"/>
              </a:spcAft>
              <a:buSzPts val="1800"/>
              <a:buChar char="–"/>
            </a:pPr>
            <a:r>
              <a:rPr b="1" lang="en-US" sz="2000"/>
              <a:t>Map Entities to Tables</a:t>
            </a:r>
            <a:r>
              <a:rPr lang="en-US" sz="2000"/>
              <a:t>: Each entity in the ER model becomes a table.</a:t>
            </a:r>
            <a:endParaRPr/>
          </a:p>
          <a:p>
            <a:pPr indent="-342900" lvl="1" marL="914400" rtl="0" algn="just">
              <a:lnSpc>
                <a:spcPct val="100000"/>
              </a:lnSpc>
              <a:spcBef>
                <a:spcPts val="360"/>
              </a:spcBef>
              <a:spcAft>
                <a:spcPts val="0"/>
              </a:spcAft>
              <a:buSzPts val="1800"/>
              <a:buChar char="–"/>
            </a:pPr>
            <a:r>
              <a:rPr b="1" lang="en-US" sz="2000"/>
              <a:t>Map Relationships</a:t>
            </a:r>
            <a:r>
              <a:rPr lang="en-US" sz="2000"/>
              <a:t>:</a:t>
            </a:r>
            <a:endParaRPr/>
          </a:p>
          <a:p>
            <a:pPr indent="-342900" lvl="3" marL="1828800" rtl="0" algn="just">
              <a:lnSpc>
                <a:spcPct val="100000"/>
              </a:lnSpc>
              <a:spcBef>
                <a:spcPts val="360"/>
              </a:spcBef>
              <a:spcAft>
                <a:spcPts val="0"/>
              </a:spcAft>
              <a:buSzPts val="1800"/>
              <a:buChar char="–"/>
            </a:pPr>
            <a:r>
              <a:rPr lang="en-US"/>
              <a:t>For </a:t>
            </a:r>
            <a:r>
              <a:rPr b="1" lang="en-US"/>
              <a:t>1:1 Relationships</a:t>
            </a:r>
            <a:r>
              <a:rPr lang="en-US"/>
              <a:t>: Add a foreign key in one of the related tables.</a:t>
            </a:r>
            <a:endParaRPr/>
          </a:p>
          <a:p>
            <a:pPr indent="-342900" lvl="3" marL="1828800" rtl="0" algn="just">
              <a:lnSpc>
                <a:spcPct val="100000"/>
              </a:lnSpc>
              <a:spcBef>
                <a:spcPts val="360"/>
              </a:spcBef>
              <a:spcAft>
                <a:spcPts val="0"/>
              </a:spcAft>
              <a:buSzPts val="1800"/>
              <a:buChar char="–"/>
            </a:pPr>
            <a:r>
              <a:rPr lang="en-US"/>
              <a:t>For </a:t>
            </a:r>
            <a:r>
              <a:rPr b="1" lang="en-US"/>
              <a:t>1:N Relationships</a:t>
            </a:r>
            <a:r>
              <a:rPr lang="en-US"/>
              <a:t>: Add a foreign key in the "many" side table.</a:t>
            </a:r>
            <a:endParaRPr/>
          </a:p>
          <a:p>
            <a:pPr indent="-342900" lvl="3" marL="1828800" rtl="0" algn="just">
              <a:lnSpc>
                <a:spcPct val="100000"/>
              </a:lnSpc>
              <a:spcBef>
                <a:spcPts val="360"/>
              </a:spcBef>
              <a:spcAft>
                <a:spcPts val="0"/>
              </a:spcAft>
              <a:buSzPts val="1800"/>
              <a:buChar char="–"/>
            </a:pPr>
            <a:r>
              <a:rPr lang="en-US"/>
              <a:t>For </a:t>
            </a:r>
            <a:r>
              <a:rPr b="1" lang="en-US"/>
              <a:t>M:N Relationships</a:t>
            </a:r>
            <a:r>
              <a:rPr lang="en-US"/>
              <a:t>: Create a new table to represent the relationship.</a:t>
            </a:r>
            <a:endParaRPr/>
          </a:p>
          <a:p>
            <a:pPr indent="-342900" lvl="1" marL="914400" rtl="0" algn="just">
              <a:lnSpc>
                <a:spcPct val="100000"/>
              </a:lnSpc>
              <a:spcBef>
                <a:spcPts val="360"/>
              </a:spcBef>
              <a:spcAft>
                <a:spcPts val="0"/>
              </a:spcAft>
              <a:buSzPts val="1800"/>
              <a:buChar char="–"/>
            </a:pPr>
            <a:r>
              <a:rPr b="1" lang="en-US" sz="2000"/>
              <a:t>Normalize the Schema</a:t>
            </a:r>
            <a:r>
              <a:rPr lang="en-US" sz="2000"/>
              <a:t>:</a:t>
            </a:r>
            <a:endParaRPr/>
          </a:p>
          <a:p>
            <a:pPr indent="-342900" lvl="3" marL="1828800" rtl="0" algn="just">
              <a:lnSpc>
                <a:spcPct val="100000"/>
              </a:lnSpc>
              <a:spcBef>
                <a:spcPts val="360"/>
              </a:spcBef>
              <a:spcAft>
                <a:spcPts val="0"/>
              </a:spcAft>
              <a:buSzPts val="1800"/>
              <a:buChar char="–"/>
            </a:pPr>
            <a:r>
              <a:rPr lang="en-US"/>
              <a:t>Apply normalization techniques to eliminate data redundancy and ensure data integrity.</a:t>
            </a:r>
            <a:endParaRPr/>
          </a:p>
          <a:p>
            <a:pPr indent="-342900" lvl="3" marL="1828800" rtl="0" algn="just">
              <a:lnSpc>
                <a:spcPct val="100000"/>
              </a:lnSpc>
              <a:spcBef>
                <a:spcPts val="360"/>
              </a:spcBef>
              <a:spcAft>
                <a:spcPts val="0"/>
              </a:spcAft>
              <a:buSzPts val="1800"/>
              <a:buChar char="–"/>
            </a:pPr>
            <a:r>
              <a:rPr lang="en-US"/>
              <a:t>Decompose tables into smaller tables if needed, ensuring they meet the required normal forms (1NF, 2NF, 3NF, BCNF).</a:t>
            </a:r>
            <a:endParaRPr/>
          </a:p>
          <a:p>
            <a:pPr indent="-342900" lvl="1" marL="914400" rtl="0" algn="just">
              <a:lnSpc>
                <a:spcPct val="100000"/>
              </a:lnSpc>
              <a:spcBef>
                <a:spcPts val="360"/>
              </a:spcBef>
              <a:spcAft>
                <a:spcPts val="0"/>
              </a:spcAft>
              <a:buSzPts val="1800"/>
              <a:buChar char="–"/>
            </a:pPr>
            <a:r>
              <a:rPr b="1" lang="en-US" sz="2000"/>
              <a:t>Define Constraints</a:t>
            </a:r>
            <a:r>
              <a:rPr lang="en-US" sz="2000"/>
              <a:t>:</a:t>
            </a:r>
            <a:endParaRPr/>
          </a:p>
          <a:p>
            <a:pPr indent="-342900" lvl="3" marL="1828800" rtl="0" algn="just">
              <a:lnSpc>
                <a:spcPct val="100000"/>
              </a:lnSpc>
              <a:spcBef>
                <a:spcPts val="360"/>
              </a:spcBef>
              <a:spcAft>
                <a:spcPts val="0"/>
              </a:spcAft>
              <a:buSzPts val="1800"/>
              <a:buChar char="–"/>
            </a:pPr>
            <a:r>
              <a:rPr lang="en-US"/>
              <a:t>Define primary keys, foreign keys, unique constraints, and check constraints.</a:t>
            </a:r>
            <a:endParaRPr/>
          </a:p>
          <a:p>
            <a:pPr indent="0" lvl="0" marL="0" rtl="0" algn="just">
              <a:lnSpc>
                <a:spcPct val="100000"/>
              </a:lnSpc>
              <a:spcBef>
                <a:spcPts val="360"/>
              </a:spcBef>
              <a:spcAft>
                <a:spcPts val="0"/>
              </a:spcAft>
              <a:buSzPts val="1800"/>
              <a:buNone/>
            </a:pPr>
            <a:r>
              <a:rPr b="1" lang="en-US" sz="2000"/>
              <a:t>Output</a:t>
            </a:r>
            <a:r>
              <a:rPr lang="en-US" sz="2000"/>
              <a:t> – A logical schema (relational model).</a:t>
            </a:r>
            <a:endParaRPr/>
          </a:p>
          <a:p>
            <a:pPr indent="0" lvl="0" marL="114300" rtl="0" algn="l">
              <a:lnSpc>
                <a:spcPct val="100000"/>
              </a:lnSpc>
              <a:spcBef>
                <a:spcPts val="360"/>
              </a:spcBef>
              <a:spcAft>
                <a:spcPts val="0"/>
              </a:spcAft>
              <a:buSzPts val="1800"/>
              <a:buNone/>
            </a:pPr>
            <a:r>
              <a:t/>
            </a:r>
            <a:endParaRPr/>
          </a:p>
        </p:txBody>
      </p:sp>
      <p:sp>
        <p:nvSpPr>
          <p:cNvPr id="165" name="Google Shape;165;p1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71" name="Google Shape;171;p17"/>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rPr b="1" lang="en-US"/>
              <a:t>Physical Design of Data Model: </a:t>
            </a:r>
            <a:r>
              <a:rPr lang="en-US"/>
              <a:t>This phase involves the implementation of the logical design made in the previous stage. All the relationships among data and integrity constraints are implemented to maintain consistency &amp; generate the actual database.</a:t>
            </a:r>
            <a:endParaRPr/>
          </a:p>
          <a:p>
            <a:pPr indent="0" lvl="0" marL="114300" rtl="0" algn="l">
              <a:lnSpc>
                <a:spcPct val="100000"/>
              </a:lnSpc>
              <a:spcBef>
                <a:spcPts val="360"/>
              </a:spcBef>
              <a:spcAft>
                <a:spcPts val="0"/>
              </a:spcAft>
              <a:buSzPts val="1800"/>
              <a:buNone/>
            </a:pPr>
            <a:r>
              <a:t/>
            </a:r>
            <a:endParaRPr/>
          </a:p>
        </p:txBody>
      </p:sp>
      <p:sp>
        <p:nvSpPr>
          <p:cNvPr id="172" name="Google Shape;172;p1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78" name="Google Shape;178;p18"/>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360"/>
              </a:spcBef>
              <a:spcAft>
                <a:spcPts val="0"/>
              </a:spcAft>
              <a:buSzPts val="1800"/>
              <a:buNone/>
            </a:pPr>
            <a:r>
              <a:rPr b="1" lang="en-US" sz="2000"/>
              <a:t>Physical Design – </a:t>
            </a:r>
            <a:r>
              <a:rPr lang="en-US" sz="2000"/>
              <a:t>This phase involves the actual implementation of the logical schema in a specific DBMS, considering hardware and software constraints.</a:t>
            </a:r>
            <a:endParaRPr/>
          </a:p>
          <a:p>
            <a:pPr indent="0" lvl="0" marL="0" rtl="0" algn="just">
              <a:lnSpc>
                <a:spcPct val="100000"/>
              </a:lnSpc>
              <a:spcBef>
                <a:spcPts val="360"/>
              </a:spcBef>
              <a:spcAft>
                <a:spcPts val="0"/>
              </a:spcAft>
              <a:buSzPts val="1800"/>
              <a:buNone/>
            </a:pPr>
            <a:r>
              <a:rPr b="1" lang="en-US" sz="2000"/>
              <a:t>Steps</a:t>
            </a:r>
            <a:r>
              <a:rPr lang="en-US" sz="2000"/>
              <a:t>:</a:t>
            </a:r>
            <a:endParaRPr/>
          </a:p>
          <a:p>
            <a:pPr indent="-342900" lvl="1" marL="914400" rtl="0" algn="just">
              <a:lnSpc>
                <a:spcPct val="100000"/>
              </a:lnSpc>
              <a:spcBef>
                <a:spcPts val="360"/>
              </a:spcBef>
              <a:spcAft>
                <a:spcPts val="0"/>
              </a:spcAft>
              <a:buSzPts val="1800"/>
              <a:buChar char="–"/>
            </a:pPr>
            <a:r>
              <a:rPr b="1" lang="en-US" sz="2000"/>
              <a:t>Choose a DBMS</a:t>
            </a:r>
            <a:r>
              <a:rPr lang="en-US" sz="2000"/>
              <a:t>: Select a suitable DBMS (e.g., MySQL, PostgreSQL, MongoDB) based on requirements.</a:t>
            </a:r>
            <a:endParaRPr/>
          </a:p>
          <a:p>
            <a:pPr indent="-342900" lvl="1" marL="914400" rtl="0" algn="just">
              <a:lnSpc>
                <a:spcPct val="100000"/>
              </a:lnSpc>
              <a:spcBef>
                <a:spcPts val="360"/>
              </a:spcBef>
              <a:spcAft>
                <a:spcPts val="0"/>
              </a:spcAft>
              <a:buSzPts val="1800"/>
              <a:buChar char="–"/>
            </a:pPr>
            <a:r>
              <a:rPr b="1" lang="en-US" sz="2000"/>
              <a:t>Optimize Storage</a:t>
            </a:r>
            <a:r>
              <a:rPr lang="en-US" sz="2000"/>
              <a:t>:</a:t>
            </a:r>
            <a:endParaRPr/>
          </a:p>
          <a:p>
            <a:pPr indent="-342900" lvl="2" marL="1371600" rtl="0" algn="just">
              <a:lnSpc>
                <a:spcPct val="100000"/>
              </a:lnSpc>
              <a:spcBef>
                <a:spcPts val="360"/>
              </a:spcBef>
              <a:spcAft>
                <a:spcPts val="0"/>
              </a:spcAft>
              <a:buSzPts val="1800"/>
              <a:buChar char="•"/>
            </a:pPr>
            <a:r>
              <a:rPr lang="en-US" sz="2000"/>
              <a:t>Define how data will be stored physically (e.g., disk structures, indexing).</a:t>
            </a:r>
            <a:endParaRPr/>
          </a:p>
          <a:p>
            <a:pPr indent="-342900" lvl="2" marL="1371600" rtl="0" algn="just">
              <a:lnSpc>
                <a:spcPct val="100000"/>
              </a:lnSpc>
              <a:spcBef>
                <a:spcPts val="360"/>
              </a:spcBef>
              <a:spcAft>
                <a:spcPts val="0"/>
              </a:spcAft>
              <a:buSzPts val="1800"/>
              <a:buChar char="•"/>
            </a:pPr>
            <a:r>
              <a:rPr lang="en-US" sz="2000"/>
              <a:t>Decide on data types and storage engines.</a:t>
            </a:r>
            <a:endParaRPr/>
          </a:p>
          <a:p>
            <a:pPr indent="-342900" lvl="1" marL="914400" rtl="0" algn="just">
              <a:lnSpc>
                <a:spcPct val="100000"/>
              </a:lnSpc>
              <a:spcBef>
                <a:spcPts val="360"/>
              </a:spcBef>
              <a:spcAft>
                <a:spcPts val="0"/>
              </a:spcAft>
              <a:buSzPts val="1800"/>
              <a:buChar char="–"/>
            </a:pPr>
            <a:r>
              <a:rPr b="1" lang="en-US" sz="2000"/>
              <a:t>Indexing</a:t>
            </a:r>
            <a:r>
              <a:rPr lang="en-US" sz="2000"/>
              <a:t>:</a:t>
            </a:r>
            <a:endParaRPr/>
          </a:p>
          <a:p>
            <a:pPr indent="-342900" lvl="2" marL="1371600" rtl="0" algn="just">
              <a:lnSpc>
                <a:spcPct val="100000"/>
              </a:lnSpc>
              <a:spcBef>
                <a:spcPts val="360"/>
              </a:spcBef>
              <a:spcAft>
                <a:spcPts val="0"/>
              </a:spcAft>
              <a:buSzPts val="1800"/>
              <a:buChar char="•"/>
            </a:pPr>
            <a:r>
              <a:rPr lang="en-US" sz="2000"/>
              <a:t>Add indexes to speed up query execution for frequently searched attributes.</a:t>
            </a:r>
            <a:endParaRPr/>
          </a:p>
          <a:p>
            <a:pPr indent="-342900" lvl="1" marL="914400" rtl="0" algn="just">
              <a:lnSpc>
                <a:spcPct val="100000"/>
              </a:lnSpc>
              <a:spcBef>
                <a:spcPts val="360"/>
              </a:spcBef>
              <a:spcAft>
                <a:spcPts val="0"/>
              </a:spcAft>
              <a:buSzPts val="1800"/>
              <a:buChar char="–"/>
            </a:pPr>
            <a:r>
              <a:rPr b="1" lang="en-US" sz="2000"/>
              <a:t>Partitioning and Sharding</a:t>
            </a:r>
            <a:r>
              <a:rPr lang="en-US" sz="2000"/>
              <a:t>:</a:t>
            </a:r>
            <a:endParaRPr/>
          </a:p>
          <a:p>
            <a:pPr indent="-342900" lvl="2" marL="1371600" rtl="0" algn="just">
              <a:lnSpc>
                <a:spcPct val="100000"/>
              </a:lnSpc>
              <a:spcBef>
                <a:spcPts val="360"/>
              </a:spcBef>
              <a:spcAft>
                <a:spcPts val="0"/>
              </a:spcAft>
              <a:buSzPts val="1800"/>
              <a:buChar char="•"/>
            </a:pPr>
            <a:r>
              <a:rPr b="1" lang="en-US" sz="2000"/>
              <a:t>Partitioning -</a:t>
            </a:r>
            <a:r>
              <a:rPr lang="en-US" sz="2000"/>
              <a:t> Divide large tables into smaller partitions for performance optimization.</a:t>
            </a:r>
            <a:endParaRPr/>
          </a:p>
          <a:p>
            <a:pPr indent="-342900" lvl="2" marL="1371600" rtl="0" algn="just">
              <a:lnSpc>
                <a:spcPct val="100000"/>
              </a:lnSpc>
              <a:spcBef>
                <a:spcPts val="360"/>
              </a:spcBef>
              <a:spcAft>
                <a:spcPts val="0"/>
              </a:spcAft>
              <a:buSzPts val="1800"/>
              <a:buChar char="•"/>
            </a:pPr>
            <a:r>
              <a:rPr b="1" lang="en-US" sz="2000"/>
              <a:t>Sharding -</a:t>
            </a:r>
            <a:r>
              <a:rPr lang="en-US" sz="2000"/>
              <a:t> Distribute data across multiple servers if necessary.</a:t>
            </a:r>
            <a:endParaRPr/>
          </a:p>
          <a:p>
            <a:pPr indent="-342900" lvl="1" marL="914400" rtl="0" algn="just">
              <a:lnSpc>
                <a:spcPct val="100000"/>
              </a:lnSpc>
              <a:spcBef>
                <a:spcPts val="360"/>
              </a:spcBef>
              <a:spcAft>
                <a:spcPts val="0"/>
              </a:spcAft>
              <a:buSzPts val="1800"/>
              <a:buChar char="–"/>
            </a:pPr>
            <a:r>
              <a:rPr b="1" lang="en-US" sz="2000"/>
              <a:t>Security Design</a:t>
            </a:r>
            <a:r>
              <a:rPr lang="en-US" sz="2000"/>
              <a:t>:</a:t>
            </a:r>
            <a:endParaRPr/>
          </a:p>
          <a:p>
            <a:pPr indent="-342900" lvl="2" marL="1371600" rtl="0" algn="just">
              <a:lnSpc>
                <a:spcPct val="100000"/>
              </a:lnSpc>
              <a:spcBef>
                <a:spcPts val="360"/>
              </a:spcBef>
              <a:spcAft>
                <a:spcPts val="0"/>
              </a:spcAft>
              <a:buSzPts val="1800"/>
              <a:buChar char="•"/>
            </a:pPr>
            <a:r>
              <a:rPr lang="en-US" sz="2000"/>
              <a:t>Define user roles, privileges, and access control.</a:t>
            </a:r>
            <a:endParaRPr/>
          </a:p>
          <a:p>
            <a:pPr indent="-342900" lvl="0" marL="457200" rtl="0" algn="just">
              <a:lnSpc>
                <a:spcPct val="100000"/>
              </a:lnSpc>
              <a:spcBef>
                <a:spcPts val="360"/>
              </a:spcBef>
              <a:spcAft>
                <a:spcPts val="0"/>
              </a:spcAft>
              <a:buSzPts val="1800"/>
              <a:buChar char="•"/>
            </a:pPr>
            <a:r>
              <a:rPr b="1" lang="en-US" sz="2000"/>
              <a:t>Output</a:t>
            </a:r>
            <a:r>
              <a:rPr lang="en-US" sz="2000"/>
              <a:t>:</a:t>
            </a:r>
            <a:endParaRPr/>
          </a:p>
          <a:p>
            <a:pPr indent="-342900" lvl="1" marL="914400" rtl="0" algn="just">
              <a:lnSpc>
                <a:spcPct val="100000"/>
              </a:lnSpc>
              <a:spcBef>
                <a:spcPts val="360"/>
              </a:spcBef>
              <a:spcAft>
                <a:spcPts val="0"/>
              </a:spcAft>
              <a:buSzPts val="1800"/>
              <a:buChar char="–"/>
            </a:pPr>
            <a:r>
              <a:rPr lang="en-US" sz="2000"/>
              <a:t>A physical schema implemented in the chosen DBMS.</a:t>
            </a:r>
            <a:endParaRPr/>
          </a:p>
          <a:p>
            <a:pPr indent="0" lvl="0" marL="114300" rtl="0" algn="l">
              <a:lnSpc>
                <a:spcPct val="100000"/>
              </a:lnSpc>
              <a:spcBef>
                <a:spcPts val="360"/>
              </a:spcBef>
              <a:spcAft>
                <a:spcPts val="0"/>
              </a:spcAft>
              <a:buSzPts val="1800"/>
              <a:buNone/>
            </a:pPr>
            <a:r>
              <a:t/>
            </a:r>
            <a:endParaRPr/>
          </a:p>
        </p:txBody>
      </p:sp>
      <p:sp>
        <p:nvSpPr>
          <p:cNvPr id="179" name="Google Shape;179;p1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85" name="Google Shape;185;p19"/>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3. Data Insertion and testing for various integrity Constraints</a:t>
            </a:r>
            <a:endParaRPr/>
          </a:p>
          <a:p>
            <a:pPr indent="-342900" lvl="0" marL="457200" rtl="0" algn="just">
              <a:lnSpc>
                <a:spcPct val="100000"/>
              </a:lnSpc>
              <a:spcBef>
                <a:spcPts val="360"/>
              </a:spcBef>
              <a:spcAft>
                <a:spcPts val="0"/>
              </a:spcAft>
              <a:buSzPts val="1800"/>
              <a:buChar char="•"/>
            </a:pPr>
            <a:r>
              <a:rPr lang="en-US"/>
              <a:t>Finally, after implementing the physical design of the database, we're ready to input the data &amp; test our integrity. This phase involves testing our database for its integrity to see if something got left out or, if anything new to add &amp; then integrating it with the desired application.</a:t>
            </a:r>
            <a:endParaRPr/>
          </a:p>
          <a:p>
            <a:pPr indent="0" lvl="0" marL="114300" rtl="0" algn="just">
              <a:lnSpc>
                <a:spcPct val="100000"/>
              </a:lnSpc>
              <a:spcBef>
                <a:spcPts val="360"/>
              </a:spcBef>
              <a:spcAft>
                <a:spcPts val="0"/>
              </a:spcAft>
              <a:buSzPts val="1800"/>
              <a:buNone/>
            </a:pPr>
            <a:r>
              <a:t/>
            </a:r>
            <a:endParaRPr/>
          </a:p>
        </p:txBody>
      </p:sp>
      <p:sp>
        <p:nvSpPr>
          <p:cNvPr id="186" name="Google Shape;186;p1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92" name="Google Shape;192;p20"/>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360"/>
              </a:spcBef>
              <a:spcAft>
                <a:spcPts val="0"/>
              </a:spcAft>
              <a:buSzPts val="1800"/>
              <a:buNone/>
            </a:pPr>
            <a:r>
              <a:rPr b="1" lang="en-US" sz="2000"/>
              <a:t>Implementation – </a:t>
            </a:r>
            <a:r>
              <a:rPr lang="en-US" sz="2000"/>
              <a:t>This phase involves creating the actual database, inserting initial data, and setting up the environment.</a:t>
            </a:r>
            <a:endParaRPr/>
          </a:p>
          <a:p>
            <a:pPr indent="0" lvl="0" marL="0" rtl="0" algn="just">
              <a:lnSpc>
                <a:spcPct val="100000"/>
              </a:lnSpc>
              <a:spcBef>
                <a:spcPts val="360"/>
              </a:spcBef>
              <a:spcAft>
                <a:spcPts val="0"/>
              </a:spcAft>
              <a:buSzPts val="1800"/>
              <a:buNone/>
            </a:pPr>
            <a:r>
              <a:rPr b="1" lang="en-US" sz="2000"/>
              <a:t>Steps</a:t>
            </a:r>
            <a:r>
              <a:rPr lang="en-US" sz="2000"/>
              <a:t>:</a:t>
            </a:r>
            <a:endParaRPr/>
          </a:p>
          <a:p>
            <a:pPr indent="-342900" lvl="1" marL="914400" rtl="0" algn="just">
              <a:lnSpc>
                <a:spcPct val="100000"/>
              </a:lnSpc>
              <a:spcBef>
                <a:spcPts val="360"/>
              </a:spcBef>
              <a:spcAft>
                <a:spcPts val="0"/>
              </a:spcAft>
              <a:buSzPts val="1800"/>
              <a:buChar char="–"/>
            </a:pPr>
            <a:r>
              <a:rPr lang="en-US" sz="2000"/>
              <a:t>Create database tables using SQL (e.g., CREATE TABLE statements).</a:t>
            </a:r>
            <a:endParaRPr/>
          </a:p>
          <a:p>
            <a:pPr indent="-342900" lvl="1" marL="914400" rtl="0" algn="just">
              <a:lnSpc>
                <a:spcPct val="100000"/>
              </a:lnSpc>
              <a:spcBef>
                <a:spcPts val="360"/>
              </a:spcBef>
              <a:spcAft>
                <a:spcPts val="0"/>
              </a:spcAft>
              <a:buSzPts val="1800"/>
              <a:buChar char="–"/>
            </a:pPr>
            <a:r>
              <a:rPr lang="en-US" sz="2000"/>
              <a:t>Define relationships, primary keys, and foreign keys.</a:t>
            </a:r>
            <a:endParaRPr/>
          </a:p>
          <a:p>
            <a:pPr indent="-342900" lvl="1" marL="914400" rtl="0" algn="just">
              <a:lnSpc>
                <a:spcPct val="100000"/>
              </a:lnSpc>
              <a:spcBef>
                <a:spcPts val="360"/>
              </a:spcBef>
              <a:spcAft>
                <a:spcPts val="0"/>
              </a:spcAft>
              <a:buSzPts val="1800"/>
              <a:buChar char="–"/>
            </a:pPr>
            <a:r>
              <a:rPr lang="en-US" sz="2000"/>
              <a:t>Set up initial data (if any) and load it into the database.</a:t>
            </a:r>
            <a:endParaRPr/>
          </a:p>
          <a:p>
            <a:pPr indent="-342900" lvl="1" marL="914400" rtl="0" algn="just">
              <a:lnSpc>
                <a:spcPct val="100000"/>
              </a:lnSpc>
              <a:spcBef>
                <a:spcPts val="360"/>
              </a:spcBef>
              <a:spcAft>
                <a:spcPts val="0"/>
              </a:spcAft>
              <a:buSzPts val="1800"/>
              <a:buChar char="–"/>
            </a:pPr>
            <a:r>
              <a:rPr lang="en-US" sz="2000"/>
              <a:t>Implement application logic to interact with the database.</a:t>
            </a:r>
            <a:endParaRPr/>
          </a:p>
          <a:p>
            <a:pPr indent="0" lvl="0" marL="0" rtl="0" algn="just">
              <a:lnSpc>
                <a:spcPct val="100000"/>
              </a:lnSpc>
              <a:spcBef>
                <a:spcPts val="360"/>
              </a:spcBef>
              <a:spcAft>
                <a:spcPts val="0"/>
              </a:spcAft>
              <a:buSzPts val="1800"/>
              <a:buNone/>
            </a:pPr>
            <a:r>
              <a:rPr b="1" lang="en-US" sz="2000"/>
              <a:t>Output</a:t>
            </a:r>
            <a:r>
              <a:rPr lang="en-US" sz="2000"/>
              <a:t>:</a:t>
            </a:r>
            <a:endParaRPr/>
          </a:p>
          <a:p>
            <a:pPr indent="-342900" lvl="1" marL="914400" rtl="0" algn="just">
              <a:lnSpc>
                <a:spcPct val="100000"/>
              </a:lnSpc>
              <a:spcBef>
                <a:spcPts val="360"/>
              </a:spcBef>
              <a:spcAft>
                <a:spcPts val="0"/>
              </a:spcAft>
              <a:buSzPts val="1800"/>
              <a:buChar char="–"/>
            </a:pPr>
            <a:r>
              <a:rPr lang="en-US" sz="2000"/>
              <a:t>A fully functional database.</a:t>
            </a:r>
            <a:endParaRPr/>
          </a:p>
          <a:p>
            <a:pPr indent="0" lvl="0" marL="0" rtl="0" algn="just">
              <a:lnSpc>
                <a:spcPct val="100000"/>
              </a:lnSpc>
              <a:spcBef>
                <a:spcPts val="360"/>
              </a:spcBef>
              <a:spcAft>
                <a:spcPts val="0"/>
              </a:spcAft>
              <a:buSzPts val="1800"/>
              <a:buNone/>
            </a:pPr>
            <a:r>
              <a:rPr b="1" lang="en-US" sz="2000"/>
              <a:t>6. Testing and Maintenance – </a:t>
            </a:r>
            <a:r>
              <a:rPr lang="en-US" sz="2000"/>
              <a:t>This step ensures that the database operates as intended after implementation and continues to perform efficiently over time. It consists of two interconnected phases: </a:t>
            </a:r>
            <a:r>
              <a:rPr b="1" lang="en-US" sz="2000"/>
              <a:t>Testing</a:t>
            </a:r>
            <a:r>
              <a:rPr lang="en-US" sz="2000"/>
              <a:t> and </a:t>
            </a:r>
            <a:r>
              <a:rPr b="1" lang="en-US" sz="2000"/>
              <a:t>Maintenance</a:t>
            </a:r>
            <a:r>
              <a:rPr lang="en-US" sz="2000"/>
              <a:t>.</a:t>
            </a:r>
            <a:endParaRPr/>
          </a:p>
          <a:p>
            <a:pPr indent="0" lvl="0" marL="0" rtl="0" algn="l">
              <a:lnSpc>
                <a:spcPct val="100000"/>
              </a:lnSpc>
              <a:spcBef>
                <a:spcPts val="360"/>
              </a:spcBef>
              <a:spcAft>
                <a:spcPts val="0"/>
              </a:spcAft>
              <a:buSzPts val="1800"/>
              <a:buNone/>
            </a:pPr>
            <a:r>
              <a:rPr b="1" lang="en-US" sz="2000"/>
              <a:t>Activities for Testing</a:t>
            </a:r>
            <a:r>
              <a:rPr lang="en-US" sz="2000"/>
              <a:t>:</a:t>
            </a:r>
            <a:endParaRPr/>
          </a:p>
          <a:p>
            <a:pPr indent="-342900" lvl="1" marL="914400" rtl="0" algn="l">
              <a:lnSpc>
                <a:spcPct val="100000"/>
              </a:lnSpc>
              <a:spcBef>
                <a:spcPts val="360"/>
              </a:spcBef>
              <a:spcAft>
                <a:spcPts val="0"/>
              </a:spcAft>
              <a:buSzPts val="1800"/>
              <a:buChar char="–"/>
            </a:pPr>
            <a:r>
              <a:rPr b="1" lang="en-US" sz="2000"/>
              <a:t>Test Data Integrity</a:t>
            </a:r>
            <a:r>
              <a:rPr lang="en-US" sz="2000"/>
              <a:t>: Verify that data is stored and retrieved accurately.</a:t>
            </a:r>
            <a:endParaRPr/>
          </a:p>
          <a:p>
            <a:pPr indent="-342900" lvl="1" marL="914400" rtl="0" algn="l">
              <a:lnSpc>
                <a:spcPct val="100000"/>
              </a:lnSpc>
              <a:spcBef>
                <a:spcPts val="360"/>
              </a:spcBef>
              <a:spcAft>
                <a:spcPts val="0"/>
              </a:spcAft>
              <a:buSzPts val="1800"/>
              <a:buChar char="–"/>
            </a:pPr>
            <a:r>
              <a:rPr b="1" lang="en-US" sz="2000"/>
              <a:t>Test Constraints</a:t>
            </a:r>
            <a:r>
              <a:rPr lang="en-US" sz="2000"/>
              <a:t>: Ensure primary keys, foreign keys, and other constraints work correctly.</a:t>
            </a:r>
            <a:endParaRPr/>
          </a:p>
          <a:p>
            <a:pPr indent="0" lvl="0" marL="114300" rtl="0" algn="l">
              <a:lnSpc>
                <a:spcPct val="100000"/>
              </a:lnSpc>
              <a:spcBef>
                <a:spcPts val="360"/>
              </a:spcBef>
              <a:spcAft>
                <a:spcPts val="0"/>
              </a:spcAft>
              <a:buSzPts val="1800"/>
              <a:buNone/>
            </a:pPr>
            <a:r>
              <a:t/>
            </a:r>
            <a:endParaRPr sz="2000"/>
          </a:p>
        </p:txBody>
      </p:sp>
      <p:sp>
        <p:nvSpPr>
          <p:cNvPr id="193" name="Google Shape;193;p2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99" name="Google Shape;199;p21"/>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1" marL="914400" rtl="0" algn="l">
              <a:lnSpc>
                <a:spcPct val="100000"/>
              </a:lnSpc>
              <a:spcBef>
                <a:spcPts val="360"/>
              </a:spcBef>
              <a:spcAft>
                <a:spcPts val="0"/>
              </a:spcAft>
              <a:buSzPts val="1800"/>
              <a:buChar char="–"/>
            </a:pPr>
            <a:r>
              <a:rPr b="1" lang="en-US" sz="2000"/>
              <a:t>Performance Testing</a:t>
            </a:r>
            <a:r>
              <a:rPr lang="en-US" sz="2000"/>
              <a:t>: Evaluate query execution times and optimize slow queries.</a:t>
            </a:r>
            <a:endParaRPr b="1" sz="2000"/>
          </a:p>
          <a:p>
            <a:pPr indent="-342900" lvl="1" marL="914400" rtl="0" algn="l">
              <a:lnSpc>
                <a:spcPct val="100000"/>
              </a:lnSpc>
              <a:spcBef>
                <a:spcPts val="360"/>
              </a:spcBef>
              <a:spcAft>
                <a:spcPts val="0"/>
              </a:spcAft>
              <a:buSzPts val="1800"/>
              <a:buChar char="–"/>
            </a:pPr>
            <a:r>
              <a:rPr b="1" lang="en-US" sz="2000"/>
              <a:t>Backup and Recovery Testing</a:t>
            </a:r>
            <a:r>
              <a:rPr lang="en-US" sz="2000"/>
              <a:t>: Validate database backups and recovery procedures.</a:t>
            </a:r>
            <a:endParaRPr/>
          </a:p>
          <a:p>
            <a:pPr indent="0" lvl="0" marL="0" rtl="0" algn="l">
              <a:lnSpc>
                <a:spcPct val="100000"/>
              </a:lnSpc>
              <a:spcBef>
                <a:spcPts val="360"/>
              </a:spcBef>
              <a:spcAft>
                <a:spcPts val="0"/>
              </a:spcAft>
              <a:buSzPts val="1800"/>
              <a:buNone/>
            </a:pPr>
            <a:r>
              <a:rPr b="1" lang="en-US" sz="2000"/>
              <a:t>Output after Testing</a:t>
            </a:r>
            <a:r>
              <a:rPr lang="en-US" sz="2000"/>
              <a:t>:</a:t>
            </a:r>
            <a:endParaRPr/>
          </a:p>
          <a:p>
            <a:pPr indent="-342900" lvl="1" marL="914400" rtl="0" algn="l">
              <a:lnSpc>
                <a:spcPct val="100000"/>
              </a:lnSpc>
              <a:spcBef>
                <a:spcPts val="360"/>
              </a:spcBef>
              <a:spcAft>
                <a:spcPts val="0"/>
              </a:spcAft>
              <a:buSzPts val="1800"/>
              <a:buChar char="–"/>
            </a:pPr>
            <a:r>
              <a:rPr lang="en-US" sz="2000"/>
              <a:t>A validated and optimized database.</a:t>
            </a:r>
            <a:endParaRPr/>
          </a:p>
          <a:p>
            <a:pPr indent="0" lvl="0" marL="0" rtl="0" algn="l">
              <a:lnSpc>
                <a:spcPct val="100000"/>
              </a:lnSpc>
              <a:spcBef>
                <a:spcPts val="360"/>
              </a:spcBef>
              <a:spcAft>
                <a:spcPts val="0"/>
              </a:spcAft>
              <a:buSzPts val="1800"/>
              <a:buNone/>
            </a:pPr>
            <a:r>
              <a:t/>
            </a:r>
            <a:endParaRPr b="1" sz="2000"/>
          </a:p>
          <a:p>
            <a:pPr indent="0" lvl="0" marL="0" rtl="0" algn="l">
              <a:lnSpc>
                <a:spcPct val="100000"/>
              </a:lnSpc>
              <a:spcBef>
                <a:spcPts val="360"/>
              </a:spcBef>
              <a:spcAft>
                <a:spcPts val="0"/>
              </a:spcAft>
              <a:buSzPts val="1800"/>
              <a:buNone/>
            </a:pPr>
            <a:r>
              <a:rPr b="1" lang="en-US" sz="2000"/>
              <a:t>Maintenance – </a:t>
            </a:r>
            <a:r>
              <a:rPr lang="en-US" sz="2000"/>
              <a:t>After deployment, the database needs regular updates and monitoring to ensure its continued efficiency.</a:t>
            </a:r>
            <a:endParaRPr/>
          </a:p>
          <a:p>
            <a:pPr indent="0" lvl="0" marL="0" rtl="0" algn="l">
              <a:lnSpc>
                <a:spcPct val="100000"/>
              </a:lnSpc>
              <a:spcBef>
                <a:spcPts val="360"/>
              </a:spcBef>
              <a:spcAft>
                <a:spcPts val="0"/>
              </a:spcAft>
              <a:buSzPts val="1800"/>
              <a:buNone/>
            </a:pPr>
            <a:r>
              <a:rPr b="1" lang="en-US" sz="2000"/>
              <a:t>Activities</a:t>
            </a:r>
            <a:r>
              <a:rPr lang="en-US" sz="2000"/>
              <a:t>:</a:t>
            </a:r>
            <a:endParaRPr/>
          </a:p>
          <a:p>
            <a:pPr indent="-342900" lvl="1" marL="914400" rtl="0" algn="l">
              <a:lnSpc>
                <a:spcPct val="100000"/>
              </a:lnSpc>
              <a:spcBef>
                <a:spcPts val="360"/>
              </a:spcBef>
              <a:spcAft>
                <a:spcPts val="0"/>
              </a:spcAft>
              <a:buSzPts val="1800"/>
              <a:buChar char="–"/>
            </a:pPr>
            <a:r>
              <a:rPr b="1" lang="en-US" sz="2000"/>
              <a:t>Monitoring</a:t>
            </a:r>
            <a:r>
              <a:rPr lang="en-US" sz="2000"/>
              <a:t>: Track performance, storage usage, and user activity.</a:t>
            </a:r>
            <a:endParaRPr/>
          </a:p>
          <a:p>
            <a:pPr indent="-342900" lvl="1" marL="914400" rtl="0" algn="l">
              <a:lnSpc>
                <a:spcPct val="100000"/>
              </a:lnSpc>
              <a:spcBef>
                <a:spcPts val="360"/>
              </a:spcBef>
              <a:spcAft>
                <a:spcPts val="0"/>
              </a:spcAft>
              <a:buSzPts val="1800"/>
              <a:buChar char="–"/>
            </a:pPr>
            <a:r>
              <a:rPr b="1" lang="en-US" sz="2000"/>
              <a:t>Updates</a:t>
            </a:r>
            <a:r>
              <a:rPr lang="en-US" sz="2000"/>
              <a:t>: Add new features or modify the schema as business needs evolve.</a:t>
            </a:r>
            <a:endParaRPr/>
          </a:p>
          <a:p>
            <a:pPr indent="-342900" lvl="1" marL="914400" rtl="0" algn="l">
              <a:lnSpc>
                <a:spcPct val="100000"/>
              </a:lnSpc>
              <a:spcBef>
                <a:spcPts val="360"/>
              </a:spcBef>
              <a:spcAft>
                <a:spcPts val="0"/>
              </a:spcAft>
              <a:buSzPts val="1800"/>
              <a:buChar char="–"/>
            </a:pPr>
            <a:r>
              <a:rPr b="1" lang="en-US" sz="2000"/>
              <a:t>Backup and Recovery</a:t>
            </a:r>
            <a:r>
              <a:rPr lang="en-US" sz="2000"/>
              <a:t>: Perform regular backups and test recovery plans.</a:t>
            </a:r>
            <a:endParaRPr/>
          </a:p>
          <a:p>
            <a:pPr indent="-342900" lvl="1" marL="914400" rtl="0" algn="l">
              <a:lnSpc>
                <a:spcPct val="100000"/>
              </a:lnSpc>
              <a:spcBef>
                <a:spcPts val="360"/>
              </a:spcBef>
              <a:spcAft>
                <a:spcPts val="0"/>
              </a:spcAft>
              <a:buSzPts val="1800"/>
              <a:buChar char="–"/>
            </a:pPr>
            <a:r>
              <a:rPr b="1" lang="en-US" sz="2000"/>
              <a:t>Security</a:t>
            </a:r>
            <a:r>
              <a:rPr lang="en-US" sz="2000"/>
              <a:t>: Continuously monitor and enhance database security.</a:t>
            </a:r>
            <a:endParaRPr/>
          </a:p>
          <a:p>
            <a:pPr indent="0" lvl="0" marL="0" rtl="0" algn="l">
              <a:lnSpc>
                <a:spcPct val="100000"/>
              </a:lnSpc>
              <a:spcBef>
                <a:spcPts val="360"/>
              </a:spcBef>
              <a:spcAft>
                <a:spcPts val="0"/>
              </a:spcAft>
              <a:buSzPts val="1800"/>
              <a:buNone/>
            </a:pPr>
            <a:r>
              <a:rPr b="1" lang="en-US" sz="2000"/>
              <a:t>Output</a:t>
            </a:r>
            <a:r>
              <a:rPr lang="en-US" sz="2000"/>
              <a:t>:</a:t>
            </a:r>
            <a:endParaRPr/>
          </a:p>
          <a:p>
            <a:pPr indent="-342900" lvl="1" marL="914400" rtl="0" algn="l">
              <a:lnSpc>
                <a:spcPct val="100000"/>
              </a:lnSpc>
              <a:spcBef>
                <a:spcPts val="360"/>
              </a:spcBef>
              <a:spcAft>
                <a:spcPts val="0"/>
              </a:spcAft>
              <a:buSzPts val="1800"/>
              <a:buChar char="–"/>
            </a:pPr>
            <a:r>
              <a:rPr lang="en-US" sz="2000"/>
              <a:t>A well-maintained and secure database system.</a:t>
            </a:r>
            <a:endParaRPr/>
          </a:p>
          <a:p>
            <a:pPr indent="-228600" lvl="1" marL="914400" rtl="0" algn="l">
              <a:lnSpc>
                <a:spcPct val="100000"/>
              </a:lnSpc>
              <a:spcBef>
                <a:spcPts val="360"/>
              </a:spcBef>
              <a:spcAft>
                <a:spcPts val="0"/>
              </a:spcAft>
              <a:buSzPts val="1800"/>
              <a:buNone/>
            </a:pPr>
            <a:r>
              <a:t/>
            </a:r>
            <a:endParaRPr sz="2000"/>
          </a:p>
          <a:p>
            <a:pPr indent="0" lvl="0" marL="114300" rtl="0" algn="l">
              <a:lnSpc>
                <a:spcPct val="100000"/>
              </a:lnSpc>
              <a:spcBef>
                <a:spcPts val="360"/>
              </a:spcBef>
              <a:spcAft>
                <a:spcPts val="0"/>
              </a:spcAft>
              <a:buSzPts val="1800"/>
              <a:buNone/>
            </a:pPr>
            <a:r>
              <a:t/>
            </a:r>
            <a:endParaRPr sz="2000"/>
          </a:p>
        </p:txBody>
      </p:sp>
      <p:sp>
        <p:nvSpPr>
          <p:cNvPr id="200" name="Google Shape;200;p2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a:t>
            </a:r>
            <a:endParaRPr/>
          </a:p>
        </p:txBody>
      </p:sp>
      <p:sp>
        <p:nvSpPr>
          <p:cNvPr id="206" name="Google Shape;206;p2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Logical Data Model Design</a:t>
            </a:r>
            <a:endParaRPr/>
          </a:p>
          <a:p>
            <a:pPr indent="0" lvl="0" marL="114300" rtl="0" algn="just">
              <a:lnSpc>
                <a:spcPct val="100000"/>
              </a:lnSpc>
              <a:spcBef>
                <a:spcPts val="360"/>
              </a:spcBef>
              <a:spcAft>
                <a:spcPts val="0"/>
              </a:spcAft>
              <a:buSzPts val="1800"/>
              <a:buNone/>
            </a:pPr>
            <a:r>
              <a:rPr lang="en-US"/>
              <a:t>The logical data model design defines the structure of data and what relationship exists among those data. </a:t>
            </a:r>
            <a:endParaRPr/>
          </a:p>
          <a:p>
            <a:pPr indent="0" lvl="0" marL="114300" rtl="0" algn="just">
              <a:lnSpc>
                <a:spcPct val="100000"/>
              </a:lnSpc>
              <a:spcBef>
                <a:spcPts val="360"/>
              </a:spcBef>
              <a:spcAft>
                <a:spcPts val="0"/>
              </a:spcAft>
              <a:buSzPts val="1800"/>
              <a:buNone/>
            </a:pPr>
            <a:r>
              <a:rPr lang="en-US"/>
              <a:t>The following are the major components of the logical design:</a:t>
            </a:r>
            <a:endParaRPr/>
          </a:p>
          <a:p>
            <a:pPr indent="0" lvl="0" marL="114300" rtl="0" algn="just">
              <a:lnSpc>
                <a:spcPct val="100000"/>
              </a:lnSpc>
              <a:spcBef>
                <a:spcPts val="360"/>
              </a:spcBef>
              <a:spcAft>
                <a:spcPts val="0"/>
              </a:spcAft>
              <a:buSzPts val="1800"/>
              <a:buNone/>
            </a:pPr>
            <a:r>
              <a:t/>
            </a:r>
            <a:endParaRPr/>
          </a:p>
          <a:p>
            <a:pPr indent="0" lvl="0" marL="114300" rtl="0" algn="just">
              <a:lnSpc>
                <a:spcPct val="100000"/>
              </a:lnSpc>
              <a:spcBef>
                <a:spcPts val="360"/>
              </a:spcBef>
              <a:spcAft>
                <a:spcPts val="0"/>
              </a:spcAft>
              <a:buSzPts val="1800"/>
              <a:buNone/>
            </a:pPr>
            <a:r>
              <a:rPr b="1" lang="en-US"/>
              <a:t>1. Data Models</a:t>
            </a:r>
            <a:r>
              <a:rPr lang="en-US"/>
              <a:t>: Data modeling is a visual modeling technique used to get a high-level overview of our database. Data models help us understand the needs and requirements of our database by defining the design of our database through diagrammatic representation. Ex: ER model, Network model, Relational Model, object-oriented data model.</a:t>
            </a:r>
            <a:endParaRPr/>
          </a:p>
          <a:p>
            <a:pPr indent="0" lvl="0" marL="114300" rtl="0" algn="just">
              <a:lnSpc>
                <a:spcPct val="100000"/>
              </a:lnSpc>
              <a:spcBef>
                <a:spcPts val="360"/>
              </a:spcBef>
              <a:spcAft>
                <a:spcPts val="0"/>
              </a:spcAft>
              <a:buSzPts val="1800"/>
              <a:buNone/>
            </a:pPr>
            <a:r>
              <a:t/>
            </a:r>
            <a:endParaRPr/>
          </a:p>
        </p:txBody>
      </p:sp>
      <p:sp>
        <p:nvSpPr>
          <p:cNvPr id="207" name="Google Shape;207;p2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TYPES OF DATA MODEL</a:t>
            </a:r>
            <a:endParaRPr/>
          </a:p>
        </p:txBody>
      </p:sp>
      <p:sp>
        <p:nvSpPr>
          <p:cNvPr id="213" name="Google Shape;213;p23"/>
          <p:cNvSpPr txBox="1"/>
          <p:nvPr>
            <p:ph idx="1" type="body"/>
          </p:nvPr>
        </p:nvSpPr>
        <p:spPr>
          <a:xfrm>
            <a:off x="716522" y="1335314"/>
            <a:ext cx="12897326" cy="5743139"/>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t/>
            </a:r>
            <a:endParaRPr/>
          </a:p>
        </p:txBody>
      </p:sp>
      <p:sp>
        <p:nvSpPr>
          <p:cNvPr id="214" name="Google Shape;214;p2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Lightbox" id="215" name="Google Shape;215;p23"/>
          <p:cNvPicPr preferRelativeResize="0"/>
          <p:nvPr/>
        </p:nvPicPr>
        <p:blipFill rotWithShape="1">
          <a:blip r:embed="rId3">
            <a:alphaModFix/>
          </a:blip>
          <a:srcRect b="0" l="0" r="0" t="0"/>
          <a:stretch/>
        </p:blipFill>
        <p:spPr>
          <a:xfrm>
            <a:off x="1669143" y="1556687"/>
            <a:ext cx="10595427" cy="510537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 cont…</a:t>
            </a:r>
            <a:endParaRPr/>
          </a:p>
        </p:txBody>
      </p:sp>
      <p:sp>
        <p:nvSpPr>
          <p:cNvPr id="221" name="Google Shape;221;p24"/>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a:t>Entity</a:t>
            </a:r>
            <a:r>
              <a:rPr lang="en-US"/>
              <a:t>: </a:t>
            </a:r>
            <a:r>
              <a:rPr lang="en-US" u="sng"/>
              <a:t>Entities</a:t>
            </a:r>
            <a:r>
              <a:rPr lang="en-US"/>
              <a:t> are objects in the real world, which can have certain properties &amp; these properties are referred to as attributes of that particular entity. </a:t>
            </a:r>
            <a:endParaRPr/>
          </a:p>
          <a:p>
            <a:pPr indent="-342900" lvl="0" marL="457200" rtl="0" algn="just">
              <a:lnSpc>
                <a:spcPct val="100000"/>
              </a:lnSpc>
              <a:spcBef>
                <a:spcPts val="360"/>
              </a:spcBef>
              <a:spcAft>
                <a:spcPts val="0"/>
              </a:spcAft>
              <a:buSzPts val="1800"/>
              <a:buChar char="•"/>
            </a:pPr>
            <a:r>
              <a:rPr lang="en-US"/>
              <a:t>There are 2 types of entities: Strong and weak entity, weak entity do not have a key attribute to identify them, their existence solely depends on one 1-specific strong entity &amp; also have full participation in a relationship whereas strong entity does have a key attribute to uniquely identify them.</a:t>
            </a:r>
            <a:endParaRPr/>
          </a:p>
          <a:p>
            <a:pPr indent="-342900" lvl="0" marL="457200" rtl="0" algn="just">
              <a:lnSpc>
                <a:spcPct val="100000"/>
              </a:lnSpc>
              <a:spcBef>
                <a:spcPts val="360"/>
              </a:spcBef>
              <a:spcAft>
                <a:spcPts val="0"/>
              </a:spcAft>
              <a:buSzPts val="1800"/>
              <a:buChar char="•"/>
            </a:pPr>
            <a:r>
              <a:rPr lang="en-US"/>
              <a:t>Weak entity example: Loan -&gt; Loan will be given to a customer (which is optional) &amp; the loan will be identified by the customer_id to whom the loan is granted.</a:t>
            </a:r>
            <a:endParaRPr/>
          </a:p>
          <a:p>
            <a:pPr indent="0" lvl="0" marL="114300" rtl="0" algn="l">
              <a:lnSpc>
                <a:spcPct val="100000"/>
              </a:lnSpc>
              <a:spcBef>
                <a:spcPts val="360"/>
              </a:spcBef>
              <a:spcAft>
                <a:spcPts val="0"/>
              </a:spcAft>
              <a:buSzPts val="1800"/>
              <a:buNone/>
            </a:pPr>
            <a:r>
              <a:t/>
            </a:r>
            <a:endParaRPr/>
          </a:p>
        </p:txBody>
      </p:sp>
      <p:sp>
        <p:nvSpPr>
          <p:cNvPr id="222" name="Google Shape;222;p2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 cont…</a:t>
            </a:r>
            <a:endParaRPr/>
          </a:p>
        </p:txBody>
      </p:sp>
      <p:sp>
        <p:nvSpPr>
          <p:cNvPr id="228" name="Google Shape;228;p25"/>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a:t>Relationships</a:t>
            </a:r>
            <a:r>
              <a:rPr lang="en-US"/>
              <a:t>: How data is logically related to each other defines the relationship of that data with other entities. In simple words, the association of one entity with another is defined here.</a:t>
            </a:r>
            <a:endParaRPr/>
          </a:p>
          <a:p>
            <a:pPr indent="-342900" lvl="0" marL="457200" rtl="0" algn="just">
              <a:lnSpc>
                <a:spcPct val="100000"/>
              </a:lnSpc>
              <a:spcBef>
                <a:spcPts val="360"/>
              </a:spcBef>
              <a:spcAft>
                <a:spcPts val="0"/>
              </a:spcAft>
              <a:buSzPts val="1800"/>
              <a:buChar char="•"/>
            </a:pPr>
            <a:r>
              <a:rPr lang="en-US"/>
              <a:t>A relationship can be further categorized into - unary, binary, and ternary relationships.</a:t>
            </a:r>
            <a:endParaRPr/>
          </a:p>
          <a:p>
            <a:pPr indent="-342900" lvl="0" marL="457200" rtl="0" algn="just">
              <a:lnSpc>
                <a:spcPct val="100000"/>
              </a:lnSpc>
              <a:spcBef>
                <a:spcPts val="360"/>
              </a:spcBef>
              <a:spcAft>
                <a:spcPts val="0"/>
              </a:spcAft>
              <a:buSzPts val="1800"/>
              <a:buChar char="•"/>
            </a:pPr>
            <a:r>
              <a:rPr b="1" lang="en-US"/>
              <a:t>Unary</a:t>
            </a:r>
            <a:r>
              <a:rPr lang="en-US"/>
              <a:t>: In this, the associating entity &amp; the associated entity both are the same. Ex: Employee Manages themselves, and students are also given the post of monitor hence here the student themselves is a monitor.</a:t>
            </a:r>
            <a:endParaRPr/>
          </a:p>
          <a:p>
            <a:pPr indent="-342900" lvl="0" marL="457200" rtl="0" algn="just">
              <a:lnSpc>
                <a:spcPct val="100000"/>
              </a:lnSpc>
              <a:spcBef>
                <a:spcPts val="360"/>
              </a:spcBef>
              <a:spcAft>
                <a:spcPts val="0"/>
              </a:spcAft>
              <a:buSzPts val="1800"/>
              <a:buChar char="•"/>
            </a:pPr>
            <a:r>
              <a:rPr b="1" lang="en-US"/>
              <a:t>Binary: </a:t>
            </a:r>
            <a:r>
              <a:rPr lang="en-US"/>
              <a:t>This is a very common relationship that you will come across while designing a database.</a:t>
            </a:r>
            <a:br>
              <a:rPr lang="en-US"/>
            </a:br>
            <a:r>
              <a:rPr lang="en-US"/>
              <a:t>Ex: Student is enrolled in courses, Employee is managed by different managers, One student can be taught by many professors.</a:t>
            </a:r>
            <a:endParaRPr/>
          </a:p>
          <a:p>
            <a:pPr indent="0" lvl="0" marL="114300" rtl="0" algn="l">
              <a:lnSpc>
                <a:spcPct val="100000"/>
              </a:lnSpc>
              <a:spcBef>
                <a:spcPts val="360"/>
              </a:spcBef>
              <a:spcAft>
                <a:spcPts val="0"/>
              </a:spcAft>
              <a:buSzPts val="1800"/>
              <a:buNone/>
            </a:pPr>
            <a:r>
              <a:t/>
            </a:r>
            <a:endParaRPr/>
          </a:p>
        </p:txBody>
      </p:sp>
      <p:sp>
        <p:nvSpPr>
          <p:cNvPr id="229" name="Google Shape;229;p2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 cont…</a:t>
            </a:r>
            <a:endParaRPr/>
          </a:p>
        </p:txBody>
      </p:sp>
      <p:sp>
        <p:nvSpPr>
          <p:cNvPr id="235" name="Google Shape;235;p2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360"/>
              </a:spcBef>
              <a:spcAft>
                <a:spcPts val="0"/>
              </a:spcAft>
              <a:buSzPts val="1800"/>
              <a:buChar char="•"/>
            </a:pPr>
            <a:r>
              <a:rPr b="1" lang="en-US" sz="2800"/>
              <a:t>Ternary: </a:t>
            </a:r>
            <a:r>
              <a:rPr lang="en-US" sz="2800"/>
              <a:t>In this, we have 3 entities involved in a single relationship. Ex: an employee works on a project for a client. Note that, here we have 3 entities: Employee, Project &amp; Client.</a:t>
            </a:r>
            <a:endParaRPr/>
          </a:p>
          <a:p>
            <a:pPr indent="0" lvl="0" marL="114300" rtl="0" algn="just">
              <a:lnSpc>
                <a:spcPct val="100000"/>
              </a:lnSpc>
              <a:spcBef>
                <a:spcPts val="360"/>
              </a:spcBef>
              <a:spcAft>
                <a:spcPts val="0"/>
              </a:spcAft>
              <a:buSzPts val="1800"/>
              <a:buNone/>
            </a:pPr>
            <a:r>
              <a:rPr b="1" lang="en-US" sz="2800"/>
              <a:t>Attributes</a:t>
            </a:r>
            <a:r>
              <a:rPr lang="en-US" sz="2800"/>
              <a:t>: </a:t>
            </a:r>
            <a:r>
              <a:rPr lang="en-US" sz="2800" u="sng"/>
              <a:t>Attributes</a:t>
            </a:r>
            <a:r>
              <a:rPr lang="en-US" sz="2800"/>
              <a:t> are nothing but properties of a specific entity that define its behavior. For example, an employee can have unique_id, name, age, date of birth (DOB), salary, department, Manager, project id, etc.</a:t>
            </a:r>
            <a:endParaRPr/>
          </a:p>
          <a:p>
            <a:pPr indent="0" lvl="0" marL="114300" rtl="0" algn="just">
              <a:lnSpc>
                <a:spcPct val="100000"/>
              </a:lnSpc>
              <a:spcBef>
                <a:spcPts val="360"/>
              </a:spcBef>
              <a:spcAft>
                <a:spcPts val="0"/>
              </a:spcAft>
              <a:buSzPts val="1800"/>
              <a:buNone/>
            </a:pPr>
            <a:r>
              <a:rPr b="1" lang="en-US" sz="2800"/>
              <a:t>Normalization</a:t>
            </a:r>
            <a:r>
              <a:rPr lang="en-US" sz="2800"/>
              <a:t>: After all the entities are put in place and the relationship among data is defined, we need to look for loopholes or possible ambiguities that may arise as a result of CRUD operations. To prevent various Anomalies such as INSERTION, UPDATION, and DELETION Anomalies.</a:t>
            </a:r>
            <a:endParaRPr/>
          </a:p>
          <a:p>
            <a:pPr indent="0" lvl="0" marL="114300" rtl="0" algn="just">
              <a:lnSpc>
                <a:spcPct val="100000"/>
              </a:lnSpc>
              <a:spcBef>
                <a:spcPts val="360"/>
              </a:spcBef>
              <a:spcAft>
                <a:spcPts val="0"/>
              </a:spcAft>
              <a:buSzPts val="1800"/>
              <a:buNone/>
            </a:pPr>
            <a:r>
              <a:rPr lang="en-US" sz="2800" u="sng"/>
              <a:t>Data Normalization</a:t>
            </a:r>
            <a:r>
              <a:rPr lang="en-US" sz="2800"/>
              <a:t> is a basic procedure defined for databases to eliminate such anomalies &amp; prevent redundancy.</a:t>
            </a:r>
            <a:endParaRPr sz="2800"/>
          </a:p>
          <a:p>
            <a:pPr indent="0" lvl="0" marL="114300" rtl="0" algn="just">
              <a:lnSpc>
                <a:spcPct val="100000"/>
              </a:lnSpc>
              <a:spcBef>
                <a:spcPts val="360"/>
              </a:spcBef>
              <a:spcAft>
                <a:spcPts val="0"/>
              </a:spcAft>
              <a:buSzPts val="1800"/>
              <a:buNone/>
            </a:pPr>
            <a:r>
              <a:t/>
            </a:r>
            <a:endParaRPr sz="2800"/>
          </a:p>
          <a:p>
            <a:pPr indent="0" lvl="0" marL="114300" rtl="0" algn="l">
              <a:lnSpc>
                <a:spcPct val="100000"/>
              </a:lnSpc>
              <a:spcBef>
                <a:spcPts val="360"/>
              </a:spcBef>
              <a:spcAft>
                <a:spcPts val="0"/>
              </a:spcAft>
              <a:buSzPts val="1800"/>
              <a:buNone/>
            </a:pPr>
            <a:r>
              <a:t/>
            </a:r>
            <a:endParaRPr/>
          </a:p>
        </p:txBody>
      </p:sp>
      <p:sp>
        <p:nvSpPr>
          <p:cNvPr id="236" name="Google Shape;236;p2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An Example of Logical Design</a:t>
            </a:r>
            <a:br>
              <a:rPr b="1" lang="en-US"/>
            </a:br>
            <a:endParaRPr/>
          </a:p>
        </p:txBody>
      </p:sp>
      <p:sp>
        <p:nvSpPr>
          <p:cNvPr id="242" name="Google Shape;242;p27"/>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t/>
            </a:r>
            <a:endParaRPr/>
          </a:p>
        </p:txBody>
      </p:sp>
      <p:sp>
        <p:nvSpPr>
          <p:cNvPr id="243" name="Google Shape;243;p2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Lightbox" id="244" name="Google Shape;244;p27"/>
          <p:cNvPicPr preferRelativeResize="0"/>
          <p:nvPr/>
        </p:nvPicPr>
        <p:blipFill rotWithShape="1">
          <a:blip r:embed="rId3">
            <a:alphaModFix/>
          </a:blip>
          <a:srcRect b="0" l="0" r="0" t="0"/>
          <a:stretch/>
        </p:blipFill>
        <p:spPr>
          <a:xfrm>
            <a:off x="2380343" y="1281113"/>
            <a:ext cx="9869714" cy="5667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 cont…</a:t>
            </a:r>
            <a:endParaRPr/>
          </a:p>
        </p:txBody>
      </p:sp>
      <p:sp>
        <p:nvSpPr>
          <p:cNvPr id="250" name="Google Shape;250;p28"/>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b="1" lang="en-US"/>
              <a:t>Physical Design</a:t>
            </a:r>
            <a:endParaRPr/>
          </a:p>
          <a:p>
            <a:pPr indent="-342900" lvl="0" marL="457200" rtl="0" algn="just">
              <a:lnSpc>
                <a:spcPct val="100000"/>
              </a:lnSpc>
              <a:spcBef>
                <a:spcPts val="360"/>
              </a:spcBef>
              <a:spcAft>
                <a:spcPts val="0"/>
              </a:spcAft>
              <a:buSzPts val="1800"/>
              <a:buChar char="•"/>
            </a:pPr>
            <a:r>
              <a:rPr lang="en-US"/>
              <a:t>The main purpose of the physical design is to actually implement the logical design that is, show the structure of the database along with all the columns &amp; their data types, rows, relations, relationships among data &amp; clearly define how relations are related to each other.</a:t>
            </a:r>
            <a:endParaRPr/>
          </a:p>
          <a:p>
            <a:pPr indent="0" lvl="0" marL="114300" rtl="0" algn="just">
              <a:lnSpc>
                <a:spcPct val="100000"/>
              </a:lnSpc>
              <a:spcBef>
                <a:spcPts val="360"/>
              </a:spcBef>
              <a:spcAft>
                <a:spcPts val="0"/>
              </a:spcAft>
              <a:buSzPts val="1800"/>
              <a:buNone/>
            </a:pPr>
            <a:r>
              <a:rPr lang="en-US"/>
              <a:t>STEPS:</a:t>
            </a:r>
            <a:endParaRPr/>
          </a:p>
          <a:p>
            <a:pPr indent="0" lvl="0" marL="114300" rtl="0" algn="just">
              <a:lnSpc>
                <a:spcPct val="100000"/>
              </a:lnSpc>
              <a:spcBef>
                <a:spcPts val="360"/>
              </a:spcBef>
              <a:spcAft>
                <a:spcPts val="0"/>
              </a:spcAft>
              <a:buSzPts val="1800"/>
              <a:buNone/>
            </a:pPr>
            <a:r>
              <a:rPr b="1" lang="en-US"/>
              <a:t>Step 1:</a:t>
            </a:r>
            <a:r>
              <a:rPr lang="en-US"/>
              <a:t> Entities are converted into tables or relations that consist of their properties (attributes)</a:t>
            </a:r>
            <a:endParaRPr/>
          </a:p>
          <a:p>
            <a:pPr indent="0" lvl="0" marL="114300" rtl="0" algn="just">
              <a:lnSpc>
                <a:spcPct val="100000"/>
              </a:lnSpc>
              <a:spcBef>
                <a:spcPts val="360"/>
              </a:spcBef>
              <a:spcAft>
                <a:spcPts val="0"/>
              </a:spcAft>
              <a:buSzPts val="1800"/>
              <a:buNone/>
            </a:pPr>
            <a:r>
              <a:t/>
            </a:r>
            <a:endParaRPr/>
          </a:p>
        </p:txBody>
      </p:sp>
      <p:sp>
        <p:nvSpPr>
          <p:cNvPr id="251" name="Google Shape;251;p2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 cont…</a:t>
            </a:r>
            <a:endParaRPr/>
          </a:p>
        </p:txBody>
      </p:sp>
      <p:sp>
        <p:nvSpPr>
          <p:cNvPr id="257" name="Google Shape;257;p29"/>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SzPts val="1800"/>
              <a:buChar char="•"/>
            </a:pPr>
            <a:r>
              <a:rPr b="1" lang="en-US"/>
              <a:t>Step 2:</a:t>
            </a:r>
            <a:r>
              <a:rPr lang="en-US"/>
              <a:t> Apply integrity constraints: establish foreign key, unique key, and composite key relationships among the data. And apply various constraints.</a:t>
            </a:r>
            <a:endParaRPr/>
          </a:p>
          <a:p>
            <a:pPr indent="-342900" lvl="0" marL="457200" rtl="0" algn="l">
              <a:lnSpc>
                <a:spcPct val="100000"/>
              </a:lnSpc>
              <a:spcBef>
                <a:spcPts val="360"/>
              </a:spcBef>
              <a:spcAft>
                <a:spcPts val="0"/>
              </a:spcAft>
              <a:buSzPts val="1800"/>
              <a:buChar char="•"/>
            </a:pPr>
            <a:r>
              <a:rPr b="1" lang="en-US"/>
              <a:t>Step 3:</a:t>
            </a:r>
            <a:r>
              <a:rPr lang="en-US"/>
              <a:t> Entity names are converted into table names, property names are translated into attribute names, and so on.</a:t>
            </a:r>
            <a:endParaRPr/>
          </a:p>
          <a:p>
            <a:pPr indent="-342900" lvl="0" marL="457200" rtl="0" algn="l">
              <a:lnSpc>
                <a:spcPct val="100000"/>
              </a:lnSpc>
              <a:spcBef>
                <a:spcPts val="360"/>
              </a:spcBef>
              <a:spcAft>
                <a:spcPts val="0"/>
              </a:spcAft>
              <a:buSzPts val="1800"/>
              <a:buChar char="•"/>
            </a:pPr>
            <a:r>
              <a:rPr b="1" lang="en-US"/>
              <a:t>Step 4:</a:t>
            </a:r>
            <a:r>
              <a:rPr lang="en-US"/>
              <a:t> Apply normalization &amp; modify as per the requirements.</a:t>
            </a:r>
            <a:endParaRPr/>
          </a:p>
          <a:p>
            <a:pPr indent="-342900" lvl="0" marL="457200" rtl="0" algn="l">
              <a:lnSpc>
                <a:spcPct val="100000"/>
              </a:lnSpc>
              <a:spcBef>
                <a:spcPts val="360"/>
              </a:spcBef>
              <a:spcAft>
                <a:spcPts val="0"/>
              </a:spcAft>
              <a:buSzPts val="1800"/>
              <a:buChar char="•"/>
            </a:pPr>
            <a:r>
              <a:rPr b="1" lang="en-US"/>
              <a:t>Step 5:</a:t>
            </a:r>
            <a:r>
              <a:rPr lang="en-US"/>
              <a:t> Final Schemes are defined based on the entities &amp; attributes derived in logical design.</a:t>
            </a:r>
            <a:endParaRPr/>
          </a:p>
          <a:p>
            <a:pPr indent="-342900" lvl="0" marL="457200" rtl="0" algn="l">
              <a:lnSpc>
                <a:spcPct val="100000"/>
              </a:lnSpc>
              <a:spcBef>
                <a:spcPts val="360"/>
              </a:spcBef>
              <a:spcAft>
                <a:spcPts val="0"/>
              </a:spcAft>
              <a:buClr>
                <a:schemeClr val="dk1"/>
              </a:buClr>
              <a:buSzPts val="1800"/>
              <a:buChar char="•"/>
            </a:pPr>
            <a:br>
              <a:rPr lang="en-US"/>
            </a:br>
            <a:endParaRPr/>
          </a:p>
        </p:txBody>
      </p:sp>
      <p:sp>
        <p:nvSpPr>
          <p:cNvPr id="258" name="Google Shape;258;p2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Detailed Description cont…</a:t>
            </a:r>
            <a:endParaRPr/>
          </a:p>
        </p:txBody>
      </p:sp>
      <p:sp>
        <p:nvSpPr>
          <p:cNvPr id="264" name="Google Shape;264;p30"/>
          <p:cNvSpPr txBox="1"/>
          <p:nvPr>
            <p:ph idx="1" type="body"/>
          </p:nvPr>
        </p:nvSpPr>
        <p:spPr>
          <a:xfrm>
            <a:off x="1436914" y="1646250"/>
            <a:ext cx="11669486" cy="5432203"/>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t/>
            </a:r>
            <a:endParaRPr/>
          </a:p>
        </p:txBody>
      </p:sp>
      <p:sp>
        <p:nvSpPr>
          <p:cNvPr id="265" name="Google Shape;265;p3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Lightbox" id="266" name="Google Shape;266;p30"/>
          <p:cNvPicPr preferRelativeResize="0"/>
          <p:nvPr/>
        </p:nvPicPr>
        <p:blipFill rotWithShape="1">
          <a:blip r:embed="rId3">
            <a:alphaModFix/>
          </a:blip>
          <a:srcRect b="0" l="0" r="0" t="0"/>
          <a:stretch/>
        </p:blipFill>
        <p:spPr>
          <a:xfrm>
            <a:off x="2365830" y="1304925"/>
            <a:ext cx="10334170" cy="5619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Conclusion</a:t>
            </a:r>
            <a:endParaRPr/>
          </a:p>
        </p:txBody>
      </p:sp>
      <p:sp>
        <p:nvSpPr>
          <p:cNvPr id="272" name="Google Shape;272;p31"/>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lang="en-US"/>
              <a:t>A good database design is an essential part of a strong database management system (DBMS). It provides the basis for data governance, data storage, and data retrieval. The quality of a database has a direct impact on a system’s overall performance and dependability. It is important to consider data organization, standardization, performance, integrity, and more when designing a database to meet the needs of your organization and your users.</a:t>
            </a:r>
            <a:endParaRPr/>
          </a:p>
        </p:txBody>
      </p:sp>
      <p:sp>
        <p:nvSpPr>
          <p:cNvPr id="273" name="Google Shape;273;p3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9" name="Google Shape;279;p32"/>
          <p:cNvSpPr txBox="1"/>
          <p:nvPr/>
        </p:nvSpPr>
        <p:spPr>
          <a:xfrm>
            <a:off x="5153297" y="3253820"/>
            <a:ext cx="3768634"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6000" u="none" cap="none" strike="noStrike">
                <a:solidFill>
                  <a:srgbClr val="000000"/>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